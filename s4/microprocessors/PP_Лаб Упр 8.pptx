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8"/>
  </p:notesMasterIdLst>
  <p:sldIdLst>
    <p:sldId id="256" r:id="rId2"/>
    <p:sldId id="381" r:id="rId3"/>
    <p:sldId id="471" r:id="rId4"/>
    <p:sldId id="472" r:id="rId5"/>
    <p:sldId id="470" r:id="rId6"/>
    <p:sldId id="473" r:id="rId7"/>
    <p:sldId id="468" r:id="rId8"/>
    <p:sldId id="448" r:id="rId9"/>
    <p:sldId id="450" r:id="rId10"/>
    <p:sldId id="449" r:id="rId11"/>
    <p:sldId id="451" r:id="rId12"/>
    <p:sldId id="477" r:id="rId13"/>
    <p:sldId id="452" r:id="rId14"/>
    <p:sldId id="453" r:id="rId15"/>
    <p:sldId id="474" r:id="rId16"/>
    <p:sldId id="454" r:id="rId17"/>
    <p:sldId id="455" r:id="rId18"/>
    <p:sldId id="475" r:id="rId19"/>
    <p:sldId id="476" r:id="rId20"/>
    <p:sldId id="478" r:id="rId21"/>
    <p:sldId id="456" r:id="rId22"/>
    <p:sldId id="457" r:id="rId23"/>
    <p:sldId id="459" r:id="rId24"/>
    <p:sldId id="458" r:id="rId25"/>
    <p:sldId id="460" r:id="rId26"/>
    <p:sldId id="461" r:id="rId27"/>
    <p:sldId id="463" r:id="rId28"/>
    <p:sldId id="464" r:id="rId29"/>
    <p:sldId id="465" r:id="rId30"/>
    <p:sldId id="466" r:id="rId31"/>
    <p:sldId id="431" r:id="rId32"/>
    <p:sldId id="432" r:id="rId33"/>
    <p:sldId id="433" r:id="rId34"/>
    <p:sldId id="436" r:id="rId35"/>
    <p:sldId id="437" r:id="rId36"/>
    <p:sldId id="438" r:id="rId37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ен стил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910" autoAdjust="0"/>
    <p:restoredTop sz="95455" autoAdjust="0"/>
  </p:normalViewPr>
  <p:slideViewPr>
    <p:cSldViewPr>
      <p:cViewPr varScale="1">
        <p:scale>
          <a:sx n="91" d="100"/>
          <a:sy n="91" d="100"/>
        </p:scale>
        <p:origin x="88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2332A-55AF-4551-8E83-32AC6773F37C}" type="datetimeFigureOut">
              <a:rPr lang="bg-BG" smtClean="0"/>
              <a:pPr/>
              <a:t>28.4.2024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8BE4E-C978-4DDD-BFFE-20E7B8E0D29B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89593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8BE4E-C978-4DDD-BFFE-20E7B8E0D29B}" type="slidenum">
              <a:rPr lang="bg-BG" smtClean="0"/>
              <a:pPr/>
              <a:t>32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53066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28.4.2024 г.</a:t>
            </a:fld>
            <a:endParaRPr lang="bg-BG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28.4.2024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28.4.2024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28.4.2024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28.4.2024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28.4.2024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28.4.2024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28.4.2024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28.4.2024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28.4.2024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28.4.2024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CD2AA38-B623-4529-8E38-4C26B6BE11C2}" type="datetimeFigureOut">
              <a:rPr lang="bg-BG" smtClean="0"/>
              <a:pPr/>
              <a:t>28.4.2024 г.</a:t>
            </a:fld>
            <a:endParaRPr lang="bg-BG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72" y="928670"/>
            <a:ext cx="7851648" cy="5186386"/>
          </a:xfrm>
        </p:spPr>
        <p:txBody>
          <a:bodyPr rIns="0">
            <a:noAutofit/>
          </a:bodyPr>
          <a:lstStyle/>
          <a:p>
            <a:r>
              <a:rPr lang="ru-RU" sz="5500" dirty="0" err="1">
                <a:effectLst/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5500" dirty="0">
                <a:effectLst/>
                <a:latin typeface="Times New Roman" pitchFamily="18" charset="0"/>
                <a:cs typeface="Times New Roman" pitchFamily="18" charset="0"/>
              </a:rPr>
              <a:t> инструкции. Операции над </a:t>
            </a:r>
            <a:r>
              <a:rPr lang="ru-RU" sz="5500" dirty="0" err="1">
                <a:effectLst/>
                <a:latin typeface="Times New Roman" pitchFamily="18" charset="0"/>
                <a:cs typeface="Times New Roman" pitchFamily="18" charset="0"/>
              </a:rPr>
              <a:t>символни</a:t>
            </a:r>
            <a:r>
              <a:rPr lang="ru-RU" sz="5500" dirty="0"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5500" dirty="0" err="1">
                <a:effectLst/>
                <a:latin typeface="Times New Roman" pitchFamily="18" charset="0"/>
                <a:cs typeface="Times New Roman" pitchFamily="18" charset="0"/>
              </a:rPr>
              <a:t>низове</a:t>
            </a:r>
            <a:r>
              <a:rPr lang="ru-RU" sz="5500" dirty="0">
                <a:effectLst/>
                <a:latin typeface="Times New Roman" pitchFamily="18" charset="0"/>
                <a:cs typeface="Times New Roman" pitchFamily="18" charset="0"/>
              </a:rPr>
              <a:t>. </a:t>
            </a:r>
            <a:endParaRPr lang="bg-BG" sz="5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336" y="1340768"/>
            <a:ext cx="8776151" cy="5328592"/>
          </a:xfrm>
        </p:spPr>
        <p:txBody>
          <a:bodyPr>
            <a:noAutofit/>
          </a:bodyPr>
          <a:lstStyle/>
          <a:p>
            <a:pPr lvl="0" algn="just"/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Стринг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низ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 крайна поредица от символи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знаци.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Низовете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обикновено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разглеждат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като тип данни 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често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приведени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във вид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масиви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байтове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(или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думи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които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съхраняват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последователност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елементи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Манипулирането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важен аспект на всяка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задача.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два вида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фиксирана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постоянна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използват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същото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количество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памет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независимо дали този максимум 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достигнат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променлива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един низ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има толкова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колкото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изисква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обикновено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рамките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ограничение, наложено от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инструкции.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336" y="1556792"/>
            <a:ext cx="8776151" cy="5112568"/>
          </a:xfrm>
        </p:spPr>
        <p:txBody>
          <a:bodyPr>
            <a:noAutofit/>
          </a:bodyPr>
          <a:lstStyle/>
          <a:p>
            <a:pPr algn="just">
              <a:lnSpc>
                <a:spcPts val="2800"/>
              </a:lnSpc>
              <a:spcBef>
                <a:spcPts val="0"/>
              </a:spcBef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В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представянето 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фиксирана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всеки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заема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абсолютно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същия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позиции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знаци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Тоест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всеки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 има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където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низа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отнася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броя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символите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низа.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800"/>
              </a:lnSpc>
              <a:spcBef>
                <a:spcPts val="0"/>
              </a:spcBef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това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представяне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ако даден низ има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по-малко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знаци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той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разширява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чрез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допълване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например, 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празни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знаци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От друга страна, ако даден низ има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повече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знаци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той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обикновено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съкращава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за да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побере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наличното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място за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съхранение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Ясно е, че ако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искаме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избегнем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отрязването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по-големи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трябва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внимателно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фиксираме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низа, така че да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поеме най-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големия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който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някога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948788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8560128" cy="3897560"/>
          </a:xfrm>
        </p:spPr>
        <p:txBody>
          <a:bodyPr>
            <a:noAutofit/>
          </a:bodyPr>
          <a:lstStyle/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Потенциален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 с това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представяне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е, че трябва да предвидим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което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причини трудности при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поддръжката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Допълнителен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недостатък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използването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представяне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фиксирана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е, че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пространството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паметта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губи, ако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по-голямата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част от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низовете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по-къси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използваната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Представянето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променлива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избягва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тези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схема един низ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има толкова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колкото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изисква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обикновено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рамките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ограничение, наложено от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2341045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336" y="1115616"/>
            <a:ext cx="8776151" cy="5553744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Свързан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всеки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 има атрибут за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низа,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даващ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броя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знаци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низа. </a:t>
            </a:r>
          </a:p>
          <a:p>
            <a:pPr algn="just">
              <a:spcBef>
                <a:spcPts val="0"/>
              </a:spcBef>
            </a:pP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Този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атрибут за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един от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начина:</a:t>
            </a:r>
          </a:p>
          <a:p>
            <a:pPr algn="just">
              <a:spcBef>
                <a:spcPts val="0"/>
              </a:spcBef>
            </a:pP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Изрично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съхраняване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низа</a:t>
            </a:r>
          </a:p>
          <a:p>
            <a:pPr algn="just">
              <a:spcBef>
                <a:spcPts val="0"/>
              </a:spcBef>
            </a:pP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DB ’Error message’ </a:t>
            </a:r>
            <a:endParaRPr lang="bg-BG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str_len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DW $ - string</a:t>
            </a:r>
          </a:p>
          <a:p>
            <a:pPr algn="just">
              <a:spcBef>
                <a:spcPts val="0"/>
              </a:spcBef>
            </a:pP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където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 е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символът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брояч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местоположение,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който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представя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текущата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брояча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местоположение. В този пример $ сочи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към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байта след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последния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символ на низа.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Следователно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,$ -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низ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дава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низа. </a:t>
            </a:r>
            <a:endParaRPr lang="ru-RU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’Error message’ </a:t>
            </a:r>
            <a:endParaRPr lang="bg-BG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str_len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DW 13</a:t>
            </a:r>
          </a:p>
          <a:p>
            <a:pPr algn="just">
              <a:spcBef>
                <a:spcPts val="0"/>
              </a:spcBef>
            </a:pP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Въпреки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това, ако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променим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съдържанието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низ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по-късно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трябва да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актуализираме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низа. От друга страна, като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използваме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 - низ,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оставяме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свърши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вместо нас по време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асемблирането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ограничителен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сентинел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/знак.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228664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85939"/>
            <a:ext cx="8776151" cy="4751373"/>
          </a:xfrm>
        </p:spPr>
        <p:txBody>
          <a:bodyPr>
            <a:noAutofit/>
          </a:bodyPr>
          <a:lstStyle/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ограничителен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сентинел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знак.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този метод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низовете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съхраняват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завършващ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знак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ограничаване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низ.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Следователно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няма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нужда да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съхранява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изрично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низа.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Предположението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тук е, че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ограничващият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знак 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знак,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който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появява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низ.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Обикновено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използваме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непечатаем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знак,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който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появява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използвахме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ASCII NULL-символ (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прекратяване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Такива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завършващи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NULL,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наричат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ASCIIZ.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string1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’This is OK’,0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string2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’Price = $9.99’,0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121688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336" y="1115616"/>
            <a:ext cx="8776151" cy="5553744"/>
          </a:xfrm>
        </p:spPr>
        <p:txBody>
          <a:bodyPr>
            <a:noAutofit/>
          </a:bodyPr>
          <a:lstStyle/>
          <a:p>
            <a:pPr algn="just"/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Операциите с низове се наричат операции върху низове от байтове. Низът е верига от байтове, за които е известен алгоритъм за определяне на дължината и. Операциите с низове работят с един елемент от низ: байт, дума, двойна дума. За да може една команда да манипулира последователност от такива елементи, се използват префиксни команди. За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обработката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 низови данни, се използват пет команди за обработка на низове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MOVS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изпраща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един байт или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дума от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паметта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друга;</a:t>
            </a:r>
          </a:p>
          <a:p>
            <a:pPr algn="just"/>
            <a:r>
              <a:rPr lang="ru-RU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LODS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зареждане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един байт от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паметта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 или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дума в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AX,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двойна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дума в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STOS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записва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съдържанието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AX или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паметта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r>
              <a:rPr lang="ru-RU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CMPS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сравнява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съдържанието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две области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паметта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един байт или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дума;</a:t>
            </a:r>
          </a:p>
          <a:p>
            <a:pPr algn="just"/>
            <a:r>
              <a:rPr lang="ru-RU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SCAS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сравнява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съдържанието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AX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AX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съдържанието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паметта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2464449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1" y="1484784"/>
            <a:ext cx="8776151" cy="4487254"/>
          </a:xfrm>
        </p:spPr>
        <p:txBody>
          <a:bodyPr>
            <a:noAutofit/>
          </a:bodyPr>
          <a:lstStyle/>
          <a:p>
            <a:pPr algn="just"/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Префикси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повторение </a:t>
            </a:r>
            <a:endParaRPr lang="ru-RU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ts val="2900"/>
              </a:lnSpc>
              <a:spcBef>
                <a:spcPts val="0"/>
              </a:spcBef>
            </a:pP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Префиксите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повторение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предизвикват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повторение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инструкция,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докато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условия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Те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имат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смисъл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само когато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предхождат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инструкции.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Тези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префикси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също са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отговорни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актуализирането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съответните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указатели след всяка итерация с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подходящия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байтове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0" algn="just">
              <a:lnSpc>
                <a:spcPts val="2900"/>
              </a:lnSpc>
              <a:spcBef>
                <a:spcPts val="0"/>
              </a:spcBef>
            </a:pP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 - повторете, докато съдържанието на ECX стане 0.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ts val="2900"/>
              </a:lnSpc>
              <a:spcBef>
                <a:spcPts val="0"/>
              </a:spcBef>
            </a:pP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Префиксът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(repeat while equal)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позволява 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 обработват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 с всякаква дължина.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 при безусловно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повторение. Префиксът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 кодира непосредствено преди инструкцията, например </a:t>
            </a:r>
            <a:endParaRPr lang="bg-BG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REP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MOVS B. </a:t>
            </a:r>
            <a:endParaRPr lang="bg-BG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ts val="2900"/>
              </a:lnSpc>
              <a:spcBef>
                <a:spcPts val="0"/>
              </a:spcBef>
            </a:pP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 използва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префикса REP, трябва да зададете първоначалната стойност в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CX/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CX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регистъра.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2787" y="548680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412274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556792"/>
            <a:ext cx="8776151" cy="5184576"/>
          </a:xfrm>
        </p:spPr>
        <p:txBody>
          <a:bodyPr>
            <a:noAutofit/>
          </a:bodyPr>
          <a:lstStyle/>
          <a:p>
            <a:pPr algn="just">
              <a:lnSpc>
                <a:spcPts val="3200"/>
              </a:lnSpc>
            </a:pP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ECX ≠ 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bg-BG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ts val="3200"/>
              </a:lnSpc>
              <a:spcBef>
                <a:spcPts val="0"/>
              </a:spcBef>
            </a:pP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string instruction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lnSpc>
                <a:spcPts val="3200"/>
              </a:lnSpc>
              <a:spcBef>
                <a:spcPts val="0"/>
              </a:spcBef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ECX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:= ECX–1;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ts val="3200"/>
              </a:lnSpc>
              <a:spcBef>
                <a:spcPts val="0"/>
              </a:spcBef>
            </a:pP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</a:p>
          <a:p>
            <a:pPr algn="just">
              <a:lnSpc>
                <a:spcPts val="32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Първо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ECX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регистърът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ако не е 0, едва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тогава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изпълнява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низ. По този начин, ако ECX е 0 като начало,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изобщо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се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изпълнява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Това е в контраст 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цикъл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която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първо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намалява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след това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дали ECX е 0. Инструкции за низ 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цикъл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ECX = 0 води до максимален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повторения 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обикновено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необходима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jecxz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проверка.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9552" y="548680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464447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01986"/>
            <a:ext cx="8776151" cy="5639382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ru-RU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Префикси </a:t>
            </a:r>
            <a:r>
              <a:rPr lang="ru-RU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повторение </a:t>
            </a:r>
            <a:endParaRPr lang="ru-RU" sz="2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spcBef>
                <a:spcPts val="0"/>
              </a:spcBef>
            </a:pPr>
            <a:r>
              <a:rPr lang="bg-BG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REPE</a:t>
            </a:r>
            <a:r>
              <a:rPr lang="bg-BG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bg-BG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REPZ </a:t>
            </a:r>
            <a:r>
              <a:rPr lang="bg-BG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повторете до </a:t>
            </a:r>
            <a:r>
              <a:rPr lang="bg-BG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равенство</a:t>
            </a:r>
            <a:r>
              <a:rPr lang="bg-BG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bg-BG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нула</a:t>
            </a:r>
            <a:r>
              <a:rPr lang="bg-BG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Този префикс кара командата за низ да бъде изпълнена, докато съдържанието на ECX стане 0</a:t>
            </a:r>
            <a:r>
              <a:rPr lang="bg-BG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1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Това е един от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префикса за условно повторение.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Неговата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работа е подобна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изключение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това, че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повторението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от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нулевия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флаг (ZF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≠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bg-BG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string instruction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bg-BG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ECX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:= ECX–1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bg-BG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(ZF = 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bg-BG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endParaRPr lang="bg-BG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exit loop</a:t>
            </a:r>
            <a:endParaRPr lang="bg-BG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endParaRPr lang="bg-BG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140675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01986"/>
            <a:ext cx="8776151" cy="5639382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ru-RU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Префикси </a:t>
            </a:r>
            <a:r>
              <a:rPr lang="ru-RU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повторение </a:t>
            </a:r>
            <a:endParaRPr lang="ru-RU" sz="2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Максималният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изпълнения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инструкция се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съдържанието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ECX,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префикса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Но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действителният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повторения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състоянието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ZF.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Префиксите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условно повторение са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полезни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инструкции за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cmps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scas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0">
              <a:lnSpc>
                <a:spcPts val="2700"/>
              </a:lnSpc>
              <a:spcBef>
                <a:spcPts val="0"/>
              </a:spcBef>
            </a:pPr>
            <a:r>
              <a:rPr lang="bg-BG" sz="2400" b="1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REPNE</a:t>
            </a:r>
            <a:r>
              <a:rPr lang="bg-BG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bg-BG" sz="2400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</a:t>
            </a:r>
            <a:r>
              <a:rPr lang="en-US" sz="2400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bg-BG" sz="2400" kern="100" dirty="0" smtClean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bg-BG" sz="2400" kern="1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bg-BG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повторете, </a:t>
            </a:r>
            <a:r>
              <a:rPr lang="bg-BG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докато не стане равно</a:t>
            </a:r>
            <a:r>
              <a:rPr lang="bg-BG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bg-BG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нула</a:t>
            </a:r>
            <a:r>
              <a:rPr lang="bg-BG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Този префикс кара командата за низ да бъде изпълнена, докато съдържанието на ECX стане 0.</a:t>
            </a:r>
            <a:endParaRPr lang="en-US" sz="1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ECX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bg-BG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execute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string instruction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bg-BG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ECX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:= ECX–1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bg-BG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(ZF = 1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bg-BG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endParaRPr lang="bg-BG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exit loop</a:t>
            </a:r>
            <a:endParaRPr lang="bg-BG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endParaRPr lang="bg-BG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endParaRPr lang="ru-RU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132637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01986"/>
            <a:ext cx="8776151" cy="5639382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Флаг за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посока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Посоката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операциите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низ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флага за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посока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ова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 един от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битовете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флага.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флагът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посока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(DF) е </a:t>
            </a: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нулиран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(DF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0),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операциите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низа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продължават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посока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напред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(от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главата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опашката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низа);</a:t>
            </a:r>
          </a:p>
          <a:p>
            <a:pPr algn="just">
              <a:spcBef>
                <a:spcPts val="0"/>
              </a:spcBef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противен случай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обработката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извършва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обратна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посока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Налични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 две инструкции за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изрично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манипулиране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флага за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посока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spcBef>
                <a:spcPts val="0"/>
              </a:spcBef>
            </a:pP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direction ﬂag (DF = 1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bg-BG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direction ﬂag (DF = 0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bg-BG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двете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инструкции не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изискват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никакви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операнди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Всяка инструкция 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кодирана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помощта на един байт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отнема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два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тактови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цикъла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изпълнение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Обикновено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няма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значение дали даден низ се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обработва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посока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напред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назад. За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завършващи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ограничителен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знак,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предпочита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посока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напред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обаче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ситуации, при които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определена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посока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задължителна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Например, ако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искаме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изместим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низ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надясно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позиция, трябва да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започнем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опашката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да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продължим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главата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(т.е. да се движим назад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4005437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268760"/>
            <a:ext cx="8776151" cy="5472608"/>
          </a:xfrm>
        </p:spPr>
        <p:txBody>
          <a:bodyPr>
            <a:noAutofit/>
          </a:bodyPr>
          <a:lstStyle/>
          <a:p>
            <a:pPr algn="just">
              <a:lnSpc>
                <a:spcPts val="2800"/>
              </a:lnSpc>
              <a:spcBef>
                <a:spcPts val="0"/>
              </a:spcBef>
            </a:pP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Командите за низове считат, че низът източник се намира на адреса DS:ESI (за нас това е просто ESI), а низът на местоназначение е на адреса ES:EDI (за нас това е просто EDI). Всички редови команди могат да бъдат разделени на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следните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групи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прехвърляне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endParaRPr lang="en-US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MOVSB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копиране на низ от байтове.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800"/>
              </a:lnSpc>
              <a:spcBef>
                <a:spcPts val="0"/>
              </a:spcBef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MOVSW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копиране на низ от думи.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MOVSD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копиране на низ от двойни думи.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800"/>
              </a:lnSpc>
              <a:spcBef>
                <a:spcPts val="0"/>
              </a:spcBef>
            </a:pP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Възможен е и формат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MOVS: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приемник, източник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този случай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асемблерът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въз основа на вида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операндите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коя от трите форми на команди трябва да бъде избрана. </a:t>
            </a:r>
            <a:endParaRPr lang="bg-BG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800"/>
              </a:lnSpc>
              <a:spcBef>
                <a:spcPts val="0"/>
              </a:spcBef>
            </a:pP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Командата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копира низов елемент от ESI-дефиниран адрес на EDI-дефиниран адрес. След изпълнение на такава команда, съдържанието на ESI и EDI се увеличава (флаг DF=0) или намалява (флаг DF=1) с размера на редовия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елемент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endParaRPr lang="ru-RU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409649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268760"/>
            <a:ext cx="8776151" cy="5472608"/>
          </a:xfrm>
        </p:spPr>
        <p:txBody>
          <a:bodyPr>
            <a:noAutofit/>
          </a:bodyPr>
          <a:lstStyle/>
          <a:p>
            <a:pPr algn="just">
              <a:lnSpc>
                <a:spcPts val="2800"/>
              </a:lnSpc>
              <a:spcBef>
                <a:spcPts val="0"/>
              </a:spcBef>
            </a:pPr>
            <a:r>
              <a:rPr lang="ru-RU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ru-RU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</a:t>
            </a:r>
            <a:endParaRPr lang="en-US" sz="2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800"/>
              </a:lnSpc>
              <a:spcBef>
                <a:spcPts val="0"/>
              </a:spcBef>
            </a:pP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cmps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използва за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сравняване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два низа.</a:t>
            </a:r>
          </a:p>
          <a:p>
            <a:pPr algn="just">
              <a:lnSpc>
                <a:spcPts val="2800"/>
              </a:lnSpc>
              <a:spcBef>
                <a:spcPts val="0"/>
              </a:spcBef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CMPSB - сравнение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байтови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ts val="2800"/>
              </a:lnSpc>
              <a:spcBef>
                <a:spcPts val="0"/>
              </a:spcBef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CMPSW - сравнение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думи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ts val="2800"/>
              </a:lnSpc>
              <a:spcBef>
                <a:spcPts val="0"/>
              </a:spcBef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CMPSD - сравнение на двойни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думи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800"/>
              </a:lnSpc>
              <a:spcBef>
                <a:spcPts val="0"/>
              </a:spcBef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омандата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два операнда,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които не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адресирани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нея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тъй като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схемата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адресиране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фиксирана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Тя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използва, ако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предварително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известно, че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низа е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еднаква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Въпреки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поради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малката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разрядната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мрежа,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нейното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изпълнение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същност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последователно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повтарящо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се  (в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цикъл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върху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отделните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порции на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низа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задължително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низовете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намират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един сегмент, т.е. те могат да са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достатъчно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далеко един от друг. 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Резултатът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низа е актуализация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флаговия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която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обикновено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използва при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следващи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условни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преходи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ts val="2800"/>
              </a:lnSpc>
              <a:spcBef>
                <a:spcPts val="0"/>
              </a:spcBef>
            </a:pPr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3795112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268760"/>
            <a:ext cx="8776151" cy="5472608"/>
          </a:xfrm>
        </p:spPr>
        <p:txBody>
          <a:bodyPr>
            <a:noAutofit/>
          </a:bodyPr>
          <a:lstStyle/>
          <a:p>
            <a:r>
              <a:rPr lang="bg-BG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bg-BG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Команди за търсене</a:t>
            </a:r>
            <a:r>
              <a:rPr lang="bg-BG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SCAS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сканиране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низ) е полезна при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търсене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определена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знак в низ.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трябва да е в AL (за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scasb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AX (за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scasw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или EAX (за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scasd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а ES:EDI трябва да сочи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към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низа, в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който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търси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SCASB – търсене на </a:t>
            </a:r>
            <a:r>
              <a:rPr lang="bg-BG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байтов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SCASW - търсене на низ от думи.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SCASD - търсене на низ от двойни думи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800"/>
              </a:lnSpc>
              <a:spcBef>
                <a:spcPts val="0"/>
              </a:spcBef>
            </a:pP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SCAS се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 при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търсене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елемент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низ,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еднакъв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зададения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А, или различен от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зададения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предхождащия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префикс:      </a:t>
            </a:r>
            <a:endParaRPr lang="ru-RU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800"/>
              </a:lnSpc>
              <a:spcBef>
                <a:spcPts val="0"/>
              </a:spcBef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REPNE 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SCASB  - е команда,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търсеща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първия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еднакъв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елемент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повтаряй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докато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lnSpc>
                <a:spcPts val="2800"/>
              </a:lnSpc>
              <a:spcBef>
                <a:spcPts val="0"/>
              </a:spcBef>
            </a:pP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  SCASB   - е команда,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търсеща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първия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различен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елемент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повтаряй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докато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еднакви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ru-RU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800"/>
              </a:lnSpc>
              <a:spcBef>
                <a:spcPts val="0"/>
              </a:spcBef>
            </a:pPr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3851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776151" cy="5328592"/>
          </a:xfrm>
        </p:spPr>
        <p:txBody>
          <a:bodyPr>
            <a:noAutofit/>
          </a:bodyPr>
          <a:lstStyle/>
          <a:p>
            <a:r>
              <a:rPr lang="bg-BG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Команди за четене от </a:t>
            </a:r>
            <a:r>
              <a:rPr lang="bg-BG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низ</a:t>
            </a:r>
            <a:endParaRPr lang="en-US" sz="2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spcBef>
                <a:spcPts val="0"/>
              </a:spcBef>
            </a:pP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Тази инструкция копира стойността от изходния низ (посочен от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DS:ESI) </a:t>
            </a:r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паметта в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lodsb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AX (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lodsw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EAX (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flodsd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LODSB - четене на байт от низ.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LODSW - четене на дума от низ.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LODSD - четене на двойна дума от низ.</a:t>
            </a:r>
            <a:endParaRPr lang="en-US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spcBef>
                <a:spcPts val="0"/>
              </a:spcBef>
            </a:pP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След изпълнение на такава команда EDI съдържанието се увеличава с размера на редовия елемент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ts val="2800"/>
              </a:lnSpc>
              <a:spcBef>
                <a:spcPts val="0"/>
              </a:spcBef>
            </a:pP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 тази инструкция и</a:t>
            </a:r>
            <a:r>
              <a:rPr lang="ru-RU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зползването</a:t>
            </a:r>
            <a:r>
              <a:rPr lang="ru-RU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префикса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няма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смисъл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тъй като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остави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само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последната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AL, AX или EAX.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инструкция, заедно с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stos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често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използва, когато се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изисква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обработка при </a:t>
            </a:r>
            <a:r>
              <a:rPr lang="ru-RU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копиране</a:t>
            </a:r>
            <a:r>
              <a:rPr lang="ru-RU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низ.</a:t>
            </a:r>
            <a:endParaRPr lang="en-US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800"/>
              </a:lnSpc>
              <a:spcBef>
                <a:spcPts val="0"/>
              </a:spcBef>
            </a:pPr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2787" y="404664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196568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76151" cy="5544616"/>
          </a:xfrm>
        </p:spPr>
        <p:txBody>
          <a:bodyPr>
            <a:noAutofit/>
          </a:bodyPr>
          <a:lstStyle/>
          <a:p>
            <a:r>
              <a:rPr lang="bg-B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bg-B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 за запис в низ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STOSB - запис на байт в низ.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STOSW - писане на дума в низ.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STOSD - писане на двойна дума в низ.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Възможен е и форматът </a:t>
            </a:r>
            <a:r>
              <a:rPr lang="bg-B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STOS: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приемник, източник - в този случай асемблерът, въз основа на вида на операндите, сам определя коя от трите форми на команди трябва да бъде избрана. Командата копира елемент от AL, AX или EAX в паметта, адресирана от EDI. След изпълнение на такава команда EDI съдържанието се увеличава с размера на редовия елемент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800"/>
              </a:lnSpc>
              <a:spcBef>
                <a:spcPts val="0"/>
              </a:spcBef>
            </a:pPr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383531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15616"/>
            <a:ext cx="8776151" cy="533772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bg-BG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 E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</a:t>
            </a:r>
          </a:p>
          <a:p>
            <a:pPr>
              <a:spcBef>
                <a:spcPts val="0"/>
              </a:spcBef>
            </a:pPr>
            <a:endParaRPr 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Директивата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EQU се използва за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даване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някаква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символ.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Всеки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път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когато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асемблерът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намери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дадените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имена в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той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замени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името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символ.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диапазона от 0 до 65535 и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деклариран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навсякъде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по-горе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по-долу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EQU  &lt;операнд&gt; </a:t>
            </a:r>
            <a:endParaRPr 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конструкция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името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операндът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задължителни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елементи, при това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операндът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трябва да е само един. </a:t>
            </a:r>
            <a:endParaRPr 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Присвояване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единични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абсолютни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символите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  100   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;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N=100</a:t>
            </a:r>
          </a:p>
          <a:p>
            <a:pPr>
              <a:spcBef>
                <a:spcPts val="0"/>
              </a:spcBef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  EQU 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2*N-1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; K=199</a:t>
            </a:r>
          </a:p>
          <a:p>
            <a:pPr>
              <a:spcBef>
                <a:spcPts val="0"/>
              </a:spcBef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  “*” 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;  Star=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2Ah (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според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ASCII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Ако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дясната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част 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директивата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EQU се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намира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константен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израз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записаното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ляво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представлява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константата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израза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константа..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всички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следващи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обръщения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към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указаните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имена,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същите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бъдат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замествани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съответните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константни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Така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името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N,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употребено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директивата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X  DB  N  DUP(?) я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еквивалентна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следната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X  DB  100  DUP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(?)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413076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6"/>
            <a:ext cx="9036496" cy="562575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bg-BG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 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bg-BG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Присвояване на произволен текст</a:t>
            </a:r>
          </a:p>
          <a:p>
            <a:pPr>
              <a:spcBef>
                <a:spcPts val="0"/>
              </a:spcBef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S  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     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message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</a:p>
          <a:p>
            <a:pPr>
              <a:spcBef>
                <a:spcPts val="0"/>
              </a:spcBef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LX  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   X+(N-1) 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WP 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   WORD  PTR  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Приема се,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употребеното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указва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операнд в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онзи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вид, в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който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записан (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операндът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се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изчислява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Именно с този текст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подменяно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даденото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при всяко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влизане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програмата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 се, за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 се 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въведат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по-кратки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означения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често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срещащи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дълги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текстове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Срещайки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кратко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асемблерът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подменя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съответния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текст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автоматично. В 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текстът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могат да се използват имена, които са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директивата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EQU, а така също и имена,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след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Присвояване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стойностите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предварително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дефинирани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изрази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към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нови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като по този начин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позволява да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използвате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мнемоники за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цели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A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DW  ?   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B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  A   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C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DW  B               ; 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еквивалентно: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 DW  A 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Изчисляване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изрази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чиито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неизвестни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време на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кодиране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трудни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изчисляване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След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това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изразите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присвоява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символ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Присвояване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атрибути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тип на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имплицитно или явно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Присвояване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тип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тип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11460" y="17346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33994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6"/>
            <a:ext cx="9036496" cy="612068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Директиви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размера</a:t>
            </a:r>
            <a:endParaRPr 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Предвиденият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елемента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данни на даден адрес 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паметта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изведен от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кода за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асемблиране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която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споменава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</a:t>
            </a:r>
            <a:r>
              <a:rPr lang="bg-BG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размерът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областите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паметта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изведен от размера 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регистърния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операнд. Когато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зареждаме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32-битов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асемблерът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 заключи, че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паметта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широка 4 байта. Когато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съхраняваме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еднобайтов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регистър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паметта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асемблерът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 заключи, че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искаме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адресът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отнася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един байт в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паметта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някои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случаи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обаче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размерът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препратената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паметта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двусмислен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ebx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2. Трябва ли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инструкция да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премести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в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единичния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байт на адрес EBX?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би трябва да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премести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32-битовото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цяло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число на 2 в 4-байта,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започвайки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адрес EBX. Тъй като и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двете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 валидна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възможна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интерпретация,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асемблерът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трябва да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бъде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изрично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указан кое е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правилното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Директивите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размер BYTE PTR, WORD PTR и DWORD PTR служат за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цел, като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посочват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размери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съответно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1, 2 и 4 байта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spcBef>
                <a:spcPts val="0"/>
              </a:spcBef>
            </a:pP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BYTE PTR [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ebx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bg-BG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2 into the single byte at the address stored in EBX.</a:t>
            </a:r>
          </a:p>
          <a:p>
            <a:pPr>
              <a:spcBef>
                <a:spcPts val="0"/>
              </a:spcBef>
            </a:pP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 PTR [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ebx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bg-BG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the 16-bit integer representation of 2 into the </a:t>
            </a:r>
            <a:endParaRPr lang="bg-BG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bg-BG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bytes starting at the address in EBX.</a:t>
            </a:r>
          </a:p>
          <a:p>
            <a:pPr>
              <a:spcBef>
                <a:spcPts val="0"/>
              </a:spcBef>
            </a:pP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DWORD PTR [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ebx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2  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the 32-bit integer representation of 2 into the </a:t>
            </a:r>
            <a:endParaRPr lang="bg-BG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bg-BG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bytes starting at the address in EBX.</a:t>
            </a:r>
          </a:p>
          <a:p>
            <a:pPr>
              <a:spcBef>
                <a:spcPts val="0"/>
              </a:spcBef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11460" y="17346"/>
            <a:ext cx="8229600" cy="782960"/>
          </a:xfrm>
        </p:spPr>
        <p:txBody>
          <a:bodyPr>
            <a:normAutofit/>
          </a:bodyPr>
          <a:lstStyle/>
          <a:p>
            <a:r>
              <a:rPr lang="en-US" sz="37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– x86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70498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4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 инструкции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ARM</a:t>
            </a:r>
            <a:endParaRPr lang="en-US" sz="4400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457200" y="1331640"/>
            <a:ext cx="8229600" cy="4992960"/>
          </a:xfrm>
        </p:spPr>
        <p:txBody>
          <a:bodyPr>
            <a:norm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Въвеждането на стрингове с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процесора става с директивите: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ascii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“string”[,”string”,…]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asciz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“string”[,”string”,…]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.string[8|16|32|64]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“string”[.”string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”,…]</a:t>
            </a:r>
            <a:endParaRPr lang="bg-B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g-B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Когато работим със символи използваме най-често използвания код е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ASCII</a:t>
            </a:r>
            <a:r>
              <a:rPr lang="bg-B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въпреки, че съществуват и други.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Работим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стандартните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седембитови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ASCII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кодове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където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кодът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символа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заема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седемте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нисши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бита на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байта, а най-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значимият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бит 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или бит за паритет.</a:t>
            </a:r>
            <a:endParaRPr lang="bg-B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351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4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 инструкции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ARM</a:t>
            </a:r>
            <a:endParaRPr lang="en-US" sz="4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Контейнер за съдържание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31640"/>
                <a:ext cx="8229600" cy="5265712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ru-RU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Основните </a:t>
                </a:r>
                <a:r>
                  <a:rPr lang="ru-RU" sz="23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принципи</a:t>
                </a:r>
                <a:r>
                  <a:rPr lang="ru-RU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работа с ASCII-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кодирани</a:t>
                </a:r>
                <a:r>
                  <a:rPr lang="ru-RU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данни са:</a:t>
                </a:r>
              </a:p>
              <a:p>
                <a:pPr algn="just"/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Кодовете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за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цифрите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:r>
                  <a:rPr lang="ru-RU" sz="23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буквите</a:t>
                </a:r>
                <a:r>
                  <a:rPr lang="ru-RU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3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образуват</a:t>
                </a:r>
                <a:r>
                  <a:rPr lang="ru-RU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3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подредени</a:t>
                </a:r>
                <a:r>
                  <a:rPr lang="ru-RU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3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последователности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ru-RU" sz="23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ru-RU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Тъй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като ASCII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кодовете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за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знаците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от “0” до “9” са </a:t>
                </a:r>
                <a:r>
                  <a:rPr lang="ru-RU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30</m:t>
                        </m:r>
                      </m:e>
                      <m:sub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sz="23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ru-RU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можете да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преобразуватедесетична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цифра в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еквивалентни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ASCII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знаци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(и ASCII в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десетична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чрез просто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добавяне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ASCII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отместване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30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ASCII “0”. </a:t>
                </a:r>
                <a:endParaRPr lang="ru-RU" sz="23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ru-RU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Тъй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като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кодовете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за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букви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3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41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ru-RU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ru-RU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ru-RU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61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m:rPr>
                            <m:nor/>
                          </m:rPr>
                          <a:rPr lang="ru-RU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ru-RU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са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подредени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можете да подредите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низовете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азбученред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като ги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сортиратеспоред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техните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цифровистойности</a:t>
                </a:r>
                <a:r>
                  <a:rPr lang="ru-RU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3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Компютърът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не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правиразлика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между </a:t>
                </a:r>
                <a:r>
                  <a:rPr lang="ru-RU" sz="23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печата</a:t>
                </a:r>
                <a:r>
                  <a:rPr lang="bg-BG" sz="23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еми</a:t>
                </a:r>
                <a:r>
                  <a:rPr lang="ru-RU" sz="23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непечатаемизнаци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Само I/0 </a:t>
                </a:r>
                <a:r>
                  <a:rPr lang="ru-RU" sz="23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устройствата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правят това разграничение. </a:t>
                </a:r>
                <a:endParaRPr lang="ru-RU" sz="23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Контейнер за съдържание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31640"/>
                <a:ext cx="8229600" cy="5265712"/>
              </a:xfrm>
              <a:blipFill>
                <a:blip r:embed="rId2"/>
                <a:stretch>
                  <a:fillRect l="-815" t="-926" r="-1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0562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4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 инструкции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ARM</a:t>
            </a:r>
            <a:endParaRPr lang="en-US" sz="4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Контейнер за съдържание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31640"/>
                <a:ext cx="8229600" cy="5337720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ru-RU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ASCII I/0 устройство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обработва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данни само в ASCII. </a:t>
                </a:r>
                <a:r>
                  <a:rPr lang="ru-RU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Например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ако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искате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ASCII да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отпечатацифрата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„7</a:t>
                </a:r>
                <a:r>
                  <a:rPr lang="ru-RU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 на </a:t>
                </a:r>
                <a:r>
                  <a:rPr lang="ru-RU" sz="22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екрана</a:t>
                </a:r>
                <a:r>
                  <a:rPr lang="ru-RU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трябва да я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изпратите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bg-BG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37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ru-RU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като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данни; </a:t>
                </a:r>
                <a:r>
                  <a:rPr lang="en-US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bg-BG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 </a:t>
                </a:r>
                <a:r>
                  <a:rPr lang="bg-BG" sz="22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изпр</a:t>
                </a:r>
                <a:r>
                  <a:rPr lang="en-US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bg-BG" sz="22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тите</a:t>
                </a:r>
                <a:r>
                  <a:rPr lang="bg-BG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ru-RU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то ще </a:t>
                </a:r>
                <a:r>
                  <a:rPr lang="ru-RU" sz="22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предизвика</a:t>
                </a:r>
                <a:r>
                  <a:rPr lang="ru-RU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звуков сигнал.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същия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начин, ако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потребителнатисне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клавиша „9“ на ASCII клавиатура,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входните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данни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щебъдат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bg-BG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bg-BG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09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е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клавишътtab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ru-RU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Много ASCII устройства не използват целия набор от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знаци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Например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устройстватаможе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да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игнорират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много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контролнизнаци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да не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отпечатват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малки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букви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ru-RU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ru-RU" sz="22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Въпреки</a:t>
                </a:r>
                <a:r>
                  <a:rPr lang="ru-RU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дефиницията</a:t>
                </a:r>
                <a:r>
                  <a:rPr lang="ru-RU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</a:t>
                </a:r>
                <a:r>
                  <a:rPr lang="ru-RU" sz="22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контролните</a:t>
                </a:r>
                <a:r>
                  <a:rPr lang="ru-RU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знаци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много устройства ги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интерпретират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 различен начин. Например те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обикновено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използват </a:t>
                </a:r>
                <a:r>
                  <a:rPr lang="ru-RU" sz="22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контролни</a:t>
                </a:r>
                <a:r>
                  <a:rPr lang="ru-RU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знаци</a:t>
                </a:r>
                <a:r>
                  <a:rPr lang="ru-RU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специален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начин, за да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осигурят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функции като управление на курсора на дисплея и да позволят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софтуерно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управление на характеристики като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скорост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предаване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данни, ширина на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печат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дължина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</a:t>
                </a:r>
                <a:r>
                  <a:rPr lang="ru-RU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реда</a:t>
                </a:r>
                <a:r>
                  <a:rPr lang="ru-RU" sz="2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Контейнер за съдържание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31640"/>
                <a:ext cx="8229600" cy="5337720"/>
              </a:xfrm>
              <a:blipFill>
                <a:blip r:embed="rId2"/>
                <a:stretch>
                  <a:fillRect l="-593" t="-685" r="-963" b="-7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6755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4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 инструкции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ARM</a:t>
            </a:r>
            <a:endParaRPr lang="en-US" sz="4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Контейнер за съдържание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31640"/>
                <a:ext cx="8229600" cy="499296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Някои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широко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използвани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ASCII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контролнизнаци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са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bg-B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LF </a:t>
                </a:r>
                <a:r>
                  <a:rPr lang="bg-B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нов ред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bg-B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 </a:t>
                </a:r>
                <a:r>
                  <a:rPr lang="bg-B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връщане на </a:t>
                </a:r>
                <a:r>
                  <a:rPr lang="bg-B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каретката в началото на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08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bg-B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BS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backspace </a:t>
                </a:r>
                <a:endParaRPr lang="bg-BG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  <m:r>
                          <a:rPr lang="bg-BG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 </a:t>
                </a:r>
                <a:r>
                  <a:rPr lang="bg-B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изтрийте </a:t>
                </a:r>
                <a:r>
                  <a:rPr lang="bg-B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символ</a:t>
                </a:r>
              </a:p>
              <a:p>
                <a:pPr algn="just"/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Всеки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ASCII знак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заема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осем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бита. Това позволява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голям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набор от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символи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но е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разточително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когато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всъщност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се използват само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няколко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знака. Ако, например,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данните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се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състоят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изцяло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десетични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числа,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форматът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ASCII (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позволяващ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една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цифра на байт)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изисква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два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пъти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повече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място за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съхранение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комуникационен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капацитет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време за обработка,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отколкото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форматът</a:t>
                </a:r>
                <a:r>
                  <a:rPr lang="ru-RU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BCD (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позволяващ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две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цифри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байт).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Контейнер за съдържание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31640"/>
                <a:ext cx="8229600" cy="4992960"/>
              </a:xfrm>
              <a:blipFill>
                <a:blip r:embed="rId2"/>
                <a:stretch>
                  <a:fillRect l="-741" t="-1707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8402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4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 инструкции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ARM</a:t>
            </a:r>
            <a:endParaRPr lang="en-US" sz="4400" dirty="0"/>
          </a:p>
        </p:txBody>
      </p:sp>
      <p:pic>
        <p:nvPicPr>
          <p:cNvPr id="4" name="Контейнер за съдържание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708" y="1628800"/>
            <a:ext cx="8634583" cy="432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907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4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 инструкции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ARM</a:t>
            </a:r>
            <a:endParaRPr lang="en-US" sz="4400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39816"/>
          </a:xfrm>
        </p:spPr>
        <p:txBody>
          <a:bodyPr>
            <a:normAutofit fontScale="92500" lnSpcReduction="10000"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Асемблерът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включва функция,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която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прави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знаково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кодираните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данни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лесни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обработка,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единичните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кавички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около символа показват ASCII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знака.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 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MOV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R3, #’A’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същото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като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MOV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R3, #0x41.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Първата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е за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предпочитане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поради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няколко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причини.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Повишава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четливостта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също така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избягва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грешки, които могат да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възникнат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търсене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таблица.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ASCII като набор от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тъй като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асемблерът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преобразуването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използвайки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какъвто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да е код, за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който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3974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4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 инструкции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ARM</a:t>
            </a:r>
            <a:endParaRPr lang="en-US" sz="4400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251520" y="1484784"/>
            <a:ext cx="8640960" cy="4911824"/>
          </a:xfrm>
        </p:spPr>
        <p:txBody>
          <a:bodyPr>
            <a:normAutofit/>
          </a:bodyPr>
          <a:lstStyle/>
          <a:p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Символни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Индивидуалните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сами по себе си не са толкова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използваеми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Като хора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нуждаем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знаци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за да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формираме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смислен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текст.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асемблерното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програмиране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нормално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налага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обработва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само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знак.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семблерът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 позволява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съхраняваме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 от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директивата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DCB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bg-B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DCB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"Hello, World",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</a:t>
            </a:r>
            <a:endParaRPr lang="bg-B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48 65 6C 6C 6F 2C 20 57 6F 72 6C 64 0D </a:t>
            </a:r>
            <a:endParaRPr lang="bg-B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 e l l o , SP W o r l d CR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8046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4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 инструкции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ARM</a:t>
            </a:r>
            <a:endParaRPr lang="en-US" sz="4400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251520" y="1259632"/>
            <a:ext cx="8640960" cy="5409728"/>
          </a:xfrm>
        </p:spPr>
        <p:txBody>
          <a:bodyPr>
            <a:normAutofit fontScale="70000" lnSpcReduction="20000"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фиксирана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Низът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фиксирана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предварително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определен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размер. Например, в система, за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която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известно, че всички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десет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символа, можем просто да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запазим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байта за низа.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Това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незабавни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предимства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тъй като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просто в сравнение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алтернативните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методи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имаме нужда само от един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етикет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масив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можем да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изчислим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началната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позиция на n-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 чрез просто умножение.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Това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предимство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обаче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недостатък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Например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човек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всичко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два знака до произволен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знаци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Въпреки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 би било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възможно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запази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достатъчно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място за най-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дългите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имена, това количество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необходимо за всички имена,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включително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двубуквените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Това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значителна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загуба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Би било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възможно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запазите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само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десет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знака за всяко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Когато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появи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две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букви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трябва да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подплатено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интервали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за да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десет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знака. Когато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появи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по-дълго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десет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знака, то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трябва да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съкратено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само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десет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знака, като по този начин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отрязва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част от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Това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изисква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допълнителна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обработка и не 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съвсем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удобно за потребители, които случайно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Когато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малко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памет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всички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известни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предварително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е добра идея да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фиксирана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Например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управлявани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склонни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използват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фиксирана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списъка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156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4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 инструкции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ARM</a:t>
            </a:r>
            <a:endParaRPr lang="en-US" sz="4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Контейнер за съдържание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259632"/>
                <a:ext cx="8640960" cy="5409728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Завършенинизове</a:t>
                </a:r>
                <a:endParaRPr lang="ru-RU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Завършен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низ е този,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който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може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бъде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произволна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дължина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използва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специален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символ за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отбелязване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края на низа, този знак е известен като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ограничител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сентинел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/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През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годините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са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използвани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няколко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различни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сентинела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като те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включват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$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26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EOT (Край на текст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04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CR (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Връщане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каретката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LF (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Отиване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нов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ред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и NUL (Без символ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bg-BG" sz="20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</a:p>
              <a:p>
                <a:pPr algn="just"/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Днес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най-често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използваният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ограничител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символът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NUL.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Представен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е от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стойността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0,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няма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друго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значение и е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по-лесен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за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откриване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от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всеки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друг. Това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често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се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нарича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низ с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нула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или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нулев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край или просто ASCIIZ низ.</a:t>
                </a:r>
              </a:p>
              <a:p>
                <a:pPr algn="just"/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Завършеният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низ има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предимството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че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може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да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бъде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произволна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дължина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Обработката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низа е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доста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проста,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влизате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цикъл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обработващвсеки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знак,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докато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се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стигне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 ограничителя.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Недостатъкът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е, че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ограничителят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не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може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да се включи в низа. Това е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ощеедна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причина,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поради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която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символът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NUL е толкова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добър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избор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 стража.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Контейнер за съдържание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259632"/>
                <a:ext cx="8640960" cy="5409728"/>
              </a:xfrm>
              <a:blipFill>
                <a:blip r:embed="rId2"/>
                <a:stretch>
                  <a:fillRect l="-423" t="-676" r="-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956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400" dirty="0" err="1">
                <a:latin typeface="Times New Roman" pitchFamily="18" charset="0"/>
                <a:cs typeface="Times New Roman" pitchFamily="18" charset="0"/>
              </a:rPr>
              <a:t>Стрингови</a:t>
            </a:r>
            <a:r>
              <a:rPr lang="ru-RU" sz="4400" dirty="0">
                <a:latin typeface="Times New Roman" pitchFamily="18" charset="0"/>
                <a:cs typeface="Times New Roman" pitchFamily="18" charset="0"/>
              </a:rPr>
              <a:t> инструкции</a:t>
            </a:r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ARM</a:t>
            </a:r>
            <a:endParaRPr lang="en-US" sz="4400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251520" y="1259632"/>
            <a:ext cx="8640960" cy="5409728"/>
          </a:xfrm>
        </p:spPr>
        <p:txBody>
          <a:bodyPr>
            <a:noAutofit/>
          </a:bodyPr>
          <a:lstStyle/>
          <a:p>
            <a:pPr algn="just"/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Преброени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Преброен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 е този, в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който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първите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един или два байта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съдържат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дължината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низа в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Така един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преброен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произволен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брой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знаци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най-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голямото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число без знак, което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бъде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съхранено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първия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байт/дума. Един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преброен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изглежда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тромав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началото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Наличието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дължината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низа като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двоична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има ясно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предимство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 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завършения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низ.Позволява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използването на инструкции за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броене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които са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включени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много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набори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инструкции. Това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означава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че можем да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игнорираме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тестването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ограничителен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знак и просто да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намалим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нашия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брояч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това е много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по-бърз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 на работа. 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сканираме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през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масив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просто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посочваме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първия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 и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добавяме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броя на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дължината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към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нашия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указател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за да получим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началото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следващия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низ. За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прекратен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трябва да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сканираме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стража за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всеки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низ. Има два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недостатъка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преброения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низ.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Низът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има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максимална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дължина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255 знака или 64K в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размера на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стойността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броя (8- или 16-битова).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Въпреки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обикновено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смята, че 64K трябва да са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достатъчни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повечето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низове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Вторият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недостатък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тяхната предполагаема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Счита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се,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сложността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преброения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надвишава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предимството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скоростта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3577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016" y="1043608"/>
            <a:ext cx="8605464" cy="5570975"/>
          </a:xfrm>
        </p:spPr>
        <p:txBody>
          <a:bodyPr>
            <a:noAutofit/>
          </a:bodyPr>
          <a:lstStyle/>
          <a:p>
            <a:pPr algn="just">
              <a:lnSpc>
                <a:spcPts val="3000"/>
              </a:lnSpc>
              <a:spcBef>
                <a:spcPts val="0"/>
              </a:spcBef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3000"/>
              </a:lnSpc>
              <a:spcBef>
                <a:spcPts val="0"/>
              </a:spcBef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3000"/>
              </a:lnSpc>
              <a:spcBef>
                <a:spcPts val="0"/>
              </a:spcBef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3000"/>
              </a:lnSpc>
              <a:spcBef>
                <a:spcPts val="0"/>
              </a:spcBef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ts val="3000"/>
              </a:lnSpc>
              <a:spcBef>
                <a:spcPts val="0"/>
              </a:spcBef>
            </a:pPr>
            <a:r>
              <a:rPr lang="bg-BG" b="1" dirty="0">
                <a:latin typeface="Times New Roman" pitchFamily="18" charset="0"/>
                <a:cs typeface="Times New Roman" pitchFamily="18" charset="0"/>
              </a:rPr>
              <a:t>Задача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1</a:t>
            </a:r>
            <a:r>
              <a:rPr lang="bg-BG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паметта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се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намира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низ. Напишете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програма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за IA-32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u </a:t>
            </a:r>
            <a:r>
              <a:rPr lang="en-US" b="1" dirty="0"/>
              <a:t>Arm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която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променя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първия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срещнат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символ "*"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със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символа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".".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93204" y="188640"/>
            <a:ext cx="8229600" cy="85496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bg-BG" sz="4000" b="1" dirty="0"/>
          </a:p>
        </p:txBody>
      </p:sp>
    </p:spTree>
    <p:extLst>
      <p:ext uri="{BB962C8B-B14F-4D97-AF65-F5344CB8AC3E}">
        <p14:creationId xmlns:p14="http://schemas.microsoft.com/office/powerpoint/2010/main" val="36634133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016" y="116632"/>
            <a:ext cx="8605464" cy="6912768"/>
          </a:xfrm>
        </p:spPr>
        <p:txBody>
          <a:bodyPr>
            <a:noAutofit/>
          </a:bodyPr>
          <a:lstStyle/>
          <a:p>
            <a:pPr algn="just">
              <a:lnSpc>
                <a:spcPts val="3000"/>
              </a:lnSpc>
              <a:spcBef>
                <a:spcPts val="0"/>
              </a:spcBef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ts val="3000"/>
              </a:lnSpc>
              <a:spcBef>
                <a:spcPts val="0"/>
              </a:spcBef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93204" y="188640"/>
            <a:ext cx="8229600" cy="85496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bg-BG" sz="4000" b="1" dirty="0"/>
          </a:p>
        </p:txBody>
      </p:sp>
      <p:sp>
        <p:nvSpPr>
          <p:cNvPr id="2" name="Правоъгълник 1"/>
          <p:cNvSpPr/>
          <p:nvPr/>
        </p:nvSpPr>
        <p:spPr>
          <a:xfrm>
            <a:off x="532128" y="836712"/>
            <a:ext cx="806489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/>
              <a:t>.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486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.model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flat,stdcall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includelib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\masm32\lib\kernel32.lib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ExitProcess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proto:DWORD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.data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N1    	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	'Hello, *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Boss'     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	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$-N1		   ;Length of N1    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.code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    	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&lt;-0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edi,N1	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of 1-st elem. of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ecx,k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loops=length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al,'*'	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 for comparison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repne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scasb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[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]-(al)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jne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fin		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;if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equal to "*"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byte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[edi-1],"."	</a:t>
            </a:r>
            <a:r>
              <a:rPr lang="bg-BG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"." instead "*"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fin:	</a:t>
            </a:r>
            <a:endParaRPr lang="bg-BG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Invoke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ExitProcess,0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   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14031852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404664"/>
            <a:ext cx="8640960" cy="63367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.text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.global start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 	</a:t>
            </a:r>
          </a:p>
          <a:p>
            <a:pPr marL="0" indent="0">
              <a:buNone/>
            </a:pPr>
            <a:r>
              <a:rPr lang="bg-BG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r0,=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bg-BG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r2,=k		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r2,[r2]		;Length of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-&gt;r2, loops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r1,#'.'		;r1=new symbol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next:	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ldrb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r5,[r0]		;</a:t>
            </a:r>
            <a:r>
              <a:rPr lang="en-US" sz="17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bg-BG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of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-&gt;r5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cmp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r5,#'*'		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bne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not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strb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r1,[r0]		;Change with stored in r1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add	r0,r0,#1		;Next symbol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the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subs	r2,r2,#1		;loops=loops-1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bne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next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0x11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.data		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k:	.word	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bg-BG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	.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Ascii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"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bg-BG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*Boss" 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7561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775920"/>
          </a:xfrm>
        </p:spPr>
        <p:txBody>
          <a:bodyPr/>
          <a:lstStyle/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r>
              <a:rPr lang="bg-B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bg-B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Копирайте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низ,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намиращ се в паметта на друго място </a:t>
            </a:r>
            <a:r>
              <a:rPr lang="bg-BG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го поставете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след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оригиналния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низ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SrtA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Името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копирания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низ е 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StrB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Напишете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програмата за IA-32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ARM</a:t>
            </a:r>
            <a:r>
              <a:rPr lang="bg-B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3459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79512" y="764704"/>
            <a:ext cx="8784976" cy="597666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486</a:t>
            </a:r>
          </a:p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.model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flat,stdcall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includelib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\masm32\lib\kernel32.lib</a:t>
            </a:r>
          </a:p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ExitProcess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proto:DWORD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.data</a:t>
            </a:r>
          </a:p>
          <a:p>
            <a:pPr>
              <a:spcBef>
                <a:spcPts val="0"/>
              </a:spcBef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'Hello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Boss!'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	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$-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;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Stra,Strb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dup("-")   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;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Reserve memory for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Strb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	.code</a:t>
            </a:r>
          </a:p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  </a:t>
            </a:r>
          </a:p>
          <a:p>
            <a:pPr>
              <a:spcBef>
                <a:spcPts val="0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Processung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strings in ricing order of addresses</a:t>
            </a:r>
          </a:p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&lt;-0</a:t>
            </a:r>
          </a:p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lea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of 1-st elem.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      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of 1-st elem.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Strb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ecx,k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;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loops=length</a:t>
            </a:r>
          </a:p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rep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movsb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;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times byte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Strb,and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;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increase by 1 (length of the elements)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esi,edi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Invoke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ExitProcess,0</a:t>
            </a:r>
          </a:p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13491100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760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.text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.global start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start: 	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r0,=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;Current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r2,=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Strb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; Current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Strb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sub	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r4,r2,r0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;Length of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-&gt;r2, loops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next:	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ldrb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r5,[r0],#1	;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of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-&gt;r1;r1++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strb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r5,[r2],#1	;Current el. of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Strb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subs 	r4,r4,#1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bne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next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0x11</a:t>
            </a: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.data		</a:t>
            </a:r>
          </a:p>
          <a:p>
            <a:pPr marL="0" indent="0">
              <a:buNone/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Ascii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"Hello, Boss!"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Strb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Ascii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"---------------"	;Reserve memory for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Strb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.end</a:t>
            </a:r>
          </a:p>
        </p:txBody>
      </p:sp>
    </p:spTree>
    <p:extLst>
      <p:ext uri="{BB962C8B-B14F-4D97-AF65-F5344CB8AC3E}">
        <p14:creationId xmlns:p14="http://schemas.microsoft.com/office/powerpoint/2010/main" val="38082010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815A41C86513B4096C6BAC35CB04A7C" ma:contentTypeVersion="11" ma:contentTypeDescription="Създаване на нов документ" ma:contentTypeScope="" ma:versionID="aeaffb348d2b52f24d410ae28bdf175e">
  <xsd:schema xmlns:xsd="http://www.w3.org/2001/XMLSchema" xmlns:xs="http://www.w3.org/2001/XMLSchema" xmlns:p="http://schemas.microsoft.com/office/2006/metadata/properties" xmlns:ns2="1170580e-cc85-4814-90d0-7c45caf95435" xmlns:ns3="fa43d559-56ce-40e4-b5e0-b1d2f1c6a948" targetNamespace="http://schemas.microsoft.com/office/2006/metadata/properties" ma:root="true" ma:fieldsID="2b6c80141cda9f3fb17d02d04063fe73" ns2:_="" ns3:_="">
    <xsd:import namespace="1170580e-cc85-4814-90d0-7c45caf95435"/>
    <xsd:import namespace="fa43d559-56ce-40e4-b5e0-b1d2f1c6a9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70580e-cc85-4814-90d0-7c45caf954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Етикети за изображения" ma:readOnly="false" ma:fieldId="{5cf76f15-5ced-4ddc-b409-7134ff3c332f}" ma:taxonomyMulti="true" ma:sspId="f94169f7-4ae2-4031-b8fa-636baa109d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43d559-56ce-40e4-b5e0-b1d2f1c6a94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8ac84de-a7dc-4418-88f8-8ba02af593f2}" ma:internalName="TaxCatchAll" ma:showField="CatchAllData" ma:web="fa43d559-56ce-40e4-b5e0-b1d2f1c6a9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a43d559-56ce-40e4-b5e0-b1d2f1c6a948" xsi:nil="true"/>
    <lcf76f155ced4ddcb4097134ff3c332f xmlns="1170580e-cc85-4814-90d0-7c45caf9543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18BE853-A973-45DB-A33D-57E50CCF2BED}"/>
</file>

<file path=customXml/itemProps2.xml><?xml version="1.0" encoding="utf-8"?>
<ds:datastoreItem xmlns:ds="http://schemas.openxmlformats.org/officeDocument/2006/customXml" ds:itemID="{DE49165A-B99D-4B77-A96C-287103B1C054}"/>
</file>

<file path=customXml/itemProps3.xml><?xml version="1.0" encoding="utf-8"?>
<ds:datastoreItem xmlns:ds="http://schemas.openxmlformats.org/officeDocument/2006/customXml" ds:itemID="{30EA5E55-0214-41B2-BAA8-B84FDF12EFBE}"/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9779</TotalTime>
  <Words>3670</Words>
  <Application>Microsoft Office PowerPoint</Application>
  <PresentationFormat>Презентация на цял екран (4:3)</PresentationFormat>
  <Paragraphs>299</Paragraphs>
  <Slides>36</Slides>
  <Notes>1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36</vt:i4>
      </vt:variant>
    </vt:vector>
  </HeadingPairs>
  <TitlesOfParts>
    <vt:vector size="43" baseType="lpstr">
      <vt:lpstr>Calibri</vt:lpstr>
      <vt:lpstr>Cambria Math</vt:lpstr>
      <vt:lpstr>Constantia</vt:lpstr>
      <vt:lpstr>Times New Roman</vt:lpstr>
      <vt:lpstr>Wingdings</vt:lpstr>
      <vt:lpstr>Wingdings 2</vt:lpstr>
      <vt:lpstr>Flow</vt:lpstr>
      <vt:lpstr>Стрингови инструкции. Операции над символни низове. </vt:lpstr>
      <vt:lpstr> Стрингови инструкции.</vt:lpstr>
      <vt:lpstr> Стрингови инструкции – x86</vt:lpstr>
      <vt:lpstr> Стрингови инструкции – x86</vt:lpstr>
      <vt:lpstr> Стрингови инструкции – x86</vt:lpstr>
      <vt:lpstr> Стрингови инструкции – x86</vt:lpstr>
      <vt:lpstr> Стрингови инструкции – x86</vt:lpstr>
      <vt:lpstr> Стрингови инструкции – x86</vt:lpstr>
      <vt:lpstr> Стрингови инструкции – x86</vt:lpstr>
      <vt:lpstr> Стрингови инструкции – x86</vt:lpstr>
      <vt:lpstr> Стрингови инструкции – x86</vt:lpstr>
      <vt:lpstr> Стрингови инструкции – x86</vt:lpstr>
      <vt:lpstr> Стрингови инструкции – x86</vt:lpstr>
      <vt:lpstr> Стрингови инструкции – x86</vt:lpstr>
      <vt:lpstr> Стрингови инструкции – x86</vt:lpstr>
      <vt:lpstr> Стрингови инструкции – x86</vt:lpstr>
      <vt:lpstr> Стрингови инструкции – x86</vt:lpstr>
      <vt:lpstr> Стрингови инструкции – x86</vt:lpstr>
      <vt:lpstr> Стрингови инструкции – x86</vt:lpstr>
      <vt:lpstr> Стрингови инструкции – x86</vt:lpstr>
      <vt:lpstr> Стрингови инструкции – ARM</vt:lpstr>
      <vt:lpstr> Стрингови инструкции – ARM</vt:lpstr>
      <vt:lpstr> Стрингови инструкции – ARM</vt:lpstr>
      <vt:lpstr> Стрингови инструкции – ARM</vt:lpstr>
      <vt:lpstr> Стрингови инструкции – ARM</vt:lpstr>
      <vt:lpstr> Стрингови инструкции – ARM</vt:lpstr>
      <vt:lpstr> Стрингови инструкции – ARM</vt:lpstr>
      <vt:lpstr> Стрингови инструкции – ARM</vt:lpstr>
      <vt:lpstr> Стрингови инструкции – ARM</vt:lpstr>
      <vt:lpstr> Стрингови инструкции – ARM</vt:lpstr>
      <vt:lpstr> </vt:lpstr>
      <vt:lpstr>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Програмен модел на микропроцесор IA-32. Методи за адресация. Формати на данните. Структура на паметта. Таблица с инструкции за микропроцесора.</dc:title>
  <dc:creator>Desi</dc:creator>
  <cp:lastModifiedBy>acer</cp:lastModifiedBy>
  <cp:revision>430</cp:revision>
  <dcterms:created xsi:type="dcterms:W3CDTF">2024-02-15T19:55:55Z</dcterms:created>
  <dcterms:modified xsi:type="dcterms:W3CDTF">2024-04-28T16:56:12Z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0x0101002815A41C86513B4096C6BAC35CB04A7C</vt:lpwstr>
  </property>
</Properties>
</file>
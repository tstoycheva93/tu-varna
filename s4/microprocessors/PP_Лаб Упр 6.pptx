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48"/>
  </p:notesMasterIdLst>
  <p:sldIdLst>
    <p:sldId id="256" r:id="rId5"/>
    <p:sldId id="381" r:id="rId6"/>
    <p:sldId id="402" r:id="rId7"/>
    <p:sldId id="404" r:id="rId8"/>
    <p:sldId id="405" r:id="rId9"/>
    <p:sldId id="406" r:id="rId10"/>
    <p:sldId id="407" r:id="rId11"/>
    <p:sldId id="408" r:id="rId12"/>
    <p:sldId id="421" r:id="rId13"/>
    <p:sldId id="439" r:id="rId14"/>
    <p:sldId id="429" r:id="rId15"/>
    <p:sldId id="409" r:id="rId16"/>
    <p:sldId id="410" r:id="rId17"/>
    <p:sldId id="412" r:id="rId18"/>
    <p:sldId id="427" r:id="rId19"/>
    <p:sldId id="428" r:id="rId20"/>
    <p:sldId id="413" r:id="rId21"/>
    <p:sldId id="414" r:id="rId22"/>
    <p:sldId id="415" r:id="rId23"/>
    <p:sldId id="416" r:id="rId24"/>
    <p:sldId id="417" r:id="rId25"/>
    <p:sldId id="418" r:id="rId26"/>
    <p:sldId id="419" r:id="rId27"/>
    <p:sldId id="430" r:id="rId28"/>
    <p:sldId id="422" r:id="rId29"/>
    <p:sldId id="426" r:id="rId30"/>
    <p:sldId id="423" r:id="rId31"/>
    <p:sldId id="435" r:id="rId32"/>
    <p:sldId id="434" r:id="rId33"/>
    <p:sldId id="424" r:id="rId34"/>
    <p:sldId id="440" r:id="rId35"/>
    <p:sldId id="441" r:id="rId36"/>
    <p:sldId id="442" r:id="rId37"/>
    <p:sldId id="431" r:id="rId38"/>
    <p:sldId id="432" r:id="rId39"/>
    <p:sldId id="443" r:id="rId40"/>
    <p:sldId id="433" r:id="rId41"/>
    <p:sldId id="444" r:id="rId42"/>
    <p:sldId id="436" r:id="rId43"/>
    <p:sldId id="437" r:id="rId44"/>
    <p:sldId id="446" r:id="rId45"/>
    <p:sldId id="438" r:id="rId46"/>
    <p:sldId id="445" r:id="rId47"/>
  </p:sldIdLst>
  <p:sldSz cx="9144000" cy="6858000" type="screen4x3"/>
  <p:notesSz cx="6858000" cy="9144000"/>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A038C0-D572-406F-B41D-5161435EC8D6}" v="1" dt="2024-05-07T22:31:40.299"/>
  </p1510:revLst>
</p1510:revInfo>
</file>

<file path=ppt/tableStyles.xml><?xml version="1.0" encoding="utf-8"?>
<a:tblStyleLst xmlns:a="http://schemas.openxmlformats.org/drawingml/2006/main" def="{5C22544A-7EE6-4342-B048-85BDC9FD1C3A}">
  <a:tblStyle styleId="{5C22544A-7EE6-4342-B048-85BDC9FD1C3A}" styleName="Среден стил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АНТОН ЧАВДАРОВ АНТОНОВ СИТ 2к - 22621643" userId="S::s22621643@onlineedu.tu-varna.bg::80ece6ec-8317-4a30-a793-8ac648fcd58d" providerId="AD" clId="Web-{F6B142FC-2345-559E-53E4-1ACEE60A4C80}"/>
    <pc:docChg chg="modSld">
      <pc:chgData name="АНТОН ЧАВДАРОВ АНТОНОВ СИТ 2к - 22621643" userId="S::s22621643@onlineedu.tu-varna.bg::80ece6ec-8317-4a30-a793-8ac648fcd58d" providerId="AD" clId="Web-{F6B142FC-2345-559E-53E4-1ACEE60A4C80}" dt="2024-04-02T19:13:30.958" v="3" actId="20577"/>
      <pc:docMkLst>
        <pc:docMk/>
      </pc:docMkLst>
      <pc:sldChg chg="modSp">
        <pc:chgData name="АНТОН ЧАВДАРОВ АНТОНОВ СИТ 2к - 22621643" userId="S::s22621643@onlineedu.tu-varna.bg::80ece6ec-8317-4a30-a793-8ac648fcd58d" providerId="AD" clId="Web-{F6B142FC-2345-559E-53E4-1ACEE60A4C80}" dt="2024-04-02T19:13:30.958" v="3" actId="20577"/>
        <pc:sldMkLst>
          <pc:docMk/>
          <pc:sldMk cId="1403185233" sldId="432"/>
        </pc:sldMkLst>
        <pc:spChg chg="mod">
          <ac:chgData name="АНТОН ЧАВДАРОВ АНТОНОВ СИТ 2к - 22621643" userId="S::s22621643@onlineedu.tu-varna.bg::80ece6ec-8317-4a30-a793-8ac648fcd58d" providerId="AD" clId="Web-{F6B142FC-2345-559E-53E4-1ACEE60A4C80}" dt="2024-04-02T19:13:30.958" v="3" actId="20577"/>
          <ac:spMkLst>
            <pc:docMk/>
            <pc:sldMk cId="1403185233" sldId="432"/>
            <ac:spMk id="3" creationId="{00000000-0000-0000-0000-000000000000}"/>
          </ac:spMkLst>
        </pc:spChg>
      </pc:sldChg>
    </pc:docChg>
  </pc:docChgLst>
  <pc:docChgLst>
    <pc:chgData name="Васил Светославов Милчев СИТ - 22621756" userId="S::s22621756@onlineedu.tu-varna.bg::014a3ec0-56ee-4655-b19b-012e005fde27" providerId="AD" clId="Web-{4A160028-DE5F-48A8-BA1D-8F0CCAD9EE1D}"/>
    <pc:docChg chg="modSld">
      <pc:chgData name="Васил Светославов Милчев СИТ - 22621756" userId="S::s22621756@onlineedu.tu-varna.bg::014a3ec0-56ee-4655-b19b-012e005fde27" providerId="AD" clId="Web-{4A160028-DE5F-48A8-BA1D-8F0CCAD9EE1D}" dt="2024-04-04T20:15:41.925" v="1"/>
      <pc:docMkLst>
        <pc:docMk/>
      </pc:docMkLst>
      <pc:sldChg chg="mod setBg">
        <pc:chgData name="Васил Светославов Милчев СИТ - 22621756" userId="S::s22621756@onlineedu.tu-varna.bg::014a3ec0-56ee-4655-b19b-012e005fde27" providerId="AD" clId="Web-{4A160028-DE5F-48A8-BA1D-8F0CCAD9EE1D}" dt="2024-04-04T20:15:41.925" v="1"/>
        <pc:sldMkLst>
          <pc:docMk/>
          <pc:sldMk cId="0" sldId="256"/>
        </pc:sldMkLst>
      </pc:sldChg>
    </pc:docChg>
  </pc:docChgLst>
  <pc:docChgLst>
    <pc:chgData name="СТЕЛИАН РОСЕНОВ ХРИСТОВ СИТ 2к - 22621629" userId="S::s22621629@onlineedu.tu-varna.bg::530564da-cda2-4d9d-9550-a9be6be0c61a" providerId="AD" clId="Web-{ED98F82C-5659-EB07-E445-DC40303BEB3A}"/>
    <pc:docChg chg="modSld">
      <pc:chgData name="СТЕЛИАН РОСЕНОВ ХРИСТОВ СИТ 2к - 22621629" userId="S::s22621629@onlineedu.tu-varna.bg::530564da-cda2-4d9d-9550-a9be6be0c61a" providerId="AD" clId="Web-{ED98F82C-5659-EB07-E445-DC40303BEB3A}" dt="2024-04-03T13:09:13.344" v="3" actId="20577"/>
      <pc:docMkLst>
        <pc:docMk/>
      </pc:docMkLst>
      <pc:sldChg chg="modSp">
        <pc:chgData name="СТЕЛИАН РОСЕНОВ ХРИСТОВ СИТ 2к - 22621629" userId="S::s22621629@onlineedu.tu-varna.bg::530564da-cda2-4d9d-9550-a9be6be0c61a" providerId="AD" clId="Web-{ED98F82C-5659-EB07-E445-DC40303BEB3A}" dt="2024-04-03T13:09:13.344" v="3" actId="20577"/>
        <pc:sldMkLst>
          <pc:docMk/>
          <pc:sldMk cId="1395011413" sldId="412"/>
        </pc:sldMkLst>
        <pc:spChg chg="mod">
          <ac:chgData name="СТЕЛИАН РОСЕНОВ ХРИСТОВ СИТ 2к - 22621629" userId="S::s22621629@onlineedu.tu-varna.bg::530564da-cda2-4d9d-9550-a9be6be0c61a" providerId="AD" clId="Web-{ED98F82C-5659-EB07-E445-DC40303BEB3A}" dt="2024-04-03T13:09:13.344" v="3" actId="20577"/>
          <ac:spMkLst>
            <pc:docMk/>
            <pc:sldMk cId="1395011413" sldId="412"/>
            <ac:spMk id="3" creationId="{00000000-0000-0000-0000-000000000000}"/>
          </ac:spMkLst>
        </pc:spChg>
      </pc:sldChg>
    </pc:docChg>
  </pc:docChgLst>
  <pc:docChgLst>
    <pc:chgData name="ХРИСТИЯН ВЕСЕЛИНОВ КЕРКЕНЕЗОВ СИТ 2к - 22621617" userId="S::s22621617@onlineedu.tu-varna.bg::2225cf94-7c32-4fb4-a69a-6ff6b76627da" providerId="AD" clId="Web-{A3E7593C-C250-43E8-98E4-413597D26A29}"/>
    <pc:docChg chg="modSld">
      <pc:chgData name="ХРИСТИЯН ВЕСЕЛИНОВ КЕРКЕНЕЗОВ СИТ 2к - 22621617" userId="S::s22621617@onlineedu.tu-varna.bg::2225cf94-7c32-4fb4-a69a-6ff6b76627da" providerId="AD" clId="Web-{A3E7593C-C250-43E8-98E4-413597D26A29}" dt="2024-03-30T14:03:46.123" v="2" actId="20577"/>
      <pc:docMkLst>
        <pc:docMk/>
      </pc:docMkLst>
      <pc:sldChg chg="modSp">
        <pc:chgData name="ХРИСТИЯН ВЕСЕЛИНОВ КЕРКЕНЕЗОВ СИТ 2к - 22621617" userId="S::s22621617@onlineedu.tu-varna.bg::2225cf94-7c32-4fb4-a69a-6ff6b76627da" providerId="AD" clId="Web-{A3E7593C-C250-43E8-98E4-413597D26A29}" dt="2024-03-30T14:03:46.123" v="2" actId="20577"/>
        <pc:sldMkLst>
          <pc:docMk/>
          <pc:sldMk cId="1403185233" sldId="432"/>
        </pc:sldMkLst>
        <pc:spChg chg="mod">
          <ac:chgData name="ХРИСТИЯН ВЕСЕЛИНОВ КЕРКЕНЕЗОВ СИТ 2к - 22621617" userId="S::s22621617@onlineedu.tu-varna.bg::2225cf94-7c32-4fb4-a69a-6ff6b76627da" providerId="AD" clId="Web-{A3E7593C-C250-43E8-98E4-413597D26A29}" dt="2024-03-30T14:03:46.123" v="2" actId="20577"/>
          <ac:spMkLst>
            <pc:docMk/>
            <pc:sldMk cId="1403185233" sldId="432"/>
            <ac:spMk id="3" creationId="{00000000-0000-0000-0000-000000000000}"/>
          </ac:spMkLst>
        </pc:spChg>
      </pc:sldChg>
    </pc:docChg>
  </pc:docChgLst>
  <pc:docChgLst>
    <pc:chgData name="ВАСИЛ ГЕОРГИЕВ ГЕОРГИЕВ СИТ 2к - 22621719" userId="S::s22621719@onlineedu.tu-varna.bg::ffbd1e50-0574-4dfa-93c2-cacc07b205c2" providerId="AD" clId="Web-{1A05C299-8223-45B6-A39E-11F772BD6EE2}"/>
    <pc:docChg chg="addSld delSld">
      <pc:chgData name="ВАСИЛ ГЕОРГИЕВ ГЕОРГИЕВ СИТ 2к - 22621719" userId="S::s22621719@onlineedu.tu-varna.bg::ffbd1e50-0574-4dfa-93c2-cacc07b205c2" providerId="AD" clId="Web-{1A05C299-8223-45B6-A39E-11F772BD6EE2}" dt="2024-04-02T16:39:50.733" v="1"/>
      <pc:docMkLst>
        <pc:docMk/>
      </pc:docMkLst>
      <pc:sldChg chg="add del">
        <pc:chgData name="ВАСИЛ ГЕОРГИЕВ ГЕОРГИЕВ СИТ 2к - 22621719" userId="S::s22621719@onlineedu.tu-varna.bg::ffbd1e50-0574-4dfa-93c2-cacc07b205c2" providerId="AD" clId="Web-{1A05C299-8223-45B6-A39E-11F772BD6EE2}" dt="2024-04-02T16:39:50.733" v="1"/>
        <pc:sldMkLst>
          <pc:docMk/>
          <pc:sldMk cId="980756182" sldId="433"/>
        </pc:sldMkLst>
      </pc:sldChg>
    </pc:docChg>
  </pc:docChgLst>
  <pc:docChgLst>
    <pc:chgData name="ЯНА  АМПОВА СИТ 2к - 22621751" userId="S::s22621751@onlineedu.tu-varna.bg::e3fef173-1d60-411b-802f-d8b58aa20486" providerId="AD" clId="Web-{39173CE1-1082-47BA-A126-026891B6BB7B}"/>
    <pc:docChg chg="addSld delSld">
      <pc:chgData name="ЯНА  АМПОВА СИТ 2к - 22621751" userId="S::s22621751@onlineedu.tu-varna.bg::e3fef173-1d60-411b-802f-d8b58aa20486" providerId="AD" clId="Web-{39173CE1-1082-47BA-A126-026891B6BB7B}" dt="2024-03-30T15:55:34.696" v="1"/>
      <pc:docMkLst>
        <pc:docMk/>
      </pc:docMkLst>
      <pc:sldChg chg="new del">
        <pc:chgData name="ЯНА  АМПОВА СИТ 2к - 22621751" userId="S::s22621751@onlineedu.tu-varna.bg::e3fef173-1d60-411b-802f-d8b58aa20486" providerId="AD" clId="Web-{39173CE1-1082-47BA-A126-026891B6BB7B}" dt="2024-03-30T15:55:34.696" v="1"/>
        <pc:sldMkLst>
          <pc:docMk/>
          <pc:sldMk cId="4030224146" sldId="447"/>
        </pc:sldMkLst>
      </pc:sldChg>
    </pc:docChg>
  </pc:docChgLst>
  <pc:docChgLst>
    <pc:chgData name="ЛЪЧЕЗАР ЙОРДАНОВ РАДУШЕВ СИТ 2к - 22621679" userId="S::s22621679@onlineedu.tu-varna.bg::2857b464-4fcf-4a6e-b549-87a1475ec596" providerId="AD" clId="Web-{C923FF49-7C8C-BDCE-23DA-A995A0B544CD}"/>
    <pc:docChg chg="modSld">
      <pc:chgData name="ЛЪЧЕЗАР ЙОРДАНОВ РАДУШЕВ СИТ 2к - 22621679" userId="S::s22621679@onlineedu.tu-varna.bg::2857b464-4fcf-4a6e-b549-87a1475ec596" providerId="AD" clId="Web-{C923FF49-7C8C-BDCE-23DA-A995A0B544CD}" dt="2024-04-03T11:35:45.232" v="31" actId="20577"/>
      <pc:docMkLst>
        <pc:docMk/>
      </pc:docMkLst>
      <pc:sldChg chg="modSp">
        <pc:chgData name="ЛЪЧЕЗАР ЙОРДАНОВ РАДУШЕВ СИТ 2к - 22621679" userId="S::s22621679@onlineedu.tu-varna.bg::2857b464-4fcf-4a6e-b549-87a1475ec596" providerId="AD" clId="Web-{C923FF49-7C8C-BDCE-23DA-A995A0B544CD}" dt="2024-04-03T11:34:54.152" v="0" actId="20577"/>
        <pc:sldMkLst>
          <pc:docMk/>
          <pc:sldMk cId="2747026337" sldId="402"/>
        </pc:sldMkLst>
        <pc:spChg chg="mod">
          <ac:chgData name="ЛЪЧЕЗАР ЙОРДАНОВ РАДУШЕВ СИТ 2к - 22621679" userId="S::s22621679@onlineedu.tu-varna.bg::2857b464-4fcf-4a6e-b549-87a1475ec596" providerId="AD" clId="Web-{C923FF49-7C8C-BDCE-23DA-A995A0B544CD}" dt="2024-04-03T11:34:54.152" v="0" actId="20577"/>
          <ac:spMkLst>
            <pc:docMk/>
            <pc:sldMk cId="2747026337" sldId="402"/>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4:55.043" v="1" actId="20577"/>
        <pc:sldMkLst>
          <pc:docMk/>
          <pc:sldMk cId="1867159908" sldId="404"/>
        </pc:sldMkLst>
        <pc:spChg chg="mod">
          <ac:chgData name="ЛЪЧЕЗАР ЙОРДАНОВ РАДУШЕВ СИТ 2к - 22621679" userId="S::s22621679@onlineedu.tu-varna.bg::2857b464-4fcf-4a6e-b549-87a1475ec596" providerId="AD" clId="Web-{C923FF49-7C8C-BDCE-23DA-A995A0B544CD}" dt="2024-04-03T11:34:55.043" v="1" actId="20577"/>
          <ac:spMkLst>
            <pc:docMk/>
            <pc:sldMk cId="1867159908" sldId="404"/>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45.232" v="31" actId="20577"/>
        <pc:sldMkLst>
          <pc:docMk/>
          <pc:sldMk cId="4171859255" sldId="405"/>
        </pc:sldMkLst>
        <pc:spChg chg="mod">
          <ac:chgData name="ЛЪЧЕЗАР ЙОРДАНОВ РАДУШЕВ СИТ 2к - 22621679" userId="S::s22621679@onlineedu.tu-varna.bg::2857b464-4fcf-4a6e-b549-87a1475ec596" providerId="AD" clId="Web-{C923FF49-7C8C-BDCE-23DA-A995A0B544CD}" dt="2024-04-03T11:35:45.232" v="31" actId="20577"/>
          <ac:spMkLst>
            <pc:docMk/>
            <pc:sldMk cId="4171859255" sldId="405"/>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44.357" v="30" actId="20577"/>
        <pc:sldMkLst>
          <pc:docMk/>
          <pc:sldMk cId="4024228298" sldId="406"/>
        </pc:sldMkLst>
        <pc:spChg chg="mod">
          <ac:chgData name="ЛЪЧЕЗАР ЙОРДАНОВ РАДУШЕВ СИТ 2к - 22621679" userId="S::s22621679@onlineedu.tu-varna.bg::2857b464-4fcf-4a6e-b549-87a1475ec596" providerId="AD" clId="Web-{C923FF49-7C8C-BDCE-23DA-A995A0B544CD}" dt="2024-04-03T11:35:44.357" v="30" actId="20577"/>
          <ac:spMkLst>
            <pc:docMk/>
            <pc:sldMk cId="4024228298" sldId="406"/>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43.139" v="29" actId="20577"/>
        <pc:sldMkLst>
          <pc:docMk/>
          <pc:sldMk cId="30016893" sldId="407"/>
        </pc:sldMkLst>
        <pc:spChg chg="mod">
          <ac:chgData name="ЛЪЧЕЗАР ЙОРДАНОВ РАДУШЕВ СИТ 2к - 22621679" userId="S::s22621679@onlineedu.tu-varna.bg::2857b464-4fcf-4a6e-b549-87a1475ec596" providerId="AD" clId="Web-{C923FF49-7C8C-BDCE-23DA-A995A0B544CD}" dt="2024-04-03T11:35:43.139" v="29" actId="20577"/>
          <ac:spMkLst>
            <pc:docMk/>
            <pc:sldMk cId="30016893" sldId="407"/>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08.872" v="12" actId="20577"/>
        <pc:sldMkLst>
          <pc:docMk/>
          <pc:sldMk cId="3123212323" sldId="408"/>
        </pc:sldMkLst>
        <pc:spChg chg="mod">
          <ac:chgData name="ЛЪЧЕЗАР ЙОРДАНОВ РАДУШЕВ СИТ 2к - 22621679" userId="S::s22621679@onlineedu.tu-varna.bg::2857b464-4fcf-4a6e-b549-87a1475ec596" providerId="AD" clId="Web-{C923FF49-7C8C-BDCE-23DA-A995A0B544CD}" dt="2024-04-03T11:35:08.872" v="12" actId="20577"/>
          <ac:spMkLst>
            <pc:docMk/>
            <pc:sldMk cId="3123212323" sldId="408"/>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39.013" v="26" actId="20577"/>
        <pc:sldMkLst>
          <pc:docMk/>
          <pc:sldMk cId="211805119" sldId="409"/>
        </pc:sldMkLst>
        <pc:spChg chg="mod">
          <ac:chgData name="ЛЪЧЕЗАР ЙОРДАНОВ РАДУШЕВ СИТ 2к - 22621679" userId="S::s22621679@onlineedu.tu-varna.bg::2857b464-4fcf-4a6e-b549-87a1475ec596" providerId="AD" clId="Web-{C923FF49-7C8C-BDCE-23DA-A995A0B544CD}" dt="2024-04-03T11:35:39.013" v="26" actId="20577"/>
          <ac:spMkLst>
            <pc:docMk/>
            <pc:sldMk cId="211805119" sldId="409"/>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38.029" v="25" actId="20577"/>
        <pc:sldMkLst>
          <pc:docMk/>
          <pc:sldMk cId="2360438000" sldId="410"/>
        </pc:sldMkLst>
        <pc:spChg chg="mod">
          <ac:chgData name="ЛЪЧЕЗАР ЙОРДАНОВ РАДУШЕВ СИТ 2к - 22621679" userId="S::s22621679@onlineedu.tu-varna.bg::2857b464-4fcf-4a6e-b549-87a1475ec596" providerId="AD" clId="Web-{C923FF49-7C8C-BDCE-23DA-A995A0B544CD}" dt="2024-04-03T11:35:38.029" v="25" actId="20577"/>
          <ac:spMkLst>
            <pc:docMk/>
            <pc:sldMk cId="2360438000" sldId="410"/>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36.685" v="24" actId="20577"/>
        <pc:sldMkLst>
          <pc:docMk/>
          <pc:sldMk cId="1395011413" sldId="412"/>
        </pc:sldMkLst>
        <pc:spChg chg="mod">
          <ac:chgData name="ЛЪЧЕЗАР ЙОРДАНОВ РАДУШЕВ СИТ 2к - 22621679" userId="S::s22621679@onlineedu.tu-varna.bg::2857b464-4fcf-4a6e-b549-87a1475ec596" providerId="AD" clId="Web-{C923FF49-7C8C-BDCE-23DA-A995A0B544CD}" dt="2024-04-03T11:35:36.685" v="24" actId="20577"/>
          <ac:spMkLst>
            <pc:docMk/>
            <pc:sldMk cId="1395011413" sldId="412"/>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4:57.574" v="2" actId="20577"/>
        <pc:sldMkLst>
          <pc:docMk/>
          <pc:sldMk cId="399828290" sldId="413"/>
        </pc:sldMkLst>
        <pc:spChg chg="mod">
          <ac:chgData name="ЛЪЧЕЗАР ЙОРДАНОВ РАДУШЕВ СИТ 2к - 22621679" userId="S::s22621679@onlineedu.tu-varna.bg::2857b464-4fcf-4a6e-b549-87a1475ec596" providerId="AD" clId="Web-{C923FF49-7C8C-BDCE-23DA-A995A0B544CD}" dt="2024-04-03T11:34:57.574" v="2" actId="20577"/>
          <ac:spMkLst>
            <pc:docMk/>
            <pc:sldMk cId="399828290" sldId="413"/>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4:58.293" v="3" actId="20577"/>
        <pc:sldMkLst>
          <pc:docMk/>
          <pc:sldMk cId="406350551" sldId="414"/>
        </pc:sldMkLst>
        <pc:spChg chg="mod">
          <ac:chgData name="ЛЪЧЕЗАР ЙОРДАНОВ РАДУШЕВ СИТ 2к - 22621679" userId="S::s22621679@onlineedu.tu-varna.bg::2857b464-4fcf-4a6e-b549-87a1475ec596" providerId="AD" clId="Web-{C923FF49-7C8C-BDCE-23DA-A995A0B544CD}" dt="2024-04-03T11:34:58.293" v="3" actId="20577"/>
          <ac:spMkLst>
            <pc:docMk/>
            <pc:sldMk cId="406350551" sldId="414"/>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00.778" v="4" actId="20577"/>
        <pc:sldMkLst>
          <pc:docMk/>
          <pc:sldMk cId="406791262" sldId="415"/>
        </pc:sldMkLst>
        <pc:spChg chg="mod">
          <ac:chgData name="ЛЪЧЕЗАР ЙОРДАНОВ РАДУШЕВ СИТ 2к - 22621679" userId="S::s22621679@onlineedu.tu-varna.bg::2857b464-4fcf-4a6e-b549-87a1475ec596" providerId="AD" clId="Web-{C923FF49-7C8C-BDCE-23DA-A995A0B544CD}" dt="2024-04-03T11:35:00.778" v="4" actId="20577"/>
          <ac:spMkLst>
            <pc:docMk/>
            <pc:sldMk cId="406791262" sldId="415"/>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01.887" v="5" actId="20577"/>
        <pc:sldMkLst>
          <pc:docMk/>
          <pc:sldMk cId="1106282450" sldId="416"/>
        </pc:sldMkLst>
        <pc:spChg chg="mod">
          <ac:chgData name="ЛЪЧЕЗАР ЙОРДАНОВ РАДУШЕВ СИТ 2к - 22621679" userId="S::s22621679@onlineedu.tu-varna.bg::2857b464-4fcf-4a6e-b549-87a1475ec596" providerId="AD" clId="Web-{C923FF49-7C8C-BDCE-23DA-A995A0B544CD}" dt="2024-04-03T11:35:01.887" v="5" actId="20577"/>
          <ac:spMkLst>
            <pc:docMk/>
            <pc:sldMk cId="1106282450" sldId="416"/>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02.450" v="6" actId="20577"/>
        <pc:sldMkLst>
          <pc:docMk/>
          <pc:sldMk cId="1768914198" sldId="417"/>
        </pc:sldMkLst>
        <pc:spChg chg="mod">
          <ac:chgData name="ЛЪЧЕЗАР ЙОРДАНОВ РАДУШЕВ СИТ 2к - 22621679" userId="S::s22621679@onlineedu.tu-varna.bg::2857b464-4fcf-4a6e-b549-87a1475ec596" providerId="AD" clId="Web-{C923FF49-7C8C-BDCE-23DA-A995A0B544CD}" dt="2024-04-03T11:35:02.450" v="6" actId="20577"/>
          <ac:spMkLst>
            <pc:docMk/>
            <pc:sldMk cId="1768914198" sldId="417"/>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03.481" v="7" actId="20577"/>
        <pc:sldMkLst>
          <pc:docMk/>
          <pc:sldMk cId="3824738404" sldId="418"/>
        </pc:sldMkLst>
        <pc:spChg chg="mod">
          <ac:chgData name="ЛЪЧЕЗАР ЙОРДАНОВ РАДУШЕВ СИТ 2к - 22621679" userId="S::s22621679@onlineedu.tu-varna.bg::2857b464-4fcf-4a6e-b549-87a1475ec596" providerId="AD" clId="Web-{C923FF49-7C8C-BDCE-23DA-A995A0B544CD}" dt="2024-04-03T11:35:03.481" v="7" actId="20577"/>
          <ac:spMkLst>
            <pc:docMk/>
            <pc:sldMk cId="3824738404" sldId="418"/>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04.825" v="8" actId="20577"/>
        <pc:sldMkLst>
          <pc:docMk/>
          <pc:sldMk cId="354811199" sldId="419"/>
        </pc:sldMkLst>
        <pc:spChg chg="mod">
          <ac:chgData name="ЛЪЧЕЗАР ЙОРДАНОВ РАДУШЕВ СИТ 2к - 22621679" userId="S::s22621679@onlineedu.tu-varna.bg::2857b464-4fcf-4a6e-b549-87a1475ec596" providerId="AD" clId="Web-{C923FF49-7C8C-BDCE-23DA-A995A0B544CD}" dt="2024-04-03T11:35:04.825" v="8" actId="20577"/>
          <ac:spMkLst>
            <pc:docMk/>
            <pc:sldMk cId="354811199" sldId="419"/>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42.076" v="28" actId="20577"/>
        <pc:sldMkLst>
          <pc:docMk/>
          <pc:sldMk cId="1127699644" sldId="421"/>
        </pc:sldMkLst>
        <pc:spChg chg="mod">
          <ac:chgData name="ЛЪЧЕЗАР ЙОРДАНОВ РАДУШЕВ СИТ 2к - 22621679" userId="S::s22621679@onlineedu.tu-varna.bg::2857b464-4fcf-4a6e-b549-87a1475ec596" providerId="AD" clId="Web-{C923FF49-7C8C-BDCE-23DA-A995A0B544CD}" dt="2024-04-03T11:35:42.076" v="28" actId="20577"/>
          <ac:spMkLst>
            <pc:docMk/>
            <pc:sldMk cId="1127699644" sldId="421"/>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06.840" v="10" actId="20577"/>
        <pc:sldMkLst>
          <pc:docMk/>
          <pc:sldMk cId="3212038800" sldId="422"/>
        </pc:sldMkLst>
        <pc:spChg chg="mod">
          <ac:chgData name="ЛЪЧЕЗАР ЙОРДАНОВ РАДУШЕВ СИТ 2к - 22621679" userId="S::s22621679@onlineedu.tu-varna.bg::2857b464-4fcf-4a6e-b549-87a1475ec596" providerId="AD" clId="Web-{C923FF49-7C8C-BDCE-23DA-A995A0B544CD}" dt="2024-04-03T11:35:06.840" v="10" actId="20577"/>
          <ac:spMkLst>
            <pc:docMk/>
            <pc:sldMk cId="3212038800" sldId="422"/>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18.310" v="13" actId="20577"/>
        <pc:sldMkLst>
          <pc:docMk/>
          <pc:sldMk cId="2971279610" sldId="423"/>
        </pc:sldMkLst>
        <pc:spChg chg="mod">
          <ac:chgData name="ЛЪЧЕЗАР ЙОРДАНОВ РАДУШЕВ СИТ 2к - 22621679" userId="S::s22621679@onlineedu.tu-varna.bg::2857b464-4fcf-4a6e-b549-87a1475ec596" providerId="AD" clId="Web-{C923FF49-7C8C-BDCE-23DA-A995A0B544CD}" dt="2024-04-03T11:35:18.310" v="13" actId="20577"/>
          <ac:spMkLst>
            <pc:docMk/>
            <pc:sldMk cId="2971279610" sldId="423"/>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22.232" v="16" actId="20577"/>
        <pc:sldMkLst>
          <pc:docMk/>
          <pc:sldMk cId="1859834848" sldId="424"/>
        </pc:sldMkLst>
        <pc:spChg chg="mod">
          <ac:chgData name="ЛЪЧЕЗАР ЙОРДАНОВ РАДУШЕВ СИТ 2к - 22621679" userId="S::s22621679@onlineedu.tu-varna.bg::2857b464-4fcf-4a6e-b549-87a1475ec596" providerId="AD" clId="Web-{C923FF49-7C8C-BDCE-23DA-A995A0B544CD}" dt="2024-04-03T11:35:22.232" v="16" actId="20577"/>
          <ac:spMkLst>
            <pc:docMk/>
            <pc:sldMk cId="1859834848" sldId="424"/>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07.809" v="11" actId="20577"/>
        <pc:sldMkLst>
          <pc:docMk/>
          <pc:sldMk cId="2849617271" sldId="427"/>
        </pc:sldMkLst>
        <pc:spChg chg="mod">
          <ac:chgData name="ЛЪЧЕЗАР ЙОРДАНОВ РАДУШЕВ СИТ 2к - 22621679" userId="S::s22621679@onlineedu.tu-varna.bg::2857b464-4fcf-4a6e-b549-87a1475ec596" providerId="AD" clId="Web-{C923FF49-7C8C-BDCE-23DA-A995A0B544CD}" dt="2024-04-03T11:35:07.809" v="11" actId="20577"/>
          <ac:spMkLst>
            <pc:docMk/>
            <pc:sldMk cId="2849617271" sldId="427"/>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05.856" v="9" actId="20577"/>
        <pc:sldMkLst>
          <pc:docMk/>
          <pc:sldMk cId="4073647649" sldId="430"/>
        </pc:sldMkLst>
        <pc:spChg chg="mod">
          <ac:chgData name="ЛЪЧЕЗАР ЙОРДАНОВ РАДУШЕВ СИТ 2к - 22621679" userId="S::s22621679@onlineedu.tu-varna.bg::2857b464-4fcf-4a6e-b549-87a1475ec596" providerId="AD" clId="Web-{C923FF49-7C8C-BDCE-23DA-A995A0B544CD}" dt="2024-04-03T11:35:05.856" v="9" actId="20577"/>
          <ac:spMkLst>
            <pc:docMk/>
            <pc:sldMk cId="4073647649" sldId="430"/>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26.794" v="20" actId="20577"/>
        <pc:sldMkLst>
          <pc:docMk/>
          <pc:sldMk cId="3663413388" sldId="431"/>
        </pc:sldMkLst>
        <pc:spChg chg="mod">
          <ac:chgData name="ЛЪЧЕЗАР ЙОРДАНОВ РАДУШЕВ СИТ 2к - 22621679" userId="S::s22621679@onlineedu.tu-varna.bg::2857b464-4fcf-4a6e-b549-87a1475ec596" providerId="AD" clId="Web-{C923FF49-7C8C-BDCE-23DA-A995A0B544CD}" dt="2024-04-03T11:35:26.794" v="20" actId="20577"/>
          <ac:spMkLst>
            <pc:docMk/>
            <pc:sldMk cId="3663413388" sldId="431"/>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27.638" v="21" actId="20577"/>
        <pc:sldMkLst>
          <pc:docMk/>
          <pc:sldMk cId="1403185233" sldId="432"/>
        </pc:sldMkLst>
        <pc:spChg chg="mod">
          <ac:chgData name="ЛЪЧЕЗАР ЙОРДАНОВ РАДУШЕВ СИТ 2к - 22621679" userId="S::s22621679@onlineedu.tu-varna.bg::2857b464-4fcf-4a6e-b549-87a1475ec596" providerId="AD" clId="Web-{C923FF49-7C8C-BDCE-23DA-A995A0B544CD}" dt="2024-04-03T11:35:27.638" v="21" actId="20577"/>
          <ac:spMkLst>
            <pc:docMk/>
            <pc:sldMk cId="1403185233" sldId="432"/>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29.513" v="22" actId="20577"/>
        <pc:sldMkLst>
          <pc:docMk/>
          <pc:sldMk cId="980756182" sldId="433"/>
        </pc:sldMkLst>
        <pc:spChg chg="mod">
          <ac:chgData name="ЛЪЧЕЗАР ЙОРДАНОВ РАДУШЕВ СИТ 2к - 22621679" userId="S::s22621679@onlineedu.tu-varna.bg::2857b464-4fcf-4a6e-b549-87a1475ec596" providerId="AD" clId="Web-{C923FF49-7C8C-BDCE-23DA-A995A0B544CD}" dt="2024-04-03T11:35:29.513" v="22" actId="20577"/>
          <ac:spMkLst>
            <pc:docMk/>
            <pc:sldMk cId="980756182" sldId="433"/>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20.403" v="15" actId="20577"/>
        <pc:sldMkLst>
          <pc:docMk/>
          <pc:sldMk cId="302256437" sldId="434"/>
        </pc:sldMkLst>
        <pc:spChg chg="mod">
          <ac:chgData name="ЛЪЧЕЗАР ЙОРДАНОВ РАДУШЕВ СИТ 2к - 22621679" userId="S::s22621679@onlineedu.tu-varna.bg::2857b464-4fcf-4a6e-b549-87a1475ec596" providerId="AD" clId="Web-{C923FF49-7C8C-BDCE-23DA-A995A0B544CD}" dt="2024-04-03T11:35:20.403" v="15" actId="20577"/>
          <ac:spMkLst>
            <pc:docMk/>
            <pc:sldMk cId="302256437" sldId="434"/>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19.419" v="14" actId="20577"/>
        <pc:sldMkLst>
          <pc:docMk/>
          <pc:sldMk cId="1719819459" sldId="435"/>
        </pc:sldMkLst>
        <pc:spChg chg="mod">
          <ac:chgData name="ЛЪЧЕЗАР ЙОРДАНОВ РАДУШЕВ СИТ 2к - 22621679" userId="S::s22621679@onlineedu.tu-varna.bg::2857b464-4fcf-4a6e-b549-87a1475ec596" providerId="AD" clId="Web-{C923FF49-7C8C-BDCE-23DA-A995A0B544CD}" dt="2024-04-03T11:35:19.419" v="14" actId="20577"/>
          <ac:spMkLst>
            <pc:docMk/>
            <pc:sldMk cId="1719819459" sldId="435"/>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41.123" v="27" actId="20577"/>
        <pc:sldMkLst>
          <pc:docMk/>
          <pc:sldMk cId="3205748134" sldId="439"/>
        </pc:sldMkLst>
        <pc:spChg chg="mod">
          <ac:chgData name="ЛЪЧЕЗАР ЙОРДАНОВ РАДУШЕВ СИТ 2к - 22621679" userId="S::s22621679@onlineedu.tu-varna.bg::2857b464-4fcf-4a6e-b549-87a1475ec596" providerId="AD" clId="Web-{C923FF49-7C8C-BDCE-23DA-A995A0B544CD}" dt="2024-04-03T11:35:41.123" v="27" actId="20577"/>
          <ac:spMkLst>
            <pc:docMk/>
            <pc:sldMk cId="3205748134" sldId="439"/>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23.200" v="17" actId="20577"/>
        <pc:sldMkLst>
          <pc:docMk/>
          <pc:sldMk cId="3411667317" sldId="440"/>
        </pc:sldMkLst>
        <pc:spChg chg="mod">
          <ac:chgData name="ЛЪЧЕЗАР ЙОРДАНОВ РАДУШЕВ СИТ 2к - 22621679" userId="S::s22621679@onlineedu.tu-varna.bg::2857b464-4fcf-4a6e-b549-87a1475ec596" providerId="AD" clId="Web-{C923FF49-7C8C-BDCE-23DA-A995A0B544CD}" dt="2024-04-03T11:35:23.200" v="17" actId="20577"/>
          <ac:spMkLst>
            <pc:docMk/>
            <pc:sldMk cId="3411667317" sldId="440"/>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24.560" v="18" actId="20577"/>
        <pc:sldMkLst>
          <pc:docMk/>
          <pc:sldMk cId="3437465921" sldId="441"/>
        </pc:sldMkLst>
        <pc:spChg chg="mod">
          <ac:chgData name="ЛЪЧЕЗАР ЙОРДАНОВ РАДУШЕВ СИТ 2к - 22621679" userId="S::s22621679@onlineedu.tu-varna.bg::2857b464-4fcf-4a6e-b549-87a1475ec596" providerId="AD" clId="Web-{C923FF49-7C8C-BDCE-23DA-A995A0B544CD}" dt="2024-04-03T11:35:24.560" v="18" actId="20577"/>
          <ac:spMkLst>
            <pc:docMk/>
            <pc:sldMk cId="3437465921" sldId="441"/>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25.622" v="19" actId="20577"/>
        <pc:sldMkLst>
          <pc:docMk/>
          <pc:sldMk cId="61075836" sldId="442"/>
        </pc:sldMkLst>
        <pc:spChg chg="mod">
          <ac:chgData name="ЛЪЧЕЗАР ЙОРДАНОВ РАДУШЕВ СИТ 2к - 22621679" userId="S::s22621679@onlineedu.tu-varna.bg::2857b464-4fcf-4a6e-b549-87a1475ec596" providerId="AD" clId="Web-{C923FF49-7C8C-BDCE-23DA-A995A0B544CD}" dt="2024-04-03T11:35:25.622" v="19" actId="20577"/>
          <ac:spMkLst>
            <pc:docMk/>
            <pc:sldMk cId="61075836" sldId="442"/>
            <ac:spMk id="3" creationId="{00000000-0000-0000-0000-000000000000}"/>
          </ac:spMkLst>
        </pc:spChg>
      </pc:sldChg>
      <pc:sldChg chg="modSp">
        <pc:chgData name="ЛЪЧЕЗАР ЙОРДАНОВ РАДУШЕВ СИТ 2к - 22621679" userId="S::s22621679@onlineedu.tu-varna.bg::2857b464-4fcf-4a6e-b549-87a1475ec596" providerId="AD" clId="Web-{C923FF49-7C8C-BDCE-23DA-A995A0B544CD}" dt="2024-04-03T11:35:30.529" v="23" actId="20577"/>
        <pc:sldMkLst>
          <pc:docMk/>
          <pc:sldMk cId="1837848345" sldId="444"/>
        </pc:sldMkLst>
        <pc:spChg chg="mod">
          <ac:chgData name="ЛЪЧЕЗАР ЙОРДАНОВ РАДУШЕВ СИТ 2к - 22621679" userId="S::s22621679@onlineedu.tu-varna.bg::2857b464-4fcf-4a6e-b549-87a1475ec596" providerId="AD" clId="Web-{C923FF49-7C8C-BDCE-23DA-A995A0B544CD}" dt="2024-04-03T11:35:30.529" v="23" actId="20577"/>
          <ac:spMkLst>
            <pc:docMk/>
            <pc:sldMk cId="1837848345" sldId="444"/>
            <ac:spMk id="3" creationId="{00000000-0000-0000-0000-000000000000}"/>
          </ac:spMkLst>
        </pc:spChg>
      </pc:sldChg>
    </pc:docChg>
  </pc:docChgLst>
  <pc:docChgLst>
    <pc:chgData name="ВАНЕСА РУМИ ЛОМБАРДО СИТ 2к - 22621709" userId="S::s22621709@onlineedu.tu-varna.bg::5ce264b9-a680-4a42-bdf4-dea1fbb3300b" providerId="AD" clId="Web-{964E0C8E-7E79-D8B4-B53D-49AE94417431}"/>
    <pc:docChg chg="addSld delSld modSld">
      <pc:chgData name="ВАНЕСА РУМИ ЛОМБАРДО СИТ 2к - 22621709" userId="S::s22621709@onlineedu.tu-varna.bg::5ce264b9-a680-4a42-bdf4-dea1fbb3300b" providerId="AD" clId="Web-{964E0C8E-7E79-D8B4-B53D-49AE94417431}" dt="2024-03-31T03:00:26.576" v="3"/>
      <pc:docMkLst>
        <pc:docMk/>
      </pc:docMkLst>
      <pc:sldChg chg="modSp add del">
        <pc:chgData name="ВАНЕСА РУМИ ЛОМБАРДО СИТ 2к - 22621709" userId="S::s22621709@onlineedu.tu-varna.bg::5ce264b9-a680-4a42-bdf4-dea1fbb3300b" providerId="AD" clId="Web-{964E0C8E-7E79-D8B4-B53D-49AE94417431}" dt="2024-03-31T03:00:26.576" v="3"/>
        <pc:sldMkLst>
          <pc:docMk/>
          <pc:sldMk cId="1403185233" sldId="432"/>
        </pc:sldMkLst>
        <pc:spChg chg="mod">
          <ac:chgData name="ВАНЕСА РУМИ ЛОМБАРДО СИТ 2к - 22621709" userId="S::s22621709@onlineedu.tu-varna.bg::5ce264b9-a680-4a42-bdf4-dea1fbb3300b" providerId="AD" clId="Web-{964E0C8E-7E79-D8B4-B53D-49AE94417431}" dt="2024-03-31T02:50:15.515" v="1" actId="20577"/>
          <ac:spMkLst>
            <pc:docMk/>
            <pc:sldMk cId="1403185233" sldId="432"/>
            <ac:spMk id="3" creationId="{00000000-0000-0000-0000-000000000000}"/>
          </ac:spMkLst>
        </pc:spChg>
      </pc:sldChg>
    </pc:docChg>
  </pc:docChgLst>
  <pc:docChgLst>
    <pc:chgData name="ЯНА  АМПОВА СИТ 2к - 22621751" userId="S::s22621751@onlineedu.tu-varna.bg::e3fef173-1d60-411b-802f-d8b58aa20486" providerId="AD" clId="Web-{844D014B-E69D-40EF-A9E8-23E9E36A3BE6}"/>
    <pc:docChg chg="addSld delSld modSld">
      <pc:chgData name="ЯНА  АМПОВА СИТ 2к - 22621751" userId="S::s22621751@onlineedu.tu-varna.bg::e3fef173-1d60-411b-802f-d8b58aa20486" providerId="AD" clId="Web-{844D014B-E69D-40EF-A9E8-23E9E36A3BE6}" dt="2024-03-30T13:46:59.294" v="3"/>
      <pc:docMkLst>
        <pc:docMk/>
      </pc:docMkLst>
      <pc:sldChg chg="modSp">
        <pc:chgData name="ЯНА  АМПОВА СИТ 2к - 22621751" userId="S::s22621751@onlineedu.tu-varna.bg::e3fef173-1d60-411b-802f-d8b58aa20486" providerId="AD" clId="Web-{844D014B-E69D-40EF-A9E8-23E9E36A3BE6}" dt="2024-03-30T12:23:59.441" v="1" actId="14100"/>
        <pc:sldMkLst>
          <pc:docMk/>
          <pc:sldMk cId="321398012" sldId="426"/>
        </pc:sldMkLst>
        <pc:spChg chg="mod">
          <ac:chgData name="ЯНА  АМПОВА СИТ 2к - 22621751" userId="S::s22621751@onlineedu.tu-varna.bg::e3fef173-1d60-411b-802f-d8b58aa20486" providerId="AD" clId="Web-{844D014B-E69D-40EF-A9E8-23E9E36A3BE6}" dt="2024-03-30T12:23:59.441" v="1" actId="14100"/>
          <ac:spMkLst>
            <pc:docMk/>
            <pc:sldMk cId="321398012" sldId="426"/>
            <ac:spMk id="3" creationId="{00000000-0000-0000-0000-000000000000}"/>
          </ac:spMkLst>
        </pc:spChg>
      </pc:sldChg>
      <pc:sldChg chg="new del">
        <pc:chgData name="ЯНА  АМПОВА СИТ 2к - 22621751" userId="S::s22621751@onlineedu.tu-varna.bg::e3fef173-1d60-411b-802f-d8b58aa20486" providerId="AD" clId="Web-{844D014B-E69D-40EF-A9E8-23E9E36A3BE6}" dt="2024-03-30T13:46:59.294" v="3"/>
        <pc:sldMkLst>
          <pc:docMk/>
          <pc:sldMk cId="3768783323" sldId="447"/>
        </pc:sldMkLst>
      </pc:sldChg>
    </pc:docChg>
  </pc:docChgLst>
  <pc:docChgLst>
    <pc:chgData name="ПАВЕЛ ВАСИЛЕВ ВАСИЛЕВ СИТ 2к - 22621644" userId="S::s22621644@onlineedu.tu-varna.bg::cab81fd7-78cf-42a6-8855-85072d559337" providerId="AD" clId="Web-{78A038C0-D572-406F-B41D-5161435EC8D6}"/>
    <pc:docChg chg="modSld">
      <pc:chgData name="ПАВЕЛ ВАСИЛЕВ ВАСИЛЕВ СИТ 2к - 22621644" userId="S::s22621644@onlineedu.tu-varna.bg::cab81fd7-78cf-42a6-8855-85072d559337" providerId="AD" clId="Web-{78A038C0-D572-406F-B41D-5161435EC8D6}" dt="2024-05-07T22:31:40.299" v="0" actId="20577"/>
      <pc:docMkLst>
        <pc:docMk/>
      </pc:docMkLst>
      <pc:sldChg chg="modSp">
        <pc:chgData name="ПАВЕЛ ВАСИЛЕВ ВАСИЛЕВ СИТ 2к - 22621644" userId="S::s22621644@onlineedu.tu-varna.bg::cab81fd7-78cf-42a6-8855-85072d559337" providerId="AD" clId="Web-{78A038C0-D572-406F-B41D-5161435EC8D6}" dt="2024-05-07T22:31:40.299" v="0" actId="20577"/>
        <pc:sldMkLst>
          <pc:docMk/>
          <pc:sldMk cId="3663413388" sldId="431"/>
        </pc:sldMkLst>
        <pc:spChg chg="mod">
          <ac:chgData name="ПАВЕЛ ВАСИЛЕВ ВАСИЛЕВ СИТ 2к - 22621644" userId="S::s22621644@onlineedu.tu-varna.bg::cab81fd7-78cf-42a6-8855-85072d559337" providerId="AD" clId="Web-{78A038C0-D572-406F-B41D-5161435EC8D6}" dt="2024-05-07T22:31:40.299" v="0" actId="20577"/>
          <ac:spMkLst>
            <pc:docMk/>
            <pc:sldMk cId="3663413388" sldId="431"/>
            <ac:spMk id="3" creationId="{00000000-0000-0000-0000-000000000000}"/>
          </ac:spMkLst>
        </pc:spChg>
      </pc:sldChg>
    </pc:docChg>
  </pc:docChgLst>
  <pc:docChgLst>
    <pc:chgData name="ЗЕРИН СЕВГЮЗЕНОВА МЕХМЕДОВА СИТ 2к - 22621632" userId="S::s22621632@onlineedu.tu-varna.bg::79da57d7-ddc5-4e4e-b81c-aeabf7a3508c" providerId="AD" clId="Web-{631DE27F-6045-4B3F-8E5A-31860D430492}"/>
    <pc:docChg chg="modSld">
      <pc:chgData name="ЗЕРИН СЕВГЮЗЕНОВА МЕХМЕДОВА СИТ 2к - 22621632" userId="S::s22621632@onlineedu.tu-varna.bg::79da57d7-ddc5-4e4e-b81c-aeabf7a3508c" providerId="AD" clId="Web-{631DE27F-6045-4B3F-8E5A-31860D430492}" dt="2024-04-02T20:26:51.233" v="8" actId="20577"/>
      <pc:docMkLst>
        <pc:docMk/>
      </pc:docMkLst>
      <pc:sldChg chg="modSp">
        <pc:chgData name="ЗЕРИН СЕВГЮЗЕНОВА МЕХМЕДОВА СИТ 2к - 22621632" userId="S::s22621632@onlineedu.tu-varna.bg::79da57d7-ddc5-4e4e-b81c-aeabf7a3508c" providerId="AD" clId="Web-{631DE27F-6045-4B3F-8E5A-31860D430492}" dt="2024-04-02T20:26:51.233" v="8" actId="20577"/>
        <pc:sldMkLst>
          <pc:docMk/>
          <pc:sldMk cId="1349110098" sldId="437"/>
        </pc:sldMkLst>
        <pc:spChg chg="mod">
          <ac:chgData name="ЗЕРИН СЕВГЮЗЕНОВА МЕХМЕДОВА СИТ 2к - 22621632" userId="S::s22621632@onlineedu.tu-varna.bg::79da57d7-ddc5-4e4e-b81c-aeabf7a3508c" providerId="AD" clId="Web-{631DE27F-6045-4B3F-8E5A-31860D430492}" dt="2024-04-02T20:26:51.233" v="8" actId="20577"/>
          <ac:spMkLst>
            <pc:docMk/>
            <pc:sldMk cId="1349110098" sldId="437"/>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bg-BG"/>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192332A-55AF-4551-8E83-32AC6773F37C}" type="datetimeFigureOut">
              <a:rPr lang="bg-BG" smtClean="0"/>
              <a:pPr/>
              <a:t>9.5.2024 г.</a:t>
            </a:fld>
            <a:endParaRPr lang="bg-BG"/>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bg-BG"/>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bg-BG"/>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78BE4E-C978-4DDD-BFFE-20E7B8E0D29B}" type="slidenum">
              <a:rPr lang="bg-BG" smtClean="0"/>
              <a:pPr/>
              <a:t>‹#›</a:t>
            </a:fld>
            <a:endParaRPr lang="bg-BG"/>
          </a:p>
        </p:txBody>
      </p:sp>
    </p:spTree>
    <p:extLst>
      <p:ext uri="{BB962C8B-B14F-4D97-AF65-F5344CB8AC3E}">
        <p14:creationId xmlns:p14="http://schemas.microsoft.com/office/powerpoint/2010/main" val="3989593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BCD2AA38-B623-4529-8E38-4C26B6BE11C2}" type="datetimeFigureOut">
              <a:rPr lang="bg-BG" smtClean="0"/>
              <a:pPr/>
              <a:t>9.5.2024 г.</a:t>
            </a:fld>
            <a:endParaRPr lang="bg-BG"/>
          </a:p>
        </p:txBody>
      </p:sp>
      <p:sp>
        <p:nvSpPr>
          <p:cNvPr id="19" name="Footer Placeholder 18"/>
          <p:cNvSpPr>
            <a:spLocks noGrp="1"/>
          </p:cNvSpPr>
          <p:nvPr>
            <p:ph type="ftr" sz="quarter" idx="11"/>
          </p:nvPr>
        </p:nvSpPr>
        <p:spPr/>
        <p:txBody>
          <a:bodyPr/>
          <a:lstStyle/>
          <a:p>
            <a:endParaRPr lang="bg-BG"/>
          </a:p>
        </p:txBody>
      </p:sp>
      <p:sp>
        <p:nvSpPr>
          <p:cNvPr id="27" name="Slide Number Placeholder 26"/>
          <p:cNvSpPr>
            <a:spLocks noGrp="1"/>
          </p:cNvSpPr>
          <p:nvPr>
            <p:ph type="sldNum" sz="quarter" idx="12"/>
          </p:nvPr>
        </p:nvSpPr>
        <p:spPr/>
        <p:txBody>
          <a:bodyPr/>
          <a:lstStyle/>
          <a:p>
            <a:fld id="{24109040-8F74-4CAF-B14B-2C048A8F2A9A}" type="slidenum">
              <a:rPr lang="bg-BG" smtClean="0"/>
              <a:pPr/>
              <a:t>‹#›</a:t>
            </a:fld>
            <a:endParaRPr lang="bg-BG"/>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CD2AA38-B623-4529-8E38-4C26B6BE11C2}" type="datetimeFigureOut">
              <a:rPr lang="bg-BG" smtClean="0"/>
              <a:pPr/>
              <a:t>9.5.2024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CD2AA38-B623-4529-8E38-4C26B6BE11C2}" type="datetimeFigureOut">
              <a:rPr lang="bg-BG" smtClean="0"/>
              <a:pPr/>
              <a:t>9.5.2024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CD2AA38-B623-4529-8E38-4C26B6BE11C2}" type="datetimeFigureOut">
              <a:rPr lang="bg-BG" smtClean="0"/>
              <a:pPr/>
              <a:t>9.5.2024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BCD2AA38-B623-4529-8E38-4C26B6BE11C2}" type="datetimeFigureOut">
              <a:rPr lang="bg-BG" smtClean="0"/>
              <a:pPr/>
              <a:t>9.5.2024 г.</a:t>
            </a:fld>
            <a:endParaRPr lang="bg-BG"/>
          </a:p>
        </p:txBody>
      </p:sp>
      <p:sp>
        <p:nvSpPr>
          <p:cNvPr id="8" name="Footer Placeholder 7"/>
          <p:cNvSpPr>
            <a:spLocks noGrp="1"/>
          </p:cNvSpPr>
          <p:nvPr>
            <p:ph type="ftr" sz="quarter" idx="11"/>
          </p:nvPr>
        </p:nvSpPr>
        <p:spPr/>
        <p:txBody>
          <a:bodyPr/>
          <a:lstStyle/>
          <a:p>
            <a:endParaRPr lang="bg-BG"/>
          </a:p>
        </p:txBody>
      </p:sp>
      <p:sp>
        <p:nvSpPr>
          <p:cNvPr id="9" name="Slide Number Placeholder 8"/>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BCD2AA38-B623-4529-8E38-4C26B6BE11C2}" type="datetimeFigureOut">
              <a:rPr lang="bg-BG" smtClean="0"/>
              <a:pPr/>
              <a:t>9.5.2024 г.</a:t>
            </a:fld>
            <a:endParaRPr lang="bg-BG"/>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D2AA38-B623-4529-8E38-4C26B6BE11C2}" type="datetimeFigureOut">
              <a:rPr lang="bg-BG" smtClean="0"/>
              <a:pPr/>
              <a:t>9.5.2024 г.</a:t>
            </a:fld>
            <a:endParaRPr lang="bg-BG"/>
          </a:p>
        </p:txBody>
      </p:sp>
      <p:sp>
        <p:nvSpPr>
          <p:cNvPr id="3" name="Footer Placeholder 2"/>
          <p:cNvSpPr>
            <a:spLocks noGrp="1"/>
          </p:cNvSpPr>
          <p:nvPr>
            <p:ph type="ftr" sz="quarter" idx="11"/>
          </p:nvPr>
        </p:nvSpPr>
        <p:spPr/>
        <p:txBody>
          <a:bodyPr/>
          <a:lstStyle/>
          <a:p>
            <a:endParaRPr lang="bg-BG"/>
          </a:p>
        </p:txBody>
      </p:sp>
      <p:sp>
        <p:nvSpPr>
          <p:cNvPr id="4" name="Slide Number Placeholder 3"/>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CD2AA38-B623-4529-8E38-4C26B6BE11C2}" type="datetimeFigureOut">
              <a:rPr lang="bg-BG" smtClean="0"/>
              <a:pPr/>
              <a:t>9.5.2024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BCD2AA38-B623-4529-8E38-4C26B6BE11C2}" type="datetimeFigureOut">
              <a:rPr lang="bg-BG" smtClean="0"/>
              <a:pPr/>
              <a:t>9.5.2024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a:xfrm>
            <a:off x="8077200" y="6356350"/>
            <a:ext cx="609600" cy="365125"/>
          </a:xfrm>
        </p:spPr>
        <p:txBody>
          <a:bodyPr/>
          <a:lstStyle/>
          <a:p>
            <a:fld id="{24109040-8F74-4CAF-B14B-2C048A8F2A9A}" type="slidenum">
              <a:rPr lang="bg-BG" smtClean="0"/>
              <a:pPr/>
              <a:t>‹#›</a:t>
            </a:fld>
            <a:endParaRPr lang="bg-BG"/>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CD2AA38-B623-4529-8E38-4C26B6BE11C2}" type="datetimeFigureOut">
              <a:rPr lang="bg-BG" smtClean="0"/>
              <a:pPr/>
              <a:t>9.5.2024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CD2AA38-B623-4529-8E38-4C26B6BE11C2}" type="datetimeFigureOut">
              <a:rPr lang="bg-BG" smtClean="0"/>
              <a:pPr/>
              <a:t>9.5.2024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BCD2AA38-B623-4529-8E38-4C26B6BE11C2}" type="datetimeFigureOut">
              <a:rPr lang="bg-BG" smtClean="0"/>
              <a:pPr/>
              <a:t>9.5.2024 г.</a:t>
            </a:fld>
            <a:endParaRPr lang="bg-BG"/>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bg-BG"/>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24109040-8F74-4CAF-B14B-2C048A8F2A9A}" type="slidenum">
              <a:rPr lang="bg-BG" smtClean="0"/>
              <a:pPr/>
              <a:t>‹#›</a:t>
            </a:fld>
            <a:endParaRPr lang="bg-BG"/>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1472" y="928670"/>
            <a:ext cx="7851648" cy="5186386"/>
          </a:xfrm>
        </p:spPr>
        <p:txBody>
          <a:bodyPr rIns="0">
            <a:noAutofit/>
          </a:bodyPr>
          <a:lstStyle/>
          <a:p>
            <a:r>
              <a:rPr lang="ru-RU" sz="5500" err="1">
                <a:effectLst/>
                <a:latin typeface="Times New Roman" pitchFamily="18" charset="0"/>
                <a:cs typeface="Times New Roman" pitchFamily="18" charset="0"/>
              </a:rPr>
              <a:t>Масиви</a:t>
            </a:r>
            <a:r>
              <a:rPr lang="ru-RU" sz="5500">
                <a:effectLst/>
                <a:latin typeface="Times New Roman" pitchFamily="18" charset="0"/>
                <a:cs typeface="Times New Roman" pitchFamily="18" charset="0"/>
              </a:rPr>
              <a:t> и </a:t>
            </a:r>
            <a:r>
              <a:rPr lang="ru-RU" sz="5500" err="1">
                <a:effectLst/>
                <a:latin typeface="Times New Roman" pitchFamily="18" charset="0"/>
                <a:cs typeface="Times New Roman" pitchFamily="18" charset="0"/>
              </a:rPr>
              <a:t>структури</a:t>
            </a:r>
            <a:r>
              <a:rPr lang="ru-RU" sz="5500">
                <a:effectLst/>
                <a:latin typeface="Times New Roman" pitchFamily="18" charset="0"/>
                <a:cs typeface="Times New Roman" pitchFamily="18" charset="0"/>
              </a:rPr>
              <a:t> в </a:t>
            </a:r>
            <a:r>
              <a:rPr lang="ru-RU" sz="5500" err="1">
                <a:effectLst/>
                <a:latin typeface="Times New Roman" pitchFamily="18" charset="0"/>
                <a:cs typeface="Times New Roman" pitchFamily="18" charset="0"/>
              </a:rPr>
              <a:t>Асемблера</a:t>
            </a:r>
            <a:r>
              <a:rPr lang="ru-RU" sz="5500">
                <a:effectLst/>
                <a:latin typeface="Times New Roman" pitchFamily="18" charset="0"/>
                <a:cs typeface="Times New Roman" pitchFamily="18" charset="0"/>
              </a:rPr>
              <a:t>. </a:t>
            </a:r>
            <a:br>
              <a:rPr lang="en-US" sz="5500">
                <a:effectLst/>
                <a:latin typeface="Times New Roman" pitchFamily="18" charset="0"/>
                <a:cs typeface="Times New Roman" pitchFamily="18" charset="0"/>
              </a:rPr>
            </a:br>
            <a:r>
              <a:rPr lang="ru-RU" sz="5500">
                <a:effectLst/>
                <a:latin typeface="Times New Roman" pitchFamily="18" charset="0"/>
                <a:cs typeface="Times New Roman" pitchFamily="18" charset="0"/>
              </a:rPr>
              <a:t>Инструкции за </a:t>
            </a:r>
            <a:r>
              <a:rPr lang="ru-RU" sz="5500" err="1">
                <a:effectLst/>
                <a:latin typeface="Times New Roman" pitchFamily="18" charset="0"/>
                <a:cs typeface="Times New Roman" pitchFamily="18" charset="0"/>
              </a:rPr>
              <a:t>манипулация</a:t>
            </a:r>
            <a:r>
              <a:rPr lang="ru-RU" sz="5500">
                <a:effectLst/>
                <a:latin typeface="Times New Roman" pitchFamily="18" charset="0"/>
                <a:cs typeface="Times New Roman" pitchFamily="18" charset="0"/>
              </a:rPr>
              <a:t> на </a:t>
            </a:r>
            <a:r>
              <a:rPr lang="ru-RU" sz="5500" err="1">
                <a:effectLst/>
                <a:latin typeface="Times New Roman" pitchFamily="18" charset="0"/>
                <a:cs typeface="Times New Roman" pitchFamily="18" charset="0"/>
              </a:rPr>
              <a:t>битове</a:t>
            </a:r>
            <a:r>
              <a:rPr lang="ru-RU" sz="5500">
                <a:effectLst/>
                <a:latin typeface="Times New Roman" pitchFamily="18" charset="0"/>
                <a:cs typeface="Times New Roman" pitchFamily="18" charset="0"/>
              </a:rPr>
              <a:t>. </a:t>
            </a:r>
            <a:br>
              <a:rPr lang="en-US" sz="5500">
                <a:effectLst/>
                <a:latin typeface="Times New Roman" pitchFamily="18" charset="0"/>
                <a:cs typeface="Times New Roman" pitchFamily="18" charset="0"/>
              </a:rPr>
            </a:br>
            <a:r>
              <a:rPr lang="ru-RU" sz="5500" err="1">
                <a:effectLst/>
                <a:latin typeface="Times New Roman" pitchFamily="18" charset="0"/>
                <a:cs typeface="Times New Roman" pitchFamily="18" charset="0"/>
              </a:rPr>
              <a:t>Програми</a:t>
            </a:r>
            <a:r>
              <a:rPr lang="ru-RU" sz="5500">
                <a:effectLst/>
                <a:latin typeface="Times New Roman" pitchFamily="18" charset="0"/>
                <a:cs typeface="Times New Roman" pitchFamily="18" charset="0"/>
              </a:rPr>
              <a:t> с цикли. </a:t>
            </a:r>
            <a:endParaRPr lang="bg-BG" sz="550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8336" y="1340768"/>
            <a:ext cx="8776151" cy="5328592"/>
          </a:xfrm>
        </p:spPr>
        <p:txBody>
          <a:bodyPr>
            <a:noAutofit/>
          </a:bodyPr>
          <a:lstStyle/>
          <a:p>
            <a:pPr lvl="0" algn="just"/>
            <a:r>
              <a:rPr lang="ru-RU" sz="2400" err="1">
                <a:latin typeface="Times New Roman" panose="02020603050405020304" pitchFamily="18" charset="0"/>
                <a:cs typeface="Times New Roman" panose="02020603050405020304" pitchFamily="18" charset="0"/>
              </a:rPr>
              <a:t>Масивът</a:t>
            </a:r>
            <a:r>
              <a:rPr lang="ru-RU" sz="2400">
                <a:latin typeface="Times New Roman" panose="02020603050405020304" pitchFamily="18" charset="0"/>
                <a:cs typeface="Times New Roman" panose="02020603050405020304" pitchFamily="18" charset="0"/>
              </a:rPr>
              <a:t> е структурен тип данни, </a:t>
            </a:r>
            <a:r>
              <a:rPr lang="ru-RU" sz="2400" err="1">
                <a:latin typeface="Times New Roman" panose="02020603050405020304" pitchFamily="18" charset="0"/>
                <a:cs typeface="Times New Roman" panose="02020603050405020304" pitchFamily="18" charset="0"/>
              </a:rPr>
              <a:t>представляващ</a:t>
            </a:r>
            <a:r>
              <a:rPr lang="ru-RU"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крайна</a:t>
            </a:r>
            <a:r>
              <a:rPr lang="ru-RU"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редица</a:t>
            </a:r>
            <a:r>
              <a:rPr lang="ru-RU" sz="2400">
                <a:latin typeface="Times New Roman" panose="02020603050405020304" pitchFamily="18" charset="0"/>
                <a:cs typeface="Times New Roman" panose="02020603050405020304" pitchFamily="18" charset="0"/>
              </a:rPr>
              <a:t> от </a:t>
            </a:r>
            <a:r>
              <a:rPr lang="ru-RU" sz="2400" err="1">
                <a:latin typeface="Times New Roman" panose="02020603050405020304" pitchFamily="18" charset="0"/>
                <a:cs typeface="Times New Roman" panose="02020603050405020304" pitchFamily="18" charset="0"/>
              </a:rPr>
              <a:t>еднотипни</a:t>
            </a:r>
            <a:r>
              <a:rPr lang="ru-RU" sz="2400">
                <a:latin typeface="Times New Roman" panose="02020603050405020304" pitchFamily="18" charset="0"/>
                <a:cs typeface="Times New Roman" panose="02020603050405020304" pitchFamily="18" charset="0"/>
              </a:rPr>
              <a:t> елементи с </a:t>
            </a:r>
            <a:r>
              <a:rPr lang="ru-RU" sz="2400" err="1">
                <a:latin typeface="Times New Roman" panose="02020603050405020304" pitchFamily="18" charset="0"/>
                <a:cs typeface="Times New Roman" panose="02020603050405020304" pitchFamily="18" charset="0"/>
              </a:rPr>
              <a:t>пряк</a:t>
            </a:r>
            <a:r>
              <a:rPr lang="ru-RU"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достъп</a:t>
            </a:r>
            <a:r>
              <a:rPr lang="ru-RU" sz="2400">
                <a:latin typeface="Times New Roman" panose="02020603050405020304" pitchFamily="18" charset="0"/>
                <a:cs typeface="Times New Roman" panose="02020603050405020304" pitchFamily="18" charset="0"/>
              </a:rPr>
              <a:t> до </a:t>
            </a:r>
            <a:r>
              <a:rPr lang="ru-RU" sz="2400" err="1">
                <a:latin typeface="Times New Roman" panose="02020603050405020304" pitchFamily="18" charset="0"/>
                <a:cs typeface="Times New Roman" panose="02020603050405020304" pitchFamily="18" charset="0"/>
              </a:rPr>
              <a:t>всеки</a:t>
            </a:r>
            <a:r>
              <a:rPr lang="ru-RU"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елемент</a:t>
            </a:r>
            <a:r>
              <a:rPr lang="ru-RU"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Масивът</a:t>
            </a:r>
            <a:r>
              <a:rPr lang="ru-RU" sz="2400">
                <a:latin typeface="Times New Roman" panose="02020603050405020304" pitchFamily="18" charset="0"/>
                <a:cs typeface="Times New Roman" panose="02020603050405020304" pitchFamily="18" charset="0"/>
              </a:rPr>
              <a:t> е статична структура от данни, защото в </a:t>
            </a:r>
            <a:r>
              <a:rPr lang="ru-RU" sz="2400" err="1">
                <a:latin typeface="Times New Roman" panose="02020603050405020304" pitchFamily="18" charset="0"/>
                <a:cs typeface="Times New Roman" panose="02020603050405020304" pitchFamily="18" charset="0"/>
              </a:rPr>
              <a:t>процеса</a:t>
            </a:r>
            <a:r>
              <a:rPr lang="ru-RU" sz="2400">
                <a:latin typeface="Times New Roman" panose="02020603050405020304" pitchFamily="18" charset="0"/>
                <a:cs typeface="Times New Roman" panose="02020603050405020304" pitchFamily="18" charset="0"/>
              </a:rPr>
              <a:t> на </a:t>
            </a:r>
            <a:r>
              <a:rPr lang="ru-RU" sz="2400" err="1">
                <a:latin typeface="Times New Roman" panose="02020603050405020304" pitchFamily="18" charset="0"/>
                <a:cs typeface="Times New Roman" panose="02020603050405020304" pitchFamily="18" charset="0"/>
              </a:rPr>
              <a:t>обработване</a:t>
            </a:r>
            <a:r>
              <a:rPr lang="ru-RU" sz="2400">
                <a:latin typeface="Times New Roman" panose="02020603050405020304" pitchFamily="18" charset="0"/>
                <a:cs typeface="Times New Roman" panose="02020603050405020304" pitchFamily="18" charset="0"/>
              </a:rPr>
              <a:t> е </a:t>
            </a:r>
            <a:r>
              <a:rPr lang="ru-RU" sz="2400" err="1">
                <a:latin typeface="Times New Roman" panose="02020603050405020304" pitchFamily="18" charset="0"/>
                <a:cs typeface="Times New Roman" panose="02020603050405020304" pitchFamily="18" charset="0"/>
              </a:rPr>
              <a:t>невъзможно</a:t>
            </a:r>
            <a:r>
              <a:rPr lang="ru-RU" sz="2400">
                <a:latin typeface="Times New Roman" panose="02020603050405020304" pitchFamily="18" charset="0"/>
                <a:cs typeface="Times New Roman" panose="02020603050405020304" pitchFamily="18" charset="0"/>
              </a:rPr>
              <a:t> да се </a:t>
            </a:r>
            <a:r>
              <a:rPr lang="ru-RU" sz="2400" err="1">
                <a:latin typeface="Times New Roman" panose="02020603050405020304" pitchFamily="18" charset="0"/>
                <a:cs typeface="Times New Roman" panose="02020603050405020304" pitchFamily="18" charset="0"/>
              </a:rPr>
              <a:t>изключват</a:t>
            </a:r>
            <a:r>
              <a:rPr lang="ru-RU" sz="2400">
                <a:latin typeface="Times New Roman" panose="02020603050405020304" pitchFamily="18" charset="0"/>
                <a:cs typeface="Times New Roman" panose="02020603050405020304" pitchFamily="18" charset="0"/>
              </a:rPr>
              <a:t> или добавят нови елементи.</a:t>
            </a:r>
            <a:endParaRPr lang="en-US" sz="2400">
              <a:latin typeface="Times New Roman" panose="02020603050405020304" pitchFamily="18" charset="0"/>
              <a:cs typeface="Times New Roman" panose="02020603050405020304" pitchFamily="18" charset="0"/>
            </a:endParaRPr>
          </a:p>
          <a:p>
            <a:pPr lvl="0" algn="just"/>
            <a:r>
              <a:rPr lang="ru-RU" sz="2400">
                <a:latin typeface="Times New Roman" panose="02020603050405020304" pitchFamily="18" charset="0"/>
                <a:cs typeface="Times New Roman" panose="02020603050405020304" pitchFamily="18" charset="0"/>
              </a:rPr>
              <a:t>Всички елементи на даден </a:t>
            </a:r>
            <a:r>
              <a:rPr lang="ru-RU" sz="2400" err="1">
                <a:latin typeface="Times New Roman" panose="02020603050405020304" pitchFamily="18" charset="0"/>
                <a:cs typeface="Times New Roman" panose="02020603050405020304" pitchFamily="18" charset="0"/>
              </a:rPr>
              <a:t>масив</a:t>
            </a:r>
            <a:r>
              <a:rPr lang="ru-RU" sz="2400">
                <a:latin typeface="Times New Roman" panose="02020603050405020304" pitchFamily="18" charset="0"/>
                <a:cs typeface="Times New Roman" panose="02020603050405020304" pitchFamily="18" charset="0"/>
              </a:rPr>
              <a:t> са от един и </a:t>
            </a:r>
            <a:r>
              <a:rPr lang="ru-RU" sz="2400" err="1">
                <a:latin typeface="Times New Roman" panose="02020603050405020304" pitchFamily="18" charset="0"/>
                <a:cs typeface="Times New Roman" panose="02020603050405020304" pitchFamily="18" charset="0"/>
              </a:rPr>
              <a:t>същи</a:t>
            </a:r>
            <a:r>
              <a:rPr lang="ru-RU" sz="2400">
                <a:latin typeface="Times New Roman" panose="02020603050405020304" pitchFamily="18" charset="0"/>
                <a:cs typeface="Times New Roman" panose="02020603050405020304" pitchFamily="18" charset="0"/>
              </a:rPr>
              <a:t> тип. Това ни помага да представим </a:t>
            </a:r>
            <a:r>
              <a:rPr lang="ru-RU" sz="2400" err="1">
                <a:latin typeface="Times New Roman" panose="02020603050405020304" pitchFamily="18" charset="0"/>
                <a:cs typeface="Times New Roman" panose="02020603050405020304" pitchFamily="18" charset="0"/>
              </a:rPr>
              <a:t>група</a:t>
            </a:r>
            <a:r>
              <a:rPr lang="ru-RU" sz="2400">
                <a:latin typeface="Times New Roman" panose="02020603050405020304" pitchFamily="18" charset="0"/>
                <a:cs typeface="Times New Roman" panose="02020603050405020304" pitchFamily="18" charset="0"/>
              </a:rPr>
              <a:t> от </a:t>
            </a:r>
            <a:r>
              <a:rPr lang="ru-RU" sz="2400" err="1">
                <a:latin typeface="Times New Roman" panose="02020603050405020304" pitchFamily="18" charset="0"/>
                <a:cs typeface="Times New Roman" panose="02020603050405020304" pitchFamily="18" charset="0"/>
              </a:rPr>
              <a:t>еднородни</a:t>
            </a:r>
            <a:r>
              <a:rPr lang="ru-RU" sz="2400">
                <a:latin typeface="Times New Roman" panose="02020603050405020304" pitchFamily="18" charset="0"/>
                <a:cs typeface="Times New Roman" panose="02020603050405020304" pitchFamily="18" charset="0"/>
              </a:rPr>
              <a:t> елементи като </a:t>
            </a:r>
            <a:r>
              <a:rPr lang="ru-RU" sz="2400" err="1">
                <a:latin typeface="Times New Roman" panose="02020603050405020304" pitchFamily="18" charset="0"/>
                <a:cs typeface="Times New Roman" panose="02020603050405020304" pitchFamily="18" charset="0"/>
              </a:rPr>
              <a:t>подредена</a:t>
            </a:r>
            <a:r>
              <a:rPr lang="ru-RU"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свързана</a:t>
            </a:r>
            <a:r>
              <a:rPr lang="ru-RU"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последователност</a:t>
            </a:r>
            <a:r>
              <a:rPr lang="ru-RU" sz="2400">
                <a:latin typeface="Times New Roman" panose="02020603050405020304" pitchFamily="18" charset="0"/>
                <a:cs typeface="Times New Roman" panose="02020603050405020304" pitchFamily="18" charset="0"/>
              </a:rPr>
              <a:t> и да ги </a:t>
            </a:r>
            <a:r>
              <a:rPr lang="ru-RU" sz="2400" err="1">
                <a:latin typeface="Times New Roman" panose="02020603050405020304" pitchFamily="18" charset="0"/>
                <a:cs typeface="Times New Roman" panose="02020603050405020304" pitchFamily="18" charset="0"/>
              </a:rPr>
              <a:t>обработваме</a:t>
            </a:r>
            <a:r>
              <a:rPr lang="ru-RU" sz="2400">
                <a:latin typeface="Times New Roman" panose="02020603050405020304" pitchFamily="18" charset="0"/>
                <a:cs typeface="Times New Roman" panose="02020603050405020304" pitchFamily="18" charset="0"/>
              </a:rPr>
              <a:t> като едно </a:t>
            </a:r>
            <a:r>
              <a:rPr lang="ru-RU" sz="2400" err="1">
                <a:latin typeface="Times New Roman" panose="02020603050405020304" pitchFamily="18" charset="0"/>
                <a:cs typeface="Times New Roman" panose="02020603050405020304" pitchFamily="18" charset="0"/>
              </a:rPr>
              <a:t>цяло</a:t>
            </a:r>
            <a:r>
              <a:rPr lang="ru-RU" sz="2400">
                <a:latin typeface="Times New Roman" panose="02020603050405020304" pitchFamily="18" charset="0"/>
                <a:cs typeface="Times New Roman" panose="02020603050405020304" pitchFamily="18" charset="0"/>
              </a:rPr>
              <a:t>.</a:t>
            </a:r>
            <a:endParaRPr lang="en-US" sz="2400">
              <a:latin typeface="Times New Roman" panose="02020603050405020304" pitchFamily="18" charset="0"/>
              <a:cs typeface="Times New Roman" panose="02020603050405020304" pitchFamily="18" charset="0"/>
            </a:endParaRPr>
          </a:p>
          <a:p>
            <a:pPr lvl="0" algn="just"/>
            <a:r>
              <a:rPr lang="ru-RU" sz="2400" err="1">
                <a:latin typeface="Times New Roman" panose="02020603050405020304" pitchFamily="18" charset="0"/>
                <a:cs typeface="Times New Roman" panose="02020603050405020304" pitchFamily="18" charset="0"/>
              </a:rPr>
              <a:t>Масивите</a:t>
            </a:r>
            <a:r>
              <a:rPr lang="ru-RU" sz="2400">
                <a:latin typeface="Times New Roman" panose="02020603050405020304" pitchFamily="18" charset="0"/>
                <a:cs typeface="Times New Roman" panose="02020603050405020304" pitchFamily="18" charset="0"/>
              </a:rPr>
              <a:t> могат да </a:t>
            </a:r>
            <a:r>
              <a:rPr lang="ru-RU" sz="2400" err="1">
                <a:latin typeface="Times New Roman" panose="02020603050405020304" pitchFamily="18" charset="0"/>
                <a:cs typeface="Times New Roman" panose="02020603050405020304" pitchFamily="18" charset="0"/>
              </a:rPr>
              <a:t>бъдат</a:t>
            </a:r>
            <a:r>
              <a:rPr lang="ru-RU" sz="2400">
                <a:latin typeface="Times New Roman" panose="02020603050405020304" pitchFamily="18" charset="0"/>
                <a:cs typeface="Times New Roman" panose="02020603050405020304" pitchFamily="18" charset="0"/>
              </a:rPr>
              <a:t> от </a:t>
            </a:r>
            <a:r>
              <a:rPr lang="ru-RU" sz="2400" err="1">
                <a:latin typeface="Times New Roman" panose="02020603050405020304" pitchFamily="18" charset="0"/>
                <a:cs typeface="Times New Roman" panose="02020603050405020304" pitchFamily="18" charset="0"/>
              </a:rPr>
              <a:t>различни</a:t>
            </a:r>
            <a:r>
              <a:rPr lang="ru-RU" sz="2400">
                <a:latin typeface="Times New Roman" panose="02020603050405020304" pitchFamily="18" charset="0"/>
                <a:cs typeface="Times New Roman" panose="02020603050405020304" pitchFamily="18" charset="0"/>
              </a:rPr>
              <a:t> размерности, като най-често </a:t>
            </a:r>
            <a:r>
              <a:rPr lang="ru-RU" sz="2400" err="1">
                <a:latin typeface="Times New Roman" panose="02020603050405020304" pitchFamily="18" charset="0"/>
                <a:cs typeface="Times New Roman" panose="02020603050405020304" pitchFamily="18" charset="0"/>
              </a:rPr>
              <a:t>използвани</a:t>
            </a:r>
            <a:r>
              <a:rPr lang="ru-RU" sz="2400">
                <a:latin typeface="Times New Roman" panose="02020603050405020304" pitchFamily="18" charset="0"/>
                <a:cs typeface="Times New Roman" panose="02020603050405020304" pitchFamily="18" charset="0"/>
              </a:rPr>
              <a:t> са </a:t>
            </a:r>
            <a:r>
              <a:rPr lang="ru-RU" sz="2400" err="1">
                <a:latin typeface="Times New Roman" panose="02020603050405020304" pitchFamily="18" charset="0"/>
                <a:cs typeface="Times New Roman" panose="02020603050405020304" pitchFamily="18" charset="0"/>
              </a:rPr>
              <a:t>едномерните</a:t>
            </a:r>
            <a:r>
              <a:rPr lang="ru-RU" sz="2400">
                <a:latin typeface="Times New Roman" panose="02020603050405020304" pitchFamily="18" charset="0"/>
                <a:cs typeface="Times New Roman" panose="02020603050405020304" pitchFamily="18" charset="0"/>
              </a:rPr>
              <a:t> и </a:t>
            </a:r>
            <a:r>
              <a:rPr lang="ru-RU" sz="2400" err="1">
                <a:latin typeface="Times New Roman" panose="02020603050405020304" pitchFamily="18" charset="0"/>
                <a:cs typeface="Times New Roman" panose="02020603050405020304" pitchFamily="18" charset="0"/>
              </a:rPr>
              <a:t>двумерните</a:t>
            </a:r>
            <a:r>
              <a:rPr lang="ru-RU"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масиви</a:t>
            </a:r>
            <a:r>
              <a:rPr lang="ru-RU" sz="2400">
                <a:latin typeface="Times New Roman" panose="02020603050405020304" pitchFamily="18" charset="0"/>
                <a:cs typeface="Times New Roman" panose="02020603050405020304" pitchFamily="18" charset="0"/>
              </a:rPr>
              <a:t>. </a:t>
            </a:r>
          </a:p>
          <a:p>
            <a:pPr lvl="0" algn="just"/>
            <a:r>
              <a:rPr lang="ru-RU" sz="2400" err="1">
                <a:latin typeface="Times New Roman" panose="02020603050405020304" pitchFamily="18" charset="0"/>
                <a:cs typeface="Times New Roman" panose="02020603050405020304" pitchFamily="18" charset="0"/>
              </a:rPr>
              <a:t>Едномерните</a:t>
            </a:r>
            <a:r>
              <a:rPr lang="ru-RU"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масиви</a:t>
            </a:r>
            <a:r>
              <a:rPr lang="ru-RU" sz="2400">
                <a:latin typeface="Times New Roman" panose="02020603050405020304" pitchFamily="18" charset="0"/>
                <a:cs typeface="Times New Roman" panose="02020603050405020304" pitchFamily="18" charset="0"/>
              </a:rPr>
              <a:t> се </a:t>
            </a:r>
            <a:r>
              <a:rPr lang="ru-RU" sz="2400" err="1">
                <a:latin typeface="Times New Roman" panose="02020603050405020304" pitchFamily="18" charset="0"/>
                <a:cs typeface="Times New Roman" panose="02020603050405020304" pitchFamily="18" charset="0"/>
              </a:rPr>
              <a:t>наричат</a:t>
            </a:r>
            <a:r>
              <a:rPr lang="ru-RU"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още</a:t>
            </a:r>
            <a:r>
              <a:rPr lang="ru-RU" sz="2400">
                <a:latin typeface="Times New Roman" panose="02020603050405020304" pitchFamily="18" charset="0"/>
                <a:cs typeface="Times New Roman" panose="02020603050405020304" pitchFamily="18" charset="0"/>
              </a:rPr>
              <a:t> </a:t>
            </a:r>
            <a:r>
              <a:rPr lang="ru-RU" sz="2400" err="1">
                <a:latin typeface="Times New Roman" panose="02020603050405020304" pitchFamily="18" charset="0"/>
                <a:cs typeface="Times New Roman" panose="02020603050405020304" pitchFamily="18" charset="0"/>
              </a:rPr>
              <a:t>вектори</a:t>
            </a:r>
            <a:r>
              <a:rPr lang="ru-RU" sz="2400">
                <a:latin typeface="Times New Roman" panose="02020603050405020304" pitchFamily="18" charset="0"/>
                <a:cs typeface="Times New Roman" panose="02020603050405020304" pitchFamily="18" charset="0"/>
              </a:rPr>
              <a:t>, а </a:t>
            </a:r>
            <a:r>
              <a:rPr lang="ru-RU" sz="2400" err="1">
                <a:latin typeface="Times New Roman" panose="02020603050405020304" pitchFamily="18" charset="0"/>
                <a:cs typeface="Times New Roman" panose="02020603050405020304" pitchFamily="18" charset="0"/>
              </a:rPr>
              <a:t>двумерните</a:t>
            </a:r>
            <a:r>
              <a:rPr lang="ru-RU" sz="2400">
                <a:latin typeface="Times New Roman" panose="02020603050405020304" pitchFamily="18" charset="0"/>
                <a:cs typeface="Times New Roman" panose="02020603050405020304" pitchFamily="18" charset="0"/>
              </a:rPr>
              <a:t> – </a:t>
            </a:r>
            <a:r>
              <a:rPr lang="ru-RU" sz="2400" err="1">
                <a:latin typeface="Times New Roman" panose="02020603050405020304" pitchFamily="18" charset="0"/>
                <a:cs typeface="Times New Roman" panose="02020603050405020304" pitchFamily="18" charset="0"/>
              </a:rPr>
              <a:t>матрици</a:t>
            </a:r>
            <a:r>
              <a:rPr lang="ru-RU" sz="2400">
                <a:latin typeface="Times New Roman" panose="02020603050405020304" pitchFamily="18" charset="0"/>
                <a:cs typeface="Times New Roman" panose="02020603050405020304" pitchFamily="18" charset="0"/>
              </a:rPr>
              <a:t>.</a:t>
            </a:r>
            <a:endParaRPr lang="en-US" sz="240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395536" y="116632"/>
            <a:ext cx="8229600" cy="1143000"/>
          </a:xfrm>
        </p:spPr>
        <p:txBody>
          <a:bodyPr>
            <a:normAutofit/>
          </a:bodyPr>
          <a:lstStyle/>
          <a:p>
            <a:r>
              <a:rPr lang="en-US" sz="3700" b="1">
                <a:latin typeface="Times New Roman" pitchFamily="18" charset="0"/>
                <a:cs typeface="Times New Roman" pitchFamily="18" charset="0"/>
              </a:rPr>
              <a:t> </a:t>
            </a:r>
            <a:r>
              <a:rPr lang="ru-RU" sz="3700" b="1" err="1">
                <a:latin typeface="Times New Roman" pitchFamily="18" charset="0"/>
                <a:cs typeface="Times New Roman" pitchFamily="18" charset="0"/>
              </a:rPr>
              <a:t>Масиви</a:t>
            </a:r>
            <a:r>
              <a:rPr lang="ru-RU" sz="3700" b="1">
                <a:latin typeface="Times New Roman" pitchFamily="18" charset="0"/>
                <a:cs typeface="Times New Roman" pitchFamily="18" charset="0"/>
              </a:rPr>
              <a:t> и </a:t>
            </a:r>
            <a:r>
              <a:rPr lang="ru-RU" sz="3700" b="1" err="1">
                <a:latin typeface="Times New Roman" pitchFamily="18" charset="0"/>
                <a:cs typeface="Times New Roman" pitchFamily="18" charset="0"/>
              </a:rPr>
              <a:t>структури</a:t>
            </a:r>
            <a:r>
              <a:rPr lang="ru-RU" sz="3700" b="1">
                <a:latin typeface="Times New Roman" pitchFamily="18" charset="0"/>
                <a:cs typeface="Times New Roman" pitchFamily="18" charset="0"/>
              </a:rPr>
              <a:t> в </a:t>
            </a:r>
            <a:r>
              <a:rPr lang="ru-RU" sz="3700" b="1" err="1">
                <a:latin typeface="Times New Roman" pitchFamily="18" charset="0"/>
                <a:cs typeface="Times New Roman" pitchFamily="18" charset="0"/>
              </a:rPr>
              <a:t>Асемблера</a:t>
            </a:r>
            <a:r>
              <a:rPr lang="ru-RU" sz="5400">
                <a:latin typeface="Times New Roman" pitchFamily="18" charset="0"/>
                <a:cs typeface="Times New Roman" pitchFamily="18" charset="0"/>
              </a:rPr>
              <a:t>.</a:t>
            </a:r>
            <a:endParaRPr lang="bg-BG" sz="4000" b="1"/>
          </a:p>
        </p:txBody>
      </p:sp>
    </p:spTree>
    <p:extLst>
      <p:ext uri="{BB962C8B-B14F-4D97-AF65-F5344CB8AC3E}">
        <p14:creationId xmlns:p14="http://schemas.microsoft.com/office/powerpoint/2010/main" val="2755045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340768"/>
            <a:ext cx="8643998" cy="5256584"/>
          </a:xfrm>
        </p:spPr>
        <p:txBody>
          <a:bodyPr vert="horz" lIns="91440" tIns="45720" rIns="91440" bIns="45720" anchor="t">
            <a:noAutofit/>
          </a:bodyPr>
          <a:lstStyle/>
          <a:p>
            <a:pPr algn="just">
              <a:lnSpc>
                <a:spcPct val="130621"/>
              </a:lnSpc>
              <a:spcBef>
                <a:spcPts val="0"/>
              </a:spcBef>
            </a:pPr>
            <a:r>
              <a:rPr lang="bg-BG" sz="2300" b="1">
                <a:latin typeface="Times New Roman" pitchFamily="18" charset="0"/>
                <a:cs typeface="Times New Roman" pitchFamily="18" charset="0"/>
              </a:rPr>
              <a:t>Въвеждане на масиви за х86 процесор.</a:t>
            </a:r>
            <a:endParaRPr lang="en-US"/>
          </a:p>
          <a:p>
            <a:pPr algn="just">
              <a:lnSpc>
                <a:spcPct val="130621"/>
              </a:lnSpc>
              <a:spcBef>
                <a:spcPts val="0"/>
              </a:spcBef>
            </a:pPr>
            <a:r>
              <a:rPr lang="bg-BG" sz="2300">
                <a:latin typeface="Times New Roman" pitchFamily="18" charset="0"/>
                <a:cs typeface="Times New Roman" pitchFamily="18" charset="0"/>
              </a:rPr>
              <a:t>В зависимост от формата на използваните елементи въвеждането на масивите може да стане с помощта на съответните директиви.</a:t>
            </a:r>
          </a:p>
          <a:p>
            <a:pPr algn="just">
              <a:lnSpc>
                <a:spcPct val="130621"/>
              </a:lnSpc>
              <a:spcBef>
                <a:spcPts val="0"/>
              </a:spcBef>
            </a:pPr>
            <a:r>
              <a:rPr lang="bg-BG" sz="2300">
                <a:latin typeface="Times New Roman" pitchFamily="18" charset="0"/>
                <a:cs typeface="Times New Roman" pitchFamily="18" charset="0"/>
              </a:rPr>
              <a:t> 	- директива </a:t>
            </a:r>
            <a:r>
              <a:rPr lang="en-US" sz="2300" err="1">
                <a:latin typeface="Times New Roman" pitchFamily="18" charset="0"/>
                <a:cs typeface="Times New Roman" pitchFamily="18" charset="0"/>
              </a:rPr>
              <a:t>db</a:t>
            </a:r>
            <a:endParaRPr lang="en-US" sz="2300">
              <a:latin typeface="Times New Roman" pitchFamily="18" charset="0"/>
              <a:cs typeface="Times New Roman" pitchFamily="18" charset="0"/>
            </a:endParaRPr>
          </a:p>
          <a:p>
            <a:pPr algn="just">
              <a:lnSpc>
                <a:spcPct val="130621"/>
              </a:lnSpc>
              <a:spcBef>
                <a:spcPts val="0"/>
              </a:spcBef>
            </a:pPr>
            <a:r>
              <a:rPr lang="en-US" sz="2300" err="1">
                <a:latin typeface="Times New Roman" pitchFamily="18" charset="0"/>
                <a:cs typeface="Times New Roman" pitchFamily="18" charset="0"/>
              </a:rPr>
              <a:t>Описанието</a:t>
            </a:r>
            <a:r>
              <a:rPr lang="en-US" sz="2300">
                <a:latin typeface="Times New Roman" pitchFamily="18" charset="0"/>
                <a:cs typeface="Times New Roman" pitchFamily="18" charset="0"/>
              </a:rPr>
              <a:t> на </a:t>
            </a:r>
            <a:r>
              <a:rPr lang="en-US" sz="2300" err="1">
                <a:latin typeface="Times New Roman" pitchFamily="18" charset="0"/>
                <a:cs typeface="Times New Roman" pitchFamily="18" charset="0"/>
              </a:rPr>
              <a:t>масив</a:t>
            </a:r>
            <a:r>
              <a:rPr lang="en-US" sz="2300">
                <a:latin typeface="Times New Roman" pitchFamily="18" charset="0"/>
                <a:cs typeface="Times New Roman" pitchFamily="18" charset="0"/>
              </a:rPr>
              <a:t> е </a:t>
            </a:r>
            <a:r>
              <a:rPr lang="en-US" sz="2300" err="1">
                <a:latin typeface="Times New Roman" pitchFamily="18" charset="0"/>
                <a:cs typeface="Times New Roman" pitchFamily="18" charset="0"/>
              </a:rPr>
              <a:t>възможно</a:t>
            </a:r>
            <a:r>
              <a:rPr lang="en-US" sz="2300">
                <a:latin typeface="Times New Roman" pitchFamily="18" charset="0"/>
                <a:cs typeface="Times New Roman" pitchFamily="18" charset="0"/>
              </a:rPr>
              <a:t> да </a:t>
            </a:r>
            <a:r>
              <a:rPr lang="en-US" sz="2300" err="1">
                <a:latin typeface="Times New Roman" pitchFamily="18" charset="0"/>
                <a:cs typeface="Times New Roman" pitchFamily="18" charset="0"/>
              </a:rPr>
              <a:t>стане</a:t>
            </a:r>
            <a:r>
              <a:rPr lang="en-US" sz="2300">
                <a:latin typeface="Times New Roman" pitchFamily="18" charset="0"/>
                <a:cs typeface="Times New Roman" pitchFamily="18" charset="0"/>
              </a:rPr>
              <a:t> с </a:t>
            </a:r>
            <a:r>
              <a:rPr lang="en-US" sz="2300" err="1">
                <a:latin typeface="Times New Roman" pitchFamily="18" charset="0"/>
                <a:cs typeface="Times New Roman" pitchFamily="18" charset="0"/>
              </a:rPr>
              <a:t>отделни</a:t>
            </a:r>
            <a:r>
              <a:rPr lang="en-US" sz="2300">
                <a:latin typeface="Times New Roman" pitchFamily="18" charset="0"/>
                <a:cs typeface="Times New Roman" pitchFamily="18" charset="0"/>
              </a:rPr>
              <a:t>  </a:t>
            </a:r>
            <a:r>
              <a:rPr lang="en-US" sz="2300" err="1">
                <a:latin typeface="Times New Roman" pitchFamily="18" charset="0"/>
                <a:cs typeface="Times New Roman" pitchFamily="18" charset="0"/>
              </a:rPr>
              <a:t>директиви</a:t>
            </a:r>
            <a:r>
              <a:rPr lang="en-US" sz="2300">
                <a:latin typeface="Times New Roman" pitchFamily="18" charset="0"/>
                <a:cs typeface="Times New Roman" pitchFamily="18" charset="0"/>
              </a:rPr>
              <a:t> за </a:t>
            </a:r>
            <a:r>
              <a:rPr lang="en-US" sz="2300" err="1">
                <a:latin typeface="Times New Roman" pitchFamily="18" charset="0"/>
                <a:cs typeface="Times New Roman" pitchFamily="18" charset="0"/>
              </a:rPr>
              <a:t>всеки</a:t>
            </a:r>
            <a:r>
              <a:rPr lang="en-US" sz="2300">
                <a:latin typeface="Times New Roman" pitchFamily="18" charset="0"/>
                <a:cs typeface="Times New Roman" pitchFamily="18" charset="0"/>
              </a:rPr>
              <a:t> </a:t>
            </a:r>
            <a:r>
              <a:rPr lang="en-US" sz="2300" err="1">
                <a:latin typeface="Times New Roman" pitchFamily="18" charset="0"/>
                <a:cs typeface="Times New Roman" pitchFamily="18" charset="0"/>
              </a:rPr>
              <a:t>негов</a:t>
            </a:r>
            <a:r>
              <a:rPr lang="en-US" sz="2300">
                <a:latin typeface="Times New Roman" pitchFamily="18" charset="0"/>
                <a:cs typeface="Times New Roman" pitchFamily="18" charset="0"/>
              </a:rPr>
              <a:t> </a:t>
            </a:r>
            <a:r>
              <a:rPr lang="en-US" sz="2300" err="1">
                <a:latin typeface="Times New Roman" pitchFamily="18" charset="0"/>
                <a:cs typeface="Times New Roman" pitchFamily="18" charset="0"/>
              </a:rPr>
              <a:t>елемент</a:t>
            </a:r>
            <a:r>
              <a:rPr lang="en-US" sz="2300">
                <a:latin typeface="Times New Roman" pitchFamily="18" charset="0"/>
                <a:cs typeface="Times New Roman" pitchFamily="18" charset="0"/>
              </a:rPr>
              <a:t>. </a:t>
            </a:r>
            <a:r>
              <a:rPr lang="bg-BG" sz="2300">
                <a:latin typeface="Times New Roman" pitchFamily="18" charset="0"/>
                <a:cs typeface="Times New Roman" pitchFamily="18" charset="0"/>
              </a:rPr>
              <a:t>3 </a:t>
            </a:r>
            <a:r>
              <a:rPr lang="en-US" sz="2300" err="1">
                <a:latin typeface="Times New Roman" pitchFamily="18" charset="0"/>
                <a:cs typeface="Times New Roman" pitchFamily="18" charset="0"/>
              </a:rPr>
              <a:t>елемент</a:t>
            </a:r>
            <a:r>
              <a:rPr lang="bg-BG" sz="2300" err="1">
                <a:latin typeface="Times New Roman" pitchFamily="18" charset="0"/>
                <a:cs typeface="Times New Roman" pitchFamily="18" charset="0"/>
              </a:rPr>
              <a:t>ен</a:t>
            </a:r>
            <a:r>
              <a:rPr lang="bg-BG" sz="2300">
                <a:latin typeface="Times New Roman" pitchFamily="18" charset="0"/>
                <a:cs typeface="Times New Roman" pitchFamily="18" charset="0"/>
              </a:rPr>
              <a:t> </a:t>
            </a:r>
            <a:r>
              <a:rPr lang="en-US" sz="2300" err="1">
                <a:latin typeface="Times New Roman" pitchFamily="18" charset="0"/>
                <a:cs typeface="Times New Roman" pitchFamily="18" charset="0"/>
              </a:rPr>
              <a:t>масив</a:t>
            </a:r>
            <a:r>
              <a:rPr lang="en-US" sz="2300">
                <a:latin typeface="Times New Roman" pitchFamily="18" charset="0"/>
                <a:cs typeface="Times New Roman" pitchFamily="18" charset="0"/>
              </a:rPr>
              <a:t> ММ, </a:t>
            </a:r>
            <a:r>
              <a:rPr lang="en-US" sz="2300" err="1">
                <a:latin typeface="Times New Roman" pitchFamily="18" charset="0"/>
                <a:cs typeface="Times New Roman" pitchFamily="18" charset="0"/>
              </a:rPr>
              <a:t>чиито</a:t>
            </a:r>
            <a:r>
              <a:rPr lang="en-US" sz="2300">
                <a:latin typeface="Times New Roman" pitchFamily="18" charset="0"/>
                <a:cs typeface="Times New Roman" pitchFamily="18" charset="0"/>
              </a:rPr>
              <a:t> елементи са </a:t>
            </a:r>
            <a:r>
              <a:rPr lang="en-US" sz="2300" err="1">
                <a:latin typeface="Times New Roman" pitchFamily="18" charset="0"/>
                <a:cs typeface="Times New Roman" pitchFamily="18" charset="0"/>
              </a:rPr>
              <a:t>еднобайтови</a:t>
            </a:r>
            <a:r>
              <a:rPr lang="en-US" sz="2300">
                <a:latin typeface="Times New Roman" pitchFamily="18" charset="0"/>
                <a:cs typeface="Times New Roman" pitchFamily="18" charset="0"/>
              </a:rPr>
              <a:t>, </a:t>
            </a:r>
            <a:r>
              <a:rPr lang="en-US" sz="2300" err="1">
                <a:latin typeface="Times New Roman" pitchFamily="18" charset="0"/>
                <a:cs typeface="Times New Roman" pitchFamily="18" charset="0"/>
              </a:rPr>
              <a:t>със</a:t>
            </a:r>
            <a:r>
              <a:rPr lang="en-US" sz="2300">
                <a:latin typeface="Times New Roman" pitchFamily="18" charset="0"/>
                <a:cs typeface="Times New Roman" pitchFamily="18" charset="0"/>
              </a:rPr>
              <a:t> </a:t>
            </a:r>
            <a:r>
              <a:rPr lang="en-US" sz="2300" err="1">
                <a:latin typeface="Times New Roman" pitchFamily="18" charset="0"/>
                <a:cs typeface="Times New Roman" pitchFamily="18" charset="0"/>
              </a:rPr>
              <a:t>съответните</a:t>
            </a:r>
            <a:r>
              <a:rPr lang="en-US" sz="2300">
                <a:latin typeface="Times New Roman" pitchFamily="18" charset="0"/>
                <a:cs typeface="Times New Roman" pitchFamily="18" charset="0"/>
              </a:rPr>
              <a:t> </a:t>
            </a:r>
            <a:r>
              <a:rPr lang="en-US" sz="2300" err="1">
                <a:latin typeface="Times New Roman" pitchFamily="18" charset="0"/>
                <a:cs typeface="Times New Roman" pitchFamily="18" charset="0"/>
              </a:rPr>
              <a:t>начални</a:t>
            </a:r>
            <a:r>
              <a:rPr lang="en-US" sz="2300">
                <a:latin typeface="Times New Roman" pitchFamily="18" charset="0"/>
                <a:cs typeface="Times New Roman" pitchFamily="18" charset="0"/>
              </a:rPr>
              <a:t> </a:t>
            </a:r>
            <a:r>
              <a:rPr lang="en-US" sz="2300" err="1">
                <a:latin typeface="Times New Roman" pitchFamily="18" charset="0"/>
                <a:cs typeface="Times New Roman" pitchFamily="18" charset="0"/>
              </a:rPr>
              <a:t>стойности</a:t>
            </a:r>
            <a:r>
              <a:rPr lang="bg-BG" sz="2300">
                <a:latin typeface="Times New Roman" pitchFamily="18" charset="0"/>
                <a:cs typeface="Times New Roman" pitchFamily="18" charset="0"/>
              </a:rPr>
              <a:t> изглежда</a:t>
            </a:r>
            <a:r>
              <a:rPr lang="en-US" sz="2300">
                <a:latin typeface="Times New Roman" pitchFamily="18" charset="0"/>
                <a:cs typeface="Times New Roman" pitchFamily="18" charset="0"/>
              </a:rPr>
              <a:t>: </a:t>
            </a:r>
            <a:endParaRPr lang="bg-BG" sz="2300">
              <a:latin typeface="Times New Roman" pitchFamily="18" charset="0"/>
              <a:cs typeface="Times New Roman" pitchFamily="18" charset="0"/>
            </a:endParaRPr>
          </a:p>
          <a:p>
            <a:pPr algn="just">
              <a:lnSpc>
                <a:spcPct val="130621"/>
              </a:lnSpc>
              <a:spcBef>
                <a:spcPts val="0"/>
              </a:spcBef>
            </a:pPr>
            <a:endParaRPr lang="bg-BG" sz="2300">
              <a:latin typeface="Times New Roman" pitchFamily="18" charset="0"/>
              <a:cs typeface="Times New Roman" pitchFamily="18" charset="0"/>
            </a:endParaRPr>
          </a:p>
          <a:p>
            <a:pPr algn="just">
              <a:lnSpc>
                <a:spcPct val="130621"/>
              </a:lnSpc>
              <a:spcBef>
                <a:spcPts val="0"/>
              </a:spcBef>
            </a:pPr>
            <a:endParaRPr lang="ru-RU" sz="2300">
              <a:latin typeface="Times New Roman" pitchFamily="18" charset="0"/>
              <a:cs typeface="Times New Roman" pitchFamily="18" charset="0"/>
            </a:endParaRPr>
          </a:p>
        </p:txBody>
      </p:sp>
      <p:sp>
        <p:nvSpPr>
          <p:cNvPr id="4" name="Title 1"/>
          <p:cNvSpPr>
            <a:spLocks noGrp="1"/>
          </p:cNvSpPr>
          <p:nvPr>
            <p:ph type="title"/>
          </p:nvPr>
        </p:nvSpPr>
        <p:spPr>
          <a:xfrm>
            <a:off x="539552" y="284345"/>
            <a:ext cx="8229600" cy="854968"/>
          </a:xfrm>
        </p:spPr>
        <p:txBody>
          <a:bodyPr>
            <a:normAutofit fontScale="90000"/>
          </a:bodyPr>
          <a:lstStyle/>
          <a:p>
            <a:r>
              <a:rPr lang="en-US" sz="3700" b="1">
                <a:latin typeface="Times New Roman" pitchFamily="18" charset="0"/>
                <a:cs typeface="Times New Roman" pitchFamily="18" charset="0"/>
              </a:rPr>
              <a:t> </a:t>
            </a:r>
            <a:r>
              <a:rPr lang="ru-RU" sz="3700" b="1" err="1">
                <a:latin typeface="Times New Roman" pitchFamily="18" charset="0"/>
                <a:cs typeface="Times New Roman" pitchFamily="18" charset="0"/>
              </a:rPr>
              <a:t>Масиви</a:t>
            </a:r>
            <a:r>
              <a:rPr lang="ru-RU" sz="3700" b="1">
                <a:latin typeface="Times New Roman" pitchFamily="18" charset="0"/>
                <a:cs typeface="Times New Roman" pitchFamily="18" charset="0"/>
              </a:rPr>
              <a:t> и </a:t>
            </a:r>
            <a:r>
              <a:rPr lang="ru-RU" sz="3700" b="1" err="1">
                <a:latin typeface="Times New Roman" pitchFamily="18" charset="0"/>
                <a:cs typeface="Times New Roman" pitchFamily="18" charset="0"/>
              </a:rPr>
              <a:t>структури</a:t>
            </a:r>
            <a:r>
              <a:rPr lang="ru-RU" sz="3700" b="1">
                <a:latin typeface="Times New Roman" pitchFamily="18" charset="0"/>
                <a:cs typeface="Times New Roman" pitchFamily="18" charset="0"/>
              </a:rPr>
              <a:t> в </a:t>
            </a:r>
            <a:r>
              <a:rPr lang="ru-RU" sz="3700" b="1" err="1">
                <a:latin typeface="Times New Roman" pitchFamily="18" charset="0"/>
                <a:cs typeface="Times New Roman" pitchFamily="18" charset="0"/>
              </a:rPr>
              <a:t>Асемблера</a:t>
            </a:r>
            <a:r>
              <a:rPr lang="ru-RU" sz="5400">
                <a:latin typeface="Times New Roman" pitchFamily="18" charset="0"/>
                <a:cs typeface="Times New Roman" pitchFamily="18" charset="0"/>
              </a:rPr>
              <a:t>.</a:t>
            </a:r>
            <a:endParaRPr lang="bg-BG" sz="4000" b="1"/>
          </a:p>
        </p:txBody>
      </p:sp>
      <p:pic>
        <p:nvPicPr>
          <p:cNvPr id="5" name="Картина 1">
            <a:extLst>
              <a:ext uri="{FF2B5EF4-FFF2-40B4-BE49-F238E27FC236}">
                <a16:creationId xmlns:a16="http://schemas.microsoft.com/office/drawing/2014/main" id="{B1AC76C6-2DE8-4717-B6CD-C02C49C688F5}"/>
              </a:ext>
            </a:extLst>
          </p:cNvPr>
          <p:cNvPicPr>
            <a:picLocks noChangeAspect="1"/>
          </p:cNvPicPr>
          <p:nvPr/>
        </p:nvPicPr>
        <p:blipFill rotWithShape="1">
          <a:blip r:embed="rId2"/>
          <a:srcRect r="-1963" b="24028"/>
          <a:stretch/>
        </p:blipFill>
        <p:spPr>
          <a:xfrm>
            <a:off x="2807804" y="4869160"/>
            <a:ext cx="3528392" cy="1296144"/>
          </a:xfrm>
          <a:prstGeom prst="rect">
            <a:avLst/>
          </a:prstGeom>
        </p:spPr>
      </p:pic>
    </p:spTree>
    <p:extLst>
      <p:ext uri="{BB962C8B-B14F-4D97-AF65-F5344CB8AC3E}">
        <p14:creationId xmlns:p14="http://schemas.microsoft.com/office/powerpoint/2010/main" val="2747026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340768"/>
            <a:ext cx="8716006" cy="5256584"/>
          </a:xfrm>
        </p:spPr>
        <p:txBody>
          <a:bodyPr vert="horz" lIns="91440" tIns="45720" rIns="91440" bIns="45720" anchor="t">
            <a:noAutofit/>
          </a:bodyPr>
          <a:lstStyle/>
          <a:p>
            <a:pPr algn="just">
              <a:lnSpc>
                <a:spcPct val="130621"/>
              </a:lnSpc>
              <a:spcBef>
                <a:spcPts val="0"/>
              </a:spcBef>
            </a:pPr>
            <a:r>
              <a:rPr lang="bg-BG" sz="2300" b="1">
                <a:latin typeface="Times New Roman" pitchFamily="18" charset="0"/>
                <a:cs typeface="Times New Roman" pitchFamily="18" charset="0"/>
              </a:rPr>
              <a:t>Въвеждане на масиви за х86 процесор.</a:t>
            </a:r>
            <a:endParaRPr lang="en-US" sz="2300" b="1">
              <a:latin typeface="Times New Roman" pitchFamily="18" charset="0"/>
              <a:cs typeface="Times New Roman" pitchFamily="18" charset="0"/>
            </a:endParaRPr>
          </a:p>
          <a:p>
            <a:pPr algn="just">
              <a:lnSpc>
                <a:spcPct val="130621"/>
              </a:lnSpc>
              <a:spcBef>
                <a:spcPts val="0"/>
              </a:spcBef>
            </a:pPr>
            <a:r>
              <a:rPr lang="ru-RU" sz="2300" err="1">
                <a:latin typeface="Times New Roman" pitchFamily="18" charset="0"/>
                <a:cs typeface="Times New Roman" pitchFamily="18" charset="0"/>
              </a:rPr>
              <a:t>Името</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масива</a:t>
            </a:r>
            <a:r>
              <a:rPr lang="ru-RU" sz="2300">
                <a:latin typeface="Times New Roman" pitchFamily="18" charset="0"/>
                <a:cs typeface="Times New Roman" pitchFamily="18" charset="0"/>
              </a:rPr>
              <a:t> ММ се </a:t>
            </a:r>
            <a:r>
              <a:rPr lang="ru-RU" sz="2300" err="1">
                <a:latin typeface="Times New Roman" pitchFamily="18" charset="0"/>
                <a:cs typeface="Times New Roman" pitchFamily="18" charset="0"/>
              </a:rPr>
              <a:t>дава</a:t>
            </a:r>
            <a:r>
              <a:rPr lang="ru-RU" sz="2300">
                <a:latin typeface="Times New Roman" pitchFamily="18" charset="0"/>
                <a:cs typeface="Times New Roman" pitchFamily="18" charset="0"/>
              </a:rPr>
              <a:t> само на </a:t>
            </a:r>
            <a:r>
              <a:rPr lang="ru-RU" sz="2300" err="1">
                <a:latin typeface="Times New Roman" pitchFamily="18" charset="0"/>
                <a:cs typeface="Times New Roman" pitchFamily="18" charset="0"/>
              </a:rPr>
              <a:t>първия</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елемент</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останалите</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остават</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неименувани</a:t>
            </a:r>
            <a:r>
              <a:rPr lang="ru-RU" sz="2300">
                <a:latin typeface="Times New Roman" pitchFamily="18" charset="0"/>
                <a:cs typeface="Times New Roman" pitchFamily="18" charset="0"/>
              </a:rPr>
              <a:t>. При много на </a:t>
            </a:r>
            <a:r>
              <a:rPr lang="ru-RU" sz="2300" err="1">
                <a:latin typeface="Times New Roman" pitchFamily="18" charset="0"/>
                <a:cs typeface="Times New Roman" pitchFamily="18" charset="0"/>
              </a:rPr>
              <a:t>брой</a:t>
            </a:r>
            <a:r>
              <a:rPr lang="ru-RU" sz="2300">
                <a:latin typeface="Times New Roman" pitchFamily="18" charset="0"/>
                <a:cs typeface="Times New Roman" pitchFamily="18" charset="0"/>
              </a:rPr>
              <a:t> елементи, този начин за описание не е удобен. </a:t>
            </a:r>
            <a:r>
              <a:rPr lang="ru-RU" sz="2300" err="1">
                <a:latin typeface="Times New Roman" pitchFamily="18" charset="0"/>
                <a:cs typeface="Times New Roman" pitchFamily="18" charset="0"/>
              </a:rPr>
              <a:t>Ето</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защо</a:t>
            </a:r>
            <a:r>
              <a:rPr lang="ru-RU" sz="2300">
                <a:latin typeface="Times New Roman" pitchFamily="18" charset="0"/>
                <a:cs typeface="Times New Roman" pitchFamily="18" charset="0"/>
              </a:rPr>
              <a:t> в </a:t>
            </a:r>
            <a:r>
              <a:rPr lang="ru-RU" sz="2300" err="1">
                <a:latin typeface="Times New Roman" pitchFamily="18" charset="0"/>
                <a:cs typeface="Times New Roman" pitchFamily="18" charset="0"/>
              </a:rPr>
              <a:t>асемблерния</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език</a:t>
            </a:r>
            <a:r>
              <a:rPr lang="ru-RU" sz="2300">
                <a:latin typeface="Times New Roman" pitchFamily="18" charset="0"/>
                <a:cs typeface="Times New Roman" pitchFamily="18" charset="0"/>
              </a:rPr>
              <a:t> се допуска </a:t>
            </a:r>
            <a:r>
              <a:rPr lang="ru-RU" sz="2300" err="1">
                <a:latin typeface="Times New Roman" pitchFamily="18" charset="0"/>
                <a:cs typeface="Times New Roman" pitchFamily="18" charset="0"/>
              </a:rPr>
              <a:t>запис</a:t>
            </a:r>
            <a:r>
              <a:rPr lang="ru-RU" sz="2300">
                <a:latin typeface="Times New Roman" pitchFamily="18" charset="0"/>
                <a:cs typeface="Times New Roman" pitchFamily="18" charset="0"/>
              </a:rPr>
              <a:t> на много </a:t>
            </a:r>
            <a:r>
              <a:rPr lang="ru-RU" sz="2300" err="1">
                <a:latin typeface="Times New Roman" pitchFamily="18" charset="0"/>
                <a:cs typeface="Times New Roman" pitchFamily="18" charset="0"/>
              </a:rPr>
              <a:t>операнди</a:t>
            </a:r>
            <a:r>
              <a:rPr lang="ru-RU" sz="2300">
                <a:latin typeface="Times New Roman" pitchFamily="18" charset="0"/>
                <a:cs typeface="Times New Roman" pitchFamily="18" charset="0"/>
              </a:rPr>
              <a:t>. </a:t>
            </a:r>
          </a:p>
          <a:p>
            <a:pPr marL="393065" lvl="1" indent="0" algn="just">
              <a:lnSpc>
                <a:spcPct val="130621"/>
              </a:lnSpc>
              <a:spcBef>
                <a:spcPts val="0"/>
              </a:spcBef>
              <a:buNone/>
            </a:pPr>
            <a:r>
              <a:rPr lang="ru-RU" sz="2300">
                <a:latin typeface="Times New Roman" pitchFamily="18" charset="0"/>
                <a:cs typeface="Times New Roman" pitchFamily="18" charset="0"/>
              </a:rPr>
              <a:t>                                 </a:t>
            </a:r>
            <a:r>
              <a:rPr lang="ru-RU" sz="2300" b="1">
                <a:latin typeface="Times New Roman" pitchFamily="18" charset="0"/>
                <a:cs typeface="Times New Roman" pitchFamily="18" charset="0"/>
              </a:rPr>
              <a:t>MM   DB   2, -2, ? </a:t>
            </a:r>
          </a:p>
          <a:p>
            <a:pPr marL="393065" lvl="1" indent="0" algn="just">
              <a:lnSpc>
                <a:spcPct val="130621"/>
              </a:lnSpc>
              <a:spcBef>
                <a:spcPts val="0"/>
              </a:spcBef>
              <a:buNone/>
            </a:pPr>
            <a:r>
              <a:rPr lang="ru-RU" sz="2300" err="1">
                <a:latin typeface="Times New Roman" pitchFamily="18" charset="0"/>
                <a:cs typeface="Times New Roman" pitchFamily="18" charset="0"/>
              </a:rPr>
              <a:t>Указаните</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стойности</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масива</a:t>
            </a:r>
            <a:r>
              <a:rPr lang="ru-RU" sz="2300">
                <a:latin typeface="Times New Roman" pitchFamily="18" charset="0"/>
                <a:cs typeface="Times New Roman" pitchFamily="18" charset="0"/>
              </a:rPr>
              <a:t>, с </a:t>
            </a:r>
            <a:r>
              <a:rPr lang="ru-RU" sz="2300" err="1">
                <a:latin typeface="Times New Roman" pitchFamily="18" charset="0"/>
                <a:cs typeface="Times New Roman" pitchFamily="18" charset="0"/>
              </a:rPr>
              <a:t>изключение</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третата</a:t>
            </a:r>
            <a:r>
              <a:rPr lang="ru-RU" sz="2300">
                <a:latin typeface="Times New Roman" pitchFamily="18" charset="0"/>
                <a:cs typeface="Times New Roman" pitchFamily="18" charset="0"/>
              </a:rPr>
              <a:t>, се </a:t>
            </a:r>
            <a:r>
              <a:rPr lang="ru-RU" sz="2300" err="1">
                <a:latin typeface="Times New Roman" pitchFamily="18" charset="0"/>
                <a:cs typeface="Times New Roman" pitchFamily="18" charset="0"/>
              </a:rPr>
              <a:t>записват</a:t>
            </a:r>
            <a:r>
              <a:rPr lang="ru-RU" sz="2300">
                <a:latin typeface="Times New Roman" pitchFamily="18" charset="0"/>
                <a:cs typeface="Times New Roman" pitchFamily="18" charset="0"/>
              </a:rPr>
              <a:t> в </a:t>
            </a:r>
            <a:r>
              <a:rPr lang="ru-RU" sz="2300" err="1">
                <a:latin typeface="Times New Roman" pitchFamily="18" charset="0"/>
                <a:cs typeface="Times New Roman" pitchFamily="18" charset="0"/>
              </a:rPr>
              <a:t>последователни</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еднобайтови</a:t>
            </a:r>
            <a:r>
              <a:rPr lang="ru-RU" sz="2300">
                <a:latin typeface="Times New Roman" pitchFamily="18" charset="0"/>
                <a:cs typeface="Times New Roman" pitchFamily="18" charset="0"/>
              </a:rPr>
              <a:t> клетки. </a:t>
            </a:r>
            <a:r>
              <a:rPr lang="ru-RU" sz="2300" err="1">
                <a:latin typeface="Times New Roman" pitchFamily="18" charset="0"/>
                <a:cs typeface="Times New Roman" pitchFamily="18" charset="0"/>
              </a:rPr>
              <a:t>Типът</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името</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масива</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съответно</a:t>
            </a:r>
            <a:r>
              <a:rPr lang="ru-RU" sz="2300">
                <a:latin typeface="Times New Roman" pitchFamily="18" charset="0"/>
                <a:cs typeface="Times New Roman" pitchFamily="18" charset="0"/>
              </a:rPr>
              <a:t> е:  TYPE  MM = BYTE. </a:t>
            </a:r>
          </a:p>
        </p:txBody>
      </p:sp>
      <p:sp>
        <p:nvSpPr>
          <p:cNvPr id="4" name="Title 1"/>
          <p:cNvSpPr>
            <a:spLocks noGrp="1"/>
          </p:cNvSpPr>
          <p:nvPr>
            <p:ph type="title"/>
          </p:nvPr>
        </p:nvSpPr>
        <p:spPr>
          <a:xfrm>
            <a:off x="539552" y="284345"/>
            <a:ext cx="8229600" cy="854968"/>
          </a:xfrm>
        </p:spPr>
        <p:txBody>
          <a:bodyPr>
            <a:normAutofit fontScale="90000"/>
          </a:bodyPr>
          <a:lstStyle/>
          <a:p>
            <a:r>
              <a:rPr lang="en-US" sz="3700" b="1">
                <a:latin typeface="Times New Roman" pitchFamily="18" charset="0"/>
                <a:cs typeface="Times New Roman" pitchFamily="18" charset="0"/>
              </a:rPr>
              <a:t> </a:t>
            </a:r>
            <a:r>
              <a:rPr lang="ru-RU" sz="3700" b="1" err="1">
                <a:latin typeface="Times New Roman" pitchFamily="18" charset="0"/>
                <a:cs typeface="Times New Roman" pitchFamily="18" charset="0"/>
              </a:rPr>
              <a:t>Масиви</a:t>
            </a:r>
            <a:r>
              <a:rPr lang="ru-RU" sz="3700" b="1">
                <a:latin typeface="Times New Roman" pitchFamily="18" charset="0"/>
                <a:cs typeface="Times New Roman" pitchFamily="18" charset="0"/>
              </a:rPr>
              <a:t> и </a:t>
            </a:r>
            <a:r>
              <a:rPr lang="ru-RU" sz="3700" b="1" err="1">
                <a:latin typeface="Times New Roman" pitchFamily="18" charset="0"/>
                <a:cs typeface="Times New Roman" pitchFamily="18" charset="0"/>
              </a:rPr>
              <a:t>структури</a:t>
            </a:r>
            <a:r>
              <a:rPr lang="ru-RU" sz="3700" b="1">
                <a:latin typeface="Times New Roman" pitchFamily="18" charset="0"/>
                <a:cs typeface="Times New Roman" pitchFamily="18" charset="0"/>
              </a:rPr>
              <a:t> в </a:t>
            </a:r>
            <a:r>
              <a:rPr lang="ru-RU" sz="3700" b="1" err="1">
                <a:latin typeface="Times New Roman" pitchFamily="18" charset="0"/>
                <a:cs typeface="Times New Roman" pitchFamily="18" charset="0"/>
              </a:rPr>
              <a:t>Асемблера</a:t>
            </a:r>
            <a:r>
              <a:rPr lang="ru-RU" sz="5400">
                <a:latin typeface="Times New Roman" pitchFamily="18" charset="0"/>
                <a:cs typeface="Times New Roman" pitchFamily="18" charset="0"/>
              </a:rPr>
              <a:t>.</a:t>
            </a:r>
            <a:endParaRPr lang="bg-BG" sz="4000" b="1"/>
          </a:p>
        </p:txBody>
      </p:sp>
    </p:spTree>
    <p:extLst>
      <p:ext uri="{BB962C8B-B14F-4D97-AF65-F5344CB8AC3E}">
        <p14:creationId xmlns:p14="http://schemas.microsoft.com/office/powerpoint/2010/main" val="1867159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139313"/>
            <a:ext cx="8716006" cy="5458039"/>
          </a:xfrm>
        </p:spPr>
        <p:txBody>
          <a:bodyPr vert="horz" lIns="91440" tIns="45720" rIns="91440" bIns="45720" anchor="t">
            <a:noAutofit/>
          </a:bodyPr>
          <a:lstStyle/>
          <a:p>
            <a:pPr algn="just">
              <a:lnSpc>
                <a:spcPct val="130621"/>
              </a:lnSpc>
              <a:spcBef>
                <a:spcPts val="0"/>
              </a:spcBef>
            </a:pPr>
            <a:r>
              <a:rPr lang="bg-BG" sz="2300" b="1">
                <a:latin typeface="Times New Roman" pitchFamily="18" charset="0"/>
                <a:cs typeface="Times New Roman" pitchFamily="18" charset="0"/>
              </a:rPr>
              <a:t>Въвеждане на масиви за х86 процесор.</a:t>
            </a:r>
            <a:endParaRPr lang="en-US" sz="2300" b="1">
              <a:latin typeface="Times New Roman" pitchFamily="18" charset="0"/>
              <a:cs typeface="Times New Roman" pitchFamily="18" charset="0"/>
            </a:endParaRPr>
          </a:p>
          <a:p>
            <a:pPr marL="393065" lvl="1" indent="0" algn="just">
              <a:lnSpc>
                <a:spcPct val="130621"/>
              </a:lnSpc>
              <a:spcBef>
                <a:spcPts val="0"/>
              </a:spcBef>
              <a:buNone/>
            </a:pPr>
            <a:r>
              <a:rPr lang="ru-RU" sz="2300" err="1">
                <a:latin typeface="Times New Roman" pitchFamily="18" charset="0"/>
                <a:cs typeface="Times New Roman" pitchFamily="18" charset="0"/>
              </a:rPr>
              <a:t>Обръщение</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към</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първия</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елемент</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масива</a:t>
            </a:r>
            <a:r>
              <a:rPr lang="ru-RU" sz="2300">
                <a:latin typeface="Times New Roman" pitchFamily="18" charset="0"/>
                <a:cs typeface="Times New Roman" pitchFamily="18" charset="0"/>
              </a:rPr>
              <a:t> се </a:t>
            </a:r>
            <a:r>
              <a:rPr lang="ru-RU" sz="2300" err="1">
                <a:latin typeface="Times New Roman" pitchFamily="18" charset="0"/>
                <a:cs typeface="Times New Roman" pitchFamily="18" charset="0"/>
              </a:rPr>
              <a:t>реализира</a:t>
            </a:r>
            <a:r>
              <a:rPr lang="ru-RU" sz="2300">
                <a:latin typeface="Times New Roman" pitchFamily="18" charset="0"/>
                <a:cs typeface="Times New Roman" pitchFamily="18" charset="0"/>
              </a:rPr>
              <a:t> чрез </a:t>
            </a:r>
            <a:r>
              <a:rPr lang="ru-RU" sz="2300" err="1">
                <a:latin typeface="Times New Roman" pitchFamily="18" charset="0"/>
                <a:cs typeface="Times New Roman" pitchFamily="18" charset="0"/>
              </a:rPr>
              <a:t>неговото</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име</a:t>
            </a:r>
            <a:r>
              <a:rPr lang="ru-RU" sz="2300">
                <a:latin typeface="Times New Roman" pitchFamily="18" charset="0"/>
                <a:cs typeface="Times New Roman" pitchFamily="18" charset="0"/>
              </a:rPr>
              <a:t> (ММ), а </a:t>
            </a:r>
            <a:r>
              <a:rPr lang="ru-RU" sz="2300" err="1">
                <a:latin typeface="Times New Roman" pitchFamily="18" charset="0"/>
                <a:cs typeface="Times New Roman" pitchFamily="18" charset="0"/>
              </a:rPr>
              <a:t>към</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следващите</a:t>
            </a:r>
            <a:r>
              <a:rPr lang="ru-RU" sz="2300">
                <a:latin typeface="Times New Roman" pitchFamily="18" charset="0"/>
                <a:cs typeface="Times New Roman" pitchFamily="18" charset="0"/>
              </a:rPr>
              <a:t> елементи – чрез </a:t>
            </a:r>
            <a:r>
              <a:rPr lang="ru-RU" sz="2300" err="1">
                <a:latin typeface="Times New Roman" pitchFamily="18" charset="0"/>
                <a:cs typeface="Times New Roman" pitchFamily="18" charset="0"/>
              </a:rPr>
              <a:t>израз</a:t>
            </a:r>
            <a:r>
              <a:rPr lang="ru-RU" sz="2300">
                <a:latin typeface="Times New Roman" pitchFamily="18" charset="0"/>
                <a:cs typeface="Times New Roman" pitchFamily="18" charset="0"/>
              </a:rPr>
              <a:t> от вида:</a:t>
            </a:r>
          </a:p>
          <a:p>
            <a:pPr marL="393065" lvl="1" indent="0" algn="just">
              <a:lnSpc>
                <a:spcPct val="130621"/>
              </a:lnSpc>
              <a:spcBef>
                <a:spcPts val="0"/>
              </a:spcBef>
              <a:buNone/>
            </a:pPr>
            <a:r>
              <a:rPr lang="ru-RU" sz="2300">
                <a:latin typeface="Times New Roman" pitchFamily="18" charset="0"/>
                <a:cs typeface="Times New Roman" pitchFamily="18" charset="0"/>
              </a:rPr>
              <a:t>		 &lt;</a:t>
            </a:r>
            <a:r>
              <a:rPr lang="ru-RU" sz="2300" err="1">
                <a:latin typeface="Times New Roman" pitchFamily="18" charset="0"/>
                <a:cs typeface="Times New Roman" pitchFamily="18" charset="0"/>
              </a:rPr>
              <a:t>име</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масив</a:t>
            </a:r>
            <a:r>
              <a:rPr lang="ru-RU" sz="2300">
                <a:latin typeface="Times New Roman" pitchFamily="18" charset="0"/>
                <a:cs typeface="Times New Roman" pitchFamily="18" charset="0"/>
              </a:rPr>
              <a:t>&gt; ± d, </a:t>
            </a:r>
          </a:p>
          <a:p>
            <a:pPr marL="393065" lvl="1" indent="0" algn="just">
              <a:lnSpc>
                <a:spcPct val="130621"/>
              </a:lnSpc>
              <a:spcBef>
                <a:spcPts val="0"/>
              </a:spcBef>
              <a:buNone/>
            </a:pPr>
            <a:r>
              <a:rPr lang="ru-RU" sz="2300">
                <a:latin typeface="Times New Roman" pitchFamily="18" charset="0"/>
                <a:cs typeface="Times New Roman" pitchFamily="18" charset="0"/>
              </a:rPr>
              <a:t>в </a:t>
            </a:r>
            <a:r>
              <a:rPr lang="ru-RU" sz="2300" err="1">
                <a:latin typeface="Times New Roman" pitchFamily="18" charset="0"/>
                <a:cs typeface="Times New Roman" pitchFamily="18" charset="0"/>
              </a:rPr>
              <a:t>който</a:t>
            </a:r>
            <a:r>
              <a:rPr lang="ru-RU" sz="2300">
                <a:latin typeface="Times New Roman" pitchFamily="18" charset="0"/>
                <a:cs typeface="Times New Roman" pitchFamily="18" charset="0"/>
              </a:rPr>
              <a:t> е указано </a:t>
            </a:r>
            <a:r>
              <a:rPr lang="ru-RU" sz="2300" err="1">
                <a:latin typeface="Times New Roman" pitchFamily="18" charset="0"/>
                <a:cs typeface="Times New Roman" pitchFamily="18" charset="0"/>
              </a:rPr>
              <a:t>отместването</a:t>
            </a:r>
            <a:r>
              <a:rPr lang="ru-RU" sz="2300">
                <a:latin typeface="Times New Roman" pitchFamily="18" charset="0"/>
                <a:cs typeface="Times New Roman" pitchFamily="18" charset="0"/>
              </a:rPr>
              <a:t> d. </a:t>
            </a:r>
          </a:p>
          <a:p>
            <a:pPr marL="393065" lvl="1" indent="0" algn="just">
              <a:lnSpc>
                <a:spcPct val="130621"/>
              </a:lnSpc>
              <a:spcBef>
                <a:spcPts val="0"/>
              </a:spcBef>
              <a:buNone/>
            </a:pPr>
            <a:r>
              <a:rPr lang="ru-RU" sz="2300">
                <a:latin typeface="Times New Roman" pitchFamily="18" charset="0"/>
                <a:cs typeface="Times New Roman" pitchFamily="18" charset="0"/>
              </a:rPr>
              <a:t>Чрез </a:t>
            </a:r>
            <a:r>
              <a:rPr lang="ru-RU" sz="2300" err="1">
                <a:latin typeface="Times New Roman" pitchFamily="18" charset="0"/>
                <a:cs typeface="Times New Roman" pitchFamily="18" charset="0"/>
              </a:rPr>
              <a:t>израза</a:t>
            </a:r>
            <a:r>
              <a:rPr lang="ru-RU" sz="2300">
                <a:latin typeface="Times New Roman" pitchFamily="18" charset="0"/>
                <a:cs typeface="Times New Roman" pitchFamily="18" charset="0"/>
              </a:rPr>
              <a:t> ММ+1 се </a:t>
            </a:r>
            <a:r>
              <a:rPr lang="ru-RU" sz="2300" err="1">
                <a:latin typeface="Times New Roman" pitchFamily="18" charset="0"/>
                <a:cs typeface="Times New Roman" pitchFamily="18" charset="0"/>
              </a:rPr>
              <a:t>посочва</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вторият</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елемент</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масива</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който</a:t>
            </a:r>
            <a:r>
              <a:rPr lang="ru-RU" sz="2300">
                <a:latin typeface="Times New Roman" pitchFamily="18" charset="0"/>
                <a:cs typeface="Times New Roman" pitchFamily="18" charset="0"/>
              </a:rPr>
              <a:t> има </a:t>
            </a:r>
            <a:r>
              <a:rPr lang="ru-RU" sz="2300" err="1">
                <a:latin typeface="Times New Roman" pitchFamily="18" charset="0"/>
                <a:cs typeface="Times New Roman" pitchFamily="18" charset="0"/>
              </a:rPr>
              <a:t>стойност</a:t>
            </a:r>
            <a:r>
              <a:rPr lang="ru-RU" sz="2300">
                <a:latin typeface="Times New Roman" pitchFamily="18" charset="0"/>
                <a:cs typeface="Times New Roman" pitchFamily="18" charset="0"/>
              </a:rPr>
              <a:t> –2. </a:t>
            </a:r>
          </a:p>
          <a:p>
            <a:pPr marL="393065" lvl="1" indent="0" algn="just">
              <a:lnSpc>
                <a:spcPct val="130621"/>
              </a:lnSpc>
              <a:spcBef>
                <a:spcPts val="0"/>
              </a:spcBef>
              <a:buNone/>
            </a:pPr>
            <a:r>
              <a:rPr lang="ru-RU" sz="2300" err="1">
                <a:latin typeface="Times New Roman" pitchFamily="18" charset="0"/>
                <a:cs typeface="Times New Roman" pitchFamily="18" charset="0"/>
              </a:rPr>
              <a:t>Изразът</a:t>
            </a:r>
            <a:r>
              <a:rPr lang="ru-RU" sz="2300">
                <a:latin typeface="Times New Roman" pitchFamily="18" charset="0"/>
                <a:cs typeface="Times New Roman" pitchFamily="18" charset="0"/>
              </a:rPr>
              <a:t> ММ+1 не </a:t>
            </a:r>
            <a:r>
              <a:rPr lang="ru-RU" sz="2300" err="1">
                <a:latin typeface="Times New Roman" pitchFamily="18" charset="0"/>
                <a:cs typeface="Times New Roman" pitchFamily="18" charset="0"/>
              </a:rPr>
              <a:t>означава</a:t>
            </a:r>
            <a:r>
              <a:rPr lang="ru-RU" sz="2300">
                <a:latin typeface="Times New Roman" pitchFamily="18" charset="0"/>
                <a:cs typeface="Times New Roman" pitchFamily="18" charset="0"/>
              </a:rPr>
              <a:t>, че се </a:t>
            </a:r>
            <a:r>
              <a:rPr lang="ru-RU" sz="2300" err="1">
                <a:latin typeface="Times New Roman" pitchFamily="18" charset="0"/>
                <a:cs typeface="Times New Roman" pitchFamily="18" charset="0"/>
              </a:rPr>
              <a:t>променя</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стойността</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елемента</a:t>
            </a:r>
            <a:r>
              <a:rPr lang="ru-RU" sz="2300">
                <a:latin typeface="Times New Roman" pitchFamily="18" charset="0"/>
                <a:cs typeface="Times New Roman" pitchFamily="18" charset="0"/>
              </a:rPr>
              <a:t>. Този </a:t>
            </a:r>
            <a:r>
              <a:rPr lang="ru-RU" sz="2300" err="1">
                <a:latin typeface="Times New Roman" pitchFamily="18" charset="0"/>
                <a:cs typeface="Times New Roman" pitchFamily="18" charset="0"/>
              </a:rPr>
              <a:t>израз</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определя</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мястото</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елемента</a:t>
            </a:r>
            <a:r>
              <a:rPr lang="ru-RU" sz="2300">
                <a:latin typeface="Times New Roman" pitchFamily="18" charset="0"/>
                <a:cs typeface="Times New Roman" pitchFamily="18" charset="0"/>
              </a:rPr>
              <a:t> в </a:t>
            </a:r>
            <a:r>
              <a:rPr lang="ru-RU" sz="2300" err="1">
                <a:latin typeface="Times New Roman" pitchFamily="18" charset="0"/>
                <a:cs typeface="Times New Roman" pitchFamily="18" charset="0"/>
              </a:rPr>
              <a:t>паметта</a:t>
            </a:r>
            <a:r>
              <a:rPr lang="ru-RU" sz="2300">
                <a:latin typeface="Times New Roman" pitchFamily="18" charset="0"/>
                <a:cs typeface="Times New Roman" pitchFamily="18" charset="0"/>
              </a:rPr>
              <a:t>, т.е. адреса на </a:t>
            </a:r>
            <a:r>
              <a:rPr lang="ru-RU" sz="2300" err="1">
                <a:latin typeface="Times New Roman" pitchFamily="18" charset="0"/>
                <a:cs typeface="Times New Roman" pitchFamily="18" charset="0"/>
              </a:rPr>
              <a:t>елемента</a:t>
            </a:r>
            <a:r>
              <a:rPr lang="ru-RU" sz="2300">
                <a:latin typeface="Times New Roman" pitchFamily="18" charset="0"/>
                <a:cs typeface="Times New Roman" pitchFamily="18" charset="0"/>
              </a:rPr>
              <a:t> в </a:t>
            </a:r>
            <a:r>
              <a:rPr lang="ru-RU" sz="2300" err="1">
                <a:latin typeface="Times New Roman" pitchFamily="18" charset="0"/>
                <a:cs typeface="Times New Roman" pitchFamily="18" charset="0"/>
              </a:rPr>
              <a:t>паметта</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където</a:t>
            </a:r>
            <a:r>
              <a:rPr lang="ru-RU" sz="2300">
                <a:latin typeface="Times New Roman" pitchFamily="18" charset="0"/>
                <a:cs typeface="Times New Roman" pitchFamily="18" charset="0"/>
              </a:rPr>
              <a:t> се </a:t>
            </a:r>
            <a:r>
              <a:rPr lang="ru-RU" sz="2300" err="1">
                <a:latin typeface="Times New Roman" pitchFamily="18" charset="0"/>
                <a:cs typeface="Times New Roman" pitchFamily="18" charset="0"/>
              </a:rPr>
              <a:t>намира</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неговата</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стойност</a:t>
            </a:r>
            <a:r>
              <a:rPr lang="ru-RU" sz="2300">
                <a:latin typeface="Times New Roman" pitchFamily="18" charset="0"/>
                <a:cs typeface="Times New Roman" pitchFamily="18" charset="0"/>
              </a:rPr>
              <a:t>. </a:t>
            </a:r>
            <a:endParaRPr lang="bg-BG" sz="2300">
              <a:latin typeface="Times New Roman" pitchFamily="18" charset="0"/>
              <a:cs typeface="Times New Roman" pitchFamily="18" charset="0"/>
            </a:endParaRPr>
          </a:p>
        </p:txBody>
      </p:sp>
      <p:sp>
        <p:nvSpPr>
          <p:cNvPr id="4" name="Title 1"/>
          <p:cNvSpPr>
            <a:spLocks noGrp="1"/>
          </p:cNvSpPr>
          <p:nvPr>
            <p:ph type="title"/>
          </p:nvPr>
        </p:nvSpPr>
        <p:spPr>
          <a:xfrm>
            <a:off x="539552" y="284345"/>
            <a:ext cx="8229600" cy="854968"/>
          </a:xfrm>
        </p:spPr>
        <p:txBody>
          <a:bodyPr>
            <a:normAutofit fontScale="90000"/>
          </a:bodyPr>
          <a:lstStyle/>
          <a:p>
            <a:r>
              <a:rPr lang="en-US" sz="3700" b="1">
                <a:latin typeface="Times New Roman" pitchFamily="18" charset="0"/>
                <a:cs typeface="Times New Roman" pitchFamily="18" charset="0"/>
              </a:rPr>
              <a:t> </a:t>
            </a:r>
            <a:r>
              <a:rPr lang="ru-RU" sz="3700" b="1" err="1">
                <a:latin typeface="Times New Roman" pitchFamily="18" charset="0"/>
                <a:cs typeface="Times New Roman" pitchFamily="18" charset="0"/>
              </a:rPr>
              <a:t>Масиви</a:t>
            </a:r>
            <a:r>
              <a:rPr lang="ru-RU" sz="3700" b="1">
                <a:latin typeface="Times New Roman" pitchFamily="18" charset="0"/>
                <a:cs typeface="Times New Roman" pitchFamily="18" charset="0"/>
              </a:rPr>
              <a:t> и </a:t>
            </a:r>
            <a:r>
              <a:rPr lang="ru-RU" sz="3700" b="1" err="1">
                <a:latin typeface="Times New Roman" pitchFamily="18" charset="0"/>
                <a:cs typeface="Times New Roman" pitchFamily="18" charset="0"/>
              </a:rPr>
              <a:t>структури</a:t>
            </a:r>
            <a:r>
              <a:rPr lang="ru-RU" sz="3700" b="1">
                <a:latin typeface="Times New Roman" pitchFamily="18" charset="0"/>
                <a:cs typeface="Times New Roman" pitchFamily="18" charset="0"/>
              </a:rPr>
              <a:t> в </a:t>
            </a:r>
            <a:r>
              <a:rPr lang="ru-RU" sz="3700" b="1" err="1">
                <a:latin typeface="Times New Roman" pitchFamily="18" charset="0"/>
                <a:cs typeface="Times New Roman" pitchFamily="18" charset="0"/>
              </a:rPr>
              <a:t>Асемблера</a:t>
            </a:r>
            <a:r>
              <a:rPr lang="ru-RU" sz="5400">
                <a:latin typeface="Times New Roman" pitchFamily="18" charset="0"/>
                <a:cs typeface="Times New Roman" pitchFamily="18" charset="0"/>
              </a:rPr>
              <a:t>.</a:t>
            </a:r>
            <a:endParaRPr lang="bg-BG" sz="4000" b="1"/>
          </a:p>
        </p:txBody>
      </p:sp>
    </p:spTree>
    <p:extLst>
      <p:ext uri="{BB962C8B-B14F-4D97-AF65-F5344CB8AC3E}">
        <p14:creationId xmlns:p14="http://schemas.microsoft.com/office/powerpoint/2010/main" val="4171859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980728"/>
            <a:ext cx="8856984" cy="5760639"/>
          </a:xfrm>
        </p:spPr>
        <p:txBody>
          <a:bodyPr vert="horz" lIns="91440" tIns="45720" rIns="91440" bIns="45720" anchor="t">
            <a:noAutofit/>
          </a:bodyPr>
          <a:lstStyle/>
          <a:p>
            <a:pPr algn="just">
              <a:lnSpc>
                <a:spcPct val="130621"/>
              </a:lnSpc>
              <a:spcBef>
                <a:spcPts val="0"/>
              </a:spcBef>
            </a:pPr>
            <a:r>
              <a:rPr lang="bg-BG" sz="2300" b="1">
                <a:latin typeface="Times New Roman" pitchFamily="18" charset="0"/>
                <a:cs typeface="Times New Roman" pitchFamily="18" charset="0"/>
              </a:rPr>
              <a:t>Въвеждане на масиви за х86 процесор.</a:t>
            </a:r>
            <a:endParaRPr lang="en-US"/>
          </a:p>
          <a:p>
            <a:pPr algn="just">
              <a:lnSpc>
                <a:spcPct val="143061"/>
              </a:lnSpc>
              <a:spcBef>
                <a:spcPts val="0"/>
              </a:spcBef>
            </a:pPr>
            <a:r>
              <a:rPr lang="bg-BG" sz="2100" b="1">
                <a:latin typeface="Times New Roman" pitchFamily="18" charset="0"/>
                <a:cs typeface="Times New Roman" pitchFamily="18" charset="0"/>
              </a:rPr>
              <a:t> - </a:t>
            </a:r>
            <a:r>
              <a:rPr lang="bg-BG" sz="2100">
                <a:latin typeface="Times New Roman" pitchFamily="18" charset="0"/>
                <a:cs typeface="Times New Roman" pitchFamily="18" charset="0"/>
              </a:rPr>
              <a:t>Директива с конструкция </a:t>
            </a:r>
            <a:r>
              <a:rPr lang="en-US" sz="2100">
                <a:latin typeface="Times New Roman" pitchFamily="18" charset="0"/>
                <a:cs typeface="Times New Roman" pitchFamily="18" charset="0"/>
              </a:rPr>
              <a:t>DUP </a:t>
            </a:r>
            <a:endParaRPr lang="bg-BG" sz="2100">
              <a:latin typeface="Times New Roman" pitchFamily="18" charset="0"/>
              <a:cs typeface="Times New Roman" pitchFamily="18" charset="0"/>
            </a:endParaRPr>
          </a:p>
          <a:p>
            <a:pPr algn="just">
              <a:lnSpc>
                <a:spcPct val="143061"/>
              </a:lnSpc>
              <a:spcBef>
                <a:spcPts val="0"/>
              </a:spcBef>
            </a:pPr>
            <a:r>
              <a:rPr lang="ru-RU" sz="2100">
                <a:latin typeface="Times New Roman" pitchFamily="18" charset="0"/>
                <a:cs typeface="Times New Roman" pitchFamily="18" charset="0"/>
              </a:rPr>
              <a:t>Когато се </a:t>
            </a:r>
            <a:r>
              <a:rPr lang="ru-RU" sz="2100" err="1">
                <a:latin typeface="Times New Roman" pitchFamily="18" charset="0"/>
                <a:cs typeface="Times New Roman" pitchFamily="18" charset="0"/>
              </a:rPr>
              <a:t>описва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масив</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Rmas</a:t>
            </a:r>
            <a:r>
              <a:rPr lang="ru-RU" sz="2100">
                <a:latin typeface="Times New Roman" pitchFamily="18" charset="0"/>
                <a:cs typeface="Times New Roman" pitchFamily="18" charset="0"/>
              </a:rPr>
              <a:t> от 8 </a:t>
            </a:r>
            <a:r>
              <a:rPr lang="ru-RU" sz="2100" err="1">
                <a:latin typeface="Times New Roman" pitchFamily="18" charset="0"/>
                <a:cs typeface="Times New Roman" pitchFamily="18" charset="0"/>
              </a:rPr>
              <a:t>еднобайтови</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елемента</a:t>
            </a:r>
            <a:r>
              <a:rPr lang="ru-RU" sz="2100">
                <a:latin typeface="Times New Roman" pitchFamily="18" charset="0"/>
                <a:cs typeface="Times New Roman" pitchFamily="18" charset="0"/>
              </a:rPr>
              <a:t>, на които се </a:t>
            </a:r>
            <a:r>
              <a:rPr lang="ru-RU" sz="2100" err="1">
                <a:latin typeface="Times New Roman" pitchFamily="18" charset="0"/>
                <a:cs typeface="Times New Roman" pitchFamily="18" charset="0"/>
              </a:rPr>
              <a:t>задава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начална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стойност</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нула</a:t>
            </a:r>
            <a:r>
              <a:rPr lang="ru-RU" sz="2100">
                <a:latin typeface="Times New Roman" pitchFamily="18" charset="0"/>
                <a:cs typeface="Times New Roman" pitchFamily="18" charset="0"/>
              </a:rPr>
              <a:t> това </a:t>
            </a:r>
            <a:r>
              <a:rPr lang="ru-RU" sz="2100" err="1">
                <a:latin typeface="Times New Roman" pitchFamily="18" charset="0"/>
                <a:cs typeface="Times New Roman" pitchFamily="18" charset="0"/>
              </a:rPr>
              <a:t>изглежда</a:t>
            </a:r>
            <a:r>
              <a:rPr lang="ru-RU" sz="2100">
                <a:latin typeface="Times New Roman" pitchFamily="18" charset="0"/>
                <a:cs typeface="Times New Roman" pitchFamily="18" charset="0"/>
              </a:rPr>
              <a:t>:</a:t>
            </a:r>
          </a:p>
          <a:p>
            <a:pPr algn="just">
              <a:lnSpc>
                <a:spcPct val="143061"/>
              </a:lnSpc>
              <a:spcBef>
                <a:spcPts val="0"/>
              </a:spcBef>
            </a:pP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Rmas</a:t>
            </a:r>
            <a:r>
              <a:rPr lang="ru-RU" sz="2100">
                <a:latin typeface="Times New Roman" pitchFamily="18" charset="0"/>
                <a:cs typeface="Times New Roman" pitchFamily="18" charset="0"/>
              </a:rPr>
              <a:t>  DB   0, 0, 0, 0, 0, 0, 0, 0  </a:t>
            </a:r>
          </a:p>
          <a:p>
            <a:pPr algn="just">
              <a:lnSpc>
                <a:spcPct val="143061"/>
              </a:lnSpc>
              <a:spcBef>
                <a:spcPts val="0"/>
              </a:spcBef>
            </a:pPr>
            <a:r>
              <a:rPr lang="ru-RU" sz="2100" err="1">
                <a:latin typeface="Times New Roman" pitchFamily="18" charset="0"/>
                <a:cs typeface="Times New Roman" pitchFamily="18" charset="0"/>
              </a:rPr>
              <a:t>Тази</a:t>
            </a:r>
            <a:r>
              <a:rPr lang="ru-RU" sz="2100">
                <a:latin typeface="Times New Roman" pitchFamily="18" charset="0"/>
                <a:cs typeface="Times New Roman" pitchFamily="18" charset="0"/>
              </a:rPr>
              <a:t> директива </a:t>
            </a:r>
            <a:r>
              <a:rPr lang="ru-RU" sz="2100" err="1">
                <a:latin typeface="Times New Roman" pitchFamily="18" charset="0"/>
                <a:cs typeface="Times New Roman" pitchFamily="18" charset="0"/>
              </a:rPr>
              <a:t>може</a:t>
            </a:r>
            <a:r>
              <a:rPr lang="ru-RU" sz="2100">
                <a:latin typeface="Times New Roman" pitchFamily="18" charset="0"/>
                <a:cs typeface="Times New Roman" pitchFamily="18" charset="0"/>
              </a:rPr>
              <a:t> да </a:t>
            </a:r>
            <a:r>
              <a:rPr lang="ru-RU" sz="2100" err="1">
                <a:latin typeface="Times New Roman" pitchFamily="18" charset="0"/>
                <a:cs typeface="Times New Roman" pitchFamily="18" charset="0"/>
              </a:rPr>
              <a:t>бъде</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съкратена</a:t>
            </a:r>
            <a:r>
              <a:rPr lang="ru-RU" sz="2100">
                <a:latin typeface="Times New Roman" pitchFamily="18" charset="0"/>
                <a:cs typeface="Times New Roman" pitchFamily="18" charset="0"/>
              </a:rPr>
              <a:t> с помощта на </a:t>
            </a:r>
            <a:r>
              <a:rPr lang="ru-RU" sz="2100" err="1">
                <a:latin typeface="Times New Roman" pitchFamily="18" charset="0"/>
                <a:cs typeface="Times New Roman" pitchFamily="18" charset="0"/>
              </a:rPr>
              <a:t>служебната</a:t>
            </a:r>
            <a:r>
              <a:rPr lang="ru-RU" sz="2100">
                <a:latin typeface="Times New Roman" pitchFamily="18" charset="0"/>
                <a:cs typeface="Times New Roman" pitchFamily="18" charset="0"/>
              </a:rPr>
              <a:t> дума DUP (</a:t>
            </a:r>
            <a:r>
              <a:rPr lang="ru-RU" sz="2100" err="1">
                <a:latin typeface="Times New Roman" pitchFamily="18" charset="0"/>
                <a:cs typeface="Times New Roman" pitchFamily="18" charset="0"/>
              </a:rPr>
              <a:t>duplicate</a:t>
            </a:r>
            <a:r>
              <a:rPr lang="ru-RU" sz="2100">
                <a:latin typeface="Times New Roman" pitchFamily="18" charset="0"/>
                <a:cs typeface="Times New Roman" pitchFamily="18" charset="0"/>
              </a:rPr>
              <a:t> - </a:t>
            </a:r>
            <a:r>
              <a:rPr lang="ru-RU" sz="2100" err="1">
                <a:latin typeface="Times New Roman" pitchFamily="18" charset="0"/>
                <a:cs typeface="Times New Roman" pitchFamily="18" charset="0"/>
              </a:rPr>
              <a:t>копие</a:t>
            </a:r>
            <a:r>
              <a:rPr lang="ru-RU" sz="2100">
                <a:latin typeface="Times New Roman" pitchFamily="18" charset="0"/>
                <a:cs typeface="Times New Roman" pitchFamily="18" charset="0"/>
              </a:rPr>
              <a:t>) и </a:t>
            </a:r>
            <a:r>
              <a:rPr lang="ru-RU" sz="2100" err="1">
                <a:latin typeface="Times New Roman" pitchFamily="18" charset="0"/>
                <a:cs typeface="Times New Roman" pitchFamily="18" charset="0"/>
              </a:rPr>
              <a:t>поставен</a:t>
            </a:r>
            <a:r>
              <a:rPr lang="ru-RU" sz="2100">
                <a:latin typeface="Times New Roman" pitchFamily="18" charset="0"/>
                <a:cs typeface="Times New Roman" pitchFamily="18" charset="0"/>
              </a:rPr>
              <a:t> в скоби операнд: </a:t>
            </a:r>
          </a:p>
          <a:p>
            <a:pPr algn="just">
              <a:lnSpc>
                <a:spcPct val="143061"/>
              </a:lnSpc>
              <a:spcBef>
                <a:spcPts val="0"/>
              </a:spcBef>
            </a:pP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Rmas</a:t>
            </a:r>
            <a:r>
              <a:rPr lang="ru-RU" sz="2100">
                <a:latin typeface="Times New Roman" pitchFamily="18" charset="0"/>
                <a:cs typeface="Times New Roman" pitchFamily="18" charset="0"/>
              </a:rPr>
              <a:t>  DB   8 DUP(0)  </a:t>
            </a:r>
          </a:p>
          <a:p>
            <a:pPr algn="just">
              <a:lnSpc>
                <a:spcPct val="143061"/>
              </a:lnSpc>
              <a:spcBef>
                <a:spcPts val="0"/>
              </a:spcBef>
            </a:pP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Служебната</a:t>
            </a:r>
            <a:r>
              <a:rPr lang="ru-RU" sz="2100">
                <a:latin typeface="Times New Roman" pitchFamily="18" charset="0"/>
                <a:cs typeface="Times New Roman" pitchFamily="18" charset="0"/>
              </a:rPr>
              <a:t> дума DUP се </a:t>
            </a:r>
            <a:r>
              <a:rPr lang="ru-RU" sz="2100" err="1">
                <a:latin typeface="Times New Roman" pitchFamily="18" charset="0"/>
                <a:cs typeface="Times New Roman" pitchFamily="18" charset="0"/>
              </a:rPr>
              <a:t>предхожда</a:t>
            </a:r>
            <a:r>
              <a:rPr lang="ru-RU" sz="2100">
                <a:latin typeface="Times New Roman" pitchFamily="18" charset="0"/>
                <a:cs typeface="Times New Roman" pitchFamily="18" charset="0"/>
              </a:rPr>
              <a:t> от </a:t>
            </a:r>
            <a:r>
              <a:rPr lang="ru-RU" sz="2100" err="1">
                <a:latin typeface="Times New Roman" pitchFamily="18" charset="0"/>
                <a:cs typeface="Times New Roman" pitchFamily="18" charset="0"/>
              </a:rPr>
              <a:t>коефициента</a:t>
            </a:r>
            <a:r>
              <a:rPr lang="ru-RU" sz="2100">
                <a:latin typeface="Times New Roman" pitchFamily="18" charset="0"/>
                <a:cs typeface="Times New Roman" pitchFamily="18" charset="0"/>
              </a:rPr>
              <a:t> на повторение ( 8). </a:t>
            </a:r>
            <a:r>
              <a:rPr lang="ru-RU" sz="2100" err="1">
                <a:latin typeface="Times New Roman" pitchFamily="18" charset="0"/>
                <a:cs typeface="Times New Roman" pitchFamily="18" charset="0"/>
              </a:rPr>
              <a:t>Общият</a:t>
            </a:r>
            <a:r>
              <a:rPr lang="ru-RU" sz="2100">
                <a:latin typeface="Times New Roman" pitchFamily="18" charset="0"/>
                <a:cs typeface="Times New Roman" pitchFamily="18" charset="0"/>
              </a:rPr>
              <a:t> вид на </a:t>
            </a:r>
            <a:r>
              <a:rPr lang="ru-RU" sz="2100" err="1">
                <a:latin typeface="Times New Roman" pitchFamily="18" charset="0"/>
                <a:cs typeface="Times New Roman" pitchFamily="18" charset="0"/>
              </a:rPr>
              <a:t>конструкцията</a:t>
            </a:r>
            <a:r>
              <a:rPr lang="ru-RU" sz="2100">
                <a:latin typeface="Times New Roman" pitchFamily="18" charset="0"/>
                <a:cs typeface="Times New Roman" pitchFamily="18" charset="0"/>
              </a:rPr>
              <a:t> за </a:t>
            </a:r>
            <a:r>
              <a:rPr lang="ru-RU" sz="2100" err="1">
                <a:latin typeface="Times New Roman" pitchFamily="18" charset="0"/>
                <a:cs typeface="Times New Roman" pitchFamily="18" charset="0"/>
              </a:rPr>
              <a:t>дублиране</a:t>
            </a:r>
            <a:r>
              <a:rPr lang="ru-RU" sz="2100">
                <a:latin typeface="Times New Roman" pitchFamily="18" charset="0"/>
                <a:cs typeface="Times New Roman" pitchFamily="18" charset="0"/>
              </a:rPr>
              <a:t> се </a:t>
            </a:r>
            <a:r>
              <a:rPr lang="ru-RU" sz="2100" err="1">
                <a:latin typeface="Times New Roman" pitchFamily="18" charset="0"/>
                <a:cs typeface="Times New Roman" pitchFamily="18" charset="0"/>
              </a:rPr>
              <a:t>дефинира</a:t>
            </a:r>
            <a:r>
              <a:rPr lang="ru-RU" sz="2100">
                <a:latin typeface="Times New Roman" pitchFamily="18" charset="0"/>
                <a:cs typeface="Times New Roman" pitchFamily="18" charset="0"/>
              </a:rPr>
              <a:t> така</a:t>
            </a:r>
          </a:p>
          <a:p>
            <a:pPr algn="just">
              <a:lnSpc>
                <a:spcPct val="143061"/>
              </a:lnSpc>
              <a:spcBef>
                <a:spcPts val="0"/>
              </a:spcBef>
            </a:pPr>
            <a:r>
              <a:rPr lang="ru-RU" sz="2100">
                <a:latin typeface="Times New Roman" pitchFamily="18" charset="0"/>
                <a:cs typeface="Times New Roman" pitchFamily="18" charset="0"/>
              </a:rPr>
              <a:t>             k   DUP   (p1,p2,p3,…,</a:t>
            </a:r>
            <a:r>
              <a:rPr lang="ru-RU" sz="2100" err="1">
                <a:latin typeface="Times New Roman" pitchFamily="18" charset="0"/>
                <a:cs typeface="Times New Roman" pitchFamily="18" charset="0"/>
              </a:rPr>
              <a:t>pn</a:t>
            </a:r>
            <a:r>
              <a:rPr lang="ru-RU" sz="2100">
                <a:latin typeface="Times New Roman" pitchFamily="18" charset="0"/>
                <a:cs typeface="Times New Roman" pitchFamily="18" charset="0"/>
              </a:rPr>
              <a:t>), </a:t>
            </a:r>
          </a:p>
          <a:p>
            <a:pPr algn="just">
              <a:lnSpc>
                <a:spcPct val="143061"/>
              </a:lnSpc>
              <a:spcBef>
                <a:spcPts val="0"/>
              </a:spcBef>
            </a:pPr>
            <a:r>
              <a:rPr lang="ru-RU" sz="2100">
                <a:latin typeface="Times New Roman" pitchFamily="18" charset="0"/>
                <a:cs typeface="Times New Roman" pitchFamily="18" charset="0"/>
              </a:rPr>
              <a:t>където с k е означен броят на повторенията, които се реализират върху списъка в скобите. </a:t>
            </a:r>
          </a:p>
        </p:txBody>
      </p:sp>
      <p:sp>
        <p:nvSpPr>
          <p:cNvPr id="4" name="Title 1"/>
          <p:cNvSpPr>
            <a:spLocks noGrp="1"/>
          </p:cNvSpPr>
          <p:nvPr>
            <p:ph type="title"/>
          </p:nvPr>
        </p:nvSpPr>
        <p:spPr>
          <a:xfrm>
            <a:off x="493204" y="255061"/>
            <a:ext cx="8229600" cy="854968"/>
          </a:xfrm>
        </p:spPr>
        <p:txBody>
          <a:bodyPr>
            <a:normAutofit fontScale="90000"/>
          </a:bodyPr>
          <a:lstStyle/>
          <a:p>
            <a:r>
              <a:rPr lang="en-US" sz="3700" b="1">
                <a:latin typeface="Times New Roman" pitchFamily="18" charset="0"/>
                <a:cs typeface="Times New Roman" pitchFamily="18" charset="0"/>
              </a:rPr>
              <a:t> </a:t>
            </a:r>
            <a:r>
              <a:rPr lang="ru-RU" sz="3700" b="1" err="1">
                <a:latin typeface="Times New Roman" pitchFamily="18" charset="0"/>
                <a:cs typeface="Times New Roman" pitchFamily="18" charset="0"/>
              </a:rPr>
              <a:t>Масиви</a:t>
            </a:r>
            <a:r>
              <a:rPr lang="ru-RU" sz="3700" b="1">
                <a:latin typeface="Times New Roman" pitchFamily="18" charset="0"/>
                <a:cs typeface="Times New Roman" pitchFamily="18" charset="0"/>
              </a:rPr>
              <a:t> и </a:t>
            </a:r>
            <a:r>
              <a:rPr lang="ru-RU" sz="3700" b="1" err="1">
                <a:latin typeface="Times New Roman" pitchFamily="18" charset="0"/>
                <a:cs typeface="Times New Roman" pitchFamily="18" charset="0"/>
              </a:rPr>
              <a:t>структури</a:t>
            </a:r>
            <a:r>
              <a:rPr lang="ru-RU" sz="3700" b="1">
                <a:latin typeface="Times New Roman" pitchFamily="18" charset="0"/>
                <a:cs typeface="Times New Roman" pitchFamily="18" charset="0"/>
              </a:rPr>
              <a:t> в </a:t>
            </a:r>
            <a:r>
              <a:rPr lang="ru-RU" sz="3700" b="1" err="1">
                <a:latin typeface="Times New Roman" pitchFamily="18" charset="0"/>
                <a:cs typeface="Times New Roman" pitchFamily="18" charset="0"/>
              </a:rPr>
              <a:t>Асемблера</a:t>
            </a:r>
            <a:r>
              <a:rPr lang="ru-RU" sz="5400">
                <a:latin typeface="Times New Roman" pitchFamily="18" charset="0"/>
                <a:cs typeface="Times New Roman" pitchFamily="18" charset="0"/>
              </a:rPr>
              <a:t>.</a:t>
            </a:r>
            <a:endParaRPr lang="bg-BG" sz="4000" b="1"/>
          </a:p>
        </p:txBody>
      </p:sp>
    </p:spTree>
    <p:extLst>
      <p:ext uri="{BB962C8B-B14F-4D97-AF65-F5344CB8AC3E}">
        <p14:creationId xmlns:p14="http://schemas.microsoft.com/office/powerpoint/2010/main" val="4024228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980728"/>
            <a:ext cx="8856984" cy="5760639"/>
          </a:xfrm>
        </p:spPr>
        <p:txBody>
          <a:bodyPr vert="horz" lIns="91440" tIns="45720" rIns="91440" bIns="45720" anchor="t">
            <a:noAutofit/>
          </a:bodyPr>
          <a:lstStyle/>
          <a:p>
            <a:pPr algn="just">
              <a:lnSpc>
                <a:spcPct val="130621"/>
              </a:lnSpc>
              <a:spcBef>
                <a:spcPts val="0"/>
              </a:spcBef>
            </a:pPr>
            <a:r>
              <a:rPr lang="bg-BG" sz="2300" b="1">
                <a:latin typeface="Times New Roman" pitchFamily="18" charset="0"/>
                <a:cs typeface="Times New Roman" pitchFamily="18" charset="0"/>
              </a:rPr>
              <a:t>Въвеждане на масиви за х86 процесор.</a:t>
            </a:r>
            <a:endParaRPr lang="en-US"/>
          </a:p>
          <a:p>
            <a:pPr algn="just">
              <a:lnSpc>
                <a:spcPct val="130621"/>
              </a:lnSpc>
              <a:spcBef>
                <a:spcPts val="0"/>
              </a:spcBef>
            </a:pPr>
            <a:r>
              <a:rPr lang="ru-RU" sz="2300">
                <a:latin typeface="Times New Roman" pitchFamily="18" charset="0"/>
                <a:cs typeface="Times New Roman" pitchFamily="18" charset="0"/>
              </a:rPr>
              <a:t>Така </a:t>
            </a:r>
            <a:r>
              <a:rPr lang="ru-RU" sz="2300" err="1">
                <a:latin typeface="Times New Roman" pitchFamily="18" charset="0"/>
                <a:cs typeface="Times New Roman" pitchFamily="18" charset="0"/>
              </a:rPr>
              <a:t>според</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определението</a:t>
            </a:r>
            <a:r>
              <a:rPr lang="ru-RU" sz="2300">
                <a:latin typeface="Times New Roman" pitchFamily="18" charset="0"/>
                <a:cs typeface="Times New Roman" pitchFamily="18" charset="0"/>
              </a:rPr>
              <a:t>, се </a:t>
            </a:r>
            <a:r>
              <a:rPr lang="ru-RU" sz="2300" err="1">
                <a:latin typeface="Times New Roman" pitchFamily="18" charset="0"/>
                <a:cs typeface="Times New Roman" pitchFamily="18" charset="0"/>
              </a:rPr>
              <a:t>повтаря</a:t>
            </a:r>
            <a:r>
              <a:rPr lang="ru-RU" sz="2300">
                <a:latin typeface="Times New Roman" pitchFamily="18" charset="0"/>
                <a:cs typeface="Times New Roman" pitchFamily="18" charset="0"/>
              </a:rPr>
              <a:t> k </a:t>
            </a:r>
            <a:r>
              <a:rPr lang="ru-RU" sz="2300" err="1">
                <a:latin typeface="Times New Roman" pitchFamily="18" charset="0"/>
                <a:cs typeface="Times New Roman" pitchFamily="18" charset="0"/>
              </a:rPr>
              <a:t>пъти</a:t>
            </a:r>
            <a:r>
              <a:rPr lang="ru-RU" sz="2300">
                <a:latin typeface="Times New Roman" pitchFamily="18" charset="0"/>
                <a:cs typeface="Times New Roman" pitchFamily="18" charset="0"/>
              </a:rPr>
              <a:t>: p1,p2,p3,…,</a:t>
            </a:r>
            <a:r>
              <a:rPr lang="ru-RU" sz="2300" err="1">
                <a:latin typeface="Times New Roman" pitchFamily="18" charset="0"/>
                <a:cs typeface="Times New Roman" pitchFamily="18" charset="0"/>
              </a:rPr>
              <a:t>pn</a:t>
            </a:r>
            <a:r>
              <a:rPr lang="ru-RU" sz="2300">
                <a:latin typeface="Times New Roman" pitchFamily="18" charset="0"/>
                <a:cs typeface="Times New Roman" pitchFamily="18" charset="0"/>
              </a:rPr>
              <a:t>,  p1,p2,p3,…,</a:t>
            </a:r>
            <a:r>
              <a:rPr lang="ru-RU" sz="2300" err="1">
                <a:latin typeface="Times New Roman" pitchFamily="18" charset="0"/>
                <a:cs typeface="Times New Roman" pitchFamily="18" charset="0"/>
              </a:rPr>
              <a:t>pn</a:t>
            </a:r>
            <a:r>
              <a:rPr lang="ru-RU" sz="2300">
                <a:latin typeface="Times New Roman" pitchFamily="18" charset="0"/>
                <a:cs typeface="Times New Roman" pitchFamily="18" charset="0"/>
              </a:rPr>
              <a:t>,  p1,p2,p3, … , </a:t>
            </a:r>
            <a:r>
              <a:rPr lang="ru-RU" sz="2300" err="1">
                <a:latin typeface="Times New Roman" pitchFamily="18" charset="0"/>
                <a:cs typeface="Times New Roman" pitchFamily="18" charset="0"/>
              </a:rPr>
              <a:t>pn</a:t>
            </a:r>
            <a:r>
              <a:rPr lang="ru-RU" sz="2300">
                <a:latin typeface="Times New Roman" pitchFamily="18" charset="0"/>
                <a:cs typeface="Times New Roman" pitchFamily="18" charset="0"/>
              </a:rPr>
              <a:t>, ... p1,  p2,p3,…,</a:t>
            </a:r>
            <a:r>
              <a:rPr lang="ru-RU" sz="2300" err="1">
                <a:latin typeface="Times New Roman" pitchFamily="18" charset="0"/>
                <a:cs typeface="Times New Roman" pitchFamily="18" charset="0"/>
              </a:rPr>
              <a:t>pn</a:t>
            </a:r>
            <a:endParaRPr lang="ru-RU" sz="2300">
              <a:latin typeface="Times New Roman" pitchFamily="18" charset="0"/>
              <a:cs typeface="Times New Roman" pitchFamily="18" charset="0"/>
            </a:endParaRPr>
          </a:p>
          <a:p>
            <a:pPr algn="just">
              <a:lnSpc>
                <a:spcPct val="130621"/>
              </a:lnSpc>
              <a:spcBef>
                <a:spcPts val="0"/>
              </a:spcBef>
            </a:pPr>
            <a:r>
              <a:rPr lang="ru-RU" sz="2300">
                <a:latin typeface="Times New Roman" pitchFamily="18" charset="0"/>
                <a:cs typeface="Times New Roman" pitchFamily="18" charset="0"/>
              </a:rPr>
              <a:t>              X1  DB  2 DUP(“ab”,?,1) ≡  X1  DB  “ab”,?,1, “ab”,?,1  </a:t>
            </a:r>
          </a:p>
          <a:p>
            <a:pPr algn="just">
              <a:lnSpc>
                <a:spcPct val="130621"/>
              </a:lnSpc>
              <a:spcBef>
                <a:spcPts val="0"/>
              </a:spcBef>
            </a:pPr>
            <a:r>
              <a:rPr lang="ru-RU" sz="2300">
                <a:latin typeface="Times New Roman" pitchFamily="18" charset="0"/>
                <a:cs typeface="Times New Roman" pitchFamily="18" charset="0"/>
              </a:rPr>
              <a:t>Y1  DB –7, 3 DUP(0, 2 DUP(?))  ≡  Y1  DB  -7, 0, ?, ?, 0, ?, ?, 0, ?, ? </a:t>
            </a:r>
            <a:r>
              <a:rPr lang="ru-RU" sz="2300" err="1">
                <a:latin typeface="Times New Roman" pitchFamily="18" charset="0"/>
                <a:cs typeface="Times New Roman" pitchFamily="18" charset="0"/>
              </a:rPr>
              <a:t>Вложеността</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конструкцията</a:t>
            </a:r>
            <a:r>
              <a:rPr lang="ru-RU" sz="2300">
                <a:latin typeface="Times New Roman" pitchFamily="18" charset="0"/>
                <a:cs typeface="Times New Roman" pitchFamily="18" charset="0"/>
              </a:rPr>
              <a:t> DUP позволява лесно и </a:t>
            </a:r>
            <a:r>
              <a:rPr lang="ru-RU" sz="2300" err="1">
                <a:latin typeface="Times New Roman" pitchFamily="18" charset="0"/>
                <a:cs typeface="Times New Roman" pitchFamily="18" charset="0"/>
              </a:rPr>
              <a:t>нагледно</a:t>
            </a:r>
            <a:r>
              <a:rPr lang="ru-RU" sz="2300">
                <a:latin typeface="Times New Roman" pitchFamily="18" charset="0"/>
                <a:cs typeface="Times New Roman" pitchFamily="18" charset="0"/>
              </a:rPr>
              <a:t> описание на </a:t>
            </a:r>
            <a:r>
              <a:rPr lang="ru-RU" sz="2300" err="1">
                <a:latin typeface="Times New Roman" pitchFamily="18" charset="0"/>
                <a:cs typeface="Times New Roman" pitchFamily="18" charset="0"/>
              </a:rPr>
              <a:t>многомерни</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масиви</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Директивата</a:t>
            </a:r>
            <a:r>
              <a:rPr lang="ru-RU" sz="2300">
                <a:latin typeface="Times New Roman" pitchFamily="18" charset="0"/>
                <a:cs typeface="Times New Roman" pitchFamily="18" charset="0"/>
              </a:rPr>
              <a:t>: </a:t>
            </a:r>
          </a:p>
          <a:p>
            <a:pPr algn="just">
              <a:lnSpc>
                <a:spcPct val="130621"/>
              </a:lnSpc>
              <a:spcBef>
                <a:spcPts val="0"/>
              </a:spcBef>
            </a:pPr>
            <a:r>
              <a:rPr lang="ru-RU" sz="2300">
                <a:latin typeface="Times New Roman" pitchFamily="18" charset="0"/>
                <a:cs typeface="Times New Roman" pitchFamily="18" charset="0"/>
              </a:rPr>
              <a:t>       MAA   DB  20 DUP(30 DUP(?)) </a:t>
            </a:r>
          </a:p>
          <a:p>
            <a:pPr algn="just">
              <a:lnSpc>
                <a:spcPct val="130621"/>
              </a:lnSpc>
              <a:spcBef>
                <a:spcPts val="0"/>
              </a:spcBef>
            </a:pPr>
            <a:r>
              <a:rPr lang="ru-RU" sz="2300" err="1">
                <a:latin typeface="Times New Roman" pitchFamily="18" charset="0"/>
                <a:cs typeface="Times New Roman" pitchFamily="18" charset="0"/>
              </a:rPr>
              <a:t>Представлява</a:t>
            </a:r>
            <a:r>
              <a:rPr lang="ru-RU" sz="2300">
                <a:latin typeface="Times New Roman" pitchFamily="18" charset="0"/>
                <a:cs typeface="Times New Roman" pitchFamily="18" charset="0"/>
              </a:rPr>
              <a:t> описание на </a:t>
            </a:r>
            <a:r>
              <a:rPr lang="ru-RU" sz="2300" err="1">
                <a:latin typeface="Times New Roman" pitchFamily="18" charset="0"/>
                <a:cs typeface="Times New Roman" pitchFamily="18" charset="0"/>
              </a:rPr>
              <a:t>матрицата</a:t>
            </a:r>
            <a:r>
              <a:rPr lang="ru-RU" sz="2300">
                <a:latin typeface="Times New Roman" pitchFamily="18" charset="0"/>
                <a:cs typeface="Times New Roman" pitchFamily="18" charset="0"/>
              </a:rPr>
              <a:t> МАА(20,30) </a:t>
            </a:r>
            <a:r>
              <a:rPr lang="ru-RU" sz="2300" err="1">
                <a:latin typeface="Times New Roman" pitchFamily="18" charset="0"/>
                <a:cs typeface="Times New Roman" pitchFamily="18" charset="0"/>
              </a:rPr>
              <a:t>имаща</a:t>
            </a:r>
            <a:r>
              <a:rPr lang="ru-RU" sz="2300">
                <a:latin typeface="Times New Roman" pitchFamily="18" charset="0"/>
                <a:cs typeface="Times New Roman" pitchFamily="18" charset="0"/>
              </a:rPr>
              <a:t> 20 </a:t>
            </a:r>
            <a:r>
              <a:rPr lang="ru-RU" sz="2300" err="1">
                <a:latin typeface="Times New Roman" pitchFamily="18" charset="0"/>
                <a:cs typeface="Times New Roman" pitchFamily="18" charset="0"/>
              </a:rPr>
              <a:t>реда</a:t>
            </a:r>
            <a:r>
              <a:rPr lang="ru-RU" sz="2300">
                <a:latin typeface="Times New Roman" pitchFamily="18" charset="0"/>
                <a:cs typeface="Times New Roman" pitchFamily="18" charset="0"/>
              </a:rPr>
              <a:t> и 30 колонки, </a:t>
            </a:r>
            <a:r>
              <a:rPr lang="ru-RU" sz="2300" err="1">
                <a:latin typeface="Times New Roman" pitchFamily="18" charset="0"/>
                <a:cs typeface="Times New Roman" pitchFamily="18" charset="0"/>
              </a:rPr>
              <a:t>елементите</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която</a:t>
            </a:r>
            <a:r>
              <a:rPr lang="ru-RU" sz="2300">
                <a:latin typeface="Times New Roman" pitchFamily="18" charset="0"/>
                <a:cs typeface="Times New Roman" pitchFamily="18" charset="0"/>
              </a:rPr>
              <a:t> не </a:t>
            </a:r>
            <a:r>
              <a:rPr lang="ru-RU" sz="2300" err="1">
                <a:latin typeface="Times New Roman" pitchFamily="18" charset="0"/>
                <a:cs typeface="Times New Roman" pitchFamily="18" charset="0"/>
              </a:rPr>
              <a:t>получават</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начални</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стойности</a:t>
            </a:r>
            <a:r>
              <a:rPr lang="ru-RU" sz="2300">
                <a:latin typeface="Times New Roman" pitchFamily="18" charset="0"/>
                <a:cs typeface="Times New Roman" pitchFamily="18" charset="0"/>
              </a:rPr>
              <a:t>. В </a:t>
            </a:r>
            <a:r>
              <a:rPr lang="ru-RU" sz="2300" err="1">
                <a:latin typeface="Times New Roman" pitchFamily="18" charset="0"/>
                <a:cs typeface="Times New Roman" pitchFamily="18" charset="0"/>
              </a:rPr>
              <a:t>паметта</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елементите</a:t>
            </a:r>
            <a:r>
              <a:rPr lang="ru-RU" sz="2300">
                <a:latin typeface="Times New Roman" pitchFamily="18" charset="0"/>
                <a:cs typeface="Times New Roman" pitchFamily="18" charset="0"/>
              </a:rPr>
              <a:t> са </a:t>
            </a:r>
            <a:r>
              <a:rPr lang="ru-RU" sz="2300" err="1">
                <a:latin typeface="Times New Roman" pitchFamily="18" charset="0"/>
                <a:cs typeface="Times New Roman" pitchFamily="18" charset="0"/>
              </a:rPr>
              <a:t>подредени</a:t>
            </a:r>
            <a:r>
              <a:rPr lang="ru-RU" sz="2300">
                <a:latin typeface="Times New Roman" pitchFamily="18" charset="0"/>
                <a:cs typeface="Times New Roman" pitchFamily="18" charset="0"/>
              </a:rPr>
              <a:t> по </a:t>
            </a:r>
            <a:r>
              <a:rPr lang="ru-RU" sz="2300" err="1">
                <a:latin typeface="Times New Roman" pitchFamily="18" charset="0"/>
                <a:cs typeface="Times New Roman" pitchFamily="18" charset="0"/>
              </a:rPr>
              <a:t>редове</a:t>
            </a:r>
            <a:r>
              <a:rPr lang="ru-RU" sz="2300">
                <a:latin typeface="Times New Roman" pitchFamily="18" charset="0"/>
                <a:cs typeface="Times New Roman" pitchFamily="18" charset="0"/>
              </a:rPr>
              <a:t> – </a:t>
            </a:r>
            <a:r>
              <a:rPr lang="ru-RU" sz="2300" err="1">
                <a:latin typeface="Times New Roman" pitchFamily="18" charset="0"/>
                <a:cs typeface="Times New Roman" pitchFamily="18" charset="0"/>
              </a:rPr>
              <a:t>първите</a:t>
            </a:r>
            <a:r>
              <a:rPr lang="ru-RU" sz="2300">
                <a:latin typeface="Times New Roman" pitchFamily="18" charset="0"/>
                <a:cs typeface="Times New Roman" pitchFamily="18" charset="0"/>
              </a:rPr>
              <a:t> 30 клетки </a:t>
            </a:r>
            <a:r>
              <a:rPr lang="ru-RU" sz="2300" err="1">
                <a:latin typeface="Times New Roman" pitchFamily="18" charset="0"/>
                <a:cs typeface="Times New Roman" pitchFamily="18" charset="0"/>
              </a:rPr>
              <a:t>съдържат</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еднобайтовите</a:t>
            </a:r>
            <a:r>
              <a:rPr lang="ru-RU" sz="2300">
                <a:latin typeface="Times New Roman" pitchFamily="18" charset="0"/>
                <a:cs typeface="Times New Roman" pitchFamily="18" charset="0"/>
              </a:rPr>
              <a:t> елементи на </a:t>
            </a:r>
            <a:r>
              <a:rPr lang="ru-RU" sz="2300" err="1">
                <a:latin typeface="Times New Roman" pitchFamily="18" charset="0"/>
                <a:cs typeface="Times New Roman" pitchFamily="18" charset="0"/>
              </a:rPr>
              <a:t>първия</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ред</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матрицата</a:t>
            </a:r>
            <a:r>
              <a:rPr lang="ru-RU" sz="2300">
                <a:latin typeface="Times New Roman" pitchFamily="18" charset="0"/>
                <a:cs typeface="Times New Roman" pitchFamily="18" charset="0"/>
              </a:rPr>
              <a:t>. Следващите 30 – на втория ред, и т.н. </a:t>
            </a:r>
            <a:endParaRPr lang="en-US" sz="2300">
              <a:latin typeface="Times New Roman" pitchFamily="18" charset="0"/>
              <a:cs typeface="Times New Roman" pitchFamily="18" charset="0"/>
            </a:endParaRPr>
          </a:p>
        </p:txBody>
      </p:sp>
      <p:sp>
        <p:nvSpPr>
          <p:cNvPr id="4" name="Title 1"/>
          <p:cNvSpPr>
            <a:spLocks noGrp="1"/>
          </p:cNvSpPr>
          <p:nvPr>
            <p:ph type="title"/>
          </p:nvPr>
        </p:nvSpPr>
        <p:spPr>
          <a:xfrm>
            <a:off x="493204" y="255061"/>
            <a:ext cx="8229600" cy="854968"/>
          </a:xfrm>
        </p:spPr>
        <p:txBody>
          <a:bodyPr>
            <a:normAutofit fontScale="90000"/>
          </a:bodyPr>
          <a:lstStyle/>
          <a:p>
            <a:r>
              <a:rPr lang="en-US" sz="3700" b="1">
                <a:latin typeface="Times New Roman" pitchFamily="18" charset="0"/>
                <a:cs typeface="Times New Roman" pitchFamily="18" charset="0"/>
              </a:rPr>
              <a:t> </a:t>
            </a:r>
            <a:r>
              <a:rPr lang="ru-RU" sz="3700" b="1" err="1">
                <a:latin typeface="Times New Roman" pitchFamily="18" charset="0"/>
                <a:cs typeface="Times New Roman" pitchFamily="18" charset="0"/>
              </a:rPr>
              <a:t>Масиви</a:t>
            </a:r>
            <a:r>
              <a:rPr lang="ru-RU" sz="3700" b="1">
                <a:latin typeface="Times New Roman" pitchFamily="18" charset="0"/>
                <a:cs typeface="Times New Roman" pitchFamily="18" charset="0"/>
              </a:rPr>
              <a:t> и </a:t>
            </a:r>
            <a:r>
              <a:rPr lang="ru-RU" sz="3700" b="1" err="1">
                <a:latin typeface="Times New Roman" pitchFamily="18" charset="0"/>
                <a:cs typeface="Times New Roman" pitchFamily="18" charset="0"/>
              </a:rPr>
              <a:t>структури</a:t>
            </a:r>
            <a:r>
              <a:rPr lang="ru-RU" sz="3700" b="1">
                <a:latin typeface="Times New Roman" pitchFamily="18" charset="0"/>
                <a:cs typeface="Times New Roman" pitchFamily="18" charset="0"/>
              </a:rPr>
              <a:t> в </a:t>
            </a:r>
            <a:r>
              <a:rPr lang="ru-RU" sz="3700" b="1" err="1">
                <a:latin typeface="Times New Roman" pitchFamily="18" charset="0"/>
                <a:cs typeface="Times New Roman" pitchFamily="18" charset="0"/>
              </a:rPr>
              <a:t>Асемблера</a:t>
            </a:r>
            <a:r>
              <a:rPr lang="ru-RU" sz="5400">
                <a:latin typeface="Times New Roman" pitchFamily="18" charset="0"/>
                <a:cs typeface="Times New Roman" pitchFamily="18" charset="0"/>
              </a:rPr>
              <a:t>.</a:t>
            </a:r>
            <a:endParaRPr lang="bg-BG" sz="4000" b="1"/>
          </a:p>
        </p:txBody>
      </p:sp>
    </p:spTree>
    <p:extLst>
      <p:ext uri="{BB962C8B-B14F-4D97-AF65-F5344CB8AC3E}">
        <p14:creationId xmlns:p14="http://schemas.microsoft.com/office/powerpoint/2010/main" val="30016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268760"/>
            <a:ext cx="8856984" cy="5472607"/>
          </a:xfrm>
        </p:spPr>
        <p:txBody>
          <a:bodyPr vert="horz" lIns="91440" tIns="45720" rIns="91440" bIns="45720" anchor="t">
            <a:noAutofit/>
          </a:bodyPr>
          <a:lstStyle/>
          <a:p>
            <a:pPr algn="just">
              <a:lnSpc>
                <a:spcPct val="130621"/>
              </a:lnSpc>
              <a:spcBef>
                <a:spcPts val="0"/>
              </a:spcBef>
            </a:pPr>
            <a:r>
              <a:rPr lang="bg-BG" sz="2300" b="1">
                <a:latin typeface="Times New Roman" pitchFamily="18" charset="0"/>
                <a:cs typeface="Times New Roman" pitchFamily="18" charset="0"/>
              </a:rPr>
              <a:t>Въвеждане на масиви за х86 процесор.</a:t>
            </a:r>
            <a:endParaRPr lang="en-US"/>
          </a:p>
          <a:p>
            <a:pPr algn="just">
              <a:lnSpc>
                <a:spcPct val="130621"/>
              </a:lnSpc>
              <a:spcBef>
                <a:spcPts val="0"/>
              </a:spcBef>
            </a:pPr>
            <a:r>
              <a:rPr lang="ru-RU" sz="2300">
                <a:latin typeface="Times New Roman" pitchFamily="18" charset="0"/>
                <a:cs typeface="Times New Roman" pitchFamily="18" charset="0"/>
              </a:rPr>
              <a:t>- директива </a:t>
            </a:r>
            <a:r>
              <a:rPr lang="en-US" sz="2300">
                <a:latin typeface="Times New Roman" pitchFamily="18" charset="0"/>
                <a:cs typeface="Times New Roman" pitchFamily="18" charset="0"/>
              </a:rPr>
              <a:t>DW</a:t>
            </a:r>
          </a:p>
          <a:p>
            <a:pPr algn="just">
              <a:lnSpc>
                <a:spcPct val="130621"/>
              </a:lnSpc>
              <a:spcBef>
                <a:spcPts val="0"/>
              </a:spcBef>
            </a:pPr>
            <a:r>
              <a:rPr lang="ru-RU" sz="2300">
                <a:latin typeface="Times New Roman" pitchFamily="18" charset="0"/>
                <a:cs typeface="Times New Roman" pitchFamily="18" charset="0"/>
              </a:rPr>
              <a:t>В </a:t>
            </a:r>
            <a:r>
              <a:rPr lang="ru-RU" sz="2300" err="1">
                <a:latin typeface="Times New Roman" pitchFamily="18" charset="0"/>
                <a:cs typeface="Times New Roman" pitchFamily="18" charset="0"/>
              </a:rPr>
              <a:t>дясната</a:t>
            </a:r>
            <a:r>
              <a:rPr lang="ru-RU" sz="2300">
                <a:latin typeface="Times New Roman" pitchFamily="18" charset="0"/>
                <a:cs typeface="Times New Roman" pitchFamily="18" charset="0"/>
              </a:rPr>
              <a:t> част на </a:t>
            </a:r>
            <a:r>
              <a:rPr lang="ru-RU" sz="2300" err="1">
                <a:latin typeface="Times New Roman" pitchFamily="18" charset="0"/>
                <a:cs typeface="Times New Roman" pitchFamily="18" charset="0"/>
              </a:rPr>
              <a:t>директивата</a:t>
            </a:r>
            <a:r>
              <a:rPr lang="ru-RU" sz="2300">
                <a:latin typeface="Times New Roman" pitchFamily="18" charset="0"/>
                <a:cs typeface="Times New Roman" pitchFamily="18" charset="0"/>
              </a:rPr>
              <a:t> DW могат да </a:t>
            </a:r>
            <a:r>
              <a:rPr lang="ru-RU" sz="2300" err="1">
                <a:latin typeface="Times New Roman" pitchFamily="18" charset="0"/>
                <a:cs typeface="Times New Roman" pitchFamily="18" charset="0"/>
              </a:rPr>
              <a:t>бъдат</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описани</a:t>
            </a:r>
            <a:r>
              <a:rPr lang="ru-RU" sz="2300">
                <a:latin typeface="Times New Roman" pitchFamily="18" charset="0"/>
                <a:cs typeface="Times New Roman" pitchFamily="18" charset="0"/>
              </a:rPr>
              <a:t> в </a:t>
            </a:r>
            <a:r>
              <a:rPr lang="ru-RU" sz="2300" err="1">
                <a:latin typeface="Times New Roman" pitchFamily="18" charset="0"/>
                <a:cs typeface="Times New Roman" pitchFamily="18" charset="0"/>
              </a:rPr>
              <a:t>списък</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няколко</a:t>
            </a:r>
            <a:r>
              <a:rPr lang="ru-RU" sz="2300">
                <a:latin typeface="Times New Roman" pitchFamily="18" charset="0"/>
                <a:cs typeface="Times New Roman" pitchFamily="18" charset="0"/>
              </a:rPr>
              <a:t> операнда, </a:t>
            </a:r>
            <a:r>
              <a:rPr lang="ru-RU" sz="2300" err="1">
                <a:latin typeface="Times New Roman" pitchFamily="18" charset="0"/>
                <a:cs typeface="Times New Roman" pitchFamily="18" charset="0"/>
              </a:rPr>
              <a:t>включително</a:t>
            </a:r>
            <a:r>
              <a:rPr lang="ru-RU" sz="2300">
                <a:latin typeface="Times New Roman" pitchFamily="18" charset="0"/>
                <a:cs typeface="Times New Roman" pitchFamily="18" charset="0"/>
              </a:rPr>
              <a:t> и </a:t>
            </a:r>
            <a:r>
              <a:rPr lang="ru-RU" sz="2300" err="1">
                <a:latin typeface="Times New Roman" pitchFamily="18" charset="0"/>
                <a:cs typeface="Times New Roman" pitchFamily="18" charset="0"/>
              </a:rPr>
              <a:t>конструкцията</a:t>
            </a:r>
            <a:r>
              <a:rPr lang="ru-RU" sz="2300">
                <a:latin typeface="Times New Roman" pitchFamily="18" charset="0"/>
                <a:cs typeface="Times New Roman" pitchFamily="18" charset="0"/>
              </a:rPr>
              <a:t> за повторение DUP.</a:t>
            </a:r>
            <a:r>
              <a:rPr lang="en-US" sz="2300">
                <a:latin typeface="Times New Roman" pitchFamily="18" charset="0"/>
                <a:cs typeface="Times New Roman" pitchFamily="18" charset="0"/>
              </a:rPr>
              <a:t> </a:t>
            </a:r>
          </a:p>
          <a:p>
            <a:pPr algn="just">
              <a:lnSpc>
                <a:spcPct val="130621"/>
              </a:lnSpc>
              <a:spcBef>
                <a:spcPts val="0"/>
              </a:spcBef>
            </a:pPr>
            <a:r>
              <a:rPr lang="en-US" sz="2300">
                <a:latin typeface="Times New Roman" pitchFamily="18" charset="0"/>
                <a:cs typeface="Times New Roman" pitchFamily="18" charset="0"/>
              </a:rPr>
              <a:t>                    ESS   DW   2008, 12 DUP(?)</a:t>
            </a:r>
          </a:p>
          <a:p>
            <a:pPr algn="just">
              <a:lnSpc>
                <a:spcPct val="130621"/>
              </a:lnSpc>
              <a:spcBef>
                <a:spcPts val="0"/>
              </a:spcBef>
            </a:pPr>
            <a:r>
              <a:rPr lang="en-US" sz="2300">
                <a:latin typeface="Times New Roman" pitchFamily="18" charset="0"/>
                <a:cs typeface="Times New Roman" pitchFamily="18" charset="0"/>
              </a:rPr>
              <a:t>- </a:t>
            </a:r>
            <a:r>
              <a:rPr lang="bg-BG" sz="2300">
                <a:latin typeface="Times New Roman" pitchFamily="18" charset="0"/>
                <a:cs typeface="Times New Roman" pitchFamily="18" charset="0"/>
              </a:rPr>
              <a:t>директива </a:t>
            </a:r>
            <a:r>
              <a:rPr lang="en-US" sz="2300">
                <a:latin typeface="Times New Roman" pitchFamily="18" charset="0"/>
                <a:cs typeface="Times New Roman" pitchFamily="18" charset="0"/>
              </a:rPr>
              <a:t>DD</a:t>
            </a:r>
            <a:endParaRPr lang="bg-BG" sz="2300">
              <a:latin typeface="Times New Roman" pitchFamily="18" charset="0"/>
              <a:cs typeface="Times New Roman" pitchFamily="18" charset="0"/>
            </a:endParaRPr>
          </a:p>
          <a:p>
            <a:pPr algn="just">
              <a:lnSpc>
                <a:spcPct val="130621"/>
              </a:lnSpc>
              <a:spcBef>
                <a:spcPts val="0"/>
              </a:spcBef>
            </a:pPr>
            <a:r>
              <a:rPr lang="bg-BG" sz="2300">
                <a:latin typeface="Times New Roman" pitchFamily="18" charset="0"/>
                <a:cs typeface="Times New Roman" pitchFamily="18" charset="0"/>
              </a:rPr>
              <a:t>                     </a:t>
            </a:r>
            <a:r>
              <a:rPr lang="pl-PL" sz="2300">
                <a:latin typeface="Times New Roman" pitchFamily="18" charset="0"/>
                <a:cs typeface="Times New Roman" pitchFamily="18" charset="0"/>
              </a:rPr>
              <a:t>W  DD  33 DUP(?), 12345h </a:t>
            </a:r>
            <a:endParaRPr lang="bg-BG" sz="2300">
              <a:latin typeface="Times New Roman" pitchFamily="18" charset="0"/>
              <a:cs typeface="Times New Roman" pitchFamily="18" charset="0"/>
            </a:endParaRPr>
          </a:p>
          <a:p>
            <a:pPr algn="just">
              <a:lnSpc>
                <a:spcPct val="130621"/>
              </a:lnSpc>
              <a:spcBef>
                <a:spcPts val="0"/>
              </a:spcBef>
            </a:pPr>
            <a:endParaRPr lang="ru-RU" sz="2300">
              <a:latin typeface="Times New Roman" pitchFamily="18" charset="0"/>
              <a:cs typeface="Times New Roman" pitchFamily="18" charset="0"/>
            </a:endParaRPr>
          </a:p>
        </p:txBody>
      </p:sp>
      <p:sp>
        <p:nvSpPr>
          <p:cNvPr id="4" name="Title 1"/>
          <p:cNvSpPr>
            <a:spLocks noGrp="1"/>
          </p:cNvSpPr>
          <p:nvPr>
            <p:ph type="title"/>
          </p:nvPr>
        </p:nvSpPr>
        <p:spPr>
          <a:xfrm>
            <a:off x="493204" y="255061"/>
            <a:ext cx="8229600" cy="854968"/>
          </a:xfrm>
        </p:spPr>
        <p:txBody>
          <a:bodyPr>
            <a:normAutofit fontScale="90000"/>
          </a:bodyPr>
          <a:lstStyle/>
          <a:p>
            <a:r>
              <a:rPr lang="en-US" sz="3700" b="1">
                <a:latin typeface="Times New Roman" pitchFamily="18" charset="0"/>
                <a:cs typeface="Times New Roman" pitchFamily="18" charset="0"/>
              </a:rPr>
              <a:t> </a:t>
            </a:r>
            <a:r>
              <a:rPr lang="ru-RU" sz="3700" b="1" err="1">
                <a:latin typeface="Times New Roman" pitchFamily="18" charset="0"/>
                <a:cs typeface="Times New Roman" pitchFamily="18" charset="0"/>
              </a:rPr>
              <a:t>Масиви</a:t>
            </a:r>
            <a:r>
              <a:rPr lang="ru-RU" sz="3700" b="1">
                <a:latin typeface="Times New Roman" pitchFamily="18" charset="0"/>
                <a:cs typeface="Times New Roman" pitchFamily="18" charset="0"/>
              </a:rPr>
              <a:t> и </a:t>
            </a:r>
            <a:r>
              <a:rPr lang="ru-RU" sz="3700" b="1" err="1">
                <a:latin typeface="Times New Roman" pitchFamily="18" charset="0"/>
                <a:cs typeface="Times New Roman" pitchFamily="18" charset="0"/>
              </a:rPr>
              <a:t>структури</a:t>
            </a:r>
            <a:r>
              <a:rPr lang="ru-RU" sz="3700" b="1">
                <a:latin typeface="Times New Roman" pitchFamily="18" charset="0"/>
                <a:cs typeface="Times New Roman" pitchFamily="18" charset="0"/>
              </a:rPr>
              <a:t> в </a:t>
            </a:r>
            <a:r>
              <a:rPr lang="ru-RU" sz="3700" b="1" err="1">
                <a:latin typeface="Times New Roman" pitchFamily="18" charset="0"/>
                <a:cs typeface="Times New Roman" pitchFamily="18" charset="0"/>
              </a:rPr>
              <a:t>Асемблера</a:t>
            </a:r>
            <a:r>
              <a:rPr lang="ru-RU" sz="5400">
                <a:latin typeface="Times New Roman" pitchFamily="18" charset="0"/>
                <a:cs typeface="Times New Roman" pitchFamily="18" charset="0"/>
              </a:rPr>
              <a:t>.</a:t>
            </a:r>
            <a:endParaRPr lang="bg-BG" sz="4000" b="1"/>
          </a:p>
        </p:txBody>
      </p:sp>
    </p:spTree>
    <p:extLst>
      <p:ext uri="{BB962C8B-B14F-4D97-AF65-F5344CB8AC3E}">
        <p14:creationId xmlns:p14="http://schemas.microsoft.com/office/powerpoint/2010/main" val="3123212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016" y="332656"/>
            <a:ext cx="8605464" cy="6281927"/>
          </a:xfrm>
        </p:spPr>
        <p:txBody>
          <a:bodyPr vert="horz" lIns="91440" tIns="45720" rIns="91440" bIns="45720" anchor="t">
            <a:noAutofit/>
          </a:bodyPr>
          <a:lstStyle/>
          <a:p>
            <a:pPr algn="just">
              <a:lnSpc>
                <a:spcPct val="120171"/>
              </a:lnSpc>
              <a:spcBef>
                <a:spcPts val="0"/>
              </a:spcBef>
            </a:pPr>
            <a:r>
              <a:rPr lang="ru-RU" sz="2000" b="1">
                <a:latin typeface="Times New Roman" pitchFamily="18" charset="0"/>
                <a:cs typeface="Times New Roman" pitchFamily="18" charset="0"/>
              </a:rPr>
              <a:t>Инструкция </a:t>
            </a:r>
            <a:r>
              <a:rPr lang="en-US" sz="2000" b="1">
                <a:latin typeface="Times New Roman" pitchFamily="18" charset="0"/>
                <a:cs typeface="Times New Roman" pitchFamily="18" charset="0"/>
              </a:rPr>
              <a:t>LEA </a:t>
            </a:r>
            <a:r>
              <a:rPr lang="bg-BG" sz="2000" b="1">
                <a:latin typeface="Times New Roman" pitchFamily="18" charset="0"/>
                <a:cs typeface="Times New Roman" pitchFamily="18" charset="0"/>
              </a:rPr>
              <a:t>- </a:t>
            </a:r>
            <a:r>
              <a:rPr lang="en-US" sz="2000" b="1">
                <a:latin typeface="Times New Roman" pitchFamily="18" charset="0"/>
                <a:cs typeface="Times New Roman" pitchFamily="18" charset="0"/>
              </a:rPr>
              <a:t>Load Effective Address</a:t>
            </a:r>
            <a:endParaRPr lang="bg-BG" sz="2000" b="1">
              <a:latin typeface="Times New Roman" pitchFamily="18" charset="0"/>
              <a:cs typeface="Times New Roman" pitchFamily="18" charset="0"/>
            </a:endParaRPr>
          </a:p>
          <a:p>
            <a:pPr algn="just">
              <a:lnSpc>
                <a:spcPct val="120171"/>
              </a:lnSpc>
              <a:spcBef>
                <a:spcPts val="0"/>
              </a:spcBef>
            </a:pPr>
            <a:r>
              <a:rPr lang="en-US" sz="2000" b="1">
                <a:latin typeface="Times New Roman" pitchFamily="18" charset="0"/>
                <a:cs typeface="Times New Roman" pitchFamily="18" charset="0"/>
              </a:rPr>
              <a:t>lea destination, source</a:t>
            </a:r>
            <a:endParaRPr lang="ru-RU" sz="2000" b="1">
              <a:latin typeface="Times New Roman" pitchFamily="18" charset="0"/>
              <a:cs typeface="Times New Roman" pitchFamily="18" charset="0"/>
            </a:endParaRPr>
          </a:p>
          <a:p>
            <a:pPr algn="just">
              <a:spcBef>
                <a:spcPts val="0"/>
              </a:spcBef>
            </a:pPr>
            <a:r>
              <a:rPr lang="ru-RU" sz="2000">
                <a:latin typeface="Times New Roman" pitchFamily="18" charset="0"/>
                <a:cs typeface="Times New Roman" pitchFamily="18" charset="0"/>
              </a:rPr>
              <a:t>Инструкцията LEA (Load Effective Address) на асемблерния език извършва изчисления за адресиране на паметта без достъп до паметта. Тя поставя адреса, определен от </a:t>
            </a:r>
            <a:r>
              <a:rPr lang="ru-RU" sz="2000" err="1">
                <a:latin typeface="Times New Roman" pitchFamily="18" charset="0"/>
                <a:cs typeface="Times New Roman" pitchFamily="18" charset="0"/>
              </a:rPr>
              <a:t>втория</a:t>
            </a:r>
            <a:r>
              <a:rPr lang="ru-RU" sz="2000">
                <a:latin typeface="Times New Roman" pitchFamily="18" charset="0"/>
                <a:cs typeface="Times New Roman" pitchFamily="18" charset="0"/>
              </a:rPr>
              <a:t> операнд, в регистъра, определен от </a:t>
            </a:r>
            <a:r>
              <a:rPr lang="ru-RU" sz="2000" err="1">
                <a:latin typeface="Times New Roman" pitchFamily="18" charset="0"/>
                <a:cs typeface="Times New Roman" pitchFamily="18" charset="0"/>
              </a:rPr>
              <a:t>първия</a:t>
            </a:r>
            <a:r>
              <a:rPr lang="ru-RU" sz="2000">
                <a:latin typeface="Times New Roman" pitchFamily="18" charset="0"/>
                <a:cs typeface="Times New Roman" pitchFamily="18" charset="0"/>
              </a:rPr>
              <a:t> операнд. За разлика от други инструкции, LEA всъщност не извлича данни от паметта, а съхранява изчисленото отместване на паметта в посочения регистър, който може да бъде всеки регистър с общо предназначение. Тя ни дава способността да се извършва събиране с два или три операнда и възможност за съхраняване на резултата във всеки регистър, не само един от операндите източник.</a:t>
            </a:r>
          </a:p>
          <a:p>
            <a:pPr algn="just">
              <a:lnSpc>
                <a:spcPct val="120171"/>
              </a:lnSpc>
              <a:spcBef>
                <a:spcPts val="0"/>
              </a:spcBef>
            </a:pPr>
            <a:r>
              <a:rPr lang="ru-RU" sz="2000">
                <a:latin typeface="Times New Roman" pitchFamily="18" charset="0"/>
                <a:cs typeface="Times New Roman" pitchFamily="18" charset="0"/>
              </a:rPr>
              <a:t> LEA не променя флаговете.</a:t>
            </a:r>
          </a:p>
          <a:p>
            <a:pPr algn="just">
              <a:lnSpc>
                <a:spcPct val="120171"/>
              </a:lnSpc>
              <a:spcBef>
                <a:spcPts val="0"/>
              </a:spcBef>
            </a:pPr>
            <a:r>
              <a:rPr lang="en-US" sz="2000">
                <a:latin typeface="Times New Roman" pitchFamily="18" charset="0"/>
                <a:cs typeface="Times New Roman" pitchFamily="18" charset="0"/>
              </a:rPr>
              <a:t>LEA EAX, [ EAX + EBX + 1234567 ] </a:t>
            </a:r>
            <a:r>
              <a:rPr lang="bg-BG" sz="2000">
                <a:latin typeface="Times New Roman" pitchFamily="18" charset="0"/>
                <a:cs typeface="Times New Roman" pitchFamily="18" charset="0"/>
              </a:rPr>
              <a:t>изчислява </a:t>
            </a:r>
            <a:r>
              <a:rPr lang="en-US" sz="2000">
                <a:latin typeface="Times New Roman" pitchFamily="18" charset="0"/>
                <a:cs typeface="Times New Roman" pitchFamily="18" charset="0"/>
              </a:rPr>
              <a:t>EAX + EBX + 1234567 LEA EAX, [ EBX + ECX ] </a:t>
            </a:r>
            <a:r>
              <a:rPr lang="bg-BG" sz="2000">
                <a:latin typeface="Times New Roman" pitchFamily="18" charset="0"/>
                <a:cs typeface="Times New Roman" pitchFamily="18" charset="0"/>
              </a:rPr>
              <a:t>изчислява </a:t>
            </a:r>
            <a:r>
              <a:rPr lang="en-US" sz="2000">
                <a:latin typeface="Times New Roman" pitchFamily="18" charset="0"/>
                <a:cs typeface="Times New Roman" pitchFamily="18" charset="0"/>
              </a:rPr>
              <a:t>EBX + ECX, </a:t>
            </a:r>
            <a:r>
              <a:rPr lang="bg-BG" sz="2000">
                <a:latin typeface="Times New Roman" pitchFamily="18" charset="0"/>
                <a:cs typeface="Times New Roman" pitchFamily="18" charset="0"/>
              </a:rPr>
              <a:t>без да променя нито едно от двете с резултата.</a:t>
            </a:r>
          </a:p>
          <a:p>
            <a:pPr algn="just">
              <a:lnSpc>
                <a:spcPct val="120171"/>
              </a:lnSpc>
              <a:spcBef>
                <a:spcPts val="0"/>
              </a:spcBef>
            </a:pPr>
            <a:r>
              <a:rPr lang="bg-BG" sz="2000">
                <a:latin typeface="Times New Roman" pitchFamily="18" charset="0"/>
                <a:cs typeface="Times New Roman" pitchFamily="18" charset="0"/>
              </a:rPr>
              <a:t> </a:t>
            </a:r>
            <a:r>
              <a:rPr lang="en-US" sz="2000">
                <a:latin typeface="Times New Roman" pitchFamily="18" charset="0"/>
                <a:cs typeface="Times New Roman" pitchFamily="18" charset="0"/>
              </a:rPr>
              <a:t>LEA EAX, [ EBX + N * EBX ] (N </a:t>
            </a:r>
            <a:r>
              <a:rPr lang="bg-BG" sz="2000">
                <a:latin typeface="Times New Roman" pitchFamily="18" charset="0"/>
                <a:cs typeface="Times New Roman" pitchFamily="18" charset="0"/>
              </a:rPr>
              <a:t>може да бъде 1,2,4,8).</a:t>
            </a:r>
          </a:p>
          <a:p>
            <a:pPr algn="just">
              <a:lnSpc>
                <a:spcPct val="120171"/>
              </a:lnSpc>
              <a:spcBef>
                <a:spcPts val="0"/>
              </a:spcBef>
            </a:pPr>
            <a:r>
              <a:rPr lang="bg-BG" sz="2000">
                <a:latin typeface="Times New Roman" pitchFamily="18" charset="0"/>
                <a:cs typeface="Times New Roman" pitchFamily="18" charset="0"/>
              </a:rPr>
              <a:t>Друг случай на използване е удобен в цикли: разликата между </a:t>
            </a:r>
          </a:p>
          <a:p>
            <a:pPr algn="just">
              <a:lnSpc>
                <a:spcPct val="120171"/>
              </a:lnSpc>
              <a:spcBef>
                <a:spcPts val="0"/>
              </a:spcBef>
            </a:pPr>
            <a:r>
              <a:rPr lang="en-US" sz="2000">
                <a:latin typeface="Times New Roman" pitchFamily="18" charset="0"/>
                <a:cs typeface="Times New Roman" pitchFamily="18" charset="0"/>
              </a:rPr>
              <a:t>LEA EAX, [ EAX + 1 ] </a:t>
            </a:r>
            <a:r>
              <a:rPr lang="bg-BG" sz="2000">
                <a:latin typeface="Times New Roman" pitchFamily="18" charset="0"/>
                <a:cs typeface="Times New Roman" pitchFamily="18" charset="0"/>
              </a:rPr>
              <a:t>и </a:t>
            </a:r>
            <a:r>
              <a:rPr lang="en-US" sz="2000">
                <a:latin typeface="Times New Roman" pitchFamily="18" charset="0"/>
                <a:cs typeface="Times New Roman" pitchFamily="18" charset="0"/>
              </a:rPr>
              <a:t>INC EAX </a:t>
            </a:r>
            <a:r>
              <a:rPr lang="bg-BG" sz="2000">
                <a:latin typeface="Times New Roman" pitchFamily="18" charset="0"/>
                <a:cs typeface="Times New Roman" pitchFamily="18" charset="0"/>
              </a:rPr>
              <a:t>е, че последният променя </a:t>
            </a:r>
            <a:r>
              <a:rPr lang="en-US" sz="2000">
                <a:latin typeface="Times New Roman" pitchFamily="18" charset="0"/>
                <a:cs typeface="Times New Roman" pitchFamily="18" charset="0"/>
              </a:rPr>
              <a:t>EFLAGS, </a:t>
            </a:r>
            <a:r>
              <a:rPr lang="bg-BG" sz="2000">
                <a:latin typeface="Times New Roman" pitchFamily="18" charset="0"/>
                <a:cs typeface="Times New Roman" pitchFamily="18" charset="0"/>
              </a:rPr>
              <a:t>но първият не; това запазва състоянието на </a:t>
            </a:r>
            <a:r>
              <a:rPr lang="en-US" sz="2000">
                <a:latin typeface="Times New Roman" pitchFamily="18" charset="0"/>
                <a:cs typeface="Times New Roman" pitchFamily="18" charset="0"/>
              </a:rPr>
              <a:t>CMP.</a:t>
            </a:r>
            <a:endParaRPr lang="bg-BG" sz="2000">
              <a:latin typeface="Times New Roman" pitchFamily="18" charset="0"/>
              <a:cs typeface="Times New Roman" pitchFamily="18" charset="0"/>
            </a:endParaRPr>
          </a:p>
        </p:txBody>
      </p:sp>
      <p:sp>
        <p:nvSpPr>
          <p:cNvPr id="4" name="Title 1"/>
          <p:cNvSpPr>
            <a:spLocks noGrp="1"/>
          </p:cNvSpPr>
          <p:nvPr>
            <p:ph type="title"/>
          </p:nvPr>
        </p:nvSpPr>
        <p:spPr>
          <a:xfrm>
            <a:off x="493204" y="188640"/>
            <a:ext cx="8229600" cy="854968"/>
          </a:xfrm>
        </p:spPr>
        <p:txBody>
          <a:bodyPr>
            <a:normAutofit/>
          </a:bodyPr>
          <a:lstStyle/>
          <a:p>
            <a:r>
              <a:rPr lang="en-US" sz="3700" b="1">
                <a:latin typeface="Times New Roman" pitchFamily="18" charset="0"/>
                <a:cs typeface="Times New Roman" pitchFamily="18" charset="0"/>
              </a:rPr>
              <a:t> </a:t>
            </a:r>
            <a:endParaRPr lang="bg-BG" sz="4000" b="1"/>
          </a:p>
        </p:txBody>
      </p:sp>
    </p:spTree>
    <p:extLst>
      <p:ext uri="{BB962C8B-B14F-4D97-AF65-F5344CB8AC3E}">
        <p14:creationId xmlns:p14="http://schemas.microsoft.com/office/powerpoint/2010/main" val="1127699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016" y="980728"/>
            <a:ext cx="8605464" cy="5633855"/>
          </a:xfrm>
        </p:spPr>
        <p:txBody>
          <a:bodyPr vert="horz" lIns="91440" tIns="45720" rIns="91440" bIns="45720" anchor="t">
            <a:noAutofit/>
          </a:bodyPr>
          <a:lstStyle/>
          <a:p>
            <a:pPr algn="just">
              <a:lnSpc>
                <a:spcPct val="120171"/>
              </a:lnSpc>
              <a:spcBef>
                <a:spcPts val="0"/>
              </a:spcBef>
            </a:pPr>
            <a:r>
              <a:rPr lang="ru-RU" sz="2000" b="1">
                <a:latin typeface="Times New Roman" pitchFamily="18" charset="0"/>
                <a:cs typeface="Times New Roman" pitchFamily="18" charset="0"/>
              </a:rPr>
              <a:t>Инструкция </a:t>
            </a:r>
            <a:r>
              <a:rPr lang="en-US" sz="2000" b="1">
                <a:latin typeface="Times New Roman" pitchFamily="18" charset="0"/>
                <a:cs typeface="Times New Roman" pitchFamily="18" charset="0"/>
              </a:rPr>
              <a:t>LEA </a:t>
            </a:r>
            <a:r>
              <a:rPr lang="bg-BG" sz="2000" b="1">
                <a:latin typeface="Times New Roman" pitchFamily="18" charset="0"/>
                <a:cs typeface="Times New Roman" pitchFamily="18" charset="0"/>
              </a:rPr>
              <a:t>- </a:t>
            </a:r>
            <a:r>
              <a:rPr lang="en-US" sz="2000" b="1">
                <a:latin typeface="Times New Roman" pitchFamily="18" charset="0"/>
                <a:cs typeface="Times New Roman" pitchFamily="18" charset="0"/>
              </a:rPr>
              <a:t>Load Effective Address</a:t>
            </a:r>
            <a:endParaRPr lang="bg-BG" sz="2000" b="1">
              <a:latin typeface="Times New Roman" pitchFamily="18" charset="0"/>
              <a:cs typeface="Times New Roman" pitchFamily="18" charset="0"/>
            </a:endParaRPr>
          </a:p>
          <a:p>
            <a:pPr algn="just">
              <a:lnSpc>
                <a:spcPct val="120171"/>
              </a:lnSpc>
              <a:spcBef>
                <a:spcPts val="0"/>
              </a:spcBef>
            </a:pPr>
            <a:r>
              <a:rPr lang="ru-RU" sz="2000" err="1">
                <a:latin typeface="Times New Roman" pitchFamily="18" charset="0"/>
                <a:cs typeface="Times New Roman" pitchFamily="18" charset="0"/>
              </a:rPr>
              <a:t>Нека</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искаме</a:t>
            </a:r>
            <a:r>
              <a:rPr lang="ru-RU" sz="2000">
                <a:latin typeface="Times New Roman" pitchFamily="18" charset="0"/>
                <a:cs typeface="Times New Roman" pitchFamily="18" charset="0"/>
              </a:rPr>
              <a:t> да </a:t>
            </a:r>
            <a:r>
              <a:rPr lang="ru-RU" sz="2000" err="1">
                <a:latin typeface="Times New Roman" pitchFamily="18" charset="0"/>
                <a:cs typeface="Times New Roman" pitchFamily="18" charset="0"/>
              </a:rPr>
              <a:t>заредим</a:t>
            </a:r>
            <a:r>
              <a:rPr lang="ru-RU" sz="2000">
                <a:latin typeface="Times New Roman" pitchFamily="18" charset="0"/>
                <a:cs typeface="Times New Roman" pitchFamily="18" charset="0"/>
              </a:rPr>
              <a:t> EBX </a:t>
            </a:r>
            <a:r>
              <a:rPr lang="ru-RU" sz="2000" err="1">
                <a:latin typeface="Times New Roman" pitchFamily="18" charset="0"/>
                <a:cs typeface="Times New Roman" pitchFamily="18" charset="0"/>
              </a:rPr>
              <a:t>със</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стойността</a:t>
            </a:r>
            <a:r>
              <a:rPr lang="ru-RU" sz="2000">
                <a:latin typeface="Times New Roman" pitchFamily="18" charset="0"/>
                <a:cs typeface="Times New Roman" pitchFamily="18" charset="0"/>
              </a:rPr>
              <a:t> на </a:t>
            </a:r>
            <a:r>
              <a:rPr lang="ru-RU" sz="2000" err="1">
                <a:latin typeface="Times New Roman" pitchFamily="18" charset="0"/>
                <a:cs typeface="Times New Roman" pitchFamily="18" charset="0"/>
              </a:rPr>
              <a:t>отместване</a:t>
            </a:r>
            <a:r>
              <a:rPr lang="ru-RU" sz="2000">
                <a:latin typeface="Times New Roman" pitchFamily="18" charset="0"/>
                <a:cs typeface="Times New Roman" pitchFamily="18" charset="0"/>
              </a:rPr>
              <a:t> на table1 .</a:t>
            </a:r>
          </a:p>
          <a:p>
            <a:pPr algn="just">
              <a:lnSpc>
                <a:spcPct val="120171"/>
              </a:lnSpc>
              <a:spcBef>
                <a:spcPts val="0"/>
              </a:spcBef>
            </a:pPr>
            <a:r>
              <a:rPr lang="ru-RU" sz="2000">
                <a:latin typeface="Times New Roman" pitchFamily="18" charset="0"/>
                <a:cs typeface="Times New Roman" pitchFamily="18" charset="0"/>
              </a:rPr>
              <a:t>Можем да </a:t>
            </a:r>
            <a:r>
              <a:rPr lang="ru-RU" sz="2000" err="1">
                <a:latin typeface="Times New Roman" pitchFamily="18" charset="0"/>
                <a:cs typeface="Times New Roman" pitchFamily="18" charset="0"/>
              </a:rPr>
              <a:t>го</a:t>
            </a:r>
            <a:r>
              <a:rPr lang="ru-RU" sz="2000">
                <a:latin typeface="Times New Roman" pitchFamily="18" charset="0"/>
                <a:cs typeface="Times New Roman" pitchFamily="18" charset="0"/>
              </a:rPr>
              <a:t> направим с инструкция </a:t>
            </a:r>
            <a:r>
              <a:rPr lang="en-US" sz="2000" err="1">
                <a:latin typeface="Times New Roman" pitchFamily="18" charset="0"/>
                <a:cs typeface="Times New Roman" pitchFamily="18" charset="0"/>
              </a:rPr>
              <a:t>mov</a:t>
            </a:r>
            <a:r>
              <a:rPr lang="ru-RU" sz="2000">
                <a:latin typeface="Times New Roman" pitchFamily="18" charset="0"/>
                <a:cs typeface="Times New Roman" pitchFamily="18" charset="0"/>
              </a:rPr>
              <a:t>:</a:t>
            </a:r>
          </a:p>
          <a:p>
            <a:pPr algn="just">
              <a:lnSpc>
                <a:spcPct val="120171"/>
              </a:lnSpc>
              <a:spcBef>
                <a:spcPts val="0"/>
              </a:spcBef>
            </a:pP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mov</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ebx</a:t>
            </a:r>
            <a:r>
              <a:rPr lang="ru-RU" sz="2000">
                <a:latin typeface="Times New Roman" pitchFamily="18" charset="0"/>
                <a:cs typeface="Times New Roman" pitchFamily="18" charset="0"/>
              </a:rPr>
              <a:t>, OFFSET table1</a:t>
            </a:r>
          </a:p>
          <a:p>
            <a:pPr algn="just">
              <a:lnSpc>
                <a:spcPct val="120171"/>
              </a:lnSpc>
              <a:spcBef>
                <a:spcPts val="0"/>
              </a:spcBef>
            </a:pPr>
            <a:r>
              <a:rPr lang="ru-RU" sz="2000" err="1">
                <a:latin typeface="Times New Roman" pitchFamily="18" charset="0"/>
                <a:cs typeface="Times New Roman" pitchFamily="18" charset="0"/>
              </a:rPr>
              <a:t>Операторът</a:t>
            </a:r>
            <a:r>
              <a:rPr lang="ru-RU" sz="2000">
                <a:latin typeface="Times New Roman" pitchFamily="18" charset="0"/>
                <a:cs typeface="Times New Roman" pitchFamily="18" charset="0"/>
              </a:rPr>
              <a:t> OFFSET </a:t>
            </a:r>
            <a:r>
              <a:rPr lang="ru-RU" sz="2000" err="1">
                <a:latin typeface="Times New Roman" pitchFamily="18" charset="0"/>
                <a:cs typeface="Times New Roman" pitchFamily="18" charset="0"/>
              </a:rPr>
              <a:t>разрешава</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отместването</a:t>
            </a:r>
            <a:r>
              <a:rPr lang="ru-RU" sz="2000">
                <a:latin typeface="Times New Roman" pitchFamily="18" charset="0"/>
                <a:cs typeface="Times New Roman" pitchFamily="18" charset="0"/>
              </a:rPr>
              <a:t> по време на </a:t>
            </a:r>
            <a:r>
              <a:rPr lang="ru-RU" sz="2000" err="1">
                <a:latin typeface="Times New Roman" pitchFamily="18" charset="0"/>
                <a:cs typeface="Times New Roman" pitchFamily="18" charset="0"/>
              </a:rPr>
              <a:t>асемблирането</a:t>
            </a:r>
            <a:r>
              <a:rPr lang="ru-RU" sz="2000">
                <a:latin typeface="Times New Roman" pitchFamily="18" charset="0"/>
                <a:cs typeface="Times New Roman" pitchFamily="18" charset="0"/>
              </a:rPr>
              <a:t> .</a:t>
            </a:r>
          </a:p>
          <a:p>
            <a:pPr algn="just">
              <a:lnSpc>
                <a:spcPct val="120171"/>
              </a:lnSpc>
              <a:spcBef>
                <a:spcPts val="0"/>
              </a:spcBef>
            </a:pPr>
            <a:r>
              <a:rPr lang="ru-RU" sz="2000" err="1">
                <a:latin typeface="Times New Roman" pitchFamily="18" charset="0"/>
                <a:cs typeface="Times New Roman" pitchFamily="18" charset="0"/>
              </a:rPr>
              <a:t>Другият</a:t>
            </a:r>
            <a:r>
              <a:rPr lang="ru-RU" sz="2000">
                <a:latin typeface="Times New Roman" pitchFamily="18" charset="0"/>
                <a:cs typeface="Times New Roman" pitchFamily="18" charset="0"/>
              </a:rPr>
              <a:t> начин за </a:t>
            </a:r>
            <a:r>
              <a:rPr lang="ru-RU" sz="2000" err="1">
                <a:latin typeface="Times New Roman" pitchFamily="18" charset="0"/>
                <a:cs typeface="Times New Roman" pitchFamily="18" charset="0"/>
              </a:rPr>
              <a:t>зареждане</a:t>
            </a:r>
            <a:r>
              <a:rPr lang="ru-RU" sz="2000">
                <a:latin typeface="Times New Roman" pitchFamily="18" charset="0"/>
                <a:cs typeface="Times New Roman" pitchFamily="18" charset="0"/>
              </a:rPr>
              <a:t> на </a:t>
            </a:r>
            <a:r>
              <a:rPr lang="ru-RU" sz="2000" err="1">
                <a:latin typeface="Times New Roman" pitchFamily="18" charset="0"/>
                <a:cs typeface="Times New Roman" pitchFamily="18" charset="0"/>
              </a:rPr>
              <a:t>отместването</a:t>
            </a:r>
            <a:r>
              <a:rPr lang="ru-RU" sz="2000">
                <a:latin typeface="Times New Roman" pitchFamily="18" charset="0"/>
                <a:cs typeface="Times New Roman" pitchFamily="18" charset="0"/>
              </a:rPr>
              <a:t> на </a:t>
            </a:r>
            <a:r>
              <a:rPr lang="ru-RU" sz="2000" err="1">
                <a:latin typeface="Times New Roman" pitchFamily="18" charset="0"/>
                <a:cs typeface="Times New Roman" pitchFamily="18" charset="0"/>
              </a:rPr>
              <a:t>паметта</a:t>
            </a:r>
            <a:r>
              <a:rPr lang="ru-RU" sz="2000">
                <a:latin typeface="Times New Roman" pitchFamily="18" charset="0"/>
                <a:cs typeface="Times New Roman" pitchFamily="18" charset="0"/>
              </a:rPr>
              <a:t> е чрез </a:t>
            </a:r>
            <a:r>
              <a:rPr lang="ru-RU" sz="2000" err="1">
                <a:latin typeface="Times New Roman" pitchFamily="18" charset="0"/>
                <a:cs typeface="Times New Roman" pitchFamily="18" charset="0"/>
              </a:rPr>
              <a:t>използване</a:t>
            </a:r>
            <a:r>
              <a:rPr lang="ru-RU" sz="2000">
                <a:latin typeface="Times New Roman" pitchFamily="18" charset="0"/>
                <a:cs typeface="Times New Roman" pitchFamily="18" charset="0"/>
              </a:rPr>
              <a:t> на </a:t>
            </a:r>
            <a:r>
              <a:rPr lang="ru-RU" sz="2000" err="1">
                <a:latin typeface="Times New Roman" pitchFamily="18" charset="0"/>
                <a:cs typeface="Times New Roman" pitchFamily="18" charset="0"/>
              </a:rPr>
              <a:t>инструкцията</a:t>
            </a:r>
            <a:r>
              <a:rPr lang="ru-RU" sz="2000">
                <a:latin typeface="Times New Roman" pitchFamily="18" charset="0"/>
                <a:cs typeface="Times New Roman" pitchFamily="18" charset="0"/>
              </a:rPr>
              <a:t> LEA :</a:t>
            </a:r>
          </a:p>
          <a:p>
            <a:pPr algn="just">
              <a:lnSpc>
                <a:spcPct val="120171"/>
              </a:lnSpc>
              <a:spcBef>
                <a:spcPts val="0"/>
              </a:spcBef>
            </a:pPr>
            <a:r>
              <a:rPr lang="ru-RU" sz="2000">
                <a:latin typeface="Times New Roman" pitchFamily="18" charset="0"/>
                <a:cs typeface="Times New Roman" pitchFamily="18" charset="0"/>
              </a:rPr>
              <a:t>LEA </a:t>
            </a:r>
            <a:r>
              <a:rPr lang="ru-RU" sz="2000" err="1">
                <a:latin typeface="Times New Roman" pitchFamily="18" charset="0"/>
                <a:cs typeface="Times New Roman" pitchFamily="18" charset="0"/>
              </a:rPr>
              <a:t>разрешава</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отместване</a:t>
            </a:r>
            <a:r>
              <a:rPr lang="ru-RU" sz="2000">
                <a:latin typeface="Times New Roman" pitchFamily="18" charset="0"/>
                <a:cs typeface="Times New Roman" pitchFamily="18" charset="0"/>
              </a:rPr>
              <a:t> по време на </a:t>
            </a:r>
            <a:r>
              <a:rPr lang="ru-RU" sz="2000" err="1">
                <a:latin typeface="Times New Roman" pitchFamily="18" charset="0"/>
                <a:cs typeface="Times New Roman" pitchFamily="18" charset="0"/>
              </a:rPr>
              <a:t>изпълнение</a:t>
            </a:r>
            <a:r>
              <a:rPr lang="ru-RU" sz="2000">
                <a:latin typeface="Times New Roman" pitchFamily="18" charset="0"/>
                <a:cs typeface="Times New Roman" pitchFamily="18" charset="0"/>
              </a:rPr>
              <a:t> :</a:t>
            </a:r>
          </a:p>
          <a:p>
            <a:pPr algn="just">
              <a:lnSpc>
                <a:spcPct val="120171"/>
              </a:lnSpc>
              <a:spcBef>
                <a:spcPts val="0"/>
              </a:spcBef>
            </a:pP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lea</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ebx</a:t>
            </a:r>
            <a:r>
              <a:rPr lang="ru-RU" sz="2000">
                <a:latin typeface="Times New Roman" pitchFamily="18" charset="0"/>
                <a:cs typeface="Times New Roman" pitchFamily="18" charset="0"/>
              </a:rPr>
              <a:t>, [</a:t>
            </a:r>
            <a:r>
              <a:rPr lang="en-US" sz="2000">
                <a:latin typeface="Times New Roman" pitchFamily="18" charset="0"/>
                <a:cs typeface="Times New Roman" pitchFamily="18" charset="0"/>
              </a:rPr>
              <a:t>table1</a:t>
            </a:r>
            <a:r>
              <a:rPr lang="ru-RU" sz="2000">
                <a:latin typeface="Times New Roman" pitchFamily="18" charset="0"/>
                <a:cs typeface="Times New Roman" pitchFamily="18" charset="0"/>
              </a:rPr>
              <a:t>] ; </a:t>
            </a:r>
            <a:r>
              <a:rPr lang="ru-RU" sz="2000" err="1">
                <a:latin typeface="Times New Roman" pitchFamily="18" charset="0"/>
                <a:cs typeface="Times New Roman" pitchFamily="18" charset="0"/>
              </a:rPr>
              <a:t>зареди</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ефективен</a:t>
            </a:r>
            <a:r>
              <a:rPr lang="ru-RU" sz="2000">
                <a:latin typeface="Times New Roman" pitchFamily="18" charset="0"/>
                <a:cs typeface="Times New Roman" pitchFamily="18" charset="0"/>
              </a:rPr>
              <a:t> адрес на table1 в </a:t>
            </a:r>
            <a:r>
              <a:rPr lang="ru-RU" sz="2000" err="1">
                <a:latin typeface="Times New Roman" pitchFamily="18" charset="0"/>
                <a:cs typeface="Times New Roman" pitchFamily="18" charset="0"/>
              </a:rPr>
              <a:t>ebx</a:t>
            </a:r>
            <a:endParaRPr lang="en-US" sz="2000">
              <a:latin typeface="Times New Roman" pitchFamily="18" charset="0"/>
              <a:cs typeface="Times New Roman" pitchFamily="18" charset="0"/>
            </a:endParaRPr>
          </a:p>
          <a:p>
            <a:pPr algn="just">
              <a:lnSpc>
                <a:spcPct val="120171"/>
              </a:lnSpc>
              <a:spcBef>
                <a:spcPts val="0"/>
              </a:spcBef>
            </a:pPr>
            <a:r>
              <a:rPr lang="ru-RU" sz="2000">
                <a:latin typeface="Times New Roman" pitchFamily="18" charset="0"/>
                <a:cs typeface="Times New Roman" pitchFamily="18" charset="0"/>
              </a:rPr>
              <a:t>За да </a:t>
            </a:r>
            <a:r>
              <a:rPr lang="bg-BG" sz="2000">
                <a:latin typeface="Times New Roman" pitchFamily="18" charset="0"/>
                <a:cs typeface="Times New Roman" pitchFamily="18" charset="0"/>
              </a:rPr>
              <a:t>се </a:t>
            </a:r>
            <a:r>
              <a:rPr lang="ru-RU" sz="2000" err="1">
                <a:latin typeface="Times New Roman" pitchFamily="18" charset="0"/>
                <a:cs typeface="Times New Roman" pitchFamily="18" charset="0"/>
              </a:rPr>
              <a:t>зареди</a:t>
            </a:r>
            <a:r>
              <a:rPr lang="ru-RU" sz="2000">
                <a:latin typeface="Times New Roman" pitchFamily="18" charset="0"/>
                <a:cs typeface="Times New Roman" pitchFamily="18" charset="0"/>
              </a:rPr>
              <a:t> EBX с адреса на </a:t>
            </a:r>
            <a:r>
              <a:rPr lang="ru-RU" sz="2000" err="1">
                <a:latin typeface="Times New Roman" pitchFamily="18" charset="0"/>
                <a:cs typeface="Times New Roman" pitchFamily="18" charset="0"/>
              </a:rPr>
              <a:t>елемента</a:t>
            </a:r>
            <a:r>
              <a:rPr lang="ru-RU" sz="2000">
                <a:latin typeface="Times New Roman" pitchFamily="18" charset="0"/>
                <a:cs typeface="Times New Roman" pitchFamily="18" charset="0"/>
              </a:rPr>
              <a:t> от table1 , </a:t>
            </a:r>
            <a:r>
              <a:rPr lang="ru-RU" sz="2000" err="1">
                <a:latin typeface="Times New Roman" pitchFamily="18" charset="0"/>
                <a:cs typeface="Times New Roman" pitchFamily="18" charset="0"/>
              </a:rPr>
              <a:t>където</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индексът</a:t>
            </a:r>
            <a:r>
              <a:rPr lang="ru-RU" sz="2000">
                <a:latin typeface="Times New Roman" pitchFamily="18" charset="0"/>
                <a:cs typeface="Times New Roman" pitchFamily="18" charset="0"/>
              </a:rPr>
              <a:t> на </a:t>
            </a:r>
            <a:r>
              <a:rPr lang="ru-RU" sz="2000" err="1">
                <a:latin typeface="Times New Roman" pitchFamily="18" charset="0"/>
                <a:cs typeface="Times New Roman" pitchFamily="18" charset="0"/>
              </a:rPr>
              <a:t>елемента</a:t>
            </a:r>
            <a:r>
              <a:rPr lang="ru-RU" sz="2000">
                <a:latin typeface="Times New Roman" pitchFamily="18" charset="0"/>
                <a:cs typeface="Times New Roman" pitchFamily="18" charset="0"/>
              </a:rPr>
              <a:t> е в ESI ,</a:t>
            </a:r>
          </a:p>
          <a:p>
            <a:pPr algn="just">
              <a:lnSpc>
                <a:spcPct val="120171"/>
              </a:lnSpc>
              <a:spcBef>
                <a:spcPts val="0"/>
              </a:spcBef>
            </a:pPr>
            <a:r>
              <a:rPr lang="en-US" sz="2000">
                <a:latin typeface="Times New Roman" pitchFamily="18" charset="0"/>
                <a:cs typeface="Times New Roman" pitchFamily="18" charset="0"/>
              </a:rPr>
              <a:t> </a:t>
            </a:r>
            <a:r>
              <a:rPr lang="bg-BG" sz="2000">
                <a:latin typeface="Times New Roman" pitchFamily="18" charset="0"/>
                <a:cs typeface="Times New Roman" pitchFamily="18" charset="0"/>
              </a:rPr>
              <a:t>       </a:t>
            </a:r>
            <a:r>
              <a:rPr lang="en-US" sz="2000">
                <a:latin typeface="Times New Roman" pitchFamily="18" charset="0"/>
                <a:cs typeface="Times New Roman" pitchFamily="18" charset="0"/>
              </a:rPr>
              <a:t>lea    </a:t>
            </a:r>
            <a:r>
              <a:rPr lang="en-US" sz="2000" err="1">
                <a:latin typeface="Times New Roman" pitchFamily="18" charset="0"/>
                <a:cs typeface="Times New Roman" pitchFamily="18" charset="0"/>
              </a:rPr>
              <a:t>ebx</a:t>
            </a:r>
            <a:r>
              <a:rPr lang="en-US" sz="2000">
                <a:latin typeface="Times New Roman" pitchFamily="18" charset="0"/>
                <a:cs typeface="Times New Roman" pitchFamily="18" charset="0"/>
              </a:rPr>
              <a:t>, [ table1 + </a:t>
            </a:r>
            <a:r>
              <a:rPr lang="en-US" sz="2000" err="1">
                <a:latin typeface="Times New Roman" pitchFamily="18" charset="0"/>
                <a:cs typeface="Times New Roman" pitchFamily="18" charset="0"/>
              </a:rPr>
              <a:t>esi</a:t>
            </a:r>
            <a:r>
              <a:rPr lang="en-US" sz="2000">
                <a:latin typeface="Times New Roman" pitchFamily="18" charset="0"/>
                <a:cs typeface="Times New Roman" pitchFamily="18" charset="0"/>
              </a:rPr>
              <a:t> ]</a:t>
            </a:r>
          </a:p>
          <a:p>
            <a:pPr algn="just">
              <a:lnSpc>
                <a:spcPct val="120171"/>
              </a:lnSpc>
              <a:spcBef>
                <a:spcPts val="0"/>
              </a:spcBef>
            </a:pPr>
            <a:r>
              <a:rPr lang="en-US" sz="2000">
                <a:latin typeface="Times New Roman" pitchFamily="18" charset="0"/>
                <a:cs typeface="Times New Roman" pitchFamily="18" charset="0"/>
              </a:rPr>
              <a:t>        lea    </a:t>
            </a:r>
            <a:r>
              <a:rPr lang="en-US" sz="2000" err="1">
                <a:latin typeface="Times New Roman" pitchFamily="18" charset="0"/>
                <a:cs typeface="Times New Roman" pitchFamily="18" charset="0"/>
              </a:rPr>
              <a:t>ebx</a:t>
            </a:r>
            <a:r>
              <a:rPr lang="en-US" sz="2000">
                <a:latin typeface="Times New Roman" pitchFamily="18" charset="0"/>
                <a:cs typeface="Times New Roman" pitchFamily="18" charset="0"/>
              </a:rPr>
              <a:t>, [ table1 ] + </a:t>
            </a:r>
            <a:r>
              <a:rPr lang="en-US" sz="2000" err="1">
                <a:latin typeface="Times New Roman" pitchFamily="18" charset="0"/>
                <a:cs typeface="Times New Roman" pitchFamily="18" charset="0"/>
              </a:rPr>
              <a:t>esi</a:t>
            </a:r>
            <a:r>
              <a:rPr lang="en-US" sz="2000">
                <a:latin typeface="Times New Roman" pitchFamily="18" charset="0"/>
                <a:cs typeface="Times New Roman" pitchFamily="18" charset="0"/>
              </a:rPr>
              <a:t>   ;  does the same thing</a:t>
            </a:r>
          </a:p>
          <a:p>
            <a:pPr algn="just">
              <a:lnSpc>
                <a:spcPct val="120171"/>
              </a:lnSpc>
              <a:spcBef>
                <a:spcPts val="0"/>
              </a:spcBef>
            </a:pPr>
            <a:r>
              <a:rPr lang="en-US" sz="2000">
                <a:latin typeface="Times New Roman" pitchFamily="18" charset="0"/>
                <a:cs typeface="Times New Roman" pitchFamily="18" charset="0"/>
              </a:rPr>
              <a:t>        lea    </a:t>
            </a:r>
            <a:r>
              <a:rPr lang="en-US" sz="2000" err="1">
                <a:latin typeface="Times New Roman" pitchFamily="18" charset="0"/>
                <a:cs typeface="Times New Roman" pitchFamily="18" charset="0"/>
              </a:rPr>
              <a:t>ebx</a:t>
            </a:r>
            <a:r>
              <a:rPr lang="en-US" sz="2000">
                <a:latin typeface="Times New Roman" pitchFamily="18" charset="0"/>
                <a:cs typeface="Times New Roman" pitchFamily="18" charset="0"/>
              </a:rPr>
              <a:t>, table1[ </a:t>
            </a:r>
            <a:r>
              <a:rPr lang="en-US" sz="2000" err="1">
                <a:latin typeface="Times New Roman" pitchFamily="18" charset="0"/>
                <a:cs typeface="Times New Roman" pitchFamily="18" charset="0"/>
              </a:rPr>
              <a:t>esi</a:t>
            </a:r>
            <a:r>
              <a:rPr lang="en-US" sz="2000">
                <a:latin typeface="Times New Roman" pitchFamily="18" charset="0"/>
                <a:cs typeface="Times New Roman" pitchFamily="18" charset="0"/>
              </a:rPr>
              <a:t> ]      ;  does the same thing</a:t>
            </a:r>
            <a:endParaRPr lang="bg-BG" sz="2000">
              <a:latin typeface="Times New Roman" pitchFamily="18" charset="0"/>
              <a:cs typeface="Times New Roman" pitchFamily="18" charset="0"/>
            </a:endParaRPr>
          </a:p>
          <a:p>
            <a:pPr algn="just">
              <a:lnSpc>
                <a:spcPct val="126496"/>
              </a:lnSpc>
              <a:spcBef>
                <a:spcPts val="0"/>
              </a:spcBef>
            </a:pPr>
            <a:r>
              <a:rPr lang="ru-RU" sz="1900">
                <a:latin typeface="Times New Roman" panose="02020603050405020304" pitchFamily="18" charset="0"/>
                <a:cs typeface="Times New Roman" panose="02020603050405020304" pitchFamily="18" charset="0"/>
              </a:rPr>
              <a:t>Не можем да </a:t>
            </a:r>
            <a:r>
              <a:rPr lang="ru-RU" sz="1900" err="1">
                <a:latin typeface="Times New Roman" panose="02020603050405020304" pitchFamily="18" charset="0"/>
                <a:cs typeface="Times New Roman" panose="02020603050405020304" pitchFamily="18" charset="0"/>
              </a:rPr>
              <a:t>използваме</a:t>
            </a:r>
            <a:r>
              <a:rPr lang="ru-RU" sz="1900">
                <a:latin typeface="Times New Roman" panose="02020603050405020304" pitchFamily="18" charset="0"/>
                <a:cs typeface="Times New Roman" panose="02020603050405020304" pitchFamily="18" charset="0"/>
              </a:rPr>
              <a:t> </a:t>
            </a:r>
            <a:r>
              <a:rPr lang="ru-RU" sz="1900" err="1">
                <a:latin typeface="Times New Roman" panose="02020603050405020304" pitchFamily="18" charset="0"/>
                <a:cs typeface="Times New Roman" panose="02020603050405020304" pitchFamily="18" charset="0"/>
              </a:rPr>
              <a:t>инструкцията</a:t>
            </a:r>
            <a:r>
              <a:rPr lang="ru-RU" sz="1900">
                <a:latin typeface="Times New Roman" panose="02020603050405020304" pitchFamily="18" charset="0"/>
                <a:cs typeface="Times New Roman" panose="02020603050405020304" pitchFamily="18" charset="0"/>
              </a:rPr>
              <a:t> MOV , за да направим това!</a:t>
            </a:r>
          </a:p>
        </p:txBody>
      </p:sp>
    </p:spTree>
    <p:extLst>
      <p:ext uri="{BB962C8B-B14F-4D97-AF65-F5344CB8AC3E}">
        <p14:creationId xmlns:p14="http://schemas.microsoft.com/office/powerpoint/2010/main" val="3205748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016" y="836712"/>
            <a:ext cx="8605464" cy="5777871"/>
          </a:xfrm>
        </p:spPr>
        <p:txBody>
          <a:bodyPr>
            <a:noAutofit/>
          </a:bodyPr>
          <a:lstStyle/>
          <a:p>
            <a:r>
              <a:rPr lang="ru-RU" sz="2000" b="1">
                <a:latin typeface="Times New Roman" pitchFamily="18" charset="0"/>
                <a:cs typeface="Times New Roman" pitchFamily="18" charset="0"/>
              </a:rPr>
              <a:t>Инструкция </a:t>
            </a:r>
            <a:r>
              <a:rPr lang="en-US" sz="2000" b="1"/>
              <a:t>XLAT/XLATB</a:t>
            </a:r>
          </a:p>
          <a:p>
            <a:pPr algn="just">
              <a:spcBef>
                <a:spcPts val="0"/>
              </a:spcBef>
            </a:pPr>
            <a:r>
              <a:rPr lang="ru-RU" sz="2000">
                <a:latin typeface="Times New Roman" pitchFamily="18" charset="0"/>
                <a:cs typeface="Times New Roman" pitchFamily="18" charset="0"/>
              </a:rPr>
              <a:t>Намира запис в байт в таблица в паметта, като използва съдържанието на AL регистъра като индекс на таблица, след което копира съдържанието на записа в таблицата обратно в AL регистъра. Индексът в регистъра AL се третира като цяло число без знак. Инструкциите XLAT и XLATB получават основния адрес на таблицата в паметта или от регистрите DS:EBX, или от DS:BX (в зависимост от атрибута размер на адреса на инструкцията, съответно 32 или 16). </a:t>
            </a:r>
          </a:p>
          <a:p>
            <a:pPr algn="just">
              <a:spcBef>
                <a:spcPts val="0"/>
              </a:spcBef>
            </a:pPr>
            <a:r>
              <a:rPr lang="ru-RU" sz="2000">
                <a:latin typeface="Times New Roman" pitchFamily="18" charset="0"/>
                <a:cs typeface="Times New Roman" pitchFamily="18" charset="0"/>
              </a:rPr>
              <a:t>      XLAT &lt;</a:t>
            </a:r>
            <a:r>
              <a:rPr lang="en-US" sz="2000">
                <a:latin typeface="Times New Roman" pitchFamily="18" charset="0"/>
                <a:cs typeface="Times New Roman" pitchFamily="18" charset="0"/>
              </a:rPr>
              <a:t>Op&gt;</a:t>
            </a:r>
            <a:r>
              <a:rPr lang="bg-BG" sz="2000">
                <a:latin typeface="Times New Roman" pitchFamily="18" charset="0"/>
                <a:cs typeface="Times New Roman" pitchFamily="18" charset="0"/>
              </a:rPr>
              <a:t> - </a:t>
            </a:r>
            <a:r>
              <a:rPr lang="ru-RU" sz="2000">
                <a:latin typeface="Times New Roman" pitchFamily="18" charset="0"/>
                <a:cs typeface="Times New Roman" pitchFamily="18" charset="0"/>
              </a:rPr>
              <a:t>формат на явния операнд - позволява основният адрес на таблицата да бъде указан изрично със символ. Тази форма на изрични операнди е предоставена, за да позволи </a:t>
            </a:r>
            <a:r>
              <a:rPr lang="ru-RU" sz="2000" err="1">
                <a:latin typeface="Times New Roman" pitchFamily="18" charset="0"/>
                <a:cs typeface="Times New Roman" pitchFamily="18" charset="0"/>
              </a:rPr>
              <a:t>документиране</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Символът</a:t>
            </a:r>
            <a:r>
              <a:rPr lang="ru-RU" sz="2000">
                <a:latin typeface="Times New Roman" pitchFamily="18" charset="0"/>
                <a:cs typeface="Times New Roman" pitchFamily="18" charset="0"/>
              </a:rPr>
              <a:t> не трябва да </a:t>
            </a:r>
            <a:r>
              <a:rPr lang="ru-RU" sz="2000" err="1">
                <a:latin typeface="Times New Roman" pitchFamily="18" charset="0"/>
                <a:cs typeface="Times New Roman" pitchFamily="18" charset="0"/>
              </a:rPr>
              <a:t>указва</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базовия</a:t>
            </a:r>
            <a:r>
              <a:rPr lang="ru-RU" sz="2000">
                <a:latin typeface="Times New Roman" pitchFamily="18" charset="0"/>
                <a:cs typeface="Times New Roman" pitchFamily="18" charset="0"/>
              </a:rPr>
              <a:t> адрес. Базовият адрес винаги се определя от регистрите DS:(E)BX, които трябва да бъдат заредени правилно, преди да се изпълни инструкцията XLAT.</a:t>
            </a:r>
            <a:endParaRPr lang="en-US" sz="2000">
              <a:latin typeface="Times New Roman" pitchFamily="18" charset="0"/>
              <a:cs typeface="Times New Roman" pitchFamily="18" charset="0"/>
            </a:endParaRPr>
          </a:p>
          <a:p>
            <a:pPr algn="just">
              <a:spcBef>
                <a:spcPts val="0"/>
              </a:spcBef>
            </a:pPr>
            <a:r>
              <a:rPr lang="ru-RU" sz="2000">
                <a:latin typeface="Times New Roman" pitchFamily="18" charset="0"/>
                <a:cs typeface="Times New Roman" pitchFamily="18" charset="0"/>
              </a:rPr>
              <a:t>      XLATB - формат без </a:t>
            </a:r>
            <a:r>
              <a:rPr lang="ru-RU" sz="2000" err="1">
                <a:latin typeface="Times New Roman" pitchFamily="18" charset="0"/>
                <a:cs typeface="Times New Roman" pitchFamily="18" charset="0"/>
              </a:rPr>
              <a:t>операнди</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предоставя</a:t>
            </a:r>
            <a:r>
              <a:rPr lang="ru-RU" sz="2000">
                <a:latin typeface="Times New Roman" pitchFamily="18" charset="0"/>
                <a:cs typeface="Times New Roman" pitchFamily="18" charset="0"/>
              </a:rPr>
              <a:t> „кратка форма“ на XLAT инструкциите. Тук също процесорът приема, че регистрите DS:(E)BX съдържат основния адрес на </a:t>
            </a:r>
            <a:r>
              <a:rPr lang="ru-RU" sz="2000" err="1">
                <a:latin typeface="Times New Roman" pitchFamily="18" charset="0"/>
                <a:cs typeface="Times New Roman" pitchFamily="18" charset="0"/>
              </a:rPr>
              <a:t>таблицата</a:t>
            </a:r>
            <a:r>
              <a:rPr lang="ru-RU" sz="2000">
                <a:latin typeface="Times New Roman" pitchFamily="18" charset="0"/>
                <a:cs typeface="Times New Roman" pitchFamily="18" charset="0"/>
              </a:rPr>
              <a:t>. </a:t>
            </a:r>
            <a:endParaRPr lang="bg-BG" sz="2000">
              <a:latin typeface="Times New Roman" pitchFamily="18" charset="0"/>
              <a:cs typeface="Times New Roman" pitchFamily="18" charset="0"/>
            </a:endParaRPr>
          </a:p>
        </p:txBody>
      </p:sp>
    </p:spTree>
    <p:extLst>
      <p:ext uri="{BB962C8B-B14F-4D97-AF65-F5344CB8AC3E}">
        <p14:creationId xmlns:p14="http://schemas.microsoft.com/office/powerpoint/2010/main" val="3958755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980728"/>
            <a:ext cx="8856984" cy="5760639"/>
          </a:xfrm>
        </p:spPr>
        <p:txBody>
          <a:bodyPr vert="horz" lIns="91440" tIns="45720" rIns="91440" bIns="45720" anchor="t">
            <a:noAutofit/>
          </a:bodyPr>
          <a:lstStyle/>
          <a:p>
            <a:pPr algn="just">
              <a:lnSpc>
                <a:spcPct val="130621"/>
              </a:lnSpc>
              <a:spcBef>
                <a:spcPts val="0"/>
              </a:spcBef>
            </a:pPr>
            <a:r>
              <a:rPr lang="bg-BG" sz="2300" b="1">
                <a:latin typeface="Times New Roman" pitchFamily="18" charset="0"/>
                <a:cs typeface="Times New Roman" pitchFamily="18" charset="0"/>
              </a:rPr>
              <a:t>Въвеждане на масиви за </a:t>
            </a:r>
            <a:r>
              <a:rPr lang="en-US" sz="2300" b="1">
                <a:latin typeface="Times New Roman" pitchFamily="18" charset="0"/>
                <a:cs typeface="Times New Roman" pitchFamily="18" charset="0"/>
              </a:rPr>
              <a:t>ARM</a:t>
            </a:r>
            <a:r>
              <a:rPr lang="bg-BG" sz="2300" b="1">
                <a:latin typeface="Times New Roman" pitchFamily="18" charset="0"/>
                <a:cs typeface="Times New Roman" pitchFamily="18" charset="0"/>
              </a:rPr>
              <a:t> процесор.</a:t>
            </a:r>
            <a:endParaRPr lang="en-US"/>
          </a:p>
          <a:p>
            <a:pPr algn="just">
              <a:lnSpc>
                <a:spcPct val="130621"/>
              </a:lnSpc>
              <a:spcBef>
                <a:spcPts val="0"/>
              </a:spcBef>
            </a:pPr>
            <a:r>
              <a:rPr lang="ru-RU" sz="2300" err="1">
                <a:latin typeface="Times New Roman" pitchFamily="18" charset="0"/>
                <a:cs typeface="Times New Roman" pitchFamily="18" charset="0"/>
              </a:rPr>
              <a:t>Променливите</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масиви</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представляват</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поредица</a:t>
            </a:r>
            <a:r>
              <a:rPr lang="ru-RU" sz="2300">
                <a:latin typeface="Times New Roman" pitchFamily="18" charset="0"/>
                <a:cs typeface="Times New Roman" pitchFamily="18" charset="0"/>
              </a:rPr>
              <a:t> от прости </a:t>
            </a:r>
            <a:r>
              <a:rPr lang="ru-RU" sz="2300" err="1">
                <a:latin typeface="Times New Roman" pitchFamily="18" charset="0"/>
                <a:cs typeface="Times New Roman" pitchFamily="18" charset="0"/>
              </a:rPr>
              <a:t>променливи</a:t>
            </a:r>
            <a:r>
              <a:rPr lang="ru-RU" sz="2300">
                <a:latin typeface="Times New Roman" pitchFamily="18" charset="0"/>
                <a:cs typeface="Times New Roman" pitchFamily="18" charset="0"/>
              </a:rPr>
              <a:t>.</a:t>
            </a:r>
          </a:p>
          <a:p>
            <a:pPr algn="just">
              <a:lnSpc>
                <a:spcPct val="130621"/>
              </a:lnSpc>
              <a:spcBef>
                <a:spcPts val="0"/>
              </a:spcBef>
            </a:pPr>
            <a:r>
              <a:rPr lang="ru-RU" sz="2300" err="1">
                <a:latin typeface="Times New Roman" pitchFamily="18" charset="0"/>
                <a:cs typeface="Times New Roman" pitchFamily="18" charset="0"/>
              </a:rPr>
              <a:t>Дефинирането</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въведен</a:t>
            </a:r>
            <a:r>
              <a:rPr lang="ru-RU" sz="2300">
                <a:latin typeface="Times New Roman" pitchFamily="18" charset="0"/>
                <a:cs typeface="Times New Roman" pitchFamily="18" charset="0"/>
              </a:rPr>
              <a:t> в байт </a:t>
            </a:r>
            <a:r>
              <a:rPr lang="ru-RU" sz="2300" err="1">
                <a:latin typeface="Times New Roman" pitchFamily="18" charset="0"/>
                <a:cs typeface="Times New Roman" pitchFamily="18" charset="0"/>
              </a:rPr>
              <a:t>масив</a:t>
            </a:r>
            <a:r>
              <a:rPr lang="ru-RU" sz="2300">
                <a:latin typeface="Times New Roman" pitchFamily="18" charset="0"/>
                <a:cs typeface="Times New Roman" pitchFamily="18" charset="0"/>
              </a:rPr>
              <a:t> A, </a:t>
            </a:r>
            <a:r>
              <a:rPr lang="ru-RU" sz="2300" err="1">
                <a:latin typeface="Times New Roman" pitchFamily="18" charset="0"/>
                <a:cs typeface="Times New Roman" pitchFamily="18" charset="0"/>
              </a:rPr>
              <a:t>съдържащ</a:t>
            </a:r>
            <a:r>
              <a:rPr lang="ru-RU" sz="2300">
                <a:latin typeface="Times New Roman" pitchFamily="18" charset="0"/>
                <a:cs typeface="Times New Roman" pitchFamily="18" charset="0"/>
              </a:rPr>
              <a:t> </a:t>
            </a:r>
            <a:r>
              <a:rPr lang="bg-BG" sz="2300">
                <a:latin typeface="Times New Roman" pitchFamily="18" charset="0"/>
                <a:cs typeface="Times New Roman" pitchFamily="18" charset="0"/>
              </a:rPr>
              <a:t>като</a:t>
            </a:r>
            <a:r>
              <a:rPr lang="en-US" sz="2300">
                <a:latin typeface="Times New Roman" pitchFamily="18" charset="0"/>
                <a:cs typeface="Times New Roman" pitchFamily="18" charset="0"/>
              </a:rPr>
              <a:t> </a:t>
            </a:r>
            <a:r>
              <a:rPr lang="ru-RU" sz="2300" err="1">
                <a:latin typeface="Times New Roman" pitchFamily="18" charset="0"/>
                <a:cs typeface="Times New Roman" pitchFamily="18" charset="0"/>
              </a:rPr>
              <a:t>първоначални</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стойности</a:t>
            </a:r>
            <a:r>
              <a:rPr lang="ru-RU" sz="2300">
                <a:latin typeface="Times New Roman" pitchFamily="18" charset="0"/>
                <a:cs typeface="Times New Roman" pitchFamily="18" charset="0"/>
              </a:rPr>
              <a:t> - 11 12 13 14 15, т.е.: A[0] = 11, A[1] = 12, A[2] = 13, A[3] = 14, A[4] = 15 става </a:t>
            </a:r>
            <a:r>
              <a:rPr lang="ru-RU" sz="2300" err="1">
                <a:latin typeface="Times New Roman" pitchFamily="18" charset="0"/>
                <a:cs typeface="Times New Roman" pitchFamily="18" charset="0"/>
              </a:rPr>
              <a:t>със</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следната</a:t>
            </a:r>
            <a:r>
              <a:rPr lang="ru-RU" sz="2300">
                <a:latin typeface="Times New Roman" pitchFamily="18" charset="0"/>
                <a:cs typeface="Times New Roman" pitchFamily="18" charset="0"/>
              </a:rPr>
              <a:t> директива за </a:t>
            </a:r>
            <a:r>
              <a:rPr lang="ru-RU" sz="2300" err="1">
                <a:latin typeface="Times New Roman" pitchFamily="18" charset="0"/>
                <a:cs typeface="Times New Roman" pitchFamily="18" charset="0"/>
              </a:rPr>
              <a:t>асемблер</a:t>
            </a:r>
            <a:r>
              <a:rPr lang="ru-RU" sz="2300">
                <a:latin typeface="Times New Roman" pitchFamily="18" charset="0"/>
                <a:cs typeface="Times New Roman" pitchFamily="18" charset="0"/>
              </a:rPr>
              <a:t> :</a:t>
            </a:r>
          </a:p>
          <a:p>
            <a:pPr algn="just">
              <a:lnSpc>
                <a:spcPct val="130621"/>
              </a:lnSpc>
              <a:spcBef>
                <a:spcPts val="0"/>
              </a:spcBef>
            </a:pPr>
            <a:r>
              <a:rPr lang="ru-RU" sz="2300">
                <a:latin typeface="Times New Roman" pitchFamily="18" charset="0"/>
                <a:cs typeface="Times New Roman" pitchFamily="18" charset="0"/>
              </a:rPr>
              <a:t>   A: .</a:t>
            </a:r>
            <a:r>
              <a:rPr lang="ru-RU" sz="2300" err="1">
                <a:latin typeface="Times New Roman" pitchFamily="18" charset="0"/>
                <a:cs typeface="Times New Roman" pitchFamily="18" charset="0"/>
              </a:rPr>
              <a:t>byte</a:t>
            </a:r>
            <a:r>
              <a:rPr lang="ru-RU" sz="2300">
                <a:latin typeface="Times New Roman" pitchFamily="18" charset="0"/>
                <a:cs typeface="Times New Roman" pitchFamily="18" charset="0"/>
              </a:rPr>
              <a:t>    11, 12, 13, 14, 15 ;байт </a:t>
            </a:r>
            <a:r>
              <a:rPr lang="ru-RU" sz="2300" err="1">
                <a:latin typeface="Times New Roman" pitchFamily="18" charset="0"/>
                <a:cs typeface="Times New Roman" pitchFamily="18" charset="0"/>
              </a:rPr>
              <a:t>въведен</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инициализиран</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масив</a:t>
            </a:r>
            <a:r>
              <a:rPr lang="ru-RU" sz="2300">
                <a:latin typeface="Times New Roman" pitchFamily="18" charset="0"/>
                <a:cs typeface="Times New Roman" pitchFamily="18" charset="0"/>
              </a:rPr>
              <a:t> A   </a:t>
            </a:r>
          </a:p>
          <a:p>
            <a:pPr algn="just">
              <a:lnSpc>
                <a:spcPct val="130621"/>
              </a:lnSpc>
              <a:spcBef>
                <a:spcPts val="0"/>
              </a:spcBef>
            </a:pPr>
            <a:r>
              <a:rPr lang="ru-RU" sz="2300" err="1">
                <a:latin typeface="Times New Roman" pitchFamily="18" charset="0"/>
                <a:cs typeface="Times New Roman" pitchFamily="18" charset="0"/>
              </a:rPr>
              <a:t>Списъкът</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със</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стойности</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ще</a:t>
            </a:r>
            <a:r>
              <a:rPr lang="ru-RU" sz="2300">
                <a:latin typeface="Times New Roman" pitchFamily="18" charset="0"/>
                <a:cs typeface="Times New Roman" pitchFamily="18" charset="0"/>
              </a:rPr>
              <a:t> се </a:t>
            </a:r>
            <a:r>
              <a:rPr lang="ru-RU" sz="2300" err="1">
                <a:latin typeface="Times New Roman" pitchFamily="18" charset="0"/>
                <a:cs typeface="Times New Roman" pitchFamily="18" charset="0"/>
              </a:rPr>
              <a:t>съхранява</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последователно</a:t>
            </a:r>
            <a:r>
              <a:rPr lang="ru-RU" sz="2300">
                <a:latin typeface="Times New Roman" pitchFamily="18" charset="0"/>
                <a:cs typeface="Times New Roman" pitchFamily="18" charset="0"/>
              </a:rPr>
              <a:t> в </a:t>
            </a:r>
            <a:r>
              <a:rPr lang="ru-RU" sz="2300" err="1">
                <a:latin typeface="Times New Roman" pitchFamily="18" charset="0"/>
                <a:cs typeface="Times New Roman" pitchFamily="18" charset="0"/>
              </a:rPr>
              <a:t>паметта</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Етикетът</a:t>
            </a:r>
            <a:r>
              <a:rPr lang="ru-RU" sz="2300">
                <a:latin typeface="Times New Roman" pitchFamily="18" charset="0"/>
                <a:cs typeface="Times New Roman" pitchFamily="18" charset="0"/>
              </a:rPr>
              <a:t> A </a:t>
            </a:r>
            <a:r>
              <a:rPr lang="ru-RU" sz="2300" err="1">
                <a:latin typeface="Times New Roman" pitchFamily="18" charset="0"/>
                <a:cs typeface="Times New Roman" pitchFamily="18" charset="0"/>
              </a:rPr>
              <a:t>ще</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бъде</a:t>
            </a:r>
            <a:r>
              <a:rPr lang="ru-RU" sz="2300">
                <a:latin typeface="Times New Roman" pitchFamily="18" charset="0"/>
                <a:cs typeface="Times New Roman" pitchFamily="18" charset="0"/>
              </a:rPr>
              <a:t> приравнен </a:t>
            </a:r>
            <a:r>
              <a:rPr lang="ru-RU" sz="2300" err="1">
                <a:latin typeface="Times New Roman" pitchFamily="18" charset="0"/>
                <a:cs typeface="Times New Roman" pitchFamily="18" charset="0"/>
              </a:rPr>
              <a:t>към</a:t>
            </a:r>
            <a:r>
              <a:rPr lang="ru-RU" sz="2300">
                <a:latin typeface="Times New Roman" pitchFamily="18" charset="0"/>
                <a:cs typeface="Times New Roman" pitchFamily="18" charset="0"/>
              </a:rPr>
              <a:t> адреса на </a:t>
            </a:r>
            <a:r>
              <a:rPr lang="ru-RU" sz="2300" err="1">
                <a:latin typeface="Times New Roman" pitchFamily="18" charset="0"/>
                <a:cs typeface="Times New Roman" pitchFamily="18" charset="0"/>
              </a:rPr>
              <a:t>паметта</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първия</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елемент</a:t>
            </a:r>
            <a:r>
              <a:rPr lang="ru-RU" sz="2300">
                <a:latin typeface="Times New Roman" pitchFamily="18" charset="0"/>
                <a:cs typeface="Times New Roman" pitchFamily="18" charset="0"/>
              </a:rPr>
              <a:t> от </a:t>
            </a:r>
            <a:r>
              <a:rPr lang="ru-RU" sz="2300" err="1">
                <a:latin typeface="Times New Roman" pitchFamily="18" charset="0"/>
                <a:cs typeface="Times New Roman" pitchFamily="18" charset="0"/>
              </a:rPr>
              <a:t>масива</a:t>
            </a:r>
            <a:r>
              <a:rPr lang="ru-RU" sz="2300">
                <a:latin typeface="Times New Roman" pitchFamily="18" charset="0"/>
                <a:cs typeface="Times New Roman" pitchFamily="18" charset="0"/>
              </a:rPr>
              <a:t> A. Този </a:t>
            </a:r>
            <a:r>
              <a:rPr lang="ru-RU" sz="2300" err="1">
                <a:latin typeface="Times New Roman" pitchFamily="18" charset="0"/>
                <a:cs typeface="Times New Roman" pitchFamily="18" charset="0"/>
              </a:rPr>
              <a:t>етикет</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ще</a:t>
            </a:r>
            <a:r>
              <a:rPr lang="ru-RU" sz="2300">
                <a:latin typeface="Times New Roman" pitchFamily="18" charset="0"/>
                <a:cs typeface="Times New Roman" pitchFamily="18" charset="0"/>
              </a:rPr>
              <a:t> се използва за </a:t>
            </a:r>
            <a:r>
              <a:rPr lang="ru-RU" sz="2300" err="1">
                <a:latin typeface="Times New Roman" pitchFamily="18" charset="0"/>
                <a:cs typeface="Times New Roman" pitchFamily="18" charset="0"/>
              </a:rPr>
              <a:t>изчисляване</a:t>
            </a:r>
            <a:r>
              <a:rPr lang="ru-RU" sz="2300">
                <a:latin typeface="Times New Roman" pitchFamily="18" charset="0"/>
                <a:cs typeface="Times New Roman" pitchFamily="18" charset="0"/>
              </a:rPr>
              <a:t> на адреса на даден </a:t>
            </a:r>
            <a:r>
              <a:rPr lang="ru-RU" sz="2300" err="1">
                <a:latin typeface="Times New Roman" pitchFamily="18" charset="0"/>
                <a:cs typeface="Times New Roman" pitchFamily="18" charset="0"/>
              </a:rPr>
              <a:t>елемент</a:t>
            </a:r>
            <a:r>
              <a:rPr lang="ru-RU" sz="2300">
                <a:latin typeface="Times New Roman" pitchFamily="18" charset="0"/>
                <a:cs typeface="Times New Roman" pitchFamily="18" charset="0"/>
              </a:rPr>
              <a:t> от </a:t>
            </a:r>
            <a:r>
              <a:rPr lang="ru-RU" sz="2300" err="1">
                <a:latin typeface="Times New Roman" pitchFamily="18" charset="0"/>
                <a:cs typeface="Times New Roman" pitchFamily="18" charset="0"/>
              </a:rPr>
              <a:t>масива</a:t>
            </a:r>
            <a:r>
              <a:rPr lang="ru-RU" sz="2300">
                <a:latin typeface="Times New Roman" pitchFamily="18" charset="0"/>
                <a:cs typeface="Times New Roman" pitchFamily="18" charset="0"/>
              </a:rPr>
              <a:t>.</a:t>
            </a:r>
          </a:p>
        </p:txBody>
      </p:sp>
      <p:sp>
        <p:nvSpPr>
          <p:cNvPr id="4" name="Title 1"/>
          <p:cNvSpPr>
            <a:spLocks noGrp="1"/>
          </p:cNvSpPr>
          <p:nvPr>
            <p:ph type="title"/>
          </p:nvPr>
        </p:nvSpPr>
        <p:spPr>
          <a:xfrm>
            <a:off x="493204" y="255061"/>
            <a:ext cx="8229600" cy="854968"/>
          </a:xfrm>
        </p:spPr>
        <p:txBody>
          <a:bodyPr>
            <a:normAutofit fontScale="90000"/>
          </a:bodyPr>
          <a:lstStyle/>
          <a:p>
            <a:r>
              <a:rPr lang="en-US" sz="3700" b="1">
                <a:latin typeface="Times New Roman" pitchFamily="18" charset="0"/>
                <a:cs typeface="Times New Roman" pitchFamily="18" charset="0"/>
              </a:rPr>
              <a:t> </a:t>
            </a:r>
            <a:r>
              <a:rPr lang="ru-RU" sz="3700" b="1" err="1">
                <a:latin typeface="Times New Roman" pitchFamily="18" charset="0"/>
                <a:cs typeface="Times New Roman" pitchFamily="18" charset="0"/>
              </a:rPr>
              <a:t>Масиви</a:t>
            </a:r>
            <a:r>
              <a:rPr lang="ru-RU" sz="3700" b="1">
                <a:latin typeface="Times New Roman" pitchFamily="18" charset="0"/>
                <a:cs typeface="Times New Roman" pitchFamily="18" charset="0"/>
              </a:rPr>
              <a:t> и </a:t>
            </a:r>
            <a:r>
              <a:rPr lang="ru-RU" sz="3700" b="1" err="1">
                <a:latin typeface="Times New Roman" pitchFamily="18" charset="0"/>
                <a:cs typeface="Times New Roman" pitchFamily="18" charset="0"/>
              </a:rPr>
              <a:t>структури</a:t>
            </a:r>
            <a:r>
              <a:rPr lang="ru-RU" sz="3700" b="1">
                <a:latin typeface="Times New Roman" pitchFamily="18" charset="0"/>
                <a:cs typeface="Times New Roman" pitchFamily="18" charset="0"/>
              </a:rPr>
              <a:t> в </a:t>
            </a:r>
            <a:r>
              <a:rPr lang="ru-RU" sz="3700" b="1" err="1">
                <a:latin typeface="Times New Roman" pitchFamily="18" charset="0"/>
                <a:cs typeface="Times New Roman" pitchFamily="18" charset="0"/>
              </a:rPr>
              <a:t>Асемблера</a:t>
            </a:r>
            <a:r>
              <a:rPr lang="ru-RU" sz="5400">
                <a:latin typeface="Times New Roman" pitchFamily="18" charset="0"/>
                <a:cs typeface="Times New Roman" pitchFamily="18" charset="0"/>
              </a:rPr>
              <a:t>.</a:t>
            </a:r>
            <a:endParaRPr lang="bg-BG" sz="4000" b="1"/>
          </a:p>
        </p:txBody>
      </p:sp>
    </p:spTree>
    <p:extLst>
      <p:ext uri="{BB962C8B-B14F-4D97-AF65-F5344CB8AC3E}">
        <p14:creationId xmlns:p14="http://schemas.microsoft.com/office/powerpoint/2010/main" val="211805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484784"/>
            <a:ext cx="8856984" cy="5256583"/>
          </a:xfrm>
        </p:spPr>
        <p:txBody>
          <a:bodyPr vert="horz" lIns="91440" tIns="45720" rIns="91440" bIns="45720" anchor="t">
            <a:noAutofit/>
          </a:bodyPr>
          <a:lstStyle/>
          <a:p>
            <a:pPr algn="just">
              <a:lnSpc>
                <a:spcPct val="130621"/>
              </a:lnSpc>
              <a:spcBef>
                <a:spcPts val="0"/>
              </a:spcBef>
            </a:pPr>
            <a:r>
              <a:rPr lang="bg-BG" sz="2300" b="1">
                <a:latin typeface="Times New Roman" pitchFamily="18" charset="0"/>
                <a:cs typeface="Times New Roman" pitchFamily="18" charset="0"/>
              </a:rPr>
              <a:t>Въвеждане на масиви за </a:t>
            </a:r>
            <a:r>
              <a:rPr lang="en-US" sz="2300" b="1">
                <a:latin typeface="Times New Roman" pitchFamily="18" charset="0"/>
                <a:cs typeface="Times New Roman" pitchFamily="18" charset="0"/>
              </a:rPr>
              <a:t>ARM</a:t>
            </a:r>
            <a:r>
              <a:rPr lang="bg-BG" sz="2300" b="1">
                <a:latin typeface="Times New Roman" pitchFamily="18" charset="0"/>
                <a:cs typeface="Times New Roman" pitchFamily="18" charset="0"/>
              </a:rPr>
              <a:t> процесор.</a:t>
            </a:r>
            <a:endParaRPr lang="en-US"/>
          </a:p>
          <a:p>
            <a:pPr algn="just">
              <a:lnSpc>
                <a:spcPct val="130621"/>
              </a:lnSpc>
              <a:spcBef>
                <a:spcPts val="0"/>
              </a:spcBef>
            </a:pPr>
            <a:r>
              <a:rPr lang="bg-BG" sz="2300">
                <a:latin typeface="Times New Roman" pitchFamily="18" charset="0"/>
                <a:cs typeface="Times New Roman" pitchFamily="18" charset="0"/>
              </a:rPr>
              <a:t>Масив с формат </a:t>
            </a:r>
            <a:r>
              <a:rPr lang="en-US" sz="2300" err="1">
                <a:latin typeface="Times New Roman" pitchFamily="18" charset="0"/>
                <a:cs typeface="Times New Roman" pitchFamily="18" charset="0"/>
              </a:rPr>
              <a:t>hword</a:t>
            </a:r>
            <a:r>
              <a:rPr lang="en-US" sz="2300">
                <a:latin typeface="Times New Roman" pitchFamily="18" charset="0"/>
                <a:cs typeface="Times New Roman" pitchFamily="18" charset="0"/>
              </a:rPr>
              <a:t> </a:t>
            </a:r>
            <a:r>
              <a:rPr lang="ru-RU" sz="2300">
                <a:latin typeface="Times New Roman" pitchFamily="18" charset="0"/>
                <a:cs typeface="Times New Roman" pitchFamily="18" charset="0"/>
              </a:rPr>
              <a:t>B , съдържащ следните начални стойности 111 112 113 114 115</a:t>
            </a:r>
            <a:r>
              <a:rPr lang="en-US" sz="2300">
                <a:latin typeface="Times New Roman" pitchFamily="18" charset="0"/>
                <a:cs typeface="Times New Roman" pitchFamily="18" charset="0"/>
              </a:rPr>
              <a:t>, B[0] = 111, B[1] = 112, B[2] = 113, B[3] = 114, B[4] = 115 </a:t>
            </a:r>
            <a:r>
              <a:rPr lang="ru-RU" sz="2300">
                <a:latin typeface="Times New Roman" pitchFamily="18" charset="0"/>
                <a:cs typeface="Times New Roman" pitchFamily="18" charset="0"/>
              </a:rPr>
              <a:t>се </a:t>
            </a:r>
            <a:r>
              <a:rPr lang="ru-RU" sz="2300" err="1">
                <a:latin typeface="Times New Roman" pitchFamily="18" charset="0"/>
                <a:cs typeface="Times New Roman" pitchFamily="18" charset="0"/>
              </a:rPr>
              <a:t>дефинира</a:t>
            </a:r>
            <a:r>
              <a:rPr lang="ru-RU" sz="2300">
                <a:latin typeface="Times New Roman" pitchFamily="18" charset="0"/>
                <a:cs typeface="Times New Roman" pitchFamily="18" charset="0"/>
              </a:rPr>
              <a:t>:</a:t>
            </a:r>
          </a:p>
          <a:p>
            <a:pPr algn="just">
              <a:lnSpc>
                <a:spcPct val="130621"/>
              </a:lnSpc>
              <a:spcBef>
                <a:spcPts val="0"/>
              </a:spcBef>
            </a:pPr>
            <a:r>
              <a:rPr lang="ru-RU" sz="2300">
                <a:latin typeface="Times New Roman" pitchFamily="18" charset="0"/>
                <a:cs typeface="Times New Roman" pitchFamily="18" charset="0"/>
              </a:rPr>
              <a:t>      B: .</a:t>
            </a:r>
            <a:r>
              <a:rPr lang="en-US" sz="2300" err="1">
                <a:latin typeface="Times New Roman" pitchFamily="18" charset="0"/>
                <a:cs typeface="Times New Roman" pitchFamily="18" charset="0"/>
              </a:rPr>
              <a:t>hword</a:t>
            </a:r>
            <a:r>
              <a:rPr lang="ru-RU" sz="2300">
                <a:latin typeface="Times New Roman" pitchFamily="18" charset="0"/>
                <a:cs typeface="Times New Roman" pitchFamily="18" charset="0"/>
              </a:rPr>
              <a:t>  111, 112, 113, 114, 115; масив </a:t>
            </a:r>
            <a:r>
              <a:rPr lang="bg-BG" sz="2300">
                <a:latin typeface="Times New Roman" pitchFamily="18" charset="0"/>
                <a:cs typeface="Times New Roman" pitchFamily="18" charset="0"/>
              </a:rPr>
              <a:t>с формат </a:t>
            </a:r>
            <a:r>
              <a:rPr lang="en-US" sz="2300" err="1">
                <a:latin typeface="Times New Roman" pitchFamily="18" charset="0"/>
                <a:cs typeface="Times New Roman" pitchFamily="18" charset="0"/>
              </a:rPr>
              <a:t>hword</a:t>
            </a:r>
            <a:r>
              <a:rPr lang="en-US" sz="2300">
                <a:latin typeface="Times New Roman" pitchFamily="18" charset="0"/>
                <a:cs typeface="Times New Roman" pitchFamily="18" charset="0"/>
              </a:rPr>
              <a:t> </a:t>
            </a:r>
            <a:r>
              <a:rPr lang="ru-RU" sz="2300">
                <a:latin typeface="Times New Roman" pitchFamily="18" charset="0"/>
                <a:cs typeface="Times New Roman" pitchFamily="18" charset="0"/>
              </a:rPr>
              <a:t>B   </a:t>
            </a:r>
          </a:p>
          <a:p>
            <a:pPr algn="just">
              <a:lnSpc>
                <a:spcPct val="130621"/>
              </a:lnSpc>
              <a:spcBef>
                <a:spcPts val="0"/>
              </a:spcBef>
            </a:pPr>
            <a:r>
              <a:rPr lang="ru-RU" sz="2300" err="1">
                <a:latin typeface="Times New Roman" pitchFamily="18" charset="0"/>
                <a:cs typeface="Times New Roman" pitchFamily="18" charset="0"/>
              </a:rPr>
              <a:t>Списъкът</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със</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стойности</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ще</a:t>
            </a:r>
            <a:r>
              <a:rPr lang="ru-RU" sz="2300">
                <a:latin typeface="Times New Roman" pitchFamily="18" charset="0"/>
                <a:cs typeface="Times New Roman" pitchFamily="18" charset="0"/>
              </a:rPr>
              <a:t> се </a:t>
            </a:r>
            <a:r>
              <a:rPr lang="ru-RU" sz="2300" err="1">
                <a:latin typeface="Times New Roman" pitchFamily="18" charset="0"/>
                <a:cs typeface="Times New Roman" pitchFamily="18" charset="0"/>
              </a:rPr>
              <a:t>съхранява</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последователно</a:t>
            </a:r>
            <a:r>
              <a:rPr lang="ru-RU" sz="2300">
                <a:latin typeface="Times New Roman" pitchFamily="18" charset="0"/>
                <a:cs typeface="Times New Roman" pitchFamily="18" charset="0"/>
              </a:rPr>
              <a:t> в </a:t>
            </a:r>
            <a:r>
              <a:rPr lang="ru-RU" sz="2300" err="1">
                <a:latin typeface="Times New Roman" pitchFamily="18" charset="0"/>
                <a:cs typeface="Times New Roman" pitchFamily="18" charset="0"/>
              </a:rPr>
              <a:t>паметта</a:t>
            </a:r>
            <a:r>
              <a:rPr lang="ru-RU" sz="2300">
                <a:latin typeface="Times New Roman" pitchFamily="18" charset="0"/>
                <a:cs typeface="Times New Roman" pitchFamily="18" charset="0"/>
              </a:rPr>
              <a:t> - и всяка </a:t>
            </a:r>
            <a:r>
              <a:rPr lang="ru-RU" sz="2300" err="1">
                <a:latin typeface="Times New Roman" pitchFamily="18" charset="0"/>
                <a:cs typeface="Times New Roman" pitchFamily="18" charset="0"/>
              </a:rPr>
              <a:t>стойност</a:t>
            </a:r>
            <a:r>
              <a:rPr lang="ru-RU" sz="2300">
                <a:latin typeface="Times New Roman" pitchFamily="18" charset="0"/>
                <a:cs typeface="Times New Roman" pitchFamily="18" charset="0"/>
              </a:rPr>
              <a:t> се </a:t>
            </a:r>
            <a:r>
              <a:rPr lang="ru-RU" sz="2300" err="1">
                <a:latin typeface="Times New Roman" pitchFamily="18" charset="0"/>
                <a:cs typeface="Times New Roman" pitchFamily="18" charset="0"/>
              </a:rPr>
              <a:t>съхранява</a:t>
            </a:r>
            <a:r>
              <a:rPr lang="ru-RU" sz="2300">
                <a:latin typeface="Times New Roman" pitchFamily="18" charset="0"/>
                <a:cs typeface="Times New Roman" pitchFamily="18" charset="0"/>
              </a:rPr>
              <a:t> в 2 байта </a:t>
            </a:r>
            <a:r>
              <a:rPr lang="ru-RU" sz="2300" err="1">
                <a:latin typeface="Times New Roman" pitchFamily="18" charset="0"/>
                <a:cs typeface="Times New Roman" pitchFamily="18" charset="0"/>
              </a:rPr>
              <a:t>памет</a:t>
            </a:r>
            <a:r>
              <a:rPr lang="ru-RU" sz="2300">
                <a:latin typeface="Times New Roman" pitchFamily="18" charset="0"/>
                <a:cs typeface="Times New Roman" pitchFamily="18" charset="0"/>
              </a:rPr>
              <a:t>.</a:t>
            </a:r>
          </a:p>
          <a:p>
            <a:pPr algn="just">
              <a:lnSpc>
                <a:spcPct val="130621"/>
              </a:lnSpc>
              <a:spcBef>
                <a:spcPts val="0"/>
              </a:spcBef>
            </a:pPr>
            <a:r>
              <a:rPr lang="ru-RU" sz="2300" err="1">
                <a:latin typeface="Times New Roman" pitchFamily="18" charset="0"/>
                <a:cs typeface="Times New Roman" pitchFamily="18" charset="0"/>
              </a:rPr>
              <a:t>Етикетът</a:t>
            </a:r>
            <a:r>
              <a:rPr lang="ru-RU" sz="2300">
                <a:latin typeface="Times New Roman" pitchFamily="18" charset="0"/>
                <a:cs typeface="Times New Roman" pitchFamily="18" charset="0"/>
              </a:rPr>
              <a:t> B </a:t>
            </a:r>
            <a:r>
              <a:rPr lang="ru-RU" sz="2300" err="1">
                <a:latin typeface="Times New Roman" pitchFamily="18" charset="0"/>
                <a:cs typeface="Times New Roman" pitchFamily="18" charset="0"/>
              </a:rPr>
              <a:t>ще</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бъде</a:t>
            </a:r>
            <a:r>
              <a:rPr lang="ru-RU" sz="2300">
                <a:latin typeface="Times New Roman" pitchFamily="18" charset="0"/>
                <a:cs typeface="Times New Roman" pitchFamily="18" charset="0"/>
              </a:rPr>
              <a:t> приравнен </a:t>
            </a:r>
            <a:r>
              <a:rPr lang="ru-RU" sz="2300" err="1">
                <a:latin typeface="Times New Roman" pitchFamily="18" charset="0"/>
                <a:cs typeface="Times New Roman" pitchFamily="18" charset="0"/>
              </a:rPr>
              <a:t>към</a:t>
            </a:r>
            <a:r>
              <a:rPr lang="ru-RU" sz="2300">
                <a:latin typeface="Times New Roman" pitchFamily="18" charset="0"/>
                <a:cs typeface="Times New Roman" pitchFamily="18" charset="0"/>
              </a:rPr>
              <a:t> адреса на </a:t>
            </a:r>
            <a:r>
              <a:rPr lang="ru-RU" sz="2300" err="1">
                <a:latin typeface="Times New Roman" pitchFamily="18" charset="0"/>
                <a:cs typeface="Times New Roman" pitchFamily="18" charset="0"/>
              </a:rPr>
              <a:t>паметта</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първия</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елемент</a:t>
            </a:r>
            <a:r>
              <a:rPr lang="ru-RU" sz="2300">
                <a:latin typeface="Times New Roman" pitchFamily="18" charset="0"/>
                <a:cs typeface="Times New Roman" pitchFamily="18" charset="0"/>
              </a:rPr>
              <a:t> от </a:t>
            </a:r>
            <a:r>
              <a:rPr lang="ru-RU" sz="2300" err="1">
                <a:latin typeface="Times New Roman" pitchFamily="18" charset="0"/>
                <a:cs typeface="Times New Roman" pitchFamily="18" charset="0"/>
              </a:rPr>
              <a:t>масива</a:t>
            </a:r>
            <a:r>
              <a:rPr lang="ru-RU" sz="2300">
                <a:latin typeface="Times New Roman" pitchFamily="18" charset="0"/>
                <a:cs typeface="Times New Roman" pitchFamily="18" charset="0"/>
              </a:rPr>
              <a:t> B</a:t>
            </a:r>
            <a:endParaRPr lang="bg-BG" sz="2300">
              <a:latin typeface="Times New Roman" pitchFamily="18" charset="0"/>
              <a:cs typeface="Times New Roman" pitchFamily="18" charset="0"/>
            </a:endParaRPr>
          </a:p>
          <a:p>
            <a:pPr algn="just">
              <a:lnSpc>
                <a:spcPct val="130621"/>
              </a:lnSpc>
              <a:spcBef>
                <a:spcPts val="0"/>
              </a:spcBef>
            </a:pPr>
            <a:endParaRPr lang="bg-BG" sz="2300" b="1">
              <a:latin typeface="Times New Roman" pitchFamily="18" charset="0"/>
              <a:cs typeface="Times New Roman" pitchFamily="18" charset="0"/>
            </a:endParaRPr>
          </a:p>
        </p:txBody>
      </p:sp>
      <p:sp>
        <p:nvSpPr>
          <p:cNvPr id="4" name="Title 1"/>
          <p:cNvSpPr>
            <a:spLocks noGrp="1"/>
          </p:cNvSpPr>
          <p:nvPr>
            <p:ph type="title"/>
          </p:nvPr>
        </p:nvSpPr>
        <p:spPr>
          <a:xfrm>
            <a:off x="493204" y="255061"/>
            <a:ext cx="8229600" cy="854968"/>
          </a:xfrm>
        </p:spPr>
        <p:txBody>
          <a:bodyPr>
            <a:normAutofit fontScale="90000"/>
          </a:bodyPr>
          <a:lstStyle/>
          <a:p>
            <a:r>
              <a:rPr lang="en-US" sz="3700" b="1">
                <a:latin typeface="Times New Roman" pitchFamily="18" charset="0"/>
                <a:cs typeface="Times New Roman" pitchFamily="18" charset="0"/>
              </a:rPr>
              <a:t> </a:t>
            </a:r>
            <a:r>
              <a:rPr lang="ru-RU" sz="3700" b="1" err="1">
                <a:latin typeface="Times New Roman" pitchFamily="18" charset="0"/>
                <a:cs typeface="Times New Roman" pitchFamily="18" charset="0"/>
              </a:rPr>
              <a:t>Масиви</a:t>
            </a:r>
            <a:r>
              <a:rPr lang="ru-RU" sz="3700" b="1">
                <a:latin typeface="Times New Roman" pitchFamily="18" charset="0"/>
                <a:cs typeface="Times New Roman" pitchFamily="18" charset="0"/>
              </a:rPr>
              <a:t> и </a:t>
            </a:r>
            <a:r>
              <a:rPr lang="ru-RU" sz="3700" b="1" err="1">
                <a:latin typeface="Times New Roman" pitchFamily="18" charset="0"/>
                <a:cs typeface="Times New Roman" pitchFamily="18" charset="0"/>
              </a:rPr>
              <a:t>структури</a:t>
            </a:r>
            <a:r>
              <a:rPr lang="ru-RU" sz="3700" b="1">
                <a:latin typeface="Times New Roman" pitchFamily="18" charset="0"/>
                <a:cs typeface="Times New Roman" pitchFamily="18" charset="0"/>
              </a:rPr>
              <a:t> в </a:t>
            </a:r>
            <a:r>
              <a:rPr lang="ru-RU" sz="3700" b="1" err="1">
                <a:latin typeface="Times New Roman" pitchFamily="18" charset="0"/>
                <a:cs typeface="Times New Roman" pitchFamily="18" charset="0"/>
              </a:rPr>
              <a:t>Асемблера</a:t>
            </a:r>
            <a:r>
              <a:rPr lang="ru-RU" sz="5400">
                <a:latin typeface="Times New Roman" pitchFamily="18" charset="0"/>
                <a:cs typeface="Times New Roman" pitchFamily="18" charset="0"/>
              </a:rPr>
              <a:t>.</a:t>
            </a:r>
            <a:endParaRPr lang="bg-BG" sz="4000" b="1"/>
          </a:p>
        </p:txBody>
      </p:sp>
    </p:spTree>
    <p:extLst>
      <p:ext uri="{BB962C8B-B14F-4D97-AF65-F5344CB8AC3E}">
        <p14:creationId xmlns:p14="http://schemas.microsoft.com/office/powerpoint/2010/main" val="2360438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484784"/>
            <a:ext cx="8856984" cy="5256583"/>
          </a:xfrm>
        </p:spPr>
        <p:txBody>
          <a:bodyPr vert="horz" lIns="91440" tIns="45720" rIns="91440" bIns="45720" anchor="t">
            <a:noAutofit/>
          </a:bodyPr>
          <a:lstStyle/>
          <a:p>
            <a:pPr algn="just">
              <a:lnSpc>
                <a:spcPct val="130621"/>
              </a:lnSpc>
              <a:spcBef>
                <a:spcPts val="0"/>
              </a:spcBef>
            </a:pPr>
            <a:r>
              <a:rPr lang="bg-BG" sz="2300" b="1">
                <a:latin typeface="Times New Roman" pitchFamily="18" charset="0"/>
                <a:cs typeface="Times New Roman" pitchFamily="18" charset="0"/>
              </a:rPr>
              <a:t>Въвеждане на масиви за </a:t>
            </a:r>
            <a:r>
              <a:rPr lang="en-US" sz="2300" b="1">
                <a:latin typeface="Times New Roman" pitchFamily="18" charset="0"/>
                <a:cs typeface="Times New Roman" pitchFamily="18" charset="0"/>
              </a:rPr>
              <a:t>ARM</a:t>
            </a:r>
            <a:r>
              <a:rPr lang="bg-BG" sz="2300" b="1">
                <a:latin typeface="Times New Roman" pitchFamily="18" charset="0"/>
                <a:cs typeface="Times New Roman" pitchFamily="18" charset="0"/>
              </a:rPr>
              <a:t> процесор.</a:t>
            </a:r>
            <a:endParaRPr lang="en-US"/>
          </a:p>
          <a:p>
            <a:pPr algn="just">
              <a:lnSpc>
                <a:spcPct val="130621"/>
              </a:lnSpc>
              <a:spcBef>
                <a:spcPts val="0"/>
              </a:spcBef>
            </a:pPr>
            <a:r>
              <a:rPr lang="bg-BG" sz="2300">
                <a:latin typeface="Times New Roman" pitchFamily="18" charset="0"/>
                <a:cs typeface="Times New Roman" pitchFamily="18" charset="0"/>
              </a:rPr>
              <a:t>М</a:t>
            </a:r>
            <a:r>
              <a:rPr lang="ru-RU" sz="2300" err="1">
                <a:latin typeface="Times New Roman" pitchFamily="18" charset="0"/>
                <a:cs typeface="Times New Roman" pitchFamily="18" charset="0"/>
              </a:rPr>
              <a:t>асив</a:t>
            </a:r>
            <a:r>
              <a:rPr lang="ru-RU" sz="2300">
                <a:latin typeface="Times New Roman" pitchFamily="18" charset="0"/>
                <a:cs typeface="Times New Roman" pitchFamily="18" charset="0"/>
              </a:rPr>
              <a:t> с формат </a:t>
            </a:r>
            <a:r>
              <a:rPr lang="en-US" sz="2300">
                <a:latin typeface="Times New Roman" pitchFamily="18" charset="0"/>
                <a:cs typeface="Times New Roman" pitchFamily="18" charset="0"/>
              </a:rPr>
              <a:t>.word</a:t>
            </a:r>
            <a:r>
              <a:rPr lang="ru-RU" sz="2300">
                <a:latin typeface="Times New Roman" pitchFamily="18" charset="0"/>
                <a:cs typeface="Times New Roman" pitchFamily="18" charset="0"/>
              </a:rPr>
              <a:t> C , </a:t>
            </a:r>
            <a:r>
              <a:rPr lang="ru-RU" sz="2300" err="1">
                <a:latin typeface="Times New Roman" pitchFamily="18" charset="0"/>
                <a:cs typeface="Times New Roman" pitchFamily="18" charset="0"/>
              </a:rPr>
              <a:t>съдържащ</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следните</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начални</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стойности</a:t>
            </a:r>
            <a:r>
              <a:rPr lang="ru-RU" sz="2300">
                <a:latin typeface="Times New Roman" pitchFamily="18" charset="0"/>
                <a:cs typeface="Times New Roman" pitchFamily="18" charset="0"/>
              </a:rPr>
              <a:t> :</a:t>
            </a:r>
          </a:p>
          <a:p>
            <a:pPr algn="just">
              <a:lnSpc>
                <a:spcPct val="130621"/>
              </a:lnSpc>
              <a:spcBef>
                <a:spcPts val="0"/>
              </a:spcBef>
            </a:pPr>
            <a:r>
              <a:rPr lang="ru-RU" sz="2300">
                <a:latin typeface="Times New Roman" pitchFamily="18" charset="0"/>
                <a:cs typeface="Times New Roman" pitchFamily="18" charset="0"/>
              </a:rPr>
              <a:t>    1111, 1112, 1113, 1114, 1115</a:t>
            </a:r>
            <a:r>
              <a:rPr lang="en-US" sz="2300">
                <a:latin typeface="Times New Roman" pitchFamily="18" charset="0"/>
                <a:cs typeface="Times New Roman" pitchFamily="18" charset="0"/>
              </a:rPr>
              <a:t> - </a:t>
            </a:r>
            <a:r>
              <a:rPr lang="ru-RU" sz="2300">
                <a:latin typeface="Times New Roman" pitchFamily="18" charset="0"/>
                <a:cs typeface="Times New Roman" pitchFamily="18" charset="0"/>
              </a:rPr>
              <a:t> C[0] = 1111, C[1] = 1112, C[2] = 1113, C[3] = 1114, C[4] = 1115</a:t>
            </a:r>
            <a:r>
              <a:rPr lang="en-US" sz="2300">
                <a:latin typeface="Times New Roman" pitchFamily="18" charset="0"/>
                <a:cs typeface="Times New Roman" pitchFamily="18" charset="0"/>
              </a:rPr>
              <a:t> </a:t>
            </a:r>
            <a:r>
              <a:rPr lang="bg-BG" sz="2300">
                <a:latin typeface="Times New Roman" pitchFamily="18" charset="0"/>
                <a:cs typeface="Times New Roman" pitchFamily="18" charset="0"/>
              </a:rPr>
              <a:t>се декларира</a:t>
            </a:r>
            <a:r>
              <a:rPr lang="ru-RU" sz="2300">
                <a:latin typeface="Times New Roman" pitchFamily="18" charset="0"/>
                <a:cs typeface="Times New Roman" pitchFamily="18" charset="0"/>
              </a:rPr>
              <a:t>:</a:t>
            </a:r>
          </a:p>
          <a:p>
            <a:pPr algn="just">
              <a:lnSpc>
                <a:spcPct val="130621"/>
              </a:lnSpc>
              <a:spcBef>
                <a:spcPts val="0"/>
              </a:spcBef>
            </a:pPr>
            <a:r>
              <a:rPr lang="ru-RU" sz="2300">
                <a:latin typeface="Times New Roman" pitchFamily="18" charset="0"/>
                <a:cs typeface="Times New Roman" pitchFamily="18" charset="0"/>
              </a:rPr>
              <a:t>   C: .</a:t>
            </a:r>
            <a:r>
              <a:rPr lang="en-US" sz="2300">
                <a:latin typeface="Times New Roman" pitchFamily="18" charset="0"/>
                <a:cs typeface="Times New Roman" pitchFamily="18" charset="0"/>
              </a:rPr>
              <a:t>word</a:t>
            </a:r>
            <a:r>
              <a:rPr lang="ru-RU" sz="2300">
                <a:latin typeface="Times New Roman" pitchFamily="18" charset="0"/>
                <a:cs typeface="Times New Roman" pitchFamily="18" charset="0"/>
              </a:rPr>
              <a:t>    1111, 1112, 1113, 1114, 1115 ;</a:t>
            </a:r>
            <a:r>
              <a:rPr lang="bg-BG" sz="2300">
                <a:latin typeface="Times New Roman" pitchFamily="18" charset="0"/>
                <a:cs typeface="Times New Roman" pitchFamily="18" charset="0"/>
              </a:rPr>
              <a:t>масив с формат </a:t>
            </a:r>
            <a:r>
              <a:rPr lang="en-US" sz="2300">
                <a:latin typeface="Times New Roman" pitchFamily="18" charset="0"/>
                <a:cs typeface="Times New Roman" pitchFamily="18" charset="0"/>
              </a:rPr>
              <a:t>.word</a:t>
            </a:r>
            <a:r>
              <a:rPr lang="ru-RU" sz="2300">
                <a:latin typeface="Times New Roman" pitchFamily="18" charset="0"/>
                <a:cs typeface="Times New Roman" pitchFamily="18" charset="0"/>
              </a:rPr>
              <a:t> C   </a:t>
            </a:r>
          </a:p>
          <a:p>
            <a:pPr algn="just">
              <a:lnSpc>
                <a:spcPct val="130621"/>
              </a:lnSpc>
              <a:spcBef>
                <a:spcPts val="0"/>
              </a:spcBef>
            </a:pPr>
            <a:r>
              <a:rPr lang="ru-RU" sz="2300" err="1">
                <a:latin typeface="Times New Roman" pitchFamily="18" charset="0"/>
                <a:cs typeface="Times New Roman" pitchFamily="18" charset="0"/>
              </a:rPr>
              <a:t>Списъкът</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със</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стойности</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ще</a:t>
            </a:r>
            <a:r>
              <a:rPr lang="ru-RU" sz="2300">
                <a:latin typeface="Times New Roman" pitchFamily="18" charset="0"/>
                <a:cs typeface="Times New Roman" pitchFamily="18" charset="0"/>
              </a:rPr>
              <a:t> се </a:t>
            </a:r>
            <a:r>
              <a:rPr lang="ru-RU" sz="2300" err="1">
                <a:latin typeface="Times New Roman" pitchFamily="18" charset="0"/>
                <a:cs typeface="Times New Roman" pitchFamily="18" charset="0"/>
              </a:rPr>
              <a:t>съхранява</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последователно</a:t>
            </a:r>
            <a:r>
              <a:rPr lang="ru-RU" sz="2300">
                <a:latin typeface="Times New Roman" pitchFamily="18" charset="0"/>
                <a:cs typeface="Times New Roman" pitchFamily="18" charset="0"/>
              </a:rPr>
              <a:t> в </a:t>
            </a:r>
            <a:r>
              <a:rPr lang="ru-RU" sz="2300" err="1">
                <a:latin typeface="Times New Roman" pitchFamily="18" charset="0"/>
                <a:cs typeface="Times New Roman" pitchFamily="18" charset="0"/>
              </a:rPr>
              <a:t>паметта</a:t>
            </a:r>
            <a:r>
              <a:rPr lang="ru-RU" sz="2300">
                <a:latin typeface="Times New Roman" pitchFamily="18" charset="0"/>
                <a:cs typeface="Times New Roman" pitchFamily="18" charset="0"/>
              </a:rPr>
              <a:t> - и всяка </a:t>
            </a:r>
            <a:r>
              <a:rPr lang="ru-RU" sz="2300" err="1">
                <a:latin typeface="Times New Roman" pitchFamily="18" charset="0"/>
                <a:cs typeface="Times New Roman" pitchFamily="18" charset="0"/>
              </a:rPr>
              <a:t>стойност</a:t>
            </a:r>
            <a:r>
              <a:rPr lang="ru-RU" sz="2300">
                <a:latin typeface="Times New Roman" pitchFamily="18" charset="0"/>
                <a:cs typeface="Times New Roman" pitchFamily="18" charset="0"/>
              </a:rPr>
              <a:t> се </a:t>
            </a:r>
            <a:r>
              <a:rPr lang="ru-RU" sz="2300" err="1">
                <a:latin typeface="Times New Roman" pitchFamily="18" charset="0"/>
                <a:cs typeface="Times New Roman" pitchFamily="18" charset="0"/>
              </a:rPr>
              <a:t>съхранява</a:t>
            </a:r>
            <a:r>
              <a:rPr lang="ru-RU" sz="2300">
                <a:latin typeface="Times New Roman" pitchFamily="18" charset="0"/>
                <a:cs typeface="Times New Roman" pitchFamily="18" charset="0"/>
              </a:rPr>
              <a:t> в 4 байта </a:t>
            </a:r>
            <a:r>
              <a:rPr lang="ru-RU" sz="2300" err="1">
                <a:latin typeface="Times New Roman" pitchFamily="18" charset="0"/>
                <a:cs typeface="Times New Roman" pitchFamily="18" charset="0"/>
              </a:rPr>
              <a:t>памет</a:t>
            </a:r>
            <a:r>
              <a:rPr lang="ru-RU" sz="2300">
                <a:latin typeface="Times New Roman" pitchFamily="18" charset="0"/>
                <a:cs typeface="Times New Roman" pitchFamily="18" charset="0"/>
              </a:rPr>
              <a:t>.</a:t>
            </a:r>
          </a:p>
          <a:p>
            <a:pPr algn="just">
              <a:lnSpc>
                <a:spcPct val="130621"/>
              </a:lnSpc>
              <a:spcBef>
                <a:spcPts val="0"/>
              </a:spcBef>
            </a:pPr>
            <a:r>
              <a:rPr lang="ru-RU" sz="2300" err="1">
                <a:latin typeface="Times New Roman" pitchFamily="18" charset="0"/>
                <a:cs typeface="Times New Roman" pitchFamily="18" charset="0"/>
              </a:rPr>
              <a:t>Етикетът</a:t>
            </a:r>
            <a:r>
              <a:rPr lang="ru-RU" sz="2300">
                <a:latin typeface="Times New Roman" pitchFamily="18" charset="0"/>
                <a:cs typeface="Times New Roman" pitchFamily="18" charset="0"/>
              </a:rPr>
              <a:t> C </a:t>
            </a:r>
            <a:r>
              <a:rPr lang="ru-RU" sz="2300" err="1">
                <a:latin typeface="Times New Roman" pitchFamily="18" charset="0"/>
                <a:cs typeface="Times New Roman" pitchFamily="18" charset="0"/>
              </a:rPr>
              <a:t>ще</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бъде</a:t>
            </a:r>
            <a:r>
              <a:rPr lang="ru-RU" sz="2300">
                <a:latin typeface="Times New Roman" pitchFamily="18" charset="0"/>
                <a:cs typeface="Times New Roman" pitchFamily="18" charset="0"/>
              </a:rPr>
              <a:t> приравнен </a:t>
            </a:r>
            <a:r>
              <a:rPr lang="ru-RU" sz="2300" err="1">
                <a:latin typeface="Times New Roman" pitchFamily="18" charset="0"/>
                <a:cs typeface="Times New Roman" pitchFamily="18" charset="0"/>
              </a:rPr>
              <a:t>към</a:t>
            </a:r>
            <a:r>
              <a:rPr lang="ru-RU" sz="2300">
                <a:latin typeface="Times New Roman" pitchFamily="18" charset="0"/>
                <a:cs typeface="Times New Roman" pitchFamily="18" charset="0"/>
              </a:rPr>
              <a:t> адреса на </a:t>
            </a:r>
            <a:r>
              <a:rPr lang="ru-RU" sz="2300" err="1">
                <a:latin typeface="Times New Roman" pitchFamily="18" charset="0"/>
                <a:cs typeface="Times New Roman" pitchFamily="18" charset="0"/>
              </a:rPr>
              <a:t>паметта</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първия</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елемент</a:t>
            </a:r>
            <a:r>
              <a:rPr lang="ru-RU" sz="2300">
                <a:latin typeface="Times New Roman" pitchFamily="18" charset="0"/>
                <a:cs typeface="Times New Roman" pitchFamily="18" charset="0"/>
              </a:rPr>
              <a:t> от </a:t>
            </a:r>
            <a:r>
              <a:rPr lang="ru-RU" sz="2300" err="1">
                <a:latin typeface="Times New Roman" pitchFamily="18" charset="0"/>
                <a:cs typeface="Times New Roman" pitchFamily="18" charset="0"/>
              </a:rPr>
              <a:t>масива</a:t>
            </a:r>
            <a:r>
              <a:rPr lang="ru-RU" sz="2300">
                <a:latin typeface="Times New Roman" pitchFamily="18" charset="0"/>
                <a:cs typeface="Times New Roman" pitchFamily="18" charset="0"/>
              </a:rPr>
              <a:t> C</a:t>
            </a:r>
            <a:r>
              <a:rPr lang="en-US" sz="2300">
                <a:latin typeface="Times New Roman" pitchFamily="18" charset="0"/>
                <a:cs typeface="Times New Roman" pitchFamily="18" charset="0"/>
              </a:rPr>
              <a:t>.</a:t>
            </a:r>
            <a:endParaRPr lang="ru-RU" sz="2300">
              <a:latin typeface="Times New Roman" pitchFamily="18" charset="0"/>
              <a:cs typeface="Times New Roman" pitchFamily="18" charset="0"/>
            </a:endParaRPr>
          </a:p>
          <a:p>
            <a:pPr algn="just">
              <a:lnSpc>
                <a:spcPct val="130621"/>
              </a:lnSpc>
              <a:spcBef>
                <a:spcPts val="0"/>
              </a:spcBef>
            </a:pPr>
            <a:endParaRPr lang="ru-RU" sz="2300" b="1">
              <a:latin typeface="Times New Roman" pitchFamily="18" charset="0"/>
              <a:cs typeface="Times New Roman" pitchFamily="18" charset="0"/>
            </a:endParaRPr>
          </a:p>
          <a:p>
            <a:pPr algn="just">
              <a:lnSpc>
                <a:spcPct val="130621"/>
              </a:lnSpc>
              <a:spcBef>
                <a:spcPts val="0"/>
              </a:spcBef>
            </a:pPr>
            <a:endParaRPr lang="bg-BG" sz="2300" b="1">
              <a:latin typeface="Times New Roman" pitchFamily="18" charset="0"/>
              <a:cs typeface="Times New Roman" pitchFamily="18" charset="0"/>
            </a:endParaRPr>
          </a:p>
        </p:txBody>
      </p:sp>
      <p:sp>
        <p:nvSpPr>
          <p:cNvPr id="4" name="Title 1"/>
          <p:cNvSpPr>
            <a:spLocks noGrp="1"/>
          </p:cNvSpPr>
          <p:nvPr>
            <p:ph type="title"/>
          </p:nvPr>
        </p:nvSpPr>
        <p:spPr>
          <a:xfrm>
            <a:off x="493204" y="255061"/>
            <a:ext cx="8229600" cy="854968"/>
          </a:xfrm>
        </p:spPr>
        <p:txBody>
          <a:bodyPr>
            <a:normAutofit fontScale="90000"/>
          </a:bodyPr>
          <a:lstStyle/>
          <a:p>
            <a:r>
              <a:rPr lang="en-US" sz="3700" b="1">
                <a:latin typeface="Times New Roman" pitchFamily="18" charset="0"/>
                <a:cs typeface="Times New Roman" pitchFamily="18" charset="0"/>
              </a:rPr>
              <a:t> </a:t>
            </a:r>
            <a:r>
              <a:rPr lang="ru-RU" sz="3700" b="1" err="1">
                <a:latin typeface="Times New Roman" pitchFamily="18" charset="0"/>
                <a:cs typeface="Times New Roman" pitchFamily="18" charset="0"/>
              </a:rPr>
              <a:t>Масиви</a:t>
            </a:r>
            <a:r>
              <a:rPr lang="ru-RU" sz="3700" b="1">
                <a:latin typeface="Times New Roman" pitchFamily="18" charset="0"/>
                <a:cs typeface="Times New Roman" pitchFamily="18" charset="0"/>
              </a:rPr>
              <a:t> и </a:t>
            </a:r>
            <a:r>
              <a:rPr lang="ru-RU" sz="3700" b="1" err="1">
                <a:latin typeface="Times New Roman" pitchFamily="18" charset="0"/>
                <a:cs typeface="Times New Roman" pitchFamily="18" charset="0"/>
              </a:rPr>
              <a:t>структури</a:t>
            </a:r>
            <a:r>
              <a:rPr lang="ru-RU" sz="3700" b="1">
                <a:latin typeface="Times New Roman" pitchFamily="18" charset="0"/>
                <a:cs typeface="Times New Roman" pitchFamily="18" charset="0"/>
              </a:rPr>
              <a:t> в </a:t>
            </a:r>
            <a:r>
              <a:rPr lang="ru-RU" sz="3700" b="1" err="1">
                <a:latin typeface="Times New Roman" pitchFamily="18" charset="0"/>
                <a:cs typeface="Times New Roman" pitchFamily="18" charset="0"/>
              </a:rPr>
              <a:t>Асемблера</a:t>
            </a:r>
            <a:r>
              <a:rPr lang="ru-RU" sz="5400">
                <a:latin typeface="Times New Roman" pitchFamily="18" charset="0"/>
                <a:cs typeface="Times New Roman" pitchFamily="18" charset="0"/>
              </a:rPr>
              <a:t>.</a:t>
            </a:r>
            <a:endParaRPr lang="bg-BG" sz="4000" b="1"/>
          </a:p>
        </p:txBody>
      </p:sp>
    </p:spTree>
    <p:extLst>
      <p:ext uri="{BB962C8B-B14F-4D97-AF65-F5344CB8AC3E}">
        <p14:creationId xmlns:p14="http://schemas.microsoft.com/office/powerpoint/2010/main" val="1395011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052736"/>
            <a:ext cx="8856984" cy="5688631"/>
          </a:xfrm>
        </p:spPr>
        <p:txBody>
          <a:bodyPr vert="horz" lIns="91440" tIns="45720" rIns="91440" bIns="45720" anchor="t">
            <a:noAutofit/>
          </a:bodyPr>
          <a:lstStyle/>
          <a:p>
            <a:pPr algn="just">
              <a:lnSpc>
                <a:spcPct val="130621"/>
              </a:lnSpc>
              <a:spcBef>
                <a:spcPts val="0"/>
              </a:spcBef>
            </a:pPr>
            <a:r>
              <a:rPr lang="bg-BG" sz="2300" b="1">
                <a:latin typeface="Times New Roman" pitchFamily="18" charset="0"/>
                <a:cs typeface="Times New Roman" pitchFamily="18" charset="0"/>
              </a:rPr>
              <a:t>Въвеждане на масиви за </a:t>
            </a:r>
            <a:r>
              <a:rPr lang="en-US" sz="2300" b="1">
                <a:latin typeface="Times New Roman" pitchFamily="18" charset="0"/>
                <a:cs typeface="Times New Roman" pitchFamily="18" charset="0"/>
              </a:rPr>
              <a:t>ARM</a:t>
            </a:r>
            <a:r>
              <a:rPr lang="bg-BG" sz="2300" b="1">
                <a:latin typeface="Times New Roman" pitchFamily="18" charset="0"/>
                <a:cs typeface="Times New Roman" pitchFamily="18" charset="0"/>
              </a:rPr>
              <a:t> процесор.</a:t>
            </a:r>
            <a:endParaRPr lang="en-US"/>
          </a:p>
          <a:p>
            <a:pPr algn="just">
              <a:lnSpc>
                <a:spcPct val="130621"/>
              </a:lnSpc>
              <a:spcBef>
                <a:spcPts val="0"/>
              </a:spcBef>
            </a:pPr>
            <a:r>
              <a:rPr lang="ru-RU" sz="2300">
                <a:latin typeface="Times New Roman" pitchFamily="18" charset="0"/>
                <a:cs typeface="Times New Roman" pitchFamily="18" charset="0"/>
              </a:rPr>
              <a:t>При деклариране на съхранение е важно думите и полудумите да се съхраняват на подходящо място.</a:t>
            </a:r>
          </a:p>
          <a:p>
            <a:pPr algn="just">
              <a:lnSpc>
                <a:spcPct val="130621"/>
              </a:lnSpc>
              <a:spcBef>
                <a:spcPts val="0"/>
              </a:spcBef>
            </a:pPr>
            <a:r>
              <a:rPr lang="ru-RU" sz="2300">
                <a:latin typeface="Times New Roman" pitchFamily="18" charset="0"/>
                <a:cs typeface="Times New Roman" pitchFamily="18" charset="0"/>
              </a:rPr>
              <a:t>За целта се използват директиви, които запазват толкова място, колкото е необходимо за подравняване на следващия елемент върху всяка желана граница.</a:t>
            </a:r>
          </a:p>
          <a:p>
            <a:pPr algn="just">
              <a:lnSpc>
                <a:spcPct val="125178"/>
              </a:lnSpc>
              <a:spcBef>
                <a:spcPts val="0"/>
              </a:spcBef>
            </a:pPr>
            <a:r>
              <a:rPr lang="en-US" sz="2300" b="1">
                <a:latin typeface="Times New Roman" pitchFamily="18" charset="0"/>
                <a:cs typeface="Times New Roman" pitchFamily="18" charset="0"/>
              </a:rPr>
              <a:t>.align</a:t>
            </a:r>
            <a:r>
              <a:rPr lang="bg-BG" sz="2300" b="1">
                <a:latin typeface="Times New Roman" pitchFamily="18" charset="0"/>
                <a:cs typeface="Times New Roman" pitchFamily="18" charset="0"/>
              </a:rPr>
              <a:t> </a:t>
            </a:r>
            <a:r>
              <a:rPr lang="en-US" sz="2400">
                <a:latin typeface="Times New Roman" panose="02020603050405020304" pitchFamily="18" charset="0"/>
                <a:cs typeface="Times New Roman" panose="02020603050405020304" pitchFamily="18" charset="0"/>
              </a:rPr>
              <a:t>⟦constant expression⟧</a:t>
            </a:r>
            <a:endParaRPr lang="bg-BG" sz="2400">
              <a:latin typeface="Times New Roman" panose="02020603050405020304" pitchFamily="18" charset="0"/>
              <a:cs typeface="Times New Roman" panose="02020603050405020304" pitchFamily="18" charset="0"/>
            </a:endParaRPr>
          </a:p>
          <a:p>
            <a:pPr algn="just">
              <a:lnSpc>
                <a:spcPct val="125178"/>
              </a:lnSpc>
              <a:spcBef>
                <a:spcPts val="0"/>
              </a:spcBef>
            </a:pPr>
            <a:r>
              <a:rPr lang="bg-BG" sz="2400">
                <a:latin typeface="Times New Roman" panose="02020603050405020304" pitchFamily="18" charset="0"/>
                <a:cs typeface="Times New Roman" panose="02020603050405020304" pitchFamily="18" charset="0"/>
              </a:rPr>
              <a:t>Константата </a:t>
            </a:r>
            <a:r>
              <a:rPr lang="ru-RU" sz="2400">
                <a:latin typeface="Times New Roman" pitchFamily="18" charset="0"/>
                <a:cs typeface="Times New Roman" pitchFamily="18" charset="0"/>
              </a:rPr>
              <a:t>може да бъде произволна степен на 2 от 2 до </a:t>
            </a:r>
            <a:r>
              <a:rPr lang="en-US" sz="2400">
                <a:latin typeface="Times New Roman" panose="02020603050405020304" pitchFamily="18" charset="0"/>
                <a:cs typeface="Times New Roman" panose="02020603050405020304" pitchFamily="18" charset="0"/>
              </a:rPr>
              <a:t>2</a:t>
            </a:r>
            <a:r>
              <a:rPr lang="en-US" sz="2400" baseline="30000">
                <a:latin typeface="Times New Roman" panose="02020603050405020304" pitchFamily="18" charset="0"/>
                <a:cs typeface="Times New Roman" panose="02020603050405020304" pitchFamily="18" charset="0"/>
              </a:rPr>
              <a:t>31</a:t>
            </a:r>
            <a:r>
              <a:rPr lang="ru-RU" sz="2400">
                <a:latin typeface="Times New Roman" pitchFamily="18" charset="0"/>
                <a:cs typeface="Times New Roman" pitchFamily="18" charset="0"/>
              </a:rPr>
              <a:t>. Текущото местоположение е подравнено към следващата </a:t>
            </a:r>
            <a:r>
              <a:rPr lang="en-US" sz="2400">
                <a:latin typeface="Times New Roman" panose="02020603050405020304" pitchFamily="18" charset="0"/>
                <a:cs typeface="Times New Roman" panose="02020603050405020304" pitchFamily="18" charset="0"/>
              </a:rPr>
              <a:t>2</a:t>
            </a:r>
            <a:r>
              <a:rPr lang="en-US" sz="2400" baseline="30000">
                <a:latin typeface="Times New Roman" panose="02020603050405020304" pitchFamily="18" charset="0"/>
                <a:cs typeface="Times New Roman" panose="02020603050405020304" pitchFamily="18" charset="0"/>
              </a:rPr>
              <a:t>n </a:t>
            </a:r>
            <a:r>
              <a:rPr lang="ru-RU" sz="2400">
                <a:latin typeface="Times New Roman" pitchFamily="18" charset="0"/>
                <a:cs typeface="Times New Roman" pitchFamily="18" charset="0"/>
              </a:rPr>
              <a:t>-байтова граница. Ако този параметър не е указан, </a:t>
            </a:r>
            <a:r>
              <a:rPr lang="en-US" sz="2400" b="1">
                <a:latin typeface="Times New Roman" pitchFamily="18" charset="0"/>
                <a:cs typeface="Times New Roman" pitchFamily="18" charset="0"/>
              </a:rPr>
              <a:t>.align</a:t>
            </a:r>
            <a:r>
              <a:rPr lang="ru-RU" sz="2400" b="1">
                <a:latin typeface="Times New Roman" pitchFamily="18" charset="0"/>
                <a:cs typeface="Times New Roman" pitchFamily="18" charset="0"/>
              </a:rPr>
              <a:t> </a:t>
            </a:r>
            <a:r>
              <a:rPr lang="ru-RU" sz="2400">
                <a:latin typeface="Times New Roman" pitchFamily="18" charset="0"/>
                <a:cs typeface="Times New Roman" pitchFamily="18" charset="0"/>
              </a:rPr>
              <a:t>задава местоположението на инструкцията до границата на следващата дума</a:t>
            </a:r>
            <a:r>
              <a:rPr lang="ru-RU" sz="2400" b="1">
                <a:latin typeface="Times New Roman" pitchFamily="18" charset="0"/>
                <a:cs typeface="Times New Roman" pitchFamily="18" charset="0"/>
              </a:rPr>
              <a:t>.</a:t>
            </a:r>
            <a:endParaRPr lang="ru-RU" sz="2300" b="1">
              <a:latin typeface="Times New Roman" pitchFamily="18" charset="0"/>
              <a:cs typeface="Times New Roman" pitchFamily="18" charset="0"/>
            </a:endParaRPr>
          </a:p>
          <a:p>
            <a:pPr algn="just">
              <a:lnSpc>
                <a:spcPct val="130621"/>
              </a:lnSpc>
              <a:spcBef>
                <a:spcPts val="0"/>
              </a:spcBef>
            </a:pPr>
            <a:endParaRPr lang="bg-BG" sz="2300" b="1">
              <a:latin typeface="Times New Roman" pitchFamily="18" charset="0"/>
              <a:cs typeface="Times New Roman" pitchFamily="18" charset="0"/>
            </a:endParaRPr>
          </a:p>
        </p:txBody>
      </p:sp>
      <p:sp>
        <p:nvSpPr>
          <p:cNvPr id="4" name="Title 1"/>
          <p:cNvSpPr>
            <a:spLocks noGrp="1"/>
          </p:cNvSpPr>
          <p:nvPr>
            <p:ph type="title"/>
          </p:nvPr>
        </p:nvSpPr>
        <p:spPr>
          <a:xfrm>
            <a:off x="493204" y="255061"/>
            <a:ext cx="8229600" cy="854968"/>
          </a:xfrm>
        </p:spPr>
        <p:txBody>
          <a:bodyPr>
            <a:normAutofit fontScale="90000"/>
          </a:bodyPr>
          <a:lstStyle/>
          <a:p>
            <a:r>
              <a:rPr lang="en-US" sz="3700" b="1">
                <a:latin typeface="Times New Roman" pitchFamily="18" charset="0"/>
                <a:cs typeface="Times New Roman" pitchFamily="18" charset="0"/>
              </a:rPr>
              <a:t> </a:t>
            </a:r>
            <a:r>
              <a:rPr lang="ru-RU" sz="3700" b="1" err="1">
                <a:latin typeface="Times New Roman" pitchFamily="18" charset="0"/>
                <a:cs typeface="Times New Roman" pitchFamily="18" charset="0"/>
              </a:rPr>
              <a:t>Масиви</a:t>
            </a:r>
            <a:r>
              <a:rPr lang="ru-RU" sz="3700" b="1">
                <a:latin typeface="Times New Roman" pitchFamily="18" charset="0"/>
                <a:cs typeface="Times New Roman" pitchFamily="18" charset="0"/>
              </a:rPr>
              <a:t> и </a:t>
            </a:r>
            <a:r>
              <a:rPr lang="ru-RU" sz="3700" b="1" err="1">
                <a:latin typeface="Times New Roman" pitchFamily="18" charset="0"/>
                <a:cs typeface="Times New Roman" pitchFamily="18" charset="0"/>
              </a:rPr>
              <a:t>структури</a:t>
            </a:r>
            <a:r>
              <a:rPr lang="ru-RU" sz="3700" b="1">
                <a:latin typeface="Times New Roman" pitchFamily="18" charset="0"/>
                <a:cs typeface="Times New Roman" pitchFamily="18" charset="0"/>
              </a:rPr>
              <a:t> в </a:t>
            </a:r>
            <a:r>
              <a:rPr lang="ru-RU" sz="3700" b="1" err="1">
                <a:latin typeface="Times New Roman" pitchFamily="18" charset="0"/>
                <a:cs typeface="Times New Roman" pitchFamily="18" charset="0"/>
              </a:rPr>
              <a:t>Асемблера</a:t>
            </a:r>
            <a:r>
              <a:rPr lang="ru-RU" sz="5400">
                <a:latin typeface="Times New Roman" pitchFamily="18" charset="0"/>
                <a:cs typeface="Times New Roman" pitchFamily="18" charset="0"/>
              </a:rPr>
              <a:t>.</a:t>
            </a:r>
            <a:endParaRPr lang="bg-BG" sz="4000" b="1"/>
          </a:p>
        </p:txBody>
      </p:sp>
    </p:spTree>
    <p:extLst>
      <p:ext uri="{BB962C8B-B14F-4D97-AF65-F5344CB8AC3E}">
        <p14:creationId xmlns:p14="http://schemas.microsoft.com/office/powerpoint/2010/main" val="28496172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052736"/>
            <a:ext cx="8856984" cy="5688631"/>
          </a:xfrm>
        </p:spPr>
        <p:txBody>
          <a:bodyPr>
            <a:noAutofit/>
          </a:bodyPr>
          <a:lstStyle/>
          <a:p>
            <a:pPr algn="just">
              <a:spcBef>
                <a:spcPts val="0"/>
              </a:spcBef>
            </a:pPr>
            <a:r>
              <a:rPr lang="bg-BG" sz="2000" b="1">
                <a:latin typeface="Times New Roman" pitchFamily="18" charset="0"/>
                <a:cs typeface="Times New Roman" pitchFamily="18" charset="0"/>
              </a:rPr>
              <a:t>Въвеждане на масиви за </a:t>
            </a:r>
            <a:r>
              <a:rPr lang="en-US" sz="2000" b="1">
                <a:latin typeface="Times New Roman" pitchFamily="18" charset="0"/>
                <a:cs typeface="Times New Roman" pitchFamily="18" charset="0"/>
              </a:rPr>
              <a:t>ARM</a:t>
            </a:r>
            <a:r>
              <a:rPr lang="bg-BG" sz="2000" b="1">
                <a:latin typeface="Times New Roman" pitchFamily="18" charset="0"/>
                <a:cs typeface="Times New Roman" pitchFamily="18" charset="0"/>
              </a:rPr>
              <a:t> процесор.</a:t>
            </a:r>
            <a:endParaRPr lang="en-US" sz="2000" b="1">
              <a:latin typeface="Times New Roman" pitchFamily="18" charset="0"/>
              <a:cs typeface="Times New Roman" pitchFamily="18" charset="0"/>
            </a:endParaRPr>
          </a:p>
          <a:p>
            <a:pPr algn="just">
              <a:spcBef>
                <a:spcPts val="0"/>
              </a:spcBef>
            </a:pPr>
            <a:r>
              <a:rPr lang="bg-BG" sz="2000">
                <a:latin typeface="Times New Roman" pitchFamily="18" charset="0"/>
                <a:cs typeface="Times New Roman" pitchFamily="18" charset="0"/>
              </a:rPr>
              <a:t>Директивата </a:t>
            </a:r>
            <a:r>
              <a:rPr lang="ru-RU" sz="2000" b="1">
                <a:latin typeface="Times New Roman" pitchFamily="18" charset="0"/>
                <a:cs typeface="Times New Roman" pitchFamily="18" charset="0"/>
              </a:rPr>
              <a:t>.space </a:t>
            </a:r>
            <a:r>
              <a:rPr lang="ru-RU" sz="2000">
                <a:latin typeface="Times New Roman" pitchFamily="18" charset="0"/>
                <a:cs typeface="Times New Roman" pitchFamily="18" charset="0"/>
              </a:rPr>
              <a:t>означава, че увеличаваме брояча на местоположението с броя байтове, определени от стойността на израза. Асемблерът запълва пространството с нули.</a:t>
            </a:r>
            <a:endParaRPr lang="bg-BG" sz="2000">
              <a:latin typeface="Times New Roman" pitchFamily="18" charset="0"/>
              <a:cs typeface="Times New Roman" pitchFamily="18" charset="0"/>
            </a:endParaRPr>
          </a:p>
          <a:p>
            <a:pPr algn="just">
              <a:spcBef>
                <a:spcPts val="0"/>
              </a:spcBef>
            </a:pPr>
            <a:r>
              <a:rPr lang="en-US" sz="2000">
                <a:latin typeface="Times New Roman" pitchFamily="18" charset="0"/>
                <a:cs typeface="Times New Roman" pitchFamily="18" charset="0"/>
              </a:rPr>
              <a:t>{label} </a:t>
            </a:r>
            <a:r>
              <a:rPr lang="en-US" sz="2000" b="1">
                <a:latin typeface="Times New Roman" pitchFamily="18" charset="0"/>
                <a:cs typeface="Times New Roman" pitchFamily="18" charset="0"/>
              </a:rPr>
              <a:t>.space </a:t>
            </a:r>
            <a:r>
              <a:rPr lang="en-US" sz="2000">
                <a:latin typeface="Times New Roman" pitchFamily="18" charset="0"/>
                <a:cs typeface="Times New Roman" pitchFamily="18" charset="0"/>
              </a:rPr>
              <a:t>expr </a:t>
            </a:r>
            <a:endParaRPr lang="bg-BG" sz="2000">
              <a:latin typeface="Times New Roman" pitchFamily="18" charset="0"/>
              <a:cs typeface="Times New Roman" pitchFamily="18" charset="0"/>
            </a:endParaRPr>
          </a:p>
          <a:p>
            <a:pPr algn="just">
              <a:spcBef>
                <a:spcPts val="0"/>
              </a:spcBef>
            </a:pPr>
            <a:r>
              <a:rPr lang="bg-BG" sz="2000">
                <a:latin typeface="Times New Roman" pitchFamily="18" charset="0"/>
                <a:cs typeface="Times New Roman" pitchFamily="18" charset="0"/>
              </a:rPr>
              <a:t>Директивата </a:t>
            </a:r>
            <a:r>
              <a:rPr lang="en-US" sz="2000">
                <a:latin typeface="Times New Roman" pitchFamily="18" charset="0"/>
                <a:cs typeface="Times New Roman" pitchFamily="18" charset="0"/>
              </a:rPr>
              <a:t>.fill </a:t>
            </a:r>
            <a:r>
              <a:rPr lang="ru-RU" sz="2000">
                <a:latin typeface="Times New Roman" pitchFamily="18" charset="0"/>
                <a:cs typeface="Times New Roman" pitchFamily="18" charset="0"/>
              </a:rPr>
              <a:t>резервира блок памет за запълване с дадената стойност.</a:t>
            </a:r>
            <a:endParaRPr lang="en-US" sz="2000">
              <a:latin typeface="Times New Roman" pitchFamily="18" charset="0"/>
              <a:cs typeface="Times New Roman" pitchFamily="18" charset="0"/>
            </a:endParaRPr>
          </a:p>
          <a:p>
            <a:pPr algn="just">
              <a:spcBef>
                <a:spcPts val="0"/>
              </a:spcBef>
            </a:pPr>
            <a:r>
              <a:rPr lang="en-US" sz="2000">
                <a:latin typeface="Times New Roman" pitchFamily="18" charset="0"/>
                <a:cs typeface="Times New Roman" pitchFamily="18" charset="0"/>
              </a:rPr>
              <a:t>{label} </a:t>
            </a:r>
            <a:r>
              <a:rPr lang="en-US" sz="2000" b="1">
                <a:latin typeface="Times New Roman" pitchFamily="18" charset="0"/>
                <a:cs typeface="Times New Roman" pitchFamily="18" charset="0"/>
              </a:rPr>
              <a:t>.fill  </a:t>
            </a:r>
            <a:r>
              <a:rPr lang="en-US" sz="2000">
                <a:latin typeface="Times New Roman" pitchFamily="18" charset="0"/>
                <a:cs typeface="Times New Roman" pitchFamily="18" charset="0"/>
              </a:rPr>
              <a:t>expr{,value{,</a:t>
            </a:r>
            <a:r>
              <a:rPr lang="en-US" sz="2000" err="1">
                <a:latin typeface="Times New Roman" pitchFamily="18" charset="0"/>
                <a:cs typeface="Times New Roman" pitchFamily="18" charset="0"/>
              </a:rPr>
              <a:t>valuesize</a:t>
            </a:r>
            <a:r>
              <a:rPr lang="en-US" sz="2000">
                <a:latin typeface="Times New Roman" pitchFamily="18" charset="0"/>
                <a:cs typeface="Times New Roman" pitchFamily="18" charset="0"/>
              </a:rPr>
              <a:t>}}</a:t>
            </a:r>
            <a:endParaRPr lang="bg-BG" sz="2000">
              <a:latin typeface="Times New Roman" pitchFamily="18" charset="0"/>
              <a:cs typeface="Times New Roman" pitchFamily="18" charset="0"/>
            </a:endParaRPr>
          </a:p>
          <a:p>
            <a:pPr algn="just">
              <a:spcBef>
                <a:spcPts val="0"/>
              </a:spcBef>
            </a:pPr>
            <a:r>
              <a:rPr lang="en-US" sz="2000">
                <a:latin typeface="Times New Roman" pitchFamily="18" charset="0"/>
                <a:cs typeface="Times New Roman" pitchFamily="18" charset="0"/>
              </a:rPr>
              <a:t>label - </a:t>
            </a:r>
            <a:r>
              <a:rPr lang="bg-BG" sz="2000">
                <a:latin typeface="Times New Roman" pitchFamily="18" charset="0"/>
                <a:cs typeface="Times New Roman" pitchFamily="18" charset="0"/>
              </a:rPr>
              <a:t>е незадължителен етикет.</a:t>
            </a:r>
            <a:endParaRPr lang="en-US" sz="2000">
              <a:latin typeface="Times New Roman" pitchFamily="18" charset="0"/>
              <a:cs typeface="Times New Roman" pitchFamily="18" charset="0"/>
            </a:endParaRPr>
          </a:p>
          <a:p>
            <a:pPr algn="just">
              <a:spcBef>
                <a:spcPts val="0"/>
              </a:spcBef>
            </a:pPr>
            <a:r>
              <a:rPr lang="en-US" sz="2000">
                <a:latin typeface="Times New Roman" pitchFamily="18" charset="0"/>
                <a:cs typeface="Times New Roman" pitchFamily="18" charset="0"/>
              </a:rPr>
              <a:t>expr – </a:t>
            </a:r>
            <a:r>
              <a:rPr lang="bg-BG" sz="2000">
                <a:latin typeface="Times New Roman" pitchFamily="18" charset="0"/>
                <a:cs typeface="Times New Roman" pitchFamily="18" charset="0"/>
              </a:rPr>
              <a:t>указва </a:t>
            </a:r>
            <a:r>
              <a:rPr lang="ru-RU" sz="2000">
                <a:latin typeface="Times New Roman" pitchFamily="18" charset="0"/>
                <a:cs typeface="Times New Roman" pitchFamily="18" charset="0"/>
              </a:rPr>
              <a:t>броя байтове за попълване или нула.</a:t>
            </a:r>
            <a:endParaRPr lang="en-US" sz="2000">
              <a:latin typeface="Times New Roman" pitchFamily="18" charset="0"/>
              <a:cs typeface="Times New Roman" pitchFamily="18" charset="0"/>
            </a:endParaRPr>
          </a:p>
          <a:p>
            <a:pPr algn="just">
              <a:spcBef>
                <a:spcPts val="0"/>
              </a:spcBef>
            </a:pPr>
            <a:r>
              <a:rPr lang="en-US" sz="2000">
                <a:latin typeface="Times New Roman" pitchFamily="18" charset="0"/>
                <a:cs typeface="Times New Roman" pitchFamily="18" charset="0"/>
              </a:rPr>
              <a:t>value</a:t>
            </a:r>
            <a:r>
              <a:rPr lang="bg-BG" sz="2000">
                <a:latin typeface="Times New Roman" pitchFamily="18" charset="0"/>
                <a:cs typeface="Times New Roman" pitchFamily="18" charset="0"/>
              </a:rPr>
              <a:t> </a:t>
            </a:r>
            <a:r>
              <a:rPr lang="en-US" sz="2000">
                <a:latin typeface="Times New Roman" pitchFamily="18" charset="0"/>
                <a:cs typeface="Times New Roman" pitchFamily="18" charset="0"/>
              </a:rPr>
              <a:t> - </a:t>
            </a:r>
            <a:r>
              <a:rPr lang="bg-BG" sz="2000">
                <a:latin typeface="Times New Roman" pitchFamily="18" charset="0"/>
                <a:cs typeface="Times New Roman" pitchFamily="18" charset="0"/>
              </a:rPr>
              <a:t>показва </a:t>
            </a:r>
            <a:r>
              <a:rPr lang="ru-RU" sz="2000">
                <a:latin typeface="Times New Roman" pitchFamily="18" charset="0"/>
                <a:cs typeface="Times New Roman" pitchFamily="18" charset="0"/>
              </a:rPr>
              <a:t>стойността, с която да запълни запазените байтове. Стойността не е задължителна и ако е пропусната, е 0. </a:t>
            </a:r>
            <a:endParaRPr lang="en-US" sz="2000">
              <a:latin typeface="Times New Roman" pitchFamily="18" charset="0"/>
              <a:cs typeface="Times New Roman" pitchFamily="18" charset="0"/>
            </a:endParaRPr>
          </a:p>
          <a:p>
            <a:pPr algn="just">
              <a:spcBef>
                <a:spcPts val="0"/>
              </a:spcBef>
            </a:pPr>
            <a:r>
              <a:rPr lang="en-US" sz="2000" err="1">
                <a:latin typeface="Times New Roman" pitchFamily="18" charset="0"/>
                <a:cs typeface="Times New Roman" pitchFamily="18" charset="0"/>
              </a:rPr>
              <a:t>valuesize</a:t>
            </a:r>
            <a:r>
              <a:rPr lang="bg-BG" sz="2000">
                <a:latin typeface="Times New Roman" pitchFamily="18" charset="0"/>
                <a:cs typeface="Times New Roman" pitchFamily="18" charset="0"/>
              </a:rPr>
              <a:t> </a:t>
            </a:r>
            <a:r>
              <a:rPr lang="en-US" sz="2000">
                <a:latin typeface="Times New Roman" pitchFamily="18" charset="0"/>
                <a:cs typeface="Times New Roman" pitchFamily="18" charset="0"/>
              </a:rPr>
              <a:t> - </a:t>
            </a:r>
            <a:r>
              <a:rPr lang="ru-RU" sz="2000">
                <a:latin typeface="Times New Roman" pitchFamily="18" charset="0"/>
                <a:cs typeface="Times New Roman" pitchFamily="18" charset="0"/>
              </a:rPr>
              <a:t>е размерът, в байтове, на стойността. Може да бъде всяко от 1, 2 или 4. valuesize не е задължително и ако е пропуснато, е 1.</a:t>
            </a:r>
            <a:endParaRPr lang="en-US" sz="2000">
              <a:latin typeface="Times New Roman" pitchFamily="18" charset="0"/>
              <a:cs typeface="Times New Roman" pitchFamily="18" charset="0"/>
            </a:endParaRPr>
          </a:p>
          <a:p>
            <a:pPr algn="just">
              <a:spcBef>
                <a:spcPts val="0"/>
              </a:spcBef>
            </a:pPr>
            <a:r>
              <a:rPr lang="bg-BG" sz="2000">
                <a:latin typeface="Times New Roman" pitchFamily="18" charset="0"/>
                <a:cs typeface="Times New Roman" pitchFamily="18" charset="0"/>
              </a:rPr>
              <a:t>Д</a:t>
            </a:r>
            <a:r>
              <a:rPr lang="ru-RU" sz="2000">
                <a:latin typeface="Times New Roman" pitchFamily="18" charset="0"/>
                <a:cs typeface="Times New Roman" pitchFamily="18" charset="0"/>
              </a:rPr>
              <a:t>ирективата </a:t>
            </a:r>
            <a:r>
              <a:rPr lang="en-US" sz="2000">
                <a:latin typeface="Times New Roman" pitchFamily="18" charset="0"/>
                <a:cs typeface="Times New Roman" pitchFamily="18" charset="0"/>
              </a:rPr>
              <a:t>.align</a:t>
            </a:r>
            <a:r>
              <a:rPr lang="ru-RU" sz="2000">
                <a:latin typeface="Times New Roman" pitchFamily="18" charset="0"/>
                <a:cs typeface="Times New Roman" pitchFamily="18" charset="0"/>
              </a:rPr>
              <a:t>, за подравн</a:t>
            </a:r>
            <a:r>
              <a:rPr lang="bg-BG" sz="2000">
                <a:latin typeface="Times New Roman" pitchFamily="18" charset="0"/>
                <a:cs typeface="Times New Roman" pitchFamily="18" charset="0"/>
              </a:rPr>
              <a:t>яване на </a:t>
            </a:r>
            <a:r>
              <a:rPr lang="ru-RU" sz="2000">
                <a:latin typeface="Times New Roman" pitchFamily="18" charset="0"/>
                <a:cs typeface="Times New Roman" pitchFamily="18" charset="0"/>
              </a:rPr>
              <a:t> всеки код се използва след директива </a:t>
            </a:r>
            <a:r>
              <a:rPr lang="en-US" sz="2000">
                <a:latin typeface="Times New Roman" pitchFamily="18" charset="0"/>
                <a:cs typeface="Times New Roman" pitchFamily="18" charset="0"/>
              </a:rPr>
              <a:t>.space</a:t>
            </a:r>
            <a:r>
              <a:rPr lang="ru-RU" sz="2000">
                <a:latin typeface="Times New Roman" pitchFamily="18" charset="0"/>
                <a:cs typeface="Times New Roman" pitchFamily="18" charset="0"/>
              </a:rPr>
              <a:t> или </a:t>
            </a:r>
            <a:r>
              <a:rPr lang="en-US" sz="2000">
                <a:latin typeface="Times New Roman" pitchFamily="18" charset="0"/>
                <a:cs typeface="Times New Roman" pitchFamily="18" charset="0"/>
              </a:rPr>
              <a:t>.fill</a:t>
            </a:r>
            <a:r>
              <a:rPr lang="ru-RU" sz="2000">
                <a:latin typeface="Times New Roman" pitchFamily="18" charset="0"/>
                <a:cs typeface="Times New Roman" pitchFamily="18" charset="0"/>
              </a:rPr>
              <a:t>.</a:t>
            </a:r>
            <a:endParaRPr lang="en-US" sz="2000">
              <a:latin typeface="Times New Roman" pitchFamily="18" charset="0"/>
              <a:cs typeface="Times New Roman" pitchFamily="18" charset="0"/>
            </a:endParaRPr>
          </a:p>
          <a:p>
            <a:pPr algn="just">
              <a:spcBef>
                <a:spcPts val="0"/>
              </a:spcBef>
            </a:pPr>
            <a:r>
              <a:rPr lang="en-US" sz="2000">
                <a:latin typeface="Times New Roman" pitchFamily="18" charset="0"/>
                <a:cs typeface="Times New Roman" pitchFamily="18" charset="0"/>
              </a:rPr>
              <a:t>data1   .space   255       ; defines 255 bytes of zeroed store</a:t>
            </a:r>
          </a:p>
          <a:p>
            <a:pPr algn="just">
              <a:spcBef>
                <a:spcPts val="0"/>
              </a:spcBef>
            </a:pPr>
            <a:r>
              <a:rPr lang="en-US" sz="2000">
                <a:latin typeface="Times New Roman" pitchFamily="18" charset="0"/>
                <a:cs typeface="Times New Roman" pitchFamily="18" charset="0"/>
              </a:rPr>
              <a:t>data2   .fill    50,0xAB,1 ; defines 50 bytes containing 0xAB</a:t>
            </a:r>
            <a:endParaRPr lang="bg-BG" sz="2000">
              <a:latin typeface="Times New Roman" pitchFamily="18" charset="0"/>
              <a:cs typeface="Times New Roman" pitchFamily="18" charset="0"/>
            </a:endParaRPr>
          </a:p>
        </p:txBody>
      </p:sp>
      <p:sp>
        <p:nvSpPr>
          <p:cNvPr id="4" name="Title 1"/>
          <p:cNvSpPr>
            <a:spLocks noGrp="1"/>
          </p:cNvSpPr>
          <p:nvPr>
            <p:ph type="title"/>
          </p:nvPr>
        </p:nvSpPr>
        <p:spPr>
          <a:xfrm>
            <a:off x="493204" y="255061"/>
            <a:ext cx="8229600" cy="854968"/>
          </a:xfrm>
        </p:spPr>
        <p:txBody>
          <a:bodyPr>
            <a:normAutofit fontScale="90000"/>
          </a:bodyPr>
          <a:lstStyle/>
          <a:p>
            <a:r>
              <a:rPr lang="en-US" sz="3700" b="1">
                <a:latin typeface="Times New Roman" pitchFamily="18" charset="0"/>
                <a:cs typeface="Times New Roman" pitchFamily="18" charset="0"/>
              </a:rPr>
              <a:t> </a:t>
            </a:r>
            <a:r>
              <a:rPr lang="ru-RU" sz="3700" b="1" err="1">
                <a:latin typeface="Times New Roman" pitchFamily="18" charset="0"/>
                <a:cs typeface="Times New Roman" pitchFamily="18" charset="0"/>
              </a:rPr>
              <a:t>Масиви</a:t>
            </a:r>
            <a:r>
              <a:rPr lang="ru-RU" sz="3700" b="1">
                <a:latin typeface="Times New Roman" pitchFamily="18" charset="0"/>
                <a:cs typeface="Times New Roman" pitchFamily="18" charset="0"/>
              </a:rPr>
              <a:t> и </a:t>
            </a:r>
            <a:r>
              <a:rPr lang="ru-RU" sz="3700" b="1" err="1">
                <a:latin typeface="Times New Roman" pitchFamily="18" charset="0"/>
                <a:cs typeface="Times New Roman" pitchFamily="18" charset="0"/>
              </a:rPr>
              <a:t>структури</a:t>
            </a:r>
            <a:r>
              <a:rPr lang="ru-RU" sz="3700" b="1">
                <a:latin typeface="Times New Roman" pitchFamily="18" charset="0"/>
                <a:cs typeface="Times New Roman" pitchFamily="18" charset="0"/>
              </a:rPr>
              <a:t> в </a:t>
            </a:r>
            <a:r>
              <a:rPr lang="ru-RU" sz="3700" b="1" err="1">
                <a:latin typeface="Times New Roman" pitchFamily="18" charset="0"/>
                <a:cs typeface="Times New Roman" pitchFamily="18" charset="0"/>
              </a:rPr>
              <a:t>Асемблера</a:t>
            </a:r>
            <a:r>
              <a:rPr lang="ru-RU" sz="5400">
                <a:latin typeface="Times New Roman" pitchFamily="18" charset="0"/>
                <a:cs typeface="Times New Roman" pitchFamily="18" charset="0"/>
              </a:rPr>
              <a:t>.</a:t>
            </a:r>
            <a:endParaRPr lang="bg-BG" sz="4000" b="1"/>
          </a:p>
        </p:txBody>
      </p:sp>
    </p:spTree>
    <p:extLst>
      <p:ext uri="{BB962C8B-B14F-4D97-AF65-F5344CB8AC3E}">
        <p14:creationId xmlns:p14="http://schemas.microsoft.com/office/powerpoint/2010/main" val="2922690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110030"/>
            <a:ext cx="8856984" cy="5631338"/>
          </a:xfrm>
        </p:spPr>
        <p:txBody>
          <a:bodyPr vert="horz" lIns="91440" tIns="45720" rIns="91440" bIns="45720" anchor="t">
            <a:noAutofit/>
          </a:bodyPr>
          <a:lstStyle/>
          <a:p>
            <a:pPr algn="just">
              <a:lnSpc>
                <a:spcPct val="130621"/>
              </a:lnSpc>
              <a:spcBef>
                <a:spcPts val="0"/>
              </a:spcBef>
            </a:pPr>
            <a:r>
              <a:rPr lang="bg-BG" sz="2300" b="1">
                <a:latin typeface="Times New Roman" pitchFamily="18" charset="0"/>
                <a:cs typeface="Times New Roman" pitchFamily="18" charset="0"/>
              </a:rPr>
              <a:t>Индексиране.</a:t>
            </a:r>
            <a:endParaRPr lang="en-US"/>
          </a:p>
          <a:p>
            <a:pPr algn="just">
              <a:lnSpc>
                <a:spcPct val="130621"/>
              </a:lnSpc>
              <a:spcBef>
                <a:spcPts val="0"/>
              </a:spcBef>
            </a:pPr>
            <a:endParaRPr lang="ru-RU" sz="2300" b="1">
              <a:latin typeface="Times New Roman" pitchFamily="18" charset="0"/>
              <a:cs typeface="Times New Roman" pitchFamily="18" charset="0"/>
            </a:endParaRPr>
          </a:p>
          <a:p>
            <a:pPr algn="just">
              <a:lnSpc>
                <a:spcPct val="130621"/>
              </a:lnSpc>
              <a:spcBef>
                <a:spcPts val="0"/>
              </a:spcBef>
            </a:pPr>
            <a:endParaRPr lang="ru-RU" sz="2300" b="1">
              <a:latin typeface="Times New Roman" pitchFamily="18" charset="0"/>
              <a:cs typeface="Times New Roman" pitchFamily="18" charset="0"/>
            </a:endParaRPr>
          </a:p>
          <a:p>
            <a:pPr algn="just">
              <a:lnSpc>
                <a:spcPct val="130621"/>
              </a:lnSpc>
              <a:spcBef>
                <a:spcPts val="0"/>
              </a:spcBef>
            </a:pPr>
            <a:endParaRPr lang="ru-RU" sz="2300" b="1">
              <a:latin typeface="Times New Roman" pitchFamily="18" charset="0"/>
              <a:cs typeface="Times New Roman" pitchFamily="18" charset="0"/>
            </a:endParaRPr>
          </a:p>
          <a:p>
            <a:pPr algn="just">
              <a:lnSpc>
                <a:spcPct val="130621"/>
              </a:lnSpc>
              <a:spcBef>
                <a:spcPts val="0"/>
              </a:spcBef>
            </a:pPr>
            <a:endParaRPr lang="ru-RU" sz="2300" b="1">
              <a:latin typeface="Times New Roman" pitchFamily="18" charset="0"/>
              <a:cs typeface="Times New Roman" pitchFamily="18" charset="0"/>
            </a:endParaRPr>
          </a:p>
          <a:p>
            <a:pPr algn="just">
              <a:lnSpc>
                <a:spcPct val="130621"/>
              </a:lnSpc>
              <a:spcBef>
                <a:spcPts val="0"/>
              </a:spcBef>
            </a:pPr>
            <a:endParaRPr lang="ru-RU" sz="2300" b="1">
              <a:latin typeface="Times New Roman" pitchFamily="18" charset="0"/>
              <a:cs typeface="Times New Roman" pitchFamily="18" charset="0"/>
            </a:endParaRPr>
          </a:p>
          <a:p>
            <a:pPr algn="just">
              <a:lnSpc>
                <a:spcPct val="130621"/>
              </a:lnSpc>
              <a:spcBef>
                <a:spcPts val="0"/>
              </a:spcBef>
            </a:pPr>
            <a:endParaRPr lang="ru-RU" sz="2300" b="1">
              <a:latin typeface="Times New Roman" pitchFamily="18" charset="0"/>
              <a:cs typeface="Times New Roman" pitchFamily="18" charset="0"/>
            </a:endParaRPr>
          </a:p>
          <a:p>
            <a:pPr algn="just">
              <a:lnSpc>
                <a:spcPct val="130621"/>
              </a:lnSpc>
              <a:spcBef>
                <a:spcPts val="0"/>
              </a:spcBef>
            </a:pPr>
            <a:r>
              <a:rPr lang="ru-RU" sz="2300" err="1">
                <a:latin typeface="Times New Roman" panose="02020603050405020304" pitchFamily="18" charset="0"/>
                <a:cs typeface="Times New Roman" panose="02020603050405020304" pitchFamily="18" charset="0"/>
              </a:rPr>
              <a:t>Елементите</a:t>
            </a:r>
            <a:r>
              <a:rPr lang="ru-RU" sz="2300">
                <a:latin typeface="Times New Roman" panose="02020603050405020304" pitchFamily="18" charset="0"/>
                <a:cs typeface="Times New Roman" panose="02020603050405020304" pitchFamily="18" charset="0"/>
              </a:rPr>
              <a:t> на </a:t>
            </a:r>
            <a:r>
              <a:rPr lang="ru-RU" sz="2300" err="1">
                <a:latin typeface="Times New Roman" panose="02020603050405020304" pitchFamily="18" charset="0"/>
                <a:cs typeface="Times New Roman" panose="02020603050405020304" pitchFamily="18" charset="0"/>
              </a:rPr>
              <a:t>масивите</a:t>
            </a:r>
            <a:r>
              <a:rPr lang="ru-RU" sz="2300">
                <a:latin typeface="Times New Roman" panose="02020603050405020304" pitchFamily="18" charset="0"/>
                <a:cs typeface="Times New Roman" panose="02020603050405020304" pitchFamily="18" charset="0"/>
              </a:rPr>
              <a:t>  са </a:t>
            </a:r>
            <a:r>
              <a:rPr lang="ru-RU" sz="2300" err="1">
                <a:latin typeface="Times New Roman" panose="02020603050405020304" pitchFamily="18" charset="0"/>
                <a:cs typeface="Times New Roman" panose="02020603050405020304" pitchFamily="18" charset="0"/>
              </a:rPr>
              <a:t>номерирани</a:t>
            </a:r>
            <a:r>
              <a:rPr lang="ru-RU" sz="2300">
                <a:latin typeface="Times New Roman" panose="02020603050405020304" pitchFamily="18" charset="0"/>
                <a:cs typeface="Times New Roman" panose="02020603050405020304" pitchFamily="18" charset="0"/>
              </a:rPr>
              <a:t> с </a:t>
            </a:r>
            <a:r>
              <a:rPr lang="ru-RU" sz="2300" err="1">
                <a:latin typeface="Times New Roman" panose="02020603050405020304" pitchFamily="18" charset="0"/>
                <a:cs typeface="Times New Roman" panose="02020603050405020304" pitchFamily="18" charset="0"/>
              </a:rPr>
              <a:t>числата</a:t>
            </a:r>
            <a:r>
              <a:rPr lang="ru-RU" sz="2300">
                <a:latin typeface="Times New Roman" panose="02020603050405020304" pitchFamily="18" charset="0"/>
                <a:cs typeface="Times New Roman" panose="02020603050405020304" pitchFamily="18" charset="0"/>
              </a:rPr>
              <a:t> 0, 1, 2, ... N-1. Тези номера на елементи се </a:t>
            </a:r>
            <a:r>
              <a:rPr lang="ru-RU" sz="2300" err="1">
                <a:latin typeface="Times New Roman" panose="02020603050405020304" pitchFamily="18" charset="0"/>
                <a:cs typeface="Times New Roman" panose="02020603050405020304" pitchFamily="18" charset="0"/>
              </a:rPr>
              <a:t>наричат</a:t>
            </a:r>
            <a:r>
              <a:rPr lang="ru-RU" sz="2300">
                <a:latin typeface="Times New Roman" panose="02020603050405020304" pitchFamily="18" charset="0"/>
                <a:cs typeface="Times New Roman" panose="02020603050405020304" pitchFamily="18" charset="0"/>
              </a:rPr>
              <a:t> </a:t>
            </a:r>
            <a:r>
              <a:rPr lang="ru-RU" sz="2300" b="1" err="1">
                <a:latin typeface="Times New Roman" panose="02020603050405020304" pitchFamily="18" charset="0"/>
                <a:cs typeface="Times New Roman" panose="02020603050405020304" pitchFamily="18" charset="0"/>
              </a:rPr>
              <a:t>индекси</a:t>
            </a:r>
            <a:r>
              <a:rPr lang="ru-RU" sz="2300">
                <a:latin typeface="Times New Roman" panose="02020603050405020304" pitchFamily="18" charset="0"/>
                <a:cs typeface="Times New Roman" panose="02020603050405020304" pitchFamily="18" charset="0"/>
              </a:rPr>
              <a:t>.</a:t>
            </a:r>
            <a:endParaRPr lang="ru-RU" sz="2300" b="1">
              <a:latin typeface="Times New Roman" pitchFamily="18" charset="0"/>
              <a:cs typeface="Times New Roman" pitchFamily="18" charset="0"/>
            </a:endParaRPr>
          </a:p>
          <a:p>
            <a:pPr algn="just">
              <a:lnSpc>
                <a:spcPct val="130621"/>
              </a:lnSpc>
              <a:spcBef>
                <a:spcPts val="0"/>
              </a:spcBef>
            </a:pPr>
            <a:r>
              <a:rPr lang="ru-RU" sz="2300" b="1">
                <a:latin typeface="Times New Roman" pitchFamily="18" charset="0"/>
                <a:cs typeface="Times New Roman" pitchFamily="18" charset="0"/>
              </a:rPr>
              <a:t> </a:t>
            </a:r>
            <a:r>
              <a:rPr lang="ru-RU" sz="2300">
                <a:latin typeface="Times New Roman" pitchFamily="18" charset="0"/>
                <a:cs typeface="Times New Roman" pitchFamily="18" charset="0"/>
              </a:rPr>
              <a:t>При </a:t>
            </a:r>
            <a:r>
              <a:rPr lang="ru-RU" sz="2300" err="1">
                <a:latin typeface="Times New Roman" pitchFamily="18" charset="0"/>
                <a:cs typeface="Times New Roman" pitchFamily="18" charset="0"/>
              </a:rPr>
              <a:t>програмиране</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Асемблер</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обикновено</a:t>
            </a:r>
            <a:r>
              <a:rPr lang="ru-RU" sz="2300">
                <a:latin typeface="Times New Roman" pitchFamily="18" charset="0"/>
                <a:cs typeface="Times New Roman" pitchFamily="18" charset="0"/>
              </a:rPr>
              <a:t> се приема </a:t>
            </a:r>
            <a:r>
              <a:rPr lang="ru-RU" sz="2300" err="1">
                <a:latin typeface="Times New Roman" pitchFamily="18" charset="0"/>
                <a:cs typeface="Times New Roman" pitchFamily="18" charset="0"/>
              </a:rPr>
              <a:t>масивите</a:t>
            </a:r>
            <a:r>
              <a:rPr lang="ru-RU" sz="2300">
                <a:latin typeface="Times New Roman" pitchFamily="18" charset="0"/>
                <a:cs typeface="Times New Roman" pitchFamily="18" charset="0"/>
              </a:rPr>
              <a:t> да се </a:t>
            </a:r>
            <a:r>
              <a:rPr lang="ru-RU" sz="2300" err="1">
                <a:latin typeface="Times New Roman" pitchFamily="18" charset="0"/>
                <a:cs typeface="Times New Roman" pitchFamily="18" charset="0"/>
              </a:rPr>
              <a:t>номерират</a:t>
            </a:r>
            <a:r>
              <a:rPr lang="ru-RU" sz="2300">
                <a:latin typeface="Times New Roman" pitchFamily="18" charset="0"/>
                <a:cs typeface="Times New Roman" pitchFamily="18" charset="0"/>
              </a:rPr>
              <a:t> от 0:</a:t>
            </a:r>
          </a:p>
          <a:p>
            <a:pPr algn="just">
              <a:lnSpc>
                <a:spcPct val="130621"/>
              </a:lnSpc>
              <a:spcBef>
                <a:spcPts val="0"/>
              </a:spcBef>
            </a:pPr>
            <a:r>
              <a:rPr lang="ru-RU" sz="2300">
                <a:latin typeface="Times New Roman" pitchFamily="18" charset="0"/>
                <a:cs typeface="Times New Roman" pitchFamily="18" charset="0"/>
              </a:rPr>
              <a:t>                          X  DW  30 DUP(?)             ; X[0…29] </a:t>
            </a:r>
          </a:p>
          <a:p>
            <a:pPr algn="just">
              <a:lnSpc>
                <a:spcPct val="130621"/>
              </a:lnSpc>
              <a:spcBef>
                <a:spcPts val="0"/>
              </a:spcBef>
            </a:pPr>
            <a:endParaRPr lang="bg-BG" sz="2300" b="1">
              <a:latin typeface="Times New Roman" pitchFamily="18" charset="0"/>
              <a:cs typeface="Times New Roman" pitchFamily="18" charset="0"/>
            </a:endParaRPr>
          </a:p>
        </p:txBody>
      </p:sp>
      <p:sp>
        <p:nvSpPr>
          <p:cNvPr id="4" name="Title 1"/>
          <p:cNvSpPr>
            <a:spLocks noGrp="1"/>
          </p:cNvSpPr>
          <p:nvPr>
            <p:ph type="title"/>
          </p:nvPr>
        </p:nvSpPr>
        <p:spPr>
          <a:xfrm>
            <a:off x="493204" y="255061"/>
            <a:ext cx="8229600" cy="854968"/>
          </a:xfrm>
        </p:spPr>
        <p:txBody>
          <a:bodyPr>
            <a:normAutofit fontScale="90000"/>
          </a:bodyPr>
          <a:lstStyle/>
          <a:p>
            <a:r>
              <a:rPr lang="en-US" sz="3700" b="1">
                <a:latin typeface="Times New Roman" pitchFamily="18" charset="0"/>
                <a:cs typeface="Times New Roman" pitchFamily="18" charset="0"/>
              </a:rPr>
              <a:t> </a:t>
            </a:r>
            <a:r>
              <a:rPr lang="ru-RU" sz="3700" b="1" err="1">
                <a:latin typeface="Times New Roman" pitchFamily="18" charset="0"/>
                <a:cs typeface="Times New Roman" pitchFamily="18" charset="0"/>
              </a:rPr>
              <a:t>Масиви</a:t>
            </a:r>
            <a:r>
              <a:rPr lang="ru-RU" sz="3700" b="1">
                <a:latin typeface="Times New Roman" pitchFamily="18" charset="0"/>
                <a:cs typeface="Times New Roman" pitchFamily="18" charset="0"/>
              </a:rPr>
              <a:t> и </a:t>
            </a:r>
            <a:r>
              <a:rPr lang="ru-RU" sz="3700" b="1" err="1">
                <a:latin typeface="Times New Roman" pitchFamily="18" charset="0"/>
                <a:cs typeface="Times New Roman" pitchFamily="18" charset="0"/>
              </a:rPr>
              <a:t>структури</a:t>
            </a:r>
            <a:r>
              <a:rPr lang="ru-RU" sz="3700" b="1">
                <a:latin typeface="Times New Roman" pitchFamily="18" charset="0"/>
                <a:cs typeface="Times New Roman" pitchFamily="18" charset="0"/>
              </a:rPr>
              <a:t> в </a:t>
            </a:r>
            <a:r>
              <a:rPr lang="ru-RU" sz="3700" b="1" err="1">
                <a:latin typeface="Times New Roman" pitchFamily="18" charset="0"/>
                <a:cs typeface="Times New Roman" pitchFamily="18" charset="0"/>
              </a:rPr>
              <a:t>Асемблера</a:t>
            </a:r>
            <a:r>
              <a:rPr lang="ru-RU" sz="5400">
                <a:latin typeface="Times New Roman" pitchFamily="18" charset="0"/>
                <a:cs typeface="Times New Roman" pitchFamily="18" charset="0"/>
              </a:rPr>
              <a:t>.</a:t>
            </a:r>
            <a:endParaRPr lang="bg-BG" sz="4000" b="1"/>
          </a:p>
        </p:txBody>
      </p:sp>
      <p:pic>
        <p:nvPicPr>
          <p:cNvPr id="2" name="Картина 1"/>
          <p:cNvPicPr>
            <a:picLocks noChangeAspect="1"/>
          </p:cNvPicPr>
          <p:nvPr/>
        </p:nvPicPr>
        <p:blipFill>
          <a:blip r:embed="rId2"/>
          <a:stretch>
            <a:fillRect/>
          </a:stretch>
        </p:blipFill>
        <p:spPr>
          <a:xfrm>
            <a:off x="1403648" y="1772816"/>
            <a:ext cx="6064051" cy="2304256"/>
          </a:xfrm>
          <a:prstGeom prst="rect">
            <a:avLst/>
          </a:prstGeom>
        </p:spPr>
      </p:pic>
    </p:spTree>
    <p:extLst>
      <p:ext uri="{BB962C8B-B14F-4D97-AF65-F5344CB8AC3E}">
        <p14:creationId xmlns:p14="http://schemas.microsoft.com/office/powerpoint/2010/main" val="399828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908720"/>
            <a:ext cx="8856984" cy="5949280"/>
          </a:xfrm>
        </p:spPr>
        <p:txBody>
          <a:bodyPr vert="horz" lIns="91440" tIns="45720" rIns="91440" bIns="45720" anchor="t">
            <a:noAutofit/>
          </a:bodyPr>
          <a:lstStyle/>
          <a:p>
            <a:pPr algn="just">
              <a:lnSpc>
                <a:spcPct val="130621"/>
              </a:lnSpc>
              <a:spcBef>
                <a:spcPts val="0"/>
              </a:spcBef>
            </a:pPr>
            <a:r>
              <a:rPr lang="bg-BG" sz="2300" b="1">
                <a:latin typeface="Times New Roman" pitchFamily="18" charset="0"/>
                <a:cs typeface="Times New Roman" pitchFamily="18" charset="0"/>
              </a:rPr>
              <a:t>Индексиране.</a:t>
            </a:r>
            <a:endParaRPr lang="en-US"/>
          </a:p>
          <a:p>
            <a:pPr algn="just">
              <a:lnSpc>
                <a:spcPct val="128755"/>
              </a:lnSpc>
              <a:spcBef>
                <a:spcPts val="0"/>
              </a:spcBef>
            </a:pPr>
            <a:r>
              <a:rPr lang="ru-RU" sz="2200">
                <a:latin typeface="Times New Roman" pitchFamily="18" charset="0"/>
                <a:cs typeface="Times New Roman" pitchFamily="18" charset="0"/>
              </a:rPr>
              <a:t>За </a:t>
            </a:r>
            <a:r>
              <a:rPr lang="ru-RU" sz="2200" err="1">
                <a:latin typeface="Times New Roman" pitchFamily="18" charset="0"/>
                <a:cs typeface="Times New Roman" pitchFamily="18" charset="0"/>
              </a:rPr>
              <a:t>многомерни</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масиви</a:t>
            </a:r>
            <a:r>
              <a:rPr lang="ru-RU" sz="2200">
                <a:latin typeface="Times New Roman" pitchFamily="18" charset="0"/>
                <a:cs typeface="Times New Roman" pitchFamily="18" charset="0"/>
              </a:rPr>
              <a:t> </a:t>
            </a:r>
            <a:r>
              <a:rPr lang="ru-RU" sz="2200" err="1">
                <a:latin typeface="Times New Roman" pitchFamily="18" charset="0"/>
                <a:cs typeface="Times New Roman" pitchFamily="18" charset="0"/>
              </a:rPr>
              <a:t>номерацията</a:t>
            </a:r>
            <a:r>
              <a:rPr lang="ru-RU" sz="2200">
                <a:latin typeface="Times New Roman" pitchFamily="18" charset="0"/>
                <a:cs typeface="Times New Roman" pitchFamily="18" charset="0"/>
              </a:rPr>
              <a:t> е аналогична. </a:t>
            </a:r>
          </a:p>
          <a:p>
            <a:pPr algn="just">
              <a:lnSpc>
                <a:spcPct val="128755"/>
              </a:lnSpc>
              <a:spcBef>
                <a:spcPts val="0"/>
              </a:spcBef>
            </a:pPr>
            <a:r>
              <a:rPr lang="ru-RU" sz="2200">
                <a:latin typeface="Times New Roman" pitchFamily="18" charset="0"/>
                <a:cs typeface="Times New Roman" pitchFamily="18" charset="0"/>
              </a:rPr>
              <a:t> За двумерен </a:t>
            </a:r>
            <a:r>
              <a:rPr lang="ru-RU" sz="2200" err="1">
                <a:latin typeface="Times New Roman" pitchFamily="18" charset="0"/>
                <a:cs typeface="Times New Roman" pitchFamily="18" charset="0"/>
              </a:rPr>
              <a:t>масив</a:t>
            </a:r>
            <a:r>
              <a:rPr lang="ru-RU" sz="2200">
                <a:latin typeface="Times New Roman" pitchFamily="18" charset="0"/>
                <a:cs typeface="Times New Roman" pitchFamily="18" charset="0"/>
              </a:rPr>
              <a:t> (матрица) А(N,M) – с </a:t>
            </a:r>
            <a:r>
              <a:rPr lang="ru-RU" sz="2200" err="1">
                <a:latin typeface="Times New Roman" pitchFamily="18" charset="0"/>
                <a:cs typeface="Times New Roman" pitchFamily="18" charset="0"/>
              </a:rPr>
              <a:t>брой</a:t>
            </a:r>
            <a:r>
              <a:rPr lang="ru-RU" sz="2200">
                <a:latin typeface="Times New Roman" pitchFamily="18" charset="0"/>
                <a:cs typeface="Times New Roman" pitchFamily="18" charset="0"/>
              </a:rPr>
              <a:t> на </a:t>
            </a:r>
            <a:r>
              <a:rPr lang="ru-RU" sz="2200" err="1">
                <a:latin typeface="Times New Roman" pitchFamily="18" charset="0"/>
                <a:cs typeface="Times New Roman" pitchFamily="18" charset="0"/>
              </a:rPr>
              <a:t>редовете</a:t>
            </a:r>
            <a:r>
              <a:rPr lang="ru-RU" sz="2200">
                <a:latin typeface="Times New Roman" pitchFamily="18" charset="0"/>
                <a:cs typeface="Times New Roman" pitchFamily="18" charset="0"/>
              </a:rPr>
              <a:t> N и </a:t>
            </a:r>
            <a:r>
              <a:rPr lang="ru-RU" sz="2200" err="1">
                <a:latin typeface="Times New Roman" pitchFamily="18" charset="0"/>
                <a:cs typeface="Times New Roman" pitchFamily="18" charset="0"/>
              </a:rPr>
              <a:t>брой</a:t>
            </a:r>
            <a:r>
              <a:rPr lang="ru-RU" sz="2200">
                <a:latin typeface="Times New Roman" pitchFamily="18" charset="0"/>
                <a:cs typeface="Times New Roman" pitchFamily="18" charset="0"/>
              </a:rPr>
              <a:t> на </a:t>
            </a:r>
            <a:r>
              <a:rPr lang="ru-RU" sz="2200" err="1">
                <a:latin typeface="Times New Roman" pitchFamily="18" charset="0"/>
                <a:cs typeface="Times New Roman" pitchFamily="18" charset="0"/>
              </a:rPr>
              <a:t>стълбовете</a:t>
            </a:r>
            <a:r>
              <a:rPr lang="ru-RU" sz="2200">
                <a:latin typeface="Times New Roman" pitchFamily="18" charset="0"/>
                <a:cs typeface="Times New Roman" pitchFamily="18" charset="0"/>
              </a:rPr>
              <a:t> M. </a:t>
            </a:r>
            <a:r>
              <a:rPr lang="ru-RU" sz="2200" err="1">
                <a:latin typeface="Times New Roman" pitchFamily="18" charset="0"/>
                <a:cs typeface="Times New Roman" pitchFamily="18" charset="0"/>
              </a:rPr>
              <a:t>Елементите</a:t>
            </a:r>
            <a:r>
              <a:rPr lang="ru-RU" sz="2200">
                <a:latin typeface="Times New Roman" pitchFamily="18" charset="0"/>
                <a:cs typeface="Times New Roman" pitchFamily="18" charset="0"/>
              </a:rPr>
              <a:t> на </a:t>
            </a:r>
            <a:r>
              <a:rPr lang="ru-RU" sz="2200" err="1">
                <a:latin typeface="Times New Roman" pitchFamily="18" charset="0"/>
                <a:cs typeface="Times New Roman" pitchFamily="18" charset="0"/>
              </a:rPr>
              <a:t>масива</a:t>
            </a:r>
            <a:r>
              <a:rPr lang="ru-RU" sz="2200">
                <a:latin typeface="Times New Roman" pitchFamily="18" charset="0"/>
                <a:cs typeface="Times New Roman" pitchFamily="18" charset="0"/>
              </a:rPr>
              <a:t> са с </a:t>
            </a:r>
            <a:r>
              <a:rPr lang="ru-RU" sz="2200" err="1">
                <a:latin typeface="Times New Roman" pitchFamily="18" charset="0"/>
                <a:cs typeface="Times New Roman" pitchFamily="18" charset="0"/>
              </a:rPr>
              <a:t>формàт</a:t>
            </a:r>
            <a:r>
              <a:rPr lang="ru-RU" sz="2200">
                <a:latin typeface="Times New Roman" pitchFamily="18" charset="0"/>
                <a:cs typeface="Times New Roman" pitchFamily="18" charset="0"/>
              </a:rPr>
              <a:t> дума. Нека редовете са номерирани от k1, а стълбовете – от k2: </a:t>
            </a:r>
          </a:p>
          <a:p>
            <a:pPr algn="just">
              <a:lnSpc>
                <a:spcPct val="128755"/>
              </a:lnSpc>
              <a:spcBef>
                <a:spcPts val="0"/>
              </a:spcBef>
            </a:pPr>
            <a:r>
              <a:rPr lang="ru-RU" sz="2200">
                <a:latin typeface="Times New Roman" pitchFamily="18" charset="0"/>
                <a:cs typeface="Times New Roman" pitchFamily="18" charset="0"/>
              </a:rPr>
              <a:t>A  DD  N  DUP(M  DUP(?))            ; A[k1…N+(k1-1), k2…M+(k2-1)]  Тук ще предполагаме, че елементите на матрицата са разположени в паметта по редове. При всички тези условия адресите на елементите влизат в следната функционална връзка с индексните количества i и j: </a:t>
            </a:r>
          </a:p>
          <a:p>
            <a:pPr algn="just">
              <a:lnSpc>
                <a:spcPct val="128755"/>
              </a:lnSpc>
              <a:spcBef>
                <a:spcPts val="0"/>
              </a:spcBef>
            </a:pPr>
            <a:r>
              <a:rPr lang="ru-RU" sz="2200">
                <a:latin typeface="Times New Roman" pitchFamily="18" charset="0"/>
                <a:cs typeface="Times New Roman" pitchFamily="18" charset="0"/>
              </a:rPr>
              <a:t>адрес(A[i, j]) = A + M*(type A)*(i-k1) + (type A)*(j-k2)  </a:t>
            </a:r>
          </a:p>
          <a:p>
            <a:pPr algn="just">
              <a:lnSpc>
                <a:spcPct val="128755"/>
              </a:lnSpc>
              <a:spcBef>
                <a:spcPts val="0"/>
              </a:spcBef>
            </a:pPr>
            <a:r>
              <a:rPr lang="ru-RU" sz="2200">
                <a:latin typeface="Times New Roman" pitchFamily="18" charset="0"/>
                <a:cs typeface="Times New Roman" pitchFamily="18" charset="0"/>
              </a:rPr>
              <a:t>И в този случай горната зависимост се опростява аналогично при нулева начална стойност на индексиращите количества, т.е. при k1=k2=0:       адрес(A[i, j]) = A + M*(</a:t>
            </a:r>
            <a:r>
              <a:rPr lang="ru-RU" sz="2200" err="1">
                <a:latin typeface="Times New Roman" pitchFamily="18" charset="0"/>
                <a:cs typeface="Times New Roman" pitchFamily="18" charset="0"/>
              </a:rPr>
              <a:t>type</a:t>
            </a:r>
            <a:r>
              <a:rPr lang="ru-RU" sz="2200">
                <a:latin typeface="Times New Roman" pitchFamily="18" charset="0"/>
                <a:cs typeface="Times New Roman" pitchFamily="18" charset="0"/>
              </a:rPr>
              <a:t> A)*i + (</a:t>
            </a:r>
            <a:r>
              <a:rPr lang="ru-RU" sz="2200" err="1">
                <a:latin typeface="Times New Roman" pitchFamily="18" charset="0"/>
                <a:cs typeface="Times New Roman" pitchFamily="18" charset="0"/>
              </a:rPr>
              <a:t>type</a:t>
            </a:r>
            <a:r>
              <a:rPr lang="ru-RU" sz="2200">
                <a:latin typeface="Times New Roman" pitchFamily="18" charset="0"/>
                <a:cs typeface="Times New Roman" pitchFamily="18" charset="0"/>
              </a:rPr>
              <a:t> A)*j </a:t>
            </a:r>
            <a:endParaRPr lang="bg-BG" sz="2200">
              <a:latin typeface="Times New Roman" pitchFamily="18" charset="0"/>
              <a:cs typeface="Times New Roman" pitchFamily="18" charset="0"/>
            </a:endParaRPr>
          </a:p>
        </p:txBody>
      </p:sp>
      <p:sp>
        <p:nvSpPr>
          <p:cNvPr id="4" name="Title 1"/>
          <p:cNvSpPr>
            <a:spLocks noGrp="1"/>
          </p:cNvSpPr>
          <p:nvPr>
            <p:ph type="title"/>
          </p:nvPr>
        </p:nvSpPr>
        <p:spPr>
          <a:xfrm>
            <a:off x="467544" y="116632"/>
            <a:ext cx="8229600" cy="854968"/>
          </a:xfrm>
        </p:spPr>
        <p:txBody>
          <a:bodyPr>
            <a:normAutofit fontScale="90000"/>
          </a:bodyPr>
          <a:lstStyle/>
          <a:p>
            <a:r>
              <a:rPr lang="en-US" sz="3700" b="1">
                <a:latin typeface="Times New Roman" pitchFamily="18" charset="0"/>
                <a:cs typeface="Times New Roman" pitchFamily="18" charset="0"/>
              </a:rPr>
              <a:t> </a:t>
            </a:r>
            <a:r>
              <a:rPr lang="ru-RU" sz="3700" b="1" err="1">
                <a:latin typeface="Times New Roman" pitchFamily="18" charset="0"/>
                <a:cs typeface="Times New Roman" pitchFamily="18" charset="0"/>
              </a:rPr>
              <a:t>Масиви</a:t>
            </a:r>
            <a:r>
              <a:rPr lang="ru-RU" sz="3700" b="1">
                <a:latin typeface="Times New Roman" pitchFamily="18" charset="0"/>
                <a:cs typeface="Times New Roman" pitchFamily="18" charset="0"/>
              </a:rPr>
              <a:t> и </a:t>
            </a:r>
            <a:r>
              <a:rPr lang="ru-RU" sz="3700" b="1" err="1">
                <a:latin typeface="Times New Roman" pitchFamily="18" charset="0"/>
                <a:cs typeface="Times New Roman" pitchFamily="18" charset="0"/>
              </a:rPr>
              <a:t>структури</a:t>
            </a:r>
            <a:r>
              <a:rPr lang="ru-RU" sz="3700" b="1">
                <a:latin typeface="Times New Roman" pitchFamily="18" charset="0"/>
                <a:cs typeface="Times New Roman" pitchFamily="18" charset="0"/>
              </a:rPr>
              <a:t> в </a:t>
            </a:r>
            <a:r>
              <a:rPr lang="ru-RU" sz="3700" b="1" err="1">
                <a:latin typeface="Times New Roman" pitchFamily="18" charset="0"/>
                <a:cs typeface="Times New Roman" pitchFamily="18" charset="0"/>
              </a:rPr>
              <a:t>Асемблера</a:t>
            </a:r>
            <a:r>
              <a:rPr lang="ru-RU" sz="5400">
                <a:latin typeface="Times New Roman" pitchFamily="18" charset="0"/>
                <a:cs typeface="Times New Roman" pitchFamily="18" charset="0"/>
              </a:rPr>
              <a:t>.</a:t>
            </a:r>
            <a:endParaRPr lang="bg-BG" sz="4000" b="1"/>
          </a:p>
        </p:txBody>
      </p:sp>
    </p:spTree>
    <p:extLst>
      <p:ext uri="{BB962C8B-B14F-4D97-AF65-F5344CB8AC3E}">
        <p14:creationId xmlns:p14="http://schemas.microsoft.com/office/powerpoint/2010/main" val="406350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110030"/>
            <a:ext cx="8856984" cy="5631338"/>
          </a:xfrm>
        </p:spPr>
        <p:txBody>
          <a:bodyPr vert="horz" lIns="91440" tIns="45720" rIns="91440" bIns="45720" anchor="t">
            <a:noAutofit/>
          </a:bodyPr>
          <a:lstStyle/>
          <a:p>
            <a:pPr algn="just">
              <a:lnSpc>
                <a:spcPct val="130621"/>
              </a:lnSpc>
              <a:spcBef>
                <a:spcPts val="0"/>
              </a:spcBef>
            </a:pPr>
            <a:r>
              <a:rPr lang="bg-BG" sz="2300" b="1">
                <a:latin typeface="Times New Roman" pitchFamily="18" charset="0"/>
                <a:cs typeface="Times New Roman" pitchFamily="18" charset="0"/>
              </a:rPr>
              <a:t>Структури</a:t>
            </a:r>
            <a:r>
              <a:rPr lang="en-US" sz="2300" b="1">
                <a:latin typeface="Times New Roman" pitchFamily="18" charset="0"/>
                <a:cs typeface="Times New Roman" pitchFamily="18" charset="0"/>
              </a:rPr>
              <a:t> </a:t>
            </a:r>
            <a:endParaRPr lang="bg-BG" sz="2300" b="1">
              <a:latin typeface="Times New Roman" pitchFamily="18" charset="0"/>
              <a:cs typeface="Times New Roman" pitchFamily="18" charset="0"/>
            </a:endParaRPr>
          </a:p>
          <a:p>
            <a:pPr algn="just">
              <a:lnSpc>
                <a:spcPct val="130621"/>
              </a:lnSpc>
              <a:spcBef>
                <a:spcPts val="0"/>
              </a:spcBef>
            </a:pPr>
            <a:r>
              <a:rPr lang="ru-RU" sz="2300">
                <a:latin typeface="Times New Roman" pitchFamily="18" charset="0"/>
                <a:cs typeface="Times New Roman" pitchFamily="18" charset="0"/>
              </a:rPr>
              <a:t> Когато говорим за </a:t>
            </a:r>
            <a:r>
              <a:rPr lang="ru-RU" sz="2300" err="1">
                <a:latin typeface="Times New Roman" pitchFamily="18" charset="0"/>
                <a:cs typeface="Times New Roman" pitchFamily="18" charset="0"/>
              </a:rPr>
              <a:t>данните</a:t>
            </a:r>
            <a:r>
              <a:rPr lang="ru-RU" sz="2300">
                <a:latin typeface="Times New Roman" pitchFamily="18" charset="0"/>
                <a:cs typeface="Times New Roman" pitchFamily="18" charset="0"/>
              </a:rPr>
              <a:t>, които </a:t>
            </a:r>
            <a:r>
              <a:rPr lang="ru-RU" sz="2300" err="1">
                <a:latin typeface="Times New Roman" pitchFamily="18" charset="0"/>
                <a:cs typeface="Times New Roman" pitchFamily="18" charset="0"/>
              </a:rPr>
              <a:t>програмите</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обработват</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следва</a:t>
            </a:r>
            <a:r>
              <a:rPr lang="ru-RU" sz="2300">
                <a:latin typeface="Times New Roman" pitchFamily="18" charset="0"/>
                <a:cs typeface="Times New Roman" pitchFamily="18" charset="0"/>
              </a:rPr>
              <a:t> да имаме добра </a:t>
            </a:r>
            <a:r>
              <a:rPr lang="ru-RU" sz="2300" err="1">
                <a:latin typeface="Times New Roman" pitchFamily="18" charset="0"/>
                <a:cs typeface="Times New Roman" pitchFamily="18" charset="0"/>
              </a:rPr>
              <a:t>представа</a:t>
            </a:r>
            <a:r>
              <a:rPr lang="ru-RU" sz="2300">
                <a:latin typeface="Times New Roman" pitchFamily="18" charset="0"/>
                <a:cs typeface="Times New Roman" pitchFamily="18" charset="0"/>
              </a:rPr>
              <a:t> за тях. Най-</a:t>
            </a:r>
            <a:r>
              <a:rPr lang="ru-RU" sz="2300" err="1">
                <a:latin typeface="Times New Roman" pitchFamily="18" charset="0"/>
                <a:cs typeface="Times New Roman" pitchFamily="18" charset="0"/>
              </a:rPr>
              <a:t>елементарният</a:t>
            </a:r>
            <a:r>
              <a:rPr lang="ru-RU" sz="2300">
                <a:latin typeface="Times New Roman" pitchFamily="18" charset="0"/>
                <a:cs typeface="Times New Roman" pitchFamily="18" charset="0"/>
              </a:rPr>
              <a:t> вид са </a:t>
            </a:r>
            <a:r>
              <a:rPr lang="ru-RU" sz="2300" err="1">
                <a:latin typeface="Times New Roman" pitchFamily="18" charset="0"/>
                <a:cs typeface="Times New Roman" pitchFamily="18" charset="0"/>
              </a:rPr>
              <a:t>скаларните</a:t>
            </a:r>
            <a:r>
              <a:rPr lang="ru-RU" sz="2300">
                <a:latin typeface="Times New Roman" pitchFamily="18" charset="0"/>
                <a:cs typeface="Times New Roman" pitchFamily="18" charset="0"/>
              </a:rPr>
              <a:t> данни – </a:t>
            </a:r>
            <a:r>
              <a:rPr lang="ru-RU" sz="2300" err="1">
                <a:latin typeface="Times New Roman" pitchFamily="18" charset="0"/>
                <a:cs typeface="Times New Roman" pitchFamily="18" charset="0"/>
              </a:rPr>
              <a:t>една</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стойност</a:t>
            </a:r>
            <a:r>
              <a:rPr lang="ru-RU" sz="2300">
                <a:latin typeface="Times New Roman" pitchFamily="18" charset="0"/>
                <a:cs typeface="Times New Roman" pitchFamily="18" charset="0"/>
              </a:rPr>
              <a:t> (например, </a:t>
            </a:r>
            <a:r>
              <a:rPr lang="ru-RU" sz="2300" err="1">
                <a:latin typeface="Times New Roman" pitchFamily="18" charset="0"/>
                <a:cs typeface="Times New Roman" pitchFamily="18" charset="0"/>
              </a:rPr>
              <a:t>логическа</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числова</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символна</a:t>
            </a:r>
            <a:r>
              <a:rPr lang="ru-RU" sz="2300">
                <a:latin typeface="Times New Roman" pitchFamily="18" charset="0"/>
                <a:cs typeface="Times New Roman" pitchFamily="18" charset="0"/>
              </a:rPr>
              <a:t> и пр.). </a:t>
            </a:r>
            <a:r>
              <a:rPr lang="ru-RU" sz="2300" err="1">
                <a:latin typeface="Times New Roman" pitchFamily="18" charset="0"/>
                <a:cs typeface="Times New Roman" pitchFamily="18" charset="0"/>
              </a:rPr>
              <a:t>Вторият</a:t>
            </a:r>
            <a:r>
              <a:rPr lang="ru-RU" sz="2300">
                <a:latin typeface="Times New Roman" pitchFamily="18" charset="0"/>
                <a:cs typeface="Times New Roman" pitchFamily="18" charset="0"/>
              </a:rPr>
              <a:t> вид са </a:t>
            </a:r>
            <a:r>
              <a:rPr lang="ru-RU" sz="2300" err="1">
                <a:latin typeface="Times New Roman" pitchFamily="18" charset="0"/>
                <a:cs typeface="Times New Roman" pitchFamily="18" charset="0"/>
              </a:rPr>
              <a:t>множествата</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Множествата</a:t>
            </a:r>
            <a:r>
              <a:rPr lang="ru-RU" sz="2300">
                <a:latin typeface="Times New Roman" pitchFamily="18" charset="0"/>
                <a:cs typeface="Times New Roman" pitchFamily="18" charset="0"/>
              </a:rPr>
              <a:t> с най-проста организация са </a:t>
            </a:r>
            <a:r>
              <a:rPr lang="ru-RU" sz="2300" err="1">
                <a:latin typeface="Times New Roman" pitchFamily="18" charset="0"/>
                <a:cs typeface="Times New Roman" pitchFamily="18" charset="0"/>
              </a:rPr>
              <a:t>масивите</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Елементите</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масивите</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обикновено</a:t>
            </a:r>
            <a:r>
              <a:rPr lang="ru-RU" sz="2300">
                <a:latin typeface="Times New Roman" pitchFamily="18" charset="0"/>
                <a:cs typeface="Times New Roman" pitchFamily="18" charset="0"/>
              </a:rPr>
              <a:t> са </a:t>
            </a:r>
            <a:r>
              <a:rPr lang="ru-RU" sz="2300" err="1">
                <a:latin typeface="Times New Roman" pitchFamily="18" charset="0"/>
                <a:cs typeface="Times New Roman" pitchFamily="18" charset="0"/>
              </a:rPr>
              <a:t>скаларни</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стойности</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Често</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обаче</a:t>
            </a:r>
            <a:r>
              <a:rPr lang="ru-RU" sz="2300">
                <a:latin typeface="Times New Roman" pitchFamily="18" charset="0"/>
                <a:cs typeface="Times New Roman" pitchFamily="18" charset="0"/>
              </a:rPr>
              <a:t> като елементи на даден </a:t>
            </a:r>
            <a:r>
              <a:rPr lang="ru-RU" sz="2300" err="1">
                <a:latin typeface="Times New Roman" pitchFamily="18" charset="0"/>
                <a:cs typeface="Times New Roman" pitchFamily="18" charset="0"/>
              </a:rPr>
              <a:t>масив</a:t>
            </a:r>
            <a:r>
              <a:rPr lang="ru-RU" sz="2300">
                <a:latin typeface="Times New Roman" pitchFamily="18" charset="0"/>
                <a:cs typeface="Times New Roman" pitchFamily="18" charset="0"/>
              </a:rPr>
              <a:t> се </a:t>
            </a:r>
            <a:r>
              <a:rPr lang="ru-RU" sz="2300" err="1">
                <a:latin typeface="Times New Roman" pitchFamily="18" charset="0"/>
                <a:cs typeface="Times New Roman" pitchFamily="18" charset="0"/>
              </a:rPr>
              <a:t>налага</a:t>
            </a:r>
            <a:r>
              <a:rPr lang="ru-RU" sz="2300">
                <a:latin typeface="Times New Roman" pitchFamily="18" charset="0"/>
                <a:cs typeface="Times New Roman" pitchFamily="18" charset="0"/>
              </a:rPr>
              <a:t> да се използват множества, при това с разнообразен по характер (тип) набор от елементи. В </a:t>
            </a:r>
            <a:r>
              <a:rPr lang="ru-RU" sz="2300" err="1">
                <a:latin typeface="Times New Roman" pitchFamily="18" charset="0"/>
                <a:cs typeface="Times New Roman" pitchFamily="18" charset="0"/>
              </a:rPr>
              <a:t>такива</a:t>
            </a:r>
            <a:r>
              <a:rPr lang="ru-RU" sz="2300">
                <a:latin typeface="Times New Roman" pitchFamily="18" charset="0"/>
                <a:cs typeface="Times New Roman" pitchFamily="18" charset="0"/>
              </a:rPr>
              <a:t> случаи се говори, че </a:t>
            </a:r>
            <a:r>
              <a:rPr lang="ru-RU" sz="2300" err="1">
                <a:latin typeface="Times New Roman" pitchFamily="18" charset="0"/>
                <a:cs typeface="Times New Roman" pitchFamily="18" charset="0"/>
              </a:rPr>
              <a:t>елементите</a:t>
            </a:r>
            <a:r>
              <a:rPr lang="ru-RU" sz="2300">
                <a:latin typeface="Times New Roman" pitchFamily="18" charset="0"/>
                <a:cs typeface="Times New Roman" pitchFamily="18" charset="0"/>
              </a:rPr>
              <a:t> на </a:t>
            </a:r>
            <a:r>
              <a:rPr lang="ru-RU" sz="2300" err="1">
                <a:latin typeface="Times New Roman" pitchFamily="18" charset="0"/>
                <a:cs typeface="Times New Roman" pitchFamily="18" charset="0"/>
              </a:rPr>
              <a:t>масива</a:t>
            </a:r>
            <a:r>
              <a:rPr lang="ru-RU" sz="2300">
                <a:latin typeface="Times New Roman" pitchFamily="18" charset="0"/>
                <a:cs typeface="Times New Roman" pitchFamily="18" charset="0"/>
              </a:rPr>
              <a:t> </a:t>
            </a:r>
            <a:r>
              <a:rPr lang="ru-RU" sz="2300" err="1">
                <a:latin typeface="Times New Roman" pitchFamily="18" charset="0"/>
                <a:cs typeface="Times New Roman" pitchFamily="18" charset="0"/>
              </a:rPr>
              <a:t>имат</a:t>
            </a:r>
            <a:r>
              <a:rPr lang="ru-RU" sz="2300">
                <a:latin typeface="Times New Roman" pitchFamily="18" charset="0"/>
                <a:cs typeface="Times New Roman" pitchFamily="18" charset="0"/>
              </a:rPr>
              <a:t> своя структура, или те просто се </a:t>
            </a:r>
            <a:r>
              <a:rPr lang="ru-RU" sz="2300" err="1">
                <a:latin typeface="Times New Roman" pitchFamily="18" charset="0"/>
                <a:cs typeface="Times New Roman" pitchFamily="18" charset="0"/>
              </a:rPr>
              <a:t>наричат</a:t>
            </a:r>
            <a:r>
              <a:rPr lang="ru-RU" sz="2300">
                <a:latin typeface="Times New Roman" pitchFamily="18" charset="0"/>
                <a:cs typeface="Times New Roman" pitchFamily="18" charset="0"/>
              </a:rPr>
              <a:t> </a:t>
            </a:r>
            <a:r>
              <a:rPr lang="ru-RU" sz="2300" b="1" err="1">
                <a:latin typeface="Times New Roman" pitchFamily="18" charset="0"/>
                <a:cs typeface="Times New Roman" pitchFamily="18" charset="0"/>
              </a:rPr>
              <a:t>структури</a:t>
            </a:r>
            <a:r>
              <a:rPr lang="ru-RU" sz="2300">
                <a:latin typeface="Times New Roman" pitchFamily="18" charset="0"/>
                <a:cs typeface="Times New Roman" pitchFamily="18" charset="0"/>
              </a:rPr>
              <a:t>. </a:t>
            </a:r>
            <a:endParaRPr lang="bg-BG" sz="2300">
              <a:latin typeface="Times New Roman" pitchFamily="18" charset="0"/>
              <a:cs typeface="Times New Roman" pitchFamily="18" charset="0"/>
            </a:endParaRPr>
          </a:p>
        </p:txBody>
      </p:sp>
      <p:sp>
        <p:nvSpPr>
          <p:cNvPr id="4" name="Title 1"/>
          <p:cNvSpPr>
            <a:spLocks noGrp="1"/>
          </p:cNvSpPr>
          <p:nvPr>
            <p:ph type="title"/>
          </p:nvPr>
        </p:nvSpPr>
        <p:spPr>
          <a:xfrm>
            <a:off x="493204" y="255061"/>
            <a:ext cx="8229600" cy="854968"/>
          </a:xfrm>
        </p:spPr>
        <p:txBody>
          <a:bodyPr>
            <a:normAutofit fontScale="90000"/>
          </a:bodyPr>
          <a:lstStyle/>
          <a:p>
            <a:r>
              <a:rPr lang="en-US" sz="3700" b="1">
                <a:latin typeface="Times New Roman" pitchFamily="18" charset="0"/>
                <a:cs typeface="Times New Roman" pitchFamily="18" charset="0"/>
              </a:rPr>
              <a:t> </a:t>
            </a:r>
            <a:r>
              <a:rPr lang="ru-RU" sz="3700" b="1" err="1">
                <a:latin typeface="Times New Roman" pitchFamily="18" charset="0"/>
                <a:cs typeface="Times New Roman" pitchFamily="18" charset="0"/>
              </a:rPr>
              <a:t>Масиви</a:t>
            </a:r>
            <a:r>
              <a:rPr lang="ru-RU" sz="3700" b="1">
                <a:latin typeface="Times New Roman" pitchFamily="18" charset="0"/>
                <a:cs typeface="Times New Roman" pitchFamily="18" charset="0"/>
              </a:rPr>
              <a:t> и </a:t>
            </a:r>
            <a:r>
              <a:rPr lang="ru-RU" sz="3700" b="1" err="1">
                <a:latin typeface="Times New Roman" pitchFamily="18" charset="0"/>
                <a:cs typeface="Times New Roman" pitchFamily="18" charset="0"/>
              </a:rPr>
              <a:t>структури</a:t>
            </a:r>
            <a:r>
              <a:rPr lang="ru-RU" sz="3700" b="1">
                <a:latin typeface="Times New Roman" pitchFamily="18" charset="0"/>
                <a:cs typeface="Times New Roman" pitchFamily="18" charset="0"/>
              </a:rPr>
              <a:t> в </a:t>
            </a:r>
            <a:r>
              <a:rPr lang="ru-RU" sz="3700" b="1" err="1">
                <a:latin typeface="Times New Roman" pitchFamily="18" charset="0"/>
                <a:cs typeface="Times New Roman" pitchFamily="18" charset="0"/>
              </a:rPr>
              <a:t>Асемблера</a:t>
            </a:r>
            <a:r>
              <a:rPr lang="ru-RU" sz="5400">
                <a:latin typeface="Times New Roman" pitchFamily="18" charset="0"/>
                <a:cs typeface="Times New Roman" pitchFamily="18" charset="0"/>
              </a:rPr>
              <a:t>.</a:t>
            </a:r>
            <a:endParaRPr lang="bg-BG" sz="4000" b="1"/>
          </a:p>
        </p:txBody>
      </p:sp>
    </p:spTree>
    <p:extLst>
      <p:ext uri="{BB962C8B-B14F-4D97-AF65-F5344CB8AC3E}">
        <p14:creationId xmlns:p14="http://schemas.microsoft.com/office/powerpoint/2010/main" val="4067912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016" y="908720"/>
            <a:ext cx="8605464" cy="5705863"/>
          </a:xfrm>
        </p:spPr>
        <p:txBody>
          <a:bodyPr vert="horz" lIns="91440" tIns="45720" rIns="91440" bIns="45720" anchor="t">
            <a:noAutofit/>
          </a:bodyPr>
          <a:lstStyle/>
          <a:p>
            <a:pPr algn="just">
              <a:lnSpc>
                <a:spcPct val="122624"/>
              </a:lnSpc>
              <a:spcBef>
                <a:spcPts val="0"/>
              </a:spcBef>
            </a:pPr>
            <a:r>
              <a:rPr lang="bg-BG" sz="2100" b="1">
                <a:latin typeface="Times New Roman" pitchFamily="18" charset="0"/>
                <a:cs typeface="Times New Roman" pitchFamily="18" charset="0"/>
              </a:rPr>
              <a:t>Структури</a:t>
            </a:r>
            <a:r>
              <a:rPr lang="en-US" sz="2100" b="1">
                <a:latin typeface="Times New Roman" pitchFamily="18" charset="0"/>
                <a:cs typeface="Times New Roman" pitchFamily="18" charset="0"/>
              </a:rPr>
              <a:t> x86</a:t>
            </a:r>
            <a:endParaRPr lang="bg-BG" sz="2100" b="1">
              <a:latin typeface="Times New Roman" pitchFamily="18" charset="0"/>
              <a:cs typeface="Times New Roman" pitchFamily="18" charset="0"/>
            </a:endParaRPr>
          </a:p>
          <a:p>
            <a:pPr algn="just">
              <a:lnSpc>
                <a:spcPct val="122624"/>
              </a:lnSpc>
              <a:spcBef>
                <a:spcPts val="0"/>
              </a:spcBef>
            </a:pPr>
            <a:r>
              <a:rPr lang="bg-BG" sz="2100">
                <a:latin typeface="Times New Roman" pitchFamily="18" charset="0"/>
                <a:cs typeface="Times New Roman" pitchFamily="18" charset="0"/>
              </a:rPr>
              <a:t>Структурата</a:t>
            </a:r>
            <a:r>
              <a:rPr lang="ru-RU" sz="2100">
                <a:latin typeface="Times New Roman" pitchFamily="18" charset="0"/>
                <a:cs typeface="Times New Roman" pitchFamily="18" charset="0"/>
              </a:rPr>
              <a:t> се открива с директивата STRUC (structure) и се закрива с директивата ENDS (end of structure). Между тези две </a:t>
            </a:r>
            <a:r>
              <a:rPr lang="ru-RU" sz="2100" err="1">
                <a:latin typeface="Times New Roman" pitchFamily="18" charset="0"/>
                <a:cs typeface="Times New Roman" pitchFamily="18" charset="0"/>
              </a:rPr>
              <a:t>директиви</a:t>
            </a:r>
            <a:r>
              <a:rPr lang="ru-RU" sz="2100">
                <a:latin typeface="Times New Roman" pitchFamily="18" charset="0"/>
                <a:cs typeface="Times New Roman" pitchFamily="18" charset="0"/>
              </a:rPr>
              <a:t> могат да </a:t>
            </a:r>
            <a:r>
              <a:rPr lang="ru-RU" sz="2100" err="1">
                <a:latin typeface="Times New Roman" pitchFamily="18" charset="0"/>
                <a:cs typeface="Times New Roman" pitchFamily="18" charset="0"/>
              </a:rPr>
              <a:t>бъдат</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записани</a:t>
            </a:r>
            <a:r>
              <a:rPr lang="ru-RU" sz="2100">
                <a:latin typeface="Times New Roman" pitchFamily="18" charset="0"/>
                <a:cs typeface="Times New Roman" pitchFamily="18" charset="0"/>
              </a:rPr>
              <a:t> произволен </a:t>
            </a:r>
            <a:r>
              <a:rPr lang="ru-RU" sz="2100" err="1">
                <a:latin typeface="Times New Roman" pitchFamily="18" charset="0"/>
                <a:cs typeface="Times New Roman" pitchFamily="18" charset="0"/>
              </a:rPr>
              <a:t>брой</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директиви</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описващи</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отделните</a:t>
            </a:r>
            <a:r>
              <a:rPr lang="ru-RU" sz="2100">
                <a:latin typeface="Times New Roman" pitchFamily="18" charset="0"/>
                <a:cs typeface="Times New Roman" pitchFamily="18" charset="0"/>
              </a:rPr>
              <a:t> полета на </a:t>
            </a:r>
            <a:r>
              <a:rPr lang="ru-RU" sz="2100" err="1">
                <a:latin typeface="Times New Roman" pitchFamily="18" charset="0"/>
                <a:cs typeface="Times New Roman" pitchFamily="18" charset="0"/>
              </a:rPr>
              <a:t>структурата</a:t>
            </a:r>
            <a:r>
              <a:rPr lang="ru-RU" sz="2100">
                <a:latin typeface="Times New Roman" pitchFamily="18" charset="0"/>
                <a:cs typeface="Times New Roman" pitchFamily="18" charset="0"/>
              </a:rPr>
              <a:t>. Всяко поле се </a:t>
            </a:r>
            <a:r>
              <a:rPr lang="ru-RU" sz="2100" err="1">
                <a:latin typeface="Times New Roman" pitchFamily="18" charset="0"/>
                <a:cs typeface="Times New Roman" pitchFamily="18" charset="0"/>
              </a:rPr>
              <a:t>описва</a:t>
            </a:r>
            <a:r>
              <a:rPr lang="ru-RU" sz="2100">
                <a:latin typeface="Times New Roman" pitchFamily="18" charset="0"/>
                <a:cs typeface="Times New Roman" pitchFamily="18" charset="0"/>
              </a:rPr>
              <a:t> от </a:t>
            </a:r>
            <a:r>
              <a:rPr lang="ru-RU" sz="2100" err="1">
                <a:latin typeface="Times New Roman" pitchFamily="18" charset="0"/>
                <a:cs typeface="Times New Roman" pitchFamily="18" charset="0"/>
              </a:rPr>
              <a:t>една</a:t>
            </a:r>
            <a:r>
              <a:rPr lang="ru-RU" sz="2100">
                <a:latin typeface="Times New Roman" pitchFamily="18" charset="0"/>
                <a:cs typeface="Times New Roman" pitchFamily="18" charset="0"/>
              </a:rPr>
              <a:t> директива, </a:t>
            </a:r>
            <a:r>
              <a:rPr lang="ru-RU" sz="2100" err="1">
                <a:latin typeface="Times New Roman" pitchFamily="18" charset="0"/>
                <a:cs typeface="Times New Roman" pitchFamily="18" charset="0"/>
              </a:rPr>
              <a:t>която</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задължително</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определя</a:t>
            </a:r>
            <a:r>
              <a:rPr lang="ru-RU" sz="2100">
                <a:latin typeface="Times New Roman" pitchFamily="18" charset="0"/>
                <a:cs typeface="Times New Roman" pitchFamily="18" charset="0"/>
              </a:rPr>
              <a:t> данни – DB, DW или DD. </a:t>
            </a:r>
            <a:r>
              <a:rPr lang="ru-RU" sz="2100" err="1">
                <a:latin typeface="Times New Roman" pitchFamily="18" charset="0"/>
                <a:cs typeface="Times New Roman" pitchFamily="18" charset="0"/>
              </a:rPr>
              <a:t>Името</a:t>
            </a:r>
            <a:r>
              <a:rPr lang="ru-RU" sz="2100">
                <a:latin typeface="Times New Roman" pitchFamily="18" charset="0"/>
                <a:cs typeface="Times New Roman" pitchFamily="18" charset="0"/>
              </a:rPr>
              <a:t>, указано в </a:t>
            </a:r>
            <a:r>
              <a:rPr lang="ru-RU" sz="2100" err="1">
                <a:latin typeface="Times New Roman" pitchFamily="18" charset="0"/>
                <a:cs typeface="Times New Roman" pitchFamily="18" charset="0"/>
              </a:rPr>
              <a:t>такава</a:t>
            </a:r>
            <a:r>
              <a:rPr lang="ru-RU" sz="2100">
                <a:latin typeface="Times New Roman" pitchFamily="18" charset="0"/>
                <a:cs typeface="Times New Roman" pitchFamily="18" charset="0"/>
              </a:rPr>
              <a:t> директива, се </a:t>
            </a:r>
            <a:r>
              <a:rPr lang="ru-RU" sz="2100" err="1">
                <a:latin typeface="Times New Roman" pitchFamily="18" charset="0"/>
                <a:cs typeface="Times New Roman" pitchFamily="18" charset="0"/>
              </a:rPr>
              <a:t>възприема</a:t>
            </a:r>
            <a:r>
              <a:rPr lang="ru-RU" sz="2100">
                <a:latin typeface="Times New Roman" pitchFamily="18" charset="0"/>
                <a:cs typeface="Times New Roman" pitchFamily="18" charset="0"/>
              </a:rPr>
              <a:t> като </a:t>
            </a:r>
            <a:r>
              <a:rPr lang="ru-RU" sz="2100" err="1">
                <a:latin typeface="Times New Roman" pitchFamily="18" charset="0"/>
                <a:cs typeface="Times New Roman" pitchFamily="18" charset="0"/>
              </a:rPr>
              <a:t>име</a:t>
            </a:r>
            <a:r>
              <a:rPr lang="ru-RU" sz="2100">
                <a:latin typeface="Times New Roman" pitchFamily="18" charset="0"/>
                <a:cs typeface="Times New Roman" pitchFamily="18" charset="0"/>
              </a:rPr>
              <a:t> на </a:t>
            </a:r>
            <a:r>
              <a:rPr lang="ru-RU" sz="2100" err="1">
                <a:latin typeface="Times New Roman" pitchFamily="18" charset="0"/>
                <a:cs typeface="Times New Roman" pitchFamily="18" charset="0"/>
              </a:rPr>
              <a:t>съответното</a:t>
            </a:r>
            <a:r>
              <a:rPr lang="ru-RU" sz="2100">
                <a:latin typeface="Times New Roman" pitchFamily="18" charset="0"/>
                <a:cs typeface="Times New Roman" pitchFamily="18" charset="0"/>
              </a:rPr>
              <a:t> поле.  Например, </a:t>
            </a:r>
            <a:r>
              <a:rPr lang="ru-RU" sz="2100" err="1">
                <a:latin typeface="Times New Roman" pitchFamily="18" charset="0"/>
                <a:cs typeface="Times New Roman" pitchFamily="18" charset="0"/>
              </a:rPr>
              <a:t>типът</a:t>
            </a:r>
            <a:r>
              <a:rPr lang="ru-RU" sz="2100">
                <a:latin typeface="Times New Roman" pitchFamily="18" charset="0"/>
                <a:cs typeface="Times New Roman" pitchFamily="18" charset="0"/>
              </a:rPr>
              <a:t> структура DATE (</a:t>
            </a:r>
            <a:r>
              <a:rPr lang="ru-RU" sz="2100" err="1">
                <a:latin typeface="Times New Roman" pitchFamily="18" charset="0"/>
                <a:cs typeface="Times New Roman" pitchFamily="18" charset="0"/>
              </a:rPr>
              <a:t>календарна</a:t>
            </a:r>
            <a:r>
              <a:rPr lang="ru-RU" sz="2100">
                <a:latin typeface="Times New Roman" pitchFamily="18" charset="0"/>
                <a:cs typeface="Times New Roman" pitchFamily="18" charset="0"/>
              </a:rPr>
              <a:t> дата) разбираемо </a:t>
            </a:r>
            <a:r>
              <a:rPr lang="ru-RU" sz="2100" err="1">
                <a:latin typeface="Times New Roman" pitchFamily="18" charset="0"/>
                <a:cs typeface="Times New Roman" pitchFamily="18" charset="0"/>
              </a:rPr>
              <a:t>съдържа</a:t>
            </a:r>
            <a:r>
              <a:rPr lang="ru-RU" sz="2100">
                <a:latin typeface="Times New Roman" pitchFamily="18" charset="0"/>
                <a:cs typeface="Times New Roman" pitchFamily="18" charset="0"/>
              </a:rPr>
              <a:t> три полета: Y (</a:t>
            </a:r>
            <a:r>
              <a:rPr lang="ru-RU" sz="2100" err="1">
                <a:latin typeface="Times New Roman" pitchFamily="18" charset="0"/>
                <a:cs typeface="Times New Roman" pitchFamily="18" charset="0"/>
              </a:rPr>
              <a:t>yare</a:t>
            </a:r>
            <a:r>
              <a:rPr lang="ru-RU" sz="2100">
                <a:latin typeface="Times New Roman" pitchFamily="18" charset="0"/>
                <a:cs typeface="Times New Roman" pitchFamily="18" charset="0"/>
              </a:rPr>
              <a:t> – година), M (</a:t>
            </a:r>
            <a:r>
              <a:rPr lang="ru-RU" sz="2100" err="1">
                <a:latin typeface="Times New Roman" pitchFamily="18" charset="0"/>
                <a:cs typeface="Times New Roman" pitchFamily="18" charset="0"/>
              </a:rPr>
              <a:t>month</a:t>
            </a:r>
            <a:r>
              <a:rPr lang="ru-RU" sz="2100">
                <a:latin typeface="Times New Roman" pitchFamily="18" charset="0"/>
                <a:cs typeface="Times New Roman" pitchFamily="18" charset="0"/>
              </a:rPr>
              <a:t> – </a:t>
            </a:r>
            <a:r>
              <a:rPr lang="ru-RU" sz="2100" err="1">
                <a:latin typeface="Times New Roman" pitchFamily="18" charset="0"/>
                <a:cs typeface="Times New Roman" pitchFamily="18" charset="0"/>
              </a:rPr>
              <a:t>месец</a:t>
            </a:r>
            <a:r>
              <a:rPr lang="ru-RU" sz="2100">
                <a:latin typeface="Times New Roman" pitchFamily="18" charset="0"/>
                <a:cs typeface="Times New Roman" pitchFamily="18" charset="0"/>
              </a:rPr>
              <a:t>) и D (</a:t>
            </a:r>
            <a:r>
              <a:rPr lang="ru-RU" sz="2100" err="1">
                <a:latin typeface="Times New Roman" pitchFamily="18" charset="0"/>
                <a:cs typeface="Times New Roman" pitchFamily="18" charset="0"/>
              </a:rPr>
              <a:t>day</a:t>
            </a:r>
            <a:r>
              <a:rPr lang="ru-RU" sz="2100">
                <a:latin typeface="Times New Roman" pitchFamily="18" charset="0"/>
                <a:cs typeface="Times New Roman" pitchFamily="18" charset="0"/>
              </a:rPr>
              <a:t> – </a:t>
            </a:r>
            <a:r>
              <a:rPr lang="ru-RU" sz="2100" err="1">
                <a:latin typeface="Times New Roman" pitchFamily="18" charset="0"/>
                <a:cs typeface="Times New Roman" pitchFamily="18" charset="0"/>
              </a:rPr>
              <a:t>ден</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Тази</a:t>
            </a:r>
            <a:r>
              <a:rPr lang="ru-RU" sz="2100">
                <a:latin typeface="Times New Roman" pitchFamily="18" charset="0"/>
                <a:cs typeface="Times New Roman" pitchFamily="18" charset="0"/>
              </a:rPr>
              <a:t> структура се </a:t>
            </a:r>
            <a:r>
              <a:rPr lang="ru-RU" sz="2100" err="1">
                <a:latin typeface="Times New Roman" pitchFamily="18" charset="0"/>
                <a:cs typeface="Times New Roman" pitchFamily="18" charset="0"/>
              </a:rPr>
              <a:t>декларира</a:t>
            </a:r>
            <a:r>
              <a:rPr lang="ru-RU" sz="2100">
                <a:latin typeface="Times New Roman" pitchFamily="18" charset="0"/>
                <a:cs typeface="Times New Roman" pitchFamily="18" charset="0"/>
              </a:rPr>
              <a:t> така:  </a:t>
            </a:r>
            <a:endParaRPr lang="en-US" sz="2100">
              <a:latin typeface="Times New Roman" pitchFamily="18" charset="0"/>
              <a:cs typeface="Times New Roman" pitchFamily="18" charset="0"/>
            </a:endParaRPr>
          </a:p>
          <a:p>
            <a:pPr algn="just">
              <a:lnSpc>
                <a:spcPct val="122624"/>
              </a:lnSpc>
              <a:spcBef>
                <a:spcPts val="0"/>
              </a:spcBef>
            </a:pPr>
            <a:r>
              <a:rPr lang="en-US" sz="2100">
                <a:latin typeface="Times New Roman" pitchFamily="18" charset="0"/>
                <a:cs typeface="Times New Roman" pitchFamily="18" charset="0"/>
              </a:rPr>
              <a:t>                         </a:t>
            </a:r>
            <a:r>
              <a:rPr lang="ru-RU" sz="2100">
                <a:latin typeface="Times New Roman" pitchFamily="18" charset="0"/>
                <a:cs typeface="Times New Roman" pitchFamily="18" charset="0"/>
              </a:rPr>
              <a:t> </a:t>
            </a:r>
            <a:r>
              <a:rPr lang="ru-RU" sz="2100" b="1">
                <a:latin typeface="Times New Roman" pitchFamily="18" charset="0"/>
                <a:cs typeface="Times New Roman" pitchFamily="18" charset="0"/>
              </a:rPr>
              <a:t>DATE  STRUC    </a:t>
            </a:r>
            <a:endParaRPr lang="en-US" sz="2100" b="1">
              <a:latin typeface="Times New Roman" pitchFamily="18" charset="0"/>
              <a:cs typeface="Times New Roman" pitchFamily="18" charset="0"/>
            </a:endParaRPr>
          </a:p>
          <a:p>
            <a:pPr algn="just">
              <a:lnSpc>
                <a:spcPct val="122624"/>
              </a:lnSpc>
              <a:spcBef>
                <a:spcPts val="0"/>
              </a:spcBef>
            </a:pPr>
            <a:r>
              <a:rPr lang="en-US" sz="2100" b="1">
                <a:latin typeface="Times New Roman" pitchFamily="18" charset="0"/>
                <a:cs typeface="Times New Roman" pitchFamily="18" charset="0"/>
              </a:rPr>
              <a:t>                                   </a:t>
            </a:r>
            <a:r>
              <a:rPr lang="ru-RU" sz="2100" b="1">
                <a:latin typeface="Times New Roman" pitchFamily="18" charset="0"/>
                <a:cs typeface="Times New Roman" pitchFamily="18" charset="0"/>
              </a:rPr>
              <a:t>Y DW  2009 </a:t>
            </a:r>
            <a:endParaRPr lang="en-US" sz="2100" b="1">
              <a:latin typeface="Times New Roman" pitchFamily="18" charset="0"/>
              <a:cs typeface="Times New Roman" pitchFamily="18" charset="0"/>
            </a:endParaRPr>
          </a:p>
          <a:p>
            <a:pPr algn="just">
              <a:lnSpc>
                <a:spcPct val="122624"/>
              </a:lnSpc>
              <a:spcBef>
                <a:spcPts val="0"/>
              </a:spcBef>
            </a:pPr>
            <a:r>
              <a:rPr lang="en-US" sz="2100" b="1">
                <a:latin typeface="Times New Roman" pitchFamily="18" charset="0"/>
                <a:cs typeface="Times New Roman" pitchFamily="18" charset="0"/>
              </a:rPr>
              <a:t>                                </a:t>
            </a:r>
            <a:r>
              <a:rPr lang="ru-RU" sz="2100" b="1">
                <a:latin typeface="Times New Roman" pitchFamily="18" charset="0"/>
                <a:cs typeface="Times New Roman" pitchFamily="18" charset="0"/>
              </a:rPr>
              <a:t>   M DB  5    </a:t>
            </a:r>
            <a:endParaRPr lang="en-US" sz="2100" b="1">
              <a:latin typeface="Times New Roman" pitchFamily="18" charset="0"/>
              <a:cs typeface="Times New Roman" pitchFamily="18" charset="0"/>
            </a:endParaRPr>
          </a:p>
          <a:p>
            <a:pPr algn="just">
              <a:lnSpc>
                <a:spcPct val="122624"/>
              </a:lnSpc>
              <a:spcBef>
                <a:spcPts val="0"/>
              </a:spcBef>
            </a:pPr>
            <a:r>
              <a:rPr lang="en-US" sz="2100" b="1">
                <a:latin typeface="Times New Roman" pitchFamily="18" charset="0"/>
                <a:cs typeface="Times New Roman" pitchFamily="18" charset="0"/>
              </a:rPr>
              <a:t>                                    </a:t>
            </a:r>
            <a:r>
              <a:rPr lang="ru-RU" sz="2100" b="1">
                <a:latin typeface="Times New Roman" pitchFamily="18" charset="0"/>
                <a:cs typeface="Times New Roman" pitchFamily="18" charset="0"/>
              </a:rPr>
              <a:t>D DB  ?   </a:t>
            </a:r>
            <a:endParaRPr lang="en-US" sz="2100" b="1">
              <a:latin typeface="Times New Roman" pitchFamily="18" charset="0"/>
              <a:cs typeface="Times New Roman" pitchFamily="18" charset="0"/>
            </a:endParaRPr>
          </a:p>
          <a:p>
            <a:pPr algn="just">
              <a:lnSpc>
                <a:spcPct val="122624"/>
              </a:lnSpc>
              <a:spcBef>
                <a:spcPts val="0"/>
              </a:spcBef>
            </a:pPr>
            <a:r>
              <a:rPr lang="en-US" sz="2100" b="1">
                <a:latin typeface="Times New Roman" pitchFamily="18" charset="0"/>
                <a:cs typeface="Times New Roman" pitchFamily="18" charset="0"/>
              </a:rPr>
              <a:t>                            </a:t>
            </a:r>
            <a:r>
              <a:rPr lang="ru-RU" sz="2100" b="1">
                <a:latin typeface="Times New Roman" pitchFamily="18" charset="0"/>
                <a:cs typeface="Times New Roman" pitchFamily="18" charset="0"/>
              </a:rPr>
              <a:t>DATE  ENDS</a:t>
            </a:r>
            <a:endParaRPr lang="bg-BG" sz="2100" b="1">
              <a:latin typeface="Times New Roman" pitchFamily="18" charset="0"/>
              <a:cs typeface="Times New Roman" pitchFamily="18" charset="0"/>
            </a:endParaRPr>
          </a:p>
        </p:txBody>
      </p:sp>
      <p:sp>
        <p:nvSpPr>
          <p:cNvPr id="4" name="Title 1"/>
          <p:cNvSpPr>
            <a:spLocks noGrp="1"/>
          </p:cNvSpPr>
          <p:nvPr>
            <p:ph type="title"/>
          </p:nvPr>
        </p:nvSpPr>
        <p:spPr>
          <a:xfrm>
            <a:off x="493204" y="188640"/>
            <a:ext cx="8229600" cy="854968"/>
          </a:xfrm>
        </p:spPr>
        <p:txBody>
          <a:bodyPr>
            <a:normAutofit fontScale="90000"/>
          </a:bodyPr>
          <a:lstStyle/>
          <a:p>
            <a:r>
              <a:rPr lang="en-US" sz="3700" b="1">
                <a:latin typeface="Times New Roman" pitchFamily="18" charset="0"/>
                <a:cs typeface="Times New Roman" pitchFamily="18" charset="0"/>
              </a:rPr>
              <a:t> </a:t>
            </a:r>
            <a:r>
              <a:rPr lang="ru-RU" sz="3700" b="1" err="1">
                <a:latin typeface="Times New Roman" pitchFamily="18" charset="0"/>
                <a:cs typeface="Times New Roman" pitchFamily="18" charset="0"/>
              </a:rPr>
              <a:t>Масиви</a:t>
            </a:r>
            <a:r>
              <a:rPr lang="ru-RU" sz="3700" b="1">
                <a:latin typeface="Times New Roman" pitchFamily="18" charset="0"/>
                <a:cs typeface="Times New Roman" pitchFamily="18" charset="0"/>
              </a:rPr>
              <a:t> и </a:t>
            </a:r>
            <a:r>
              <a:rPr lang="ru-RU" sz="3700" b="1" err="1">
                <a:latin typeface="Times New Roman" pitchFamily="18" charset="0"/>
                <a:cs typeface="Times New Roman" pitchFamily="18" charset="0"/>
              </a:rPr>
              <a:t>структури</a:t>
            </a:r>
            <a:r>
              <a:rPr lang="ru-RU" sz="3700" b="1">
                <a:latin typeface="Times New Roman" pitchFamily="18" charset="0"/>
                <a:cs typeface="Times New Roman" pitchFamily="18" charset="0"/>
              </a:rPr>
              <a:t> в </a:t>
            </a:r>
            <a:r>
              <a:rPr lang="ru-RU" sz="3700" b="1" err="1">
                <a:latin typeface="Times New Roman" pitchFamily="18" charset="0"/>
                <a:cs typeface="Times New Roman" pitchFamily="18" charset="0"/>
              </a:rPr>
              <a:t>Асемблера</a:t>
            </a:r>
            <a:r>
              <a:rPr lang="ru-RU" sz="5400">
                <a:latin typeface="Times New Roman" pitchFamily="18" charset="0"/>
                <a:cs typeface="Times New Roman" pitchFamily="18" charset="0"/>
              </a:rPr>
              <a:t>.</a:t>
            </a:r>
            <a:endParaRPr lang="bg-BG" sz="4000" b="1"/>
          </a:p>
        </p:txBody>
      </p:sp>
    </p:spTree>
    <p:extLst>
      <p:ext uri="{BB962C8B-B14F-4D97-AF65-F5344CB8AC3E}">
        <p14:creationId xmlns:p14="http://schemas.microsoft.com/office/powerpoint/2010/main" val="1106282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016" y="908720"/>
            <a:ext cx="8605464" cy="5705863"/>
          </a:xfrm>
        </p:spPr>
        <p:txBody>
          <a:bodyPr vert="horz" lIns="91440" tIns="45720" rIns="91440" bIns="45720" anchor="t">
            <a:noAutofit/>
          </a:bodyPr>
          <a:lstStyle/>
          <a:p>
            <a:pPr algn="just">
              <a:lnSpc>
                <a:spcPct val="122624"/>
              </a:lnSpc>
              <a:spcBef>
                <a:spcPts val="0"/>
              </a:spcBef>
            </a:pPr>
            <a:r>
              <a:rPr lang="bg-BG" sz="2100" b="1">
                <a:latin typeface="Times New Roman" pitchFamily="18" charset="0"/>
                <a:cs typeface="Times New Roman" pitchFamily="18" charset="0"/>
              </a:rPr>
              <a:t>Структури</a:t>
            </a:r>
            <a:endParaRPr lang="en-US" sz="2100" b="1">
              <a:latin typeface="Times New Roman" pitchFamily="18" charset="0"/>
              <a:cs typeface="Times New Roman" pitchFamily="18" charset="0"/>
            </a:endParaRPr>
          </a:p>
          <a:p>
            <a:pPr algn="just">
              <a:lnSpc>
                <a:spcPct val="150000"/>
              </a:lnSpc>
              <a:spcBef>
                <a:spcPts val="0"/>
              </a:spcBef>
            </a:pPr>
            <a:r>
              <a:rPr lang="ru-RU" sz="2100" err="1">
                <a:latin typeface="Times New Roman" pitchFamily="18" charset="0"/>
                <a:cs typeface="Times New Roman" pitchFamily="18" charset="0"/>
              </a:rPr>
              <a:t>Описанието</a:t>
            </a:r>
            <a:r>
              <a:rPr lang="ru-RU" sz="2100">
                <a:latin typeface="Times New Roman" pitchFamily="18" charset="0"/>
                <a:cs typeface="Times New Roman" pitchFamily="18" charset="0"/>
              </a:rPr>
              <a:t> на </a:t>
            </a:r>
            <a:r>
              <a:rPr lang="ru-RU" sz="2100" err="1">
                <a:latin typeface="Times New Roman" pitchFamily="18" charset="0"/>
                <a:cs typeface="Times New Roman" pitchFamily="18" charset="0"/>
              </a:rPr>
              <a:t>структурата</a:t>
            </a:r>
            <a:r>
              <a:rPr lang="ru-RU" sz="2100">
                <a:latin typeface="Times New Roman" pitchFamily="18" charset="0"/>
                <a:cs typeface="Times New Roman" pitchFamily="18" charset="0"/>
              </a:rPr>
              <a:t> има чисто </a:t>
            </a:r>
            <a:r>
              <a:rPr lang="ru-RU" sz="2100" err="1">
                <a:latin typeface="Times New Roman" pitchFamily="18" charset="0"/>
                <a:cs typeface="Times New Roman" pitchFamily="18" charset="0"/>
              </a:rPr>
              <a:t>информационен</a:t>
            </a:r>
            <a:r>
              <a:rPr lang="ru-RU" sz="2100">
                <a:latin typeface="Times New Roman" pitchFamily="18" charset="0"/>
                <a:cs typeface="Times New Roman" pitchFamily="18" charset="0"/>
              </a:rPr>
              <a:t> характер. </a:t>
            </a:r>
            <a:r>
              <a:rPr lang="ru-RU" sz="2100" err="1">
                <a:latin typeface="Times New Roman" pitchFamily="18" charset="0"/>
                <a:cs typeface="Times New Roman" pitchFamily="18" charset="0"/>
              </a:rPr>
              <a:t>Асемблерът</a:t>
            </a:r>
            <a:r>
              <a:rPr lang="ru-RU" sz="2100">
                <a:latin typeface="Times New Roman" pitchFamily="18" charset="0"/>
                <a:cs typeface="Times New Roman" pitchFamily="18" charset="0"/>
              </a:rPr>
              <a:t> не </a:t>
            </a:r>
            <a:r>
              <a:rPr lang="ru-RU" sz="2100" err="1">
                <a:latin typeface="Times New Roman" pitchFamily="18" charset="0"/>
                <a:cs typeface="Times New Roman" pitchFamily="18" charset="0"/>
              </a:rPr>
              <a:t>го</a:t>
            </a:r>
            <a:r>
              <a:rPr lang="ru-RU" sz="2100">
                <a:latin typeface="Times New Roman" pitchFamily="18" charset="0"/>
                <a:cs typeface="Times New Roman" pitchFamily="18" charset="0"/>
              </a:rPr>
              <a:t> включва в </a:t>
            </a:r>
            <a:r>
              <a:rPr lang="ru-RU" sz="2100" err="1">
                <a:latin typeface="Times New Roman" pitchFamily="18" charset="0"/>
                <a:cs typeface="Times New Roman" pitchFamily="18" charset="0"/>
              </a:rPr>
              <a:t>машинната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програма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затова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може</a:t>
            </a:r>
            <a:r>
              <a:rPr lang="ru-RU" sz="2100">
                <a:latin typeface="Times New Roman" pitchFamily="18" charset="0"/>
                <a:cs typeface="Times New Roman" pitchFamily="18" charset="0"/>
              </a:rPr>
              <a:t> да се </a:t>
            </a:r>
            <a:r>
              <a:rPr lang="ru-RU" sz="2100" err="1">
                <a:latin typeface="Times New Roman" pitchFamily="18" charset="0"/>
                <a:cs typeface="Times New Roman" pitchFamily="18" charset="0"/>
              </a:rPr>
              <a:t>срещне</a:t>
            </a:r>
            <a:r>
              <a:rPr lang="ru-RU" sz="2100">
                <a:latin typeface="Times New Roman" pitchFamily="18" charset="0"/>
                <a:cs typeface="Times New Roman" pitchFamily="18" charset="0"/>
              </a:rPr>
              <a:t> в </a:t>
            </a:r>
            <a:r>
              <a:rPr lang="ru-RU" sz="2100" err="1">
                <a:latin typeface="Times New Roman" pitchFamily="18" charset="0"/>
                <a:cs typeface="Times New Roman" pitchFamily="18" charset="0"/>
              </a:rPr>
              <a:t>произволно</a:t>
            </a:r>
            <a:r>
              <a:rPr lang="ru-RU" sz="2100">
                <a:latin typeface="Times New Roman" pitchFamily="18" charset="0"/>
                <a:cs typeface="Times New Roman" pitchFamily="18" charset="0"/>
              </a:rPr>
              <a:t> място на текста, но </a:t>
            </a:r>
            <a:r>
              <a:rPr lang="ru-RU" sz="2100" err="1">
                <a:latin typeface="Times New Roman" pitchFamily="18" charset="0"/>
                <a:cs typeface="Times New Roman" pitchFamily="18" charset="0"/>
              </a:rPr>
              <a:t>задължително</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преди</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описанието</a:t>
            </a:r>
            <a:r>
              <a:rPr lang="ru-RU" sz="2100">
                <a:latin typeface="Times New Roman" pitchFamily="18" charset="0"/>
                <a:cs typeface="Times New Roman" pitchFamily="18" charset="0"/>
              </a:rPr>
              <a:t> на </a:t>
            </a:r>
            <a:r>
              <a:rPr lang="ru-RU" sz="2100" err="1">
                <a:latin typeface="Times New Roman" pitchFamily="18" charset="0"/>
                <a:cs typeface="Times New Roman" pitchFamily="18" charset="0"/>
              </a:rPr>
              <a:t>променливите</a:t>
            </a:r>
            <a:r>
              <a:rPr lang="ru-RU" sz="2100">
                <a:latin typeface="Times New Roman" pitchFamily="18" charset="0"/>
                <a:cs typeface="Times New Roman" pitchFamily="18" charset="0"/>
              </a:rPr>
              <a:t> в този тип. </a:t>
            </a:r>
            <a:r>
              <a:rPr lang="ru-RU" sz="2100" err="1">
                <a:latin typeface="Times New Roman" pitchFamily="18" charset="0"/>
                <a:cs typeface="Times New Roman" pitchFamily="18" charset="0"/>
              </a:rPr>
              <a:t>Имената</a:t>
            </a:r>
            <a:r>
              <a:rPr lang="ru-RU" sz="2100">
                <a:latin typeface="Times New Roman" pitchFamily="18" charset="0"/>
                <a:cs typeface="Times New Roman" pitchFamily="18" charset="0"/>
              </a:rPr>
              <a:t> на </a:t>
            </a:r>
            <a:r>
              <a:rPr lang="ru-RU" sz="2100" err="1">
                <a:latin typeface="Times New Roman" pitchFamily="18" charset="0"/>
                <a:cs typeface="Times New Roman" pitchFamily="18" charset="0"/>
              </a:rPr>
              <a:t>отделните</a:t>
            </a:r>
            <a:r>
              <a:rPr lang="ru-RU" sz="2100">
                <a:latin typeface="Times New Roman" pitchFamily="18" charset="0"/>
                <a:cs typeface="Times New Roman" pitchFamily="18" charset="0"/>
              </a:rPr>
              <a:t> полета </a:t>
            </a:r>
            <a:r>
              <a:rPr lang="ru-RU" sz="2100" err="1">
                <a:latin typeface="Times New Roman" pitchFamily="18" charset="0"/>
                <a:cs typeface="Times New Roman" pitchFamily="18" charset="0"/>
              </a:rPr>
              <a:t>следва</a:t>
            </a:r>
            <a:r>
              <a:rPr lang="ru-RU" sz="2100">
                <a:latin typeface="Times New Roman" pitchFamily="18" charset="0"/>
                <a:cs typeface="Times New Roman" pitchFamily="18" charset="0"/>
              </a:rPr>
              <a:t> да са </a:t>
            </a:r>
            <a:r>
              <a:rPr lang="ru-RU" sz="2100" err="1">
                <a:latin typeface="Times New Roman" pitchFamily="18" charset="0"/>
                <a:cs typeface="Times New Roman" pitchFamily="18" charset="0"/>
              </a:rPr>
              <a:t>уникални</a:t>
            </a:r>
            <a:r>
              <a:rPr lang="ru-RU" sz="2100">
                <a:latin typeface="Times New Roman" pitchFamily="18" charset="0"/>
                <a:cs typeface="Times New Roman" pitchFamily="18" charset="0"/>
              </a:rPr>
              <a:t> и не трябва да </a:t>
            </a:r>
            <a:r>
              <a:rPr lang="ru-RU" sz="2100" err="1">
                <a:latin typeface="Times New Roman" pitchFamily="18" charset="0"/>
                <a:cs typeface="Times New Roman" pitchFamily="18" charset="0"/>
              </a:rPr>
              <a:t>съвпадат</a:t>
            </a:r>
            <a:r>
              <a:rPr lang="ru-RU" sz="2100">
                <a:latin typeface="Times New Roman" pitchFamily="18" charset="0"/>
                <a:cs typeface="Times New Roman" pitchFamily="18" charset="0"/>
              </a:rPr>
              <a:t> с </a:t>
            </a:r>
            <a:r>
              <a:rPr lang="ru-RU" sz="2100" err="1">
                <a:latin typeface="Times New Roman" pitchFamily="18" charset="0"/>
                <a:cs typeface="Times New Roman" pitchFamily="18" charset="0"/>
              </a:rPr>
              <a:t>имената</a:t>
            </a:r>
            <a:r>
              <a:rPr lang="ru-RU" sz="2100">
                <a:latin typeface="Times New Roman" pitchFamily="18" charset="0"/>
                <a:cs typeface="Times New Roman" pitchFamily="18" charset="0"/>
              </a:rPr>
              <a:t> на други </a:t>
            </a:r>
            <a:r>
              <a:rPr lang="ru-RU" sz="2100" err="1">
                <a:latin typeface="Times New Roman" pitchFamily="18" charset="0"/>
                <a:cs typeface="Times New Roman" pitchFamily="18" charset="0"/>
              </a:rPr>
              <a:t>обекти</a:t>
            </a:r>
            <a:r>
              <a:rPr lang="ru-RU" sz="2100">
                <a:latin typeface="Times New Roman" pitchFamily="18" charset="0"/>
                <a:cs typeface="Times New Roman" pitchFamily="18" charset="0"/>
              </a:rPr>
              <a:t> в </a:t>
            </a:r>
            <a:r>
              <a:rPr lang="ru-RU" sz="2100" err="1">
                <a:latin typeface="Times New Roman" pitchFamily="18" charset="0"/>
                <a:cs typeface="Times New Roman" pitchFamily="18" charset="0"/>
              </a:rPr>
              <a:t>програмата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Полетата</a:t>
            </a:r>
            <a:r>
              <a:rPr lang="ru-RU" sz="2100">
                <a:latin typeface="Times New Roman" pitchFamily="18" charset="0"/>
                <a:cs typeface="Times New Roman" pitchFamily="18" charset="0"/>
              </a:rPr>
              <a:t> не могат да </a:t>
            </a:r>
            <a:r>
              <a:rPr lang="ru-RU" sz="2100" err="1">
                <a:latin typeface="Times New Roman" pitchFamily="18" charset="0"/>
                <a:cs typeface="Times New Roman" pitchFamily="18" charset="0"/>
              </a:rPr>
              <a:t>бъдат</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структури</a:t>
            </a:r>
            <a:r>
              <a:rPr lang="ru-RU" sz="2100">
                <a:latin typeface="Times New Roman" pitchFamily="18" charset="0"/>
                <a:cs typeface="Times New Roman" pitchFamily="18" charset="0"/>
              </a:rPr>
              <a:t>, т.е. </a:t>
            </a:r>
            <a:r>
              <a:rPr lang="ru-RU" sz="2100" err="1">
                <a:latin typeface="Times New Roman" pitchFamily="18" charset="0"/>
                <a:cs typeface="Times New Roman" pitchFamily="18" charset="0"/>
              </a:rPr>
              <a:t>Асемблер</a:t>
            </a:r>
            <a:r>
              <a:rPr lang="ru-RU" sz="2100">
                <a:latin typeface="Times New Roman" pitchFamily="18" charset="0"/>
                <a:cs typeface="Times New Roman" pitchFamily="18" charset="0"/>
              </a:rPr>
              <a:t> не допуска </a:t>
            </a:r>
            <a:r>
              <a:rPr lang="ru-RU" sz="2100" err="1">
                <a:latin typeface="Times New Roman" pitchFamily="18" charset="0"/>
                <a:cs typeface="Times New Roman" pitchFamily="18" charset="0"/>
              </a:rPr>
              <a:t>вложени</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структури</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Директивите</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описващи</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отделните</a:t>
            </a:r>
            <a:r>
              <a:rPr lang="ru-RU" sz="2100">
                <a:latin typeface="Times New Roman" pitchFamily="18" charset="0"/>
                <a:cs typeface="Times New Roman" pitchFamily="18" charset="0"/>
              </a:rPr>
              <a:t> полета, могат да им </a:t>
            </a:r>
            <a:r>
              <a:rPr lang="ru-RU" sz="2100" err="1">
                <a:latin typeface="Times New Roman" pitchFamily="18" charset="0"/>
                <a:cs typeface="Times New Roman" pitchFamily="18" charset="0"/>
              </a:rPr>
              <a:t>назначават</a:t>
            </a:r>
            <a:r>
              <a:rPr lang="ru-RU" sz="2100">
                <a:latin typeface="Times New Roman" pitchFamily="18" charset="0"/>
                <a:cs typeface="Times New Roman" pitchFamily="18" charset="0"/>
              </a:rPr>
              <a:t> определена или </a:t>
            </a:r>
            <a:r>
              <a:rPr lang="ru-RU" sz="2100" err="1">
                <a:latin typeface="Times New Roman" pitchFamily="18" charset="0"/>
                <a:cs typeface="Times New Roman" pitchFamily="18" charset="0"/>
              </a:rPr>
              <a:t>неопределена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стойност</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Имената</a:t>
            </a:r>
            <a:r>
              <a:rPr lang="ru-RU" sz="2100">
                <a:latin typeface="Times New Roman" pitchFamily="18" charset="0"/>
                <a:cs typeface="Times New Roman" pitchFamily="18" charset="0"/>
              </a:rPr>
              <a:t> на </a:t>
            </a:r>
            <a:r>
              <a:rPr lang="ru-RU" sz="2100" err="1">
                <a:latin typeface="Times New Roman" pitchFamily="18" charset="0"/>
                <a:cs typeface="Times New Roman" pitchFamily="18" charset="0"/>
              </a:rPr>
              <a:t>полетата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имат</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стойност</a:t>
            </a:r>
            <a:r>
              <a:rPr lang="ru-RU" sz="2100">
                <a:latin typeface="Times New Roman" pitchFamily="18" charset="0"/>
                <a:cs typeface="Times New Roman" pitchFamily="18" charset="0"/>
              </a:rPr>
              <a:t> на </a:t>
            </a:r>
            <a:r>
              <a:rPr lang="ru-RU" sz="2100" err="1">
                <a:latin typeface="Times New Roman" pitchFamily="18" charset="0"/>
                <a:cs typeface="Times New Roman" pitchFamily="18" charset="0"/>
              </a:rPr>
              <a:t>отместване</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спрямо</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началото</a:t>
            </a:r>
            <a:r>
              <a:rPr lang="ru-RU" sz="2100">
                <a:latin typeface="Times New Roman" pitchFamily="18" charset="0"/>
                <a:cs typeface="Times New Roman" pitchFamily="18" charset="0"/>
              </a:rPr>
              <a:t> на </a:t>
            </a:r>
            <a:r>
              <a:rPr lang="ru-RU" sz="2100" err="1">
                <a:latin typeface="Times New Roman" pitchFamily="18" charset="0"/>
                <a:cs typeface="Times New Roman" pitchFamily="18" charset="0"/>
              </a:rPr>
              <a:t>структурата</a:t>
            </a:r>
            <a:r>
              <a:rPr lang="ru-RU" sz="2100">
                <a:latin typeface="Times New Roman" pitchFamily="18" charset="0"/>
                <a:cs typeface="Times New Roman" pitchFamily="18" charset="0"/>
              </a:rPr>
              <a:t>. </a:t>
            </a:r>
            <a:endParaRPr lang="bg-BG" sz="2100">
              <a:latin typeface="Times New Roman" pitchFamily="18" charset="0"/>
              <a:cs typeface="Times New Roman" pitchFamily="18" charset="0"/>
            </a:endParaRPr>
          </a:p>
        </p:txBody>
      </p:sp>
      <p:sp>
        <p:nvSpPr>
          <p:cNvPr id="4" name="Title 1"/>
          <p:cNvSpPr>
            <a:spLocks noGrp="1"/>
          </p:cNvSpPr>
          <p:nvPr>
            <p:ph type="title"/>
          </p:nvPr>
        </p:nvSpPr>
        <p:spPr>
          <a:xfrm>
            <a:off x="493204" y="188640"/>
            <a:ext cx="8229600" cy="854968"/>
          </a:xfrm>
        </p:spPr>
        <p:txBody>
          <a:bodyPr>
            <a:normAutofit fontScale="90000"/>
          </a:bodyPr>
          <a:lstStyle/>
          <a:p>
            <a:r>
              <a:rPr lang="en-US" sz="3700" b="1">
                <a:latin typeface="Times New Roman" pitchFamily="18" charset="0"/>
                <a:cs typeface="Times New Roman" pitchFamily="18" charset="0"/>
              </a:rPr>
              <a:t> </a:t>
            </a:r>
            <a:r>
              <a:rPr lang="ru-RU" sz="3700" b="1" err="1">
                <a:latin typeface="Times New Roman" pitchFamily="18" charset="0"/>
                <a:cs typeface="Times New Roman" pitchFamily="18" charset="0"/>
              </a:rPr>
              <a:t>Масиви</a:t>
            </a:r>
            <a:r>
              <a:rPr lang="ru-RU" sz="3700" b="1">
                <a:latin typeface="Times New Roman" pitchFamily="18" charset="0"/>
                <a:cs typeface="Times New Roman" pitchFamily="18" charset="0"/>
              </a:rPr>
              <a:t> и </a:t>
            </a:r>
            <a:r>
              <a:rPr lang="ru-RU" sz="3700" b="1" err="1">
                <a:latin typeface="Times New Roman" pitchFamily="18" charset="0"/>
                <a:cs typeface="Times New Roman" pitchFamily="18" charset="0"/>
              </a:rPr>
              <a:t>структури</a:t>
            </a:r>
            <a:r>
              <a:rPr lang="ru-RU" sz="3700" b="1">
                <a:latin typeface="Times New Roman" pitchFamily="18" charset="0"/>
                <a:cs typeface="Times New Roman" pitchFamily="18" charset="0"/>
              </a:rPr>
              <a:t> в </a:t>
            </a:r>
            <a:r>
              <a:rPr lang="ru-RU" sz="3700" b="1" err="1">
                <a:latin typeface="Times New Roman" pitchFamily="18" charset="0"/>
                <a:cs typeface="Times New Roman" pitchFamily="18" charset="0"/>
              </a:rPr>
              <a:t>Асемблера</a:t>
            </a:r>
            <a:r>
              <a:rPr lang="ru-RU" sz="5400">
                <a:latin typeface="Times New Roman" pitchFamily="18" charset="0"/>
                <a:cs typeface="Times New Roman" pitchFamily="18" charset="0"/>
              </a:rPr>
              <a:t>.</a:t>
            </a:r>
            <a:endParaRPr lang="bg-BG" sz="4000" b="1"/>
          </a:p>
        </p:txBody>
      </p:sp>
    </p:spTree>
    <p:extLst>
      <p:ext uri="{BB962C8B-B14F-4D97-AF65-F5344CB8AC3E}">
        <p14:creationId xmlns:p14="http://schemas.microsoft.com/office/powerpoint/2010/main" val="1768914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016" y="1124744"/>
            <a:ext cx="8605464" cy="5489839"/>
          </a:xfrm>
        </p:spPr>
        <p:txBody>
          <a:bodyPr vert="horz" lIns="91440" tIns="45720" rIns="91440" bIns="45720" anchor="t">
            <a:noAutofit/>
          </a:bodyPr>
          <a:lstStyle/>
          <a:p>
            <a:pPr algn="just">
              <a:lnSpc>
                <a:spcPct val="122624"/>
              </a:lnSpc>
              <a:spcBef>
                <a:spcPts val="0"/>
              </a:spcBef>
            </a:pPr>
            <a:r>
              <a:rPr lang="ru-RU" sz="2100" b="1">
                <a:latin typeface="Times New Roman" pitchFamily="18" charset="0"/>
                <a:cs typeface="Times New Roman" pitchFamily="18" charset="0"/>
              </a:rPr>
              <a:t>Описание на </a:t>
            </a:r>
            <a:r>
              <a:rPr lang="ru-RU" sz="2100" b="1" err="1">
                <a:latin typeface="Times New Roman" pitchFamily="18" charset="0"/>
                <a:cs typeface="Times New Roman" pitchFamily="18" charset="0"/>
              </a:rPr>
              <a:t>променливи-структури</a:t>
            </a:r>
            <a:r>
              <a:rPr lang="ru-RU" sz="2100" b="1">
                <a:latin typeface="Times New Roman" pitchFamily="18" charset="0"/>
                <a:cs typeface="Times New Roman" pitchFamily="18" charset="0"/>
              </a:rPr>
              <a:t>.</a:t>
            </a:r>
            <a:endParaRPr lang="en-US"/>
          </a:p>
          <a:p>
            <a:pPr algn="just">
              <a:lnSpc>
                <a:spcPct val="122624"/>
              </a:lnSpc>
              <a:spcBef>
                <a:spcPts val="0"/>
              </a:spcBef>
            </a:pPr>
            <a:r>
              <a:rPr lang="ru-RU" sz="2100">
                <a:latin typeface="Times New Roman" pitchFamily="18" charset="0"/>
                <a:cs typeface="Times New Roman" pitchFamily="18" charset="0"/>
              </a:rPr>
              <a:t>След като е определен </a:t>
            </a:r>
            <a:r>
              <a:rPr lang="ru-RU" sz="2100" err="1">
                <a:latin typeface="Times New Roman" pitchFamily="18" charset="0"/>
                <a:cs typeface="Times New Roman" pitchFamily="18" charset="0"/>
              </a:rPr>
              <a:t>типът</a:t>
            </a:r>
            <a:r>
              <a:rPr lang="ru-RU" sz="2100">
                <a:latin typeface="Times New Roman" pitchFamily="18" charset="0"/>
                <a:cs typeface="Times New Roman" pitchFamily="18" charset="0"/>
              </a:rPr>
              <a:t> на </a:t>
            </a:r>
            <a:r>
              <a:rPr lang="ru-RU" sz="2100" err="1">
                <a:latin typeface="Times New Roman" pitchFamily="18" charset="0"/>
                <a:cs typeface="Times New Roman" pitchFamily="18" charset="0"/>
              </a:rPr>
              <a:t>структурата</a:t>
            </a:r>
            <a:r>
              <a:rPr lang="ru-RU" sz="2100">
                <a:latin typeface="Times New Roman" pitchFamily="18" charset="0"/>
                <a:cs typeface="Times New Roman" pitchFamily="18" charset="0"/>
              </a:rPr>
              <a:t>, в </a:t>
            </a:r>
            <a:r>
              <a:rPr lang="ru-RU" sz="2100" err="1">
                <a:latin typeface="Times New Roman" pitchFamily="18" charset="0"/>
                <a:cs typeface="Times New Roman" pitchFamily="18" charset="0"/>
              </a:rPr>
              <a:t>програмата</a:t>
            </a:r>
            <a:r>
              <a:rPr lang="ru-RU" sz="2100">
                <a:latin typeface="Times New Roman" pitchFamily="18" charset="0"/>
                <a:cs typeface="Times New Roman" pitchFamily="18" charset="0"/>
              </a:rPr>
              <a:t> могат да </a:t>
            </a:r>
            <a:r>
              <a:rPr lang="ru-RU" sz="2100" err="1">
                <a:latin typeface="Times New Roman" pitchFamily="18" charset="0"/>
                <a:cs typeface="Times New Roman" pitchFamily="18" charset="0"/>
              </a:rPr>
              <a:t>бъдат</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дефинирани</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променливи</a:t>
            </a:r>
            <a:r>
              <a:rPr lang="ru-RU" sz="2100">
                <a:latin typeface="Times New Roman" pitchFamily="18" charset="0"/>
                <a:cs typeface="Times New Roman" pitchFamily="18" charset="0"/>
              </a:rPr>
              <a:t> от този тип, с което за тях </a:t>
            </a:r>
            <a:r>
              <a:rPr lang="ru-RU" sz="2100" err="1">
                <a:latin typeface="Times New Roman" pitchFamily="18" charset="0"/>
                <a:cs typeface="Times New Roman" pitchFamily="18" charset="0"/>
              </a:rPr>
              <a:t>ще</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бъде</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определяно</a:t>
            </a:r>
            <a:r>
              <a:rPr lang="ru-RU" sz="2100">
                <a:latin typeface="Times New Roman" pitchFamily="18" charset="0"/>
                <a:cs typeface="Times New Roman" pitchFamily="18" charset="0"/>
              </a:rPr>
              <a:t> адресно пространство в </a:t>
            </a:r>
            <a:r>
              <a:rPr lang="ru-RU" sz="2100" err="1">
                <a:latin typeface="Times New Roman" pitchFamily="18" charset="0"/>
                <a:cs typeface="Times New Roman" pitchFamily="18" charset="0"/>
              </a:rPr>
              <a:t>паметта</a:t>
            </a:r>
            <a:r>
              <a:rPr lang="ru-RU" sz="2100">
                <a:latin typeface="Times New Roman" pitchFamily="18" charset="0"/>
                <a:cs typeface="Times New Roman" pitchFamily="18" charset="0"/>
              </a:rPr>
              <a:t>. Тези </a:t>
            </a:r>
            <a:r>
              <a:rPr lang="ru-RU" sz="2100" err="1">
                <a:latin typeface="Times New Roman" pitchFamily="18" charset="0"/>
                <a:cs typeface="Times New Roman" pitchFamily="18" charset="0"/>
              </a:rPr>
              <a:t>променливи</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ще</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наричаме</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структурни</a:t>
            </a:r>
            <a:r>
              <a:rPr lang="ru-RU" sz="2100">
                <a:latin typeface="Times New Roman" pitchFamily="18" charset="0"/>
                <a:cs typeface="Times New Roman" pitchFamily="18" charset="0"/>
              </a:rPr>
              <a:t>. Те се </a:t>
            </a:r>
            <a:r>
              <a:rPr lang="ru-RU" sz="2100" err="1">
                <a:latin typeface="Times New Roman" pitchFamily="18" charset="0"/>
                <a:cs typeface="Times New Roman" pitchFamily="18" charset="0"/>
              </a:rPr>
              <a:t>описват</a:t>
            </a:r>
            <a:r>
              <a:rPr lang="ru-RU" sz="2100">
                <a:latin typeface="Times New Roman" pitchFamily="18" charset="0"/>
                <a:cs typeface="Times New Roman" pitchFamily="18" charset="0"/>
              </a:rPr>
              <a:t> с помощта на </a:t>
            </a:r>
            <a:r>
              <a:rPr lang="ru-RU" sz="2100" err="1">
                <a:latin typeface="Times New Roman" pitchFamily="18" charset="0"/>
                <a:cs typeface="Times New Roman" pitchFamily="18" charset="0"/>
              </a:rPr>
              <a:t>следната</a:t>
            </a:r>
            <a:r>
              <a:rPr lang="ru-RU" sz="2100">
                <a:latin typeface="Times New Roman" pitchFamily="18" charset="0"/>
                <a:cs typeface="Times New Roman" pitchFamily="18" charset="0"/>
              </a:rPr>
              <a:t> директива: </a:t>
            </a:r>
          </a:p>
          <a:p>
            <a:pPr algn="just">
              <a:lnSpc>
                <a:spcPct val="122624"/>
              </a:lnSpc>
              <a:spcBef>
                <a:spcPts val="0"/>
              </a:spcBef>
            </a:pPr>
            <a:r>
              <a:rPr lang="ru-RU" sz="2100" err="1">
                <a:latin typeface="Times New Roman" pitchFamily="18" charset="0"/>
                <a:cs typeface="Times New Roman" pitchFamily="18" charset="0"/>
              </a:rPr>
              <a:t>име</a:t>
            </a:r>
            <a:r>
              <a:rPr lang="ru-RU" sz="2100">
                <a:latin typeface="Times New Roman" pitchFamily="18" charset="0"/>
                <a:cs typeface="Times New Roman" pitchFamily="18" charset="0"/>
              </a:rPr>
              <a:t> на </a:t>
            </a:r>
            <a:r>
              <a:rPr lang="ru-RU" sz="2100" err="1">
                <a:latin typeface="Times New Roman" pitchFamily="18" charset="0"/>
                <a:cs typeface="Times New Roman" pitchFamily="18" charset="0"/>
              </a:rPr>
              <a:t>променлива</a:t>
            </a:r>
            <a:r>
              <a:rPr lang="ru-RU" sz="2100">
                <a:latin typeface="Times New Roman" pitchFamily="18" charset="0"/>
                <a:cs typeface="Times New Roman" pitchFamily="18" charset="0"/>
              </a:rPr>
              <a:t>  &lt;</a:t>
            </a:r>
            <a:r>
              <a:rPr lang="ru-RU" sz="2100" err="1">
                <a:latin typeface="Times New Roman" pitchFamily="18" charset="0"/>
                <a:cs typeface="Times New Roman" pitchFamily="18" charset="0"/>
              </a:rPr>
              <a:t>име</a:t>
            </a:r>
            <a:r>
              <a:rPr lang="ru-RU" sz="2100">
                <a:latin typeface="Times New Roman" pitchFamily="18" charset="0"/>
                <a:cs typeface="Times New Roman" pitchFamily="18" charset="0"/>
              </a:rPr>
              <a:t> на тип&gt;  &lt;</a:t>
            </a:r>
            <a:r>
              <a:rPr lang="ru-RU" sz="2100" err="1">
                <a:latin typeface="Times New Roman" pitchFamily="18" charset="0"/>
                <a:cs typeface="Times New Roman" pitchFamily="18" charset="0"/>
              </a:rPr>
              <a:t>начална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стойност</a:t>
            </a:r>
            <a:r>
              <a:rPr lang="ru-RU" sz="2100">
                <a:latin typeface="Times New Roman" pitchFamily="18" charset="0"/>
                <a:cs typeface="Times New Roman" pitchFamily="18" charset="0"/>
              </a:rPr>
              <a:t> {, </a:t>
            </a:r>
            <a:r>
              <a:rPr lang="ru-RU" sz="2100" err="1">
                <a:latin typeface="Times New Roman" pitchFamily="18" charset="0"/>
                <a:cs typeface="Times New Roman" pitchFamily="18" charset="0"/>
              </a:rPr>
              <a:t>начална</a:t>
            </a:r>
            <a:r>
              <a:rPr lang="ru-RU" sz="2100">
                <a:latin typeface="Times New Roman" pitchFamily="18" charset="0"/>
                <a:cs typeface="Times New Roman" pitchFamily="18" charset="0"/>
              </a:rPr>
              <a:t> ст.}&gt; </a:t>
            </a:r>
          </a:p>
          <a:p>
            <a:pPr algn="just">
              <a:lnSpc>
                <a:spcPct val="122624"/>
              </a:lnSpc>
              <a:spcBef>
                <a:spcPts val="0"/>
              </a:spcBef>
            </a:pPr>
            <a:r>
              <a:rPr lang="bg-BG" sz="2100">
                <a:latin typeface="Times New Roman" pitchFamily="18" charset="0"/>
                <a:cs typeface="Times New Roman" pitchFamily="18" charset="0"/>
              </a:rPr>
              <a:t>                                     </a:t>
            </a:r>
            <a:r>
              <a:rPr lang="en-US" sz="2100">
                <a:latin typeface="Times New Roman" pitchFamily="18" charset="0"/>
                <a:cs typeface="Times New Roman" pitchFamily="18" charset="0"/>
              </a:rPr>
              <a:t>DT1  DATE  &lt;?, 6, 9&gt;</a:t>
            </a:r>
            <a:endParaRPr lang="bg-BG" sz="2100">
              <a:latin typeface="Times New Roman" pitchFamily="18" charset="0"/>
              <a:cs typeface="Times New Roman" pitchFamily="18" charset="0"/>
            </a:endParaRPr>
          </a:p>
          <a:p>
            <a:pPr algn="just">
              <a:lnSpc>
                <a:spcPct val="122624"/>
              </a:lnSpc>
              <a:spcBef>
                <a:spcPts val="0"/>
              </a:spcBef>
            </a:pPr>
            <a:r>
              <a:rPr lang="ru-RU" sz="2100">
                <a:latin typeface="Times New Roman" pitchFamily="18" charset="0"/>
                <a:cs typeface="Times New Roman" pitchFamily="18" charset="0"/>
              </a:rPr>
              <a:t>Тези </a:t>
            </a:r>
            <a:r>
              <a:rPr lang="ru-RU" sz="2100" err="1">
                <a:latin typeface="Times New Roman" pitchFamily="18" charset="0"/>
                <a:cs typeface="Times New Roman" pitchFamily="18" charset="0"/>
              </a:rPr>
              <a:t>директиви</a:t>
            </a:r>
            <a:r>
              <a:rPr lang="ru-RU" sz="2100">
                <a:latin typeface="Times New Roman" pitchFamily="18" charset="0"/>
                <a:cs typeface="Times New Roman" pitchFamily="18" charset="0"/>
              </a:rPr>
              <a:t> се </a:t>
            </a:r>
            <a:r>
              <a:rPr lang="ru-RU" sz="2100" err="1">
                <a:latin typeface="Times New Roman" pitchFamily="18" charset="0"/>
                <a:cs typeface="Times New Roman" pitchFamily="18" charset="0"/>
              </a:rPr>
              <a:t>именуват</a:t>
            </a:r>
            <a:r>
              <a:rPr lang="ru-RU" sz="2100">
                <a:latin typeface="Times New Roman" pitchFamily="18" charset="0"/>
                <a:cs typeface="Times New Roman" pitchFamily="18" charset="0"/>
              </a:rPr>
              <a:t> от потребителя. За всяка </a:t>
            </a:r>
            <a:r>
              <a:rPr lang="ru-RU" sz="2100" err="1">
                <a:latin typeface="Times New Roman" pitchFamily="18" charset="0"/>
                <a:cs typeface="Times New Roman" pitchFamily="18" charset="0"/>
              </a:rPr>
              <a:t>променлива</a:t>
            </a:r>
            <a:r>
              <a:rPr lang="ru-RU" sz="2100">
                <a:latin typeface="Times New Roman" pitchFamily="18" charset="0"/>
                <a:cs typeface="Times New Roman" pitchFamily="18" charset="0"/>
              </a:rPr>
              <a:t> от типа DATE се </a:t>
            </a:r>
            <a:r>
              <a:rPr lang="ru-RU" sz="2100" err="1">
                <a:latin typeface="Times New Roman" pitchFamily="18" charset="0"/>
                <a:cs typeface="Times New Roman" pitchFamily="18" charset="0"/>
              </a:rPr>
              <a:t>заделят</a:t>
            </a:r>
            <a:r>
              <a:rPr lang="ru-RU" sz="2100">
                <a:latin typeface="Times New Roman" pitchFamily="18" charset="0"/>
                <a:cs typeface="Times New Roman" pitchFamily="18" charset="0"/>
              </a:rPr>
              <a:t> 4 байта в ОП. В </a:t>
            </a:r>
            <a:r>
              <a:rPr lang="ru-RU" sz="2100" err="1">
                <a:latin typeface="Times New Roman" pitchFamily="18" charset="0"/>
                <a:cs typeface="Times New Roman" pitchFamily="18" charset="0"/>
              </a:rPr>
              <a:t>ъгловите</a:t>
            </a:r>
            <a:r>
              <a:rPr lang="ru-RU" sz="2100">
                <a:latin typeface="Times New Roman" pitchFamily="18" charset="0"/>
                <a:cs typeface="Times New Roman" pitchFamily="18" charset="0"/>
              </a:rPr>
              <a:t> скоби се </a:t>
            </a:r>
            <a:r>
              <a:rPr lang="ru-RU" sz="2100" err="1">
                <a:latin typeface="Times New Roman" pitchFamily="18" charset="0"/>
                <a:cs typeface="Times New Roman" pitchFamily="18" charset="0"/>
              </a:rPr>
              <a:t>намира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списъкът</a:t>
            </a:r>
            <a:r>
              <a:rPr lang="ru-RU" sz="2100">
                <a:latin typeface="Times New Roman" pitchFamily="18" charset="0"/>
                <a:cs typeface="Times New Roman" pitchFamily="18" charset="0"/>
              </a:rPr>
              <a:t> с </a:t>
            </a:r>
            <a:r>
              <a:rPr lang="ru-RU" sz="2100" err="1">
                <a:latin typeface="Times New Roman" pitchFamily="18" charset="0"/>
                <a:cs typeface="Times New Roman" pitchFamily="18" charset="0"/>
              </a:rPr>
              <a:t>началните</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стойности</a:t>
            </a:r>
            <a:r>
              <a:rPr lang="ru-RU" sz="2100">
                <a:latin typeface="Times New Roman" pitchFamily="18" charset="0"/>
                <a:cs typeface="Times New Roman" pitchFamily="18" charset="0"/>
              </a:rPr>
              <a:t> на всяко от </a:t>
            </a:r>
            <a:r>
              <a:rPr lang="ru-RU" sz="2100" err="1">
                <a:latin typeface="Times New Roman" pitchFamily="18" charset="0"/>
                <a:cs typeface="Times New Roman" pitchFamily="18" charset="0"/>
              </a:rPr>
              <a:t>полетата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подредени</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отляво</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надясно</a:t>
            </a:r>
            <a:r>
              <a:rPr lang="ru-RU" sz="2100">
                <a:latin typeface="Times New Roman" pitchFamily="18" charset="0"/>
                <a:cs typeface="Times New Roman" pitchFamily="18" charset="0"/>
              </a:rPr>
              <a:t> така, </a:t>
            </a:r>
            <a:r>
              <a:rPr lang="ru-RU" sz="2100" err="1">
                <a:latin typeface="Times New Roman" pitchFamily="18" charset="0"/>
                <a:cs typeface="Times New Roman" pitchFamily="18" charset="0"/>
              </a:rPr>
              <a:t>както</a:t>
            </a:r>
            <a:r>
              <a:rPr lang="ru-RU" sz="2100">
                <a:latin typeface="Times New Roman" pitchFamily="18" charset="0"/>
                <a:cs typeface="Times New Roman" pitchFamily="18" charset="0"/>
              </a:rPr>
              <a:t> са </a:t>
            </a:r>
            <a:r>
              <a:rPr lang="ru-RU" sz="2100" err="1">
                <a:latin typeface="Times New Roman" pitchFamily="18" charset="0"/>
                <a:cs typeface="Times New Roman" pitchFamily="18" charset="0"/>
              </a:rPr>
              <a:t>декларирани</a:t>
            </a:r>
            <a:r>
              <a:rPr lang="ru-RU" sz="2100">
                <a:latin typeface="Times New Roman" pitchFamily="18" charset="0"/>
                <a:cs typeface="Times New Roman" pitchFamily="18" charset="0"/>
              </a:rPr>
              <a:t> в типа на </a:t>
            </a:r>
            <a:r>
              <a:rPr lang="ru-RU" sz="2100" err="1">
                <a:latin typeface="Times New Roman" pitchFamily="18" charset="0"/>
                <a:cs typeface="Times New Roman" pitchFamily="18" charset="0"/>
              </a:rPr>
              <a:t>структурата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Естествено</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началните</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стойности</a:t>
            </a:r>
            <a:r>
              <a:rPr lang="ru-RU" sz="2100">
                <a:latin typeface="Times New Roman" pitchFamily="18" charset="0"/>
                <a:cs typeface="Times New Roman" pitchFamily="18" charset="0"/>
              </a:rPr>
              <a:t> трябва да са </a:t>
            </a:r>
            <a:r>
              <a:rPr lang="ru-RU" sz="2100" err="1">
                <a:latin typeface="Times New Roman" pitchFamily="18" charset="0"/>
                <a:cs typeface="Times New Roman" pitchFamily="18" charset="0"/>
              </a:rPr>
              <a:t>представими</a:t>
            </a:r>
            <a:r>
              <a:rPr lang="ru-RU" sz="2100">
                <a:latin typeface="Times New Roman" pitchFamily="18" charset="0"/>
                <a:cs typeface="Times New Roman" pitchFamily="18" charset="0"/>
              </a:rPr>
              <a:t> в </a:t>
            </a:r>
            <a:r>
              <a:rPr lang="ru-RU" sz="2100" err="1">
                <a:latin typeface="Times New Roman" pitchFamily="18" charset="0"/>
                <a:cs typeface="Times New Roman" pitchFamily="18" charset="0"/>
              </a:rPr>
              <a:t>своите</a:t>
            </a:r>
            <a:r>
              <a:rPr lang="ru-RU" sz="2100">
                <a:latin typeface="Times New Roman" pitchFamily="18" charset="0"/>
                <a:cs typeface="Times New Roman" pitchFamily="18" charset="0"/>
              </a:rPr>
              <a:t> полета, в противен случай се </a:t>
            </a:r>
            <a:r>
              <a:rPr lang="ru-RU" sz="2100" err="1">
                <a:latin typeface="Times New Roman" pitchFamily="18" charset="0"/>
                <a:cs typeface="Times New Roman" pitchFamily="18" charset="0"/>
              </a:rPr>
              <a:t>фиксира</a:t>
            </a:r>
            <a:r>
              <a:rPr lang="ru-RU" sz="2100">
                <a:latin typeface="Times New Roman" pitchFamily="18" charset="0"/>
                <a:cs typeface="Times New Roman" pitchFamily="18" charset="0"/>
              </a:rPr>
              <a:t> грешка.  </a:t>
            </a:r>
            <a:endParaRPr lang="bg-BG" sz="2100">
              <a:latin typeface="Times New Roman" pitchFamily="18" charset="0"/>
              <a:cs typeface="Times New Roman" pitchFamily="18" charset="0"/>
            </a:endParaRPr>
          </a:p>
        </p:txBody>
      </p:sp>
      <p:sp>
        <p:nvSpPr>
          <p:cNvPr id="4" name="Title 1"/>
          <p:cNvSpPr>
            <a:spLocks noGrp="1"/>
          </p:cNvSpPr>
          <p:nvPr>
            <p:ph type="title"/>
          </p:nvPr>
        </p:nvSpPr>
        <p:spPr>
          <a:xfrm>
            <a:off x="493204" y="188640"/>
            <a:ext cx="8229600" cy="854968"/>
          </a:xfrm>
        </p:spPr>
        <p:txBody>
          <a:bodyPr>
            <a:normAutofit fontScale="90000"/>
          </a:bodyPr>
          <a:lstStyle/>
          <a:p>
            <a:r>
              <a:rPr lang="en-US" sz="3700" b="1">
                <a:latin typeface="Times New Roman" pitchFamily="18" charset="0"/>
                <a:cs typeface="Times New Roman" pitchFamily="18" charset="0"/>
              </a:rPr>
              <a:t> </a:t>
            </a:r>
            <a:r>
              <a:rPr lang="ru-RU" sz="3700" b="1" err="1">
                <a:latin typeface="Times New Roman" pitchFamily="18" charset="0"/>
                <a:cs typeface="Times New Roman" pitchFamily="18" charset="0"/>
              </a:rPr>
              <a:t>Масиви</a:t>
            </a:r>
            <a:r>
              <a:rPr lang="ru-RU" sz="3700" b="1">
                <a:latin typeface="Times New Roman" pitchFamily="18" charset="0"/>
                <a:cs typeface="Times New Roman" pitchFamily="18" charset="0"/>
              </a:rPr>
              <a:t> и </a:t>
            </a:r>
            <a:r>
              <a:rPr lang="ru-RU" sz="3700" b="1" err="1">
                <a:latin typeface="Times New Roman" pitchFamily="18" charset="0"/>
                <a:cs typeface="Times New Roman" pitchFamily="18" charset="0"/>
              </a:rPr>
              <a:t>структури</a:t>
            </a:r>
            <a:r>
              <a:rPr lang="ru-RU" sz="3700" b="1">
                <a:latin typeface="Times New Roman" pitchFamily="18" charset="0"/>
                <a:cs typeface="Times New Roman" pitchFamily="18" charset="0"/>
              </a:rPr>
              <a:t> в </a:t>
            </a:r>
            <a:r>
              <a:rPr lang="ru-RU" sz="3700" b="1" err="1">
                <a:latin typeface="Times New Roman" pitchFamily="18" charset="0"/>
                <a:cs typeface="Times New Roman" pitchFamily="18" charset="0"/>
              </a:rPr>
              <a:t>Асемблера</a:t>
            </a:r>
            <a:r>
              <a:rPr lang="ru-RU" sz="5400">
                <a:latin typeface="Times New Roman" pitchFamily="18" charset="0"/>
                <a:cs typeface="Times New Roman" pitchFamily="18" charset="0"/>
              </a:rPr>
              <a:t>.</a:t>
            </a:r>
            <a:endParaRPr lang="bg-BG" sz="4000" b="1"/>
          </a:p>
        </p:txBody>
      </p:sp>
    </p:spTree>
    <p:extLst>
      <p:ext uri="{BB962C8B-B14F-4D97-AF65-F5344CB8AC3E}">
        <p14:creationId xmlns:p14="http://schemas.microsoft.com/office/powerpoint/2010/main" val="3824738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016" y="1340768"/>
            <a:ext cx="8605464" cy="5273815"/>
          </a:xfrm>
        </p:spPr>
        <p:txBody>
          <a:bodyPr vert="horz" lIns="91440" tIns="45720" rIns="91440" bIns="45720" anchor="t">
            <a:noAutofit/>
          </a:bodyPr>
          <a:lstStyle/>
          <a:p>
            <a:pPr algn="just">
              <a:lnSpc>
                <a:spcPct val="122624"/>
              </a:lnSpc>
              <a:spcBef>
                <a:spcPts val="0"/>
              </a:spcBef>
            </a:pPr>
            <a:r>
              <a:rPr lang="ru-RU" sz="2100" b="1">
                <a:latin typeface="Times New Roman" pitchFamily="18" charset="0"/>
                <a:cs typeface="Times New Roman" pitchFamily="18" charset="0"/>
              </a:rPr>
              <a:t>Описание на </a:t>
            </a:r>
            <a:r>
              <a:rPr lang="ru-RU" sz="2100" b="1" err="1">
                <a:latin typeface="Times New Roman" pitchFamily="18" charset="0"/>
                <a:cs typeface="Times New Roman" pitchFamily="18" charset="0"/>
              </a:rPr>
              <a:t>променливи-структури</a:t>
            </a:r>
            <a:r>
              <a:rPr lang="ru-RU" sz="2100" b="1">
                <a:latin typeface="Times New Roman" pitchFamily="18" charset="0"/>
                <a:cs typeface="Times New Roman" pitchFamily="18" charset="0"/>
              </a:rPr>
              <a:t>.</a:t>
            </a:r>
            <a:endParaRPr lang="en-US"/>
          </a:p>
          <a:p>
            <a:pPr algn="just">
              <a:lnSpc>
                <a:spcPct val="122624"/>
              </a:lnSpc>
              <a:spcBef>
                <a:spcPts val="0"/>
              </a:spcBef>
            </a:pPr>
            <a:r>
              <a:rPr lang="ru-RU" sz="2100" err="1">
                <a:latin typeface="Times New Roman" pitchFamily="18" charset="0"/>
                <a:cs typeface="Times New Roman" pitchFamily="18" charset="0"/>
              </a:rPr>
              <a:t>Правилата</a:t>
            </a:r>
            <a:r>
              <a:rPr lang="ru-RU" sz="2100">
                <a:latin typeface="Times New Roman" pitchFamily="18" charset="0"/>
                <a:cs typeface="Times New Roman" pitchFamily="18" charset="0"/>
              </a:rPr>
              <a:t> за </a:t>
            </a:r>
            <a:r>
              <a:rPr lang="ru-RU" sz="2100" err="1">
                <a:latin typeface="Times New Roman" pitchFamily="18" charset="0"/>
                <a:cs typeface="Times New Roman" pitchFamily="18" charset="0"/>
              </a:rPr>
              <a:t>задаване</a:t>
            </a:r>
            <a:r>
              <a:rPr lang="ru-RU" sz="2100">
                <a:latin typeface="Times New Roman" pitchFamily="18" charset="0"/>
                <a:cs typeface="Times New Roman" pitchFamily="18" charset="0"/>
              </a:rPr>
              <a:t> на </a:t>
            </a:r>
            <a:r>
              <a:rPr lang="ru-RU" sz="2100" err="1">
                <a:latin typeface="Times New Roman" pitchFamily="18" charset="0"/>
                <a:cs typeface="Times New Roman" pitchFamily="18" charset="0"/>
              </a:rPr>
              <a:t>начални</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стойности</a:t>
            </a:r>
            <a:r>
              <a:rPr lang="ru-RU" sz="2100">
                <a:latin typeface="Times New Roman" pitchFamily="18" charset="0"/>
                <a:cs typeface="Times New Roman" pitchFamily="18" charset="0"/>
              </a:rPr>
              <a:t> са </a:t>
            </a:r>
            <a:r>
              <a:rPr lang="ru-RU" sz="2100" err="1">
                <a:latin typeface="Times New Roman" pitchFamily="18" charset="0"/>
                <a:cs typeface="Times New Roman" pitchFamily="18" charset="0"/>
              </a:rPr>
              <a:t>следните</a:t>
            </a:r>
            <a:r>
              <a:rPr lang="ru-RU" sz="2100">
                <a:latin typeface="Times New Roman" pitchFamily="18" charset="0"/>
                <a:cs typeface="Times New Roman" pitchFamily="18" charset="0"/>
              </a:rPr>
              <a:t>:</a:t>
            </a:r>
          </a:p>
          <a:p>
            <a:pPr algn="just">
              <a:lnSpc>
                <a:spcPct val="122624"/>
              </a:lnSpc>
              <a:spcBef>
                <a:spcPts val="0"/>
              </a:spcBef>
            </a:pPr>
            <a:r>
              <a:rPr lang="ru-RU" sz="2100">
                <a:latin typeface="Times New Roman" pitchFamily="18" charset="0"/>
                <a:cs typeface="Times New Roman" pitchFamily="18" charset="0"/>
              </a:rPr>
              <a:t> • Ако за </a:t>
            </a:r>
            <a:r>
              <a:rPr lang="ru-RU" sz="2100" err="1">
                <a:latin typeface="Times New Roman" pitchFamily="18" charset="0"/>
                <a:cs typeface="Times New Roman" pitchFamily="18" charset="0"/>
              </a:rPr>
              <a:t>начална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стойност</a:t>
            </a:r>
            <a:r>
              <a:rPr lang="ru-RU" sz="2100">
                <a:latin typeface="Times New Roman" pitchFamily="18" charset="0"/>
                <a:cs typeface="Times New Roman" pitchFamily="18" charset="0"/>
              </a:rPr>
              <a:t> е указан </a:t>
            </a:r>
            <a:r>
              <a:rPr lang="ru-RU" sz="2100" err="1">
                <a:latin typeface="Times New Roman" pitchFamily="18" charset="0"/>
                <a:cs typeface="Times New Roman" pitchFamily="18" charset="0"/>
              </a:rPr>
              <a:t>знакът</a:t>
            </a:r>
            <a:r>
              <a:rPr lang="ru-RU" sz="2100">
                <a:latin typeface="Times New Roman" pitchFamily="18" charset="0"/>
                <a:cs typeface="Times New Roman" pitchFamily="18" charset="0"/>
              </a:rPr>
              <a:t> ?, то </a:t>
            </a:r>
            <a:r>
              <a:rPr lang="ru-RU" sz="2100" err="1">
                <a:latin typeface="Times New Roman" pitchFamily="18" charset="0"/>
                <a:cs typeface="Times New Roman" pitchFamily="18" charset="0"/>
              </a:rPr>
              <a:t>полето</a:t>
            </a:r>
            <a:r>
              <a:rPr lang="ru-RU" sz="2100">
                <a:latin typeface="Times New Roman" pitchFamily="18" charset="0"/>
                <a:cs typeface="Times New Roman" pitchFamily="18" charset="0"/>
              </a:rPr>
              <a:t> не </a:t>
            </a:r>
            <a:r>
              <a:rPr lang="ru-RU" sz="2100" err="1">
                <a:latin typeface="Times New Roman" pitchFamily="18" charset="0"/>
                <a:cs typeface="Times New Roman" pitchFamily="18" charset="0"/>
              </a:rPr>
              <a:t>получава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начална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стойност</a:t>
            </a:r>
            <a:r>
              <a:rPr lang="ru-RU" sz="2100">
                <a:latin typeface="Times New Roman" pitchFamily="18" charset="0"/>
                <a:cs typeface="Times New Roman" pitchFamily="18" charset="0"/>
              </a:rPr>
              <a:t>, т.е. в него не се </a:t>
            </a:r>
            <a:r>
              <a:rPr lang="ru-RU" sz="2100" err="1">
                <a:latin typeface="Times New Roman" pitchFamily="18" charset="0"/>
                <a:cs typeface="Times New Roman" pitchFamily="18" charset="0"/>
              </a:rPr>
              <a:t>записва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нищо</a:t>
            </a:r>
            <a:r>
              <a:rPr lang="ru-RU" sz="2100">
                <a:latin typeface="Times New Roman" pitchFamily="18" charset="0"/>
                <a:cs typeface="Times New Roman" pitchFamily="18" charset="0"/>
              </a:rPr>
              <a:t>; </a:t>
            </a:r>
          </a:p>
          <a:p>
            <a:pPr algn="just">
              <a:lnSpc>
                <a:spcPct val="122624"/>
              </a:lnSpc>
              <a:spcBef>
                <a:spcPts val="0"/>
              </a:spcBef>
            </a:pPr>
            <a:r>
              <a:rPr lang="ru-RU" sz="2100">
                <a:latin typeface="Times New Roman" pitchFamily="18" charset="0"/>
                <a:cs typeface="Times New Roman" pitchFamily="18" charset="0"/>
              </a:rPr>
              <a:t>• Ако е указан </a:t>
            </a:r>
            <a:r>
              <a:rPr lang="ru-RU" sz="2100" err="1">
                <a:latin typeface="Times New Roman" pitchFamily="18" charset="0"/>
                <a:cs typeface="Times New Roman" pitchFamily="18" charset="0"/>
              </a:rPr>
              <a:t>израз</a:t>
            </a:r>
            <a:r>
              <a:rPr lang="ru-RU" sz="2100">
                <a:latin typeface="Times New Roman" pitchFamily="18" charset="0"/>
                <a:cs typeface="Times New Roman" pitchFamily="18" charset="0"/>
              </a:rPr>
              <a:t> или низ, </a:t>
            </a:r>
            <a:r>
              <a:rPr lang="ru-RU" sz="2100" err="1">
                <a:latin typeface="Times New Roman" pitchFamily="18" charset="0"/>
                <a:cs typeface="Times New Roman" pitchFamily="18" charset="0"/>
              </a:rPr>
              <a:t>съответното</a:t>
            </a:r>
            <a:r>
              <a:rPr lang="ru-RU" sz="2100">
                <a:latin typeface="Times New Roman" pitchFamily="18" charset="0"/>
                <a:cs typeface="Times New Roman" pitchFamily="18" charset="0"/>
              </a:rPr>
              <a:t> поле </a:t>
            </a:r>
            <a:r>
              <a:rPr lang="ru-RU" sz="2100" err="1">
                <a:latin typeface="Times New Roman" pitchFamily="18" charset="0"/>
                <a:cs typeface="Times New Roman" pitchFamily="18" charset="0"/>
              </a:rPr>
              <a:t>получава</a:t>
            </a:r>
            <a:r>
              <a:rPr lang="ru-RU" sz="2100">
                <a:latin typeface="Times New Roman" pitchFamily="18" charset="0"/>
                <a:cs typeface="Times New Roman" pitchFamily="18" charset="0"/>
              </a:rPr>
              <a:t> за </a:t>
            </a:r>
            <a:r>
              <a:rPr lang="ru-RU" sz="2100" err="1">
                <a:latin typeface="Times New Roman" pitchFamily="18" charset="0"/>
                <a:cs typeface="Times New Roman" pitchFamily="18" charset="0"/>
              </a:rPr>
              <a:t>начална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стойност</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изчислената</a:t>
            </a:r>
            <a:r>
              <a:rPr lang="ru-RU" sz="2100">
                <a:latin typeface="Times New Roman" pitchFamily="18" charset="0"/>
                <a:cs typeface="Times New Roman" pitchFamily="18" charset="0"/>
              </a:rPr>
              <a:t> за </a:t>
            </a:r>
            <a:r>
              <a:rPr lang="ru-RU" sz="2100" err="1">
                <a:latin typeface="Times New Roman" pitchFamily="18" charset="0"/>
                <a:cs typeface="Times New Roman" pitchFamily="18" charset="0"/>
              </a:rPr>
              <a:t>израза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стойност</a:t>
            </a:r>
            <a:r>
              <a:rPr lang="ru-RU" sz="2100">
                <a:latin typeface="Times New Roman" pitchFamily="18" charset="0"/>
                <a:cs typeface="Times New Roman" pitchFamily="18" charset="0"/>
              </a:rPr>
              <a:t> или низа; </a:t>
            </a:r>
          </a:p>
          <a:p>
            <a:pPr algn="just">
              <a:lnSpc>
                <a:spcPct val="122624"/>
              </a:lnSpc>
              <a:spcBef>
                <a:spcPts val="0"/>
              </a:spcBef>
            </a:pPr>
            <a:r>
              <a:rPr lang="ru-RU" sz="2100">
                <a:latin typeface="Times New Roman" pitchFamily="18" charset="0"/>
                <a:cs typeface="Times New Roman" pitchFamily="18" charset="0"/>
              </a:rPr>
              <a:t>• Ако </a:t>
            </a:r>
            <a:r>
              <a:rPr lang="ru-RU" sz="2100" err="1">
                <a:latin typeface="Times New Roman" pitchFamily="18" charset="0"/>
                <a:cs typeface="Times New Roman" pitchFamily="18" charset="0"/>
              </a:rPr>
              <a:t>начална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стойност</a:t>
            </a:r>
            <a:r>
              <a:rPr lang="ru-RU" sz="2100">
                <a:latin typeface="Times New Roman" pitchFamily="18" charset="0"/>
                <a:cs typeface="Times New Roman" pitchFamily="18" charset="0"/>
              </a:rPr>
              <a:t> не е указана, са </a:t>
            </a:r>
            <a:r>
              <a:rPr lang="ru-RU" sz="2100" err="1">
                <a:latin typeface="Times New Roman" pitchFamily="18" charset="0"/>
                <a:cs typeface="Times New Roman" pitchFamily="18" charset="0"/>
              </a:rPr>
              <a:t>възможни</a:t>
            </a:r>
            <a:r>
              <a:rPr lang="ru-RU" sz="2100">
                <a:latin typeface="Times New Roman" pitchFamily="18" charset="0"/>
                <a:cs typeface="Times New Roman" pitchFamily="18" charset="0"/>
              </a:rPr>
              <a:t> 2 случая:</a:t>
            </a:r>
          </a:p>
          <a:p>
            <a:pPr algn="just">
              <a:lnSpc>
                <a:spcPct val="122624"/>
              </a:lnSpc>
              <a:spcBef>
                <a:spcPts val="0"/>
              </a:spcBef>
            </a:pPr>
            <a:r>
              <a:rPr lang="ru-RU" sz="2100">
                <a:latin typeface="Times New Roman" pitchFamily="18" charset="0"/>
                <a:cs typeface="Times New Roman" pitchFamily="18" charset="0"/>
              </a:rPr>
              <a:t>-1. Ако при описание на типа на </a:t>
            </a:r>
            <a:r>
              <a:rPr lang="ru-RU" sz="2100" err="1">
                <a:latin typeface="Times New Roman" pitchFamily="18" charset="0"/>
                <a:cs typeface="Times New Roman" pitchFamily="18" charset="0"/>
              </a:rPr>
              <a:t>структурата</a:t>
            </a:r>
            <a:r>
              <a:rPr lang="ru-RU" sz="2100">
                <a:latin typeface="Times New Roman" pitchFamily="18" charset="0"/>
                <a:cs typeface="Times New Roman" pitchFamily="18" charset="0"/>
              </a:rPr>
              <a:t> в това поле е указана </a:t>
            </a:r>
            <a:r>
              <a:rPr lang="ru-RU" sz="2100" err="1">
                <a:latin typeface="Times New Roman" pitchFamily="18" charset="0"/>
                <a:cs typeface="Times New Roman" pitchFamily="18" charset="0"/>
              </a:rPr>
              <a:t>стойност</a:t>
            </a:r>
            <a:r>
              <a:rPr lang="ru-RU" sz="2100">
                <a:latin typeface="Times New Roman" pitchFamily="18" charset="0"/>
                <a:cs typeface="Times New Roman" pitchFamily="18" charset="0"/>
              </a:rPr>
              <a:t> по </a:t>
            </a:r>
            <a:r>
              <a:rPr lang="ru-RU" sz="2100" err="1">
                <a:latin typeface="Times New Roman" pitchFamily="18" charset="0"/>
                <a:cs typeface="Times New Roman" pitchFamily="18" charset="0"/>
              </a:rPr>
              <a:t>подразбиране</a:t>
            </a:r>
            <a:r>
              <a:rPr lang="ru-RU" sz="2100">
                <a:latin typeface="Times New Roman" pitchFamily="18" charset="0"/>
                <a:cs typeface="Times New Roman" pitchFamily="18" charset="0"/>
              </a:rPr>
              <a:t>. </a:t>
            </a:r>
          </a:p>
          <a:p>
            <a:pPr algn="just">
              <a:lnSpc>
                <a:spcPct val="122624"/>
              </a:lnSpc>
              <a:spcBef>
                <a:spcPts val="0"/>
              </a:spcBef>
            </a:pPr>
            <a:r>
              <a:rPr lang="ru-RU" sz="2100">
                <a:latin typeface="Times New Roman" pitchFamily="18" charset="0"/>
                <a:cs typeface="Times New Roman" pitchFamily="18" charset="0"/>
              </a:rPr>
              <a:t>-2. Ако при описание на типа на това поле не е указана </a:t>
            </a:r>
            <a:r>
              <a:rPr lang="ru-RU" sz="2100" err="1">
                <a:latin typeface="Times New Roman" pitchFamily="18" charset="0"/>
                <a:cs typeface="Times New Roman" pitchFamily="18" charset="0"/>
              </a:rPr>
              <a:t>стойност</a:t>
            </a:r>
            <a:r>
              <a:rPr lang="ru-RU" sz="2100">
                <a:latin typeface="Times New Roman" pitchFamily="18" charset="0"/>
                <a:cs typeface="Times New Roman" pitchFamily="18" charset="0"/>
              </a:rPr>
              <a:t> по </a:t>
            </a:r>
            <a:r>
              <a:rPr lang="ru-RU" sz="2100" err="1">
                <a:latin typeface="Times New Roman" pitchFamily="18" charset="0"/>
                <a:cs typeface="Times New Roman" pitchFamily="18" charset="0"/>
              </a:rPr>
              <a:t>подразбиране</a:t>
            </a:r>
            <a:r>
              <a:rPr lang="ru-RU" sz="2100">
                <a:latin typeface="Times New Roman" pitchFamily="18" charset="0"/>
                <a:cs typeface="Times New Roman" pitchFamily="18" charset="0"/>
              </a:rPr>
              <a:t>, то </a:t>
            </a:r>
            <a:r>
              <a:rPr lang="ru-RU" sz="2100" err="1">
                <a:latin typeface="Times New Roman" pitchFamily="18" charset="0"/>
                <a:cs typeface="Times New Roman" pitchFamily="18" charset="0"/>
              </a:rPr>
              <a:t>променливата</a:t>
            </a:r>
            <a:r>
              <a:rPr lang="ru-RU" sz="2100">
                <a:latin typeface="Times New Roman" pitchFamily="18" charset="0"/>
                <a:cs typeface="Times New Roman" pitchFamily="18" charset="0"/>
              </a:rPr>
              <a:t> на това поле не </a:t>
            </a:r>
            <a:r>
              <a:rPr lang="ru-RU" sz="2100" err="1">
                <a:latin typeface="Times New Roman" pitchFamily="18" charset="0"/>
                <a:cs typeface="Times New Roman" pitchFamily="18" charset="0"/>
              </a:rPr>
              <a:t>получава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начална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стойност</a:t>
            </a:r>
            <a:r>
              <a:rPr lang="ru-RU" sz="2100">
                <a:latin typeface="Times New Roman" pitchFamily="18" charset="0"/>
                <a:cs typeface="Times New Roman" pitchFamily="18" charset="0"/>
              </a:rPr>
              <a:t>, т.е. </a:t>
            </a:r>
            <a:r>
              <a:rPr lang="ru-RU" sz="2100" err="1">
                <a:latin typeface="Times New Roman" pitchFamily="18" charset="0"/>
                <a:cs typeface="Times New Roman" pitchFamily="18" charset="0"/>
              </a:rPr>
              <a:t>остава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неопределена</a:t>
            </a:r>
            <a:r>
              <a:rPr lang="ru-RU" sz="2100">
                <a:latin typeface="Times New Roman" pitchFamily="18" charset="0"/>
                <a:cs typeface="Times New Roman" pitchFamily="18" charset="0"/>
              </a:rPr>
              <a:t>. </a:t>
            </a:r>
          </a:p>
        </p:txBody>
      </p:sp>
      <p:sp>
        <p:nvSpPr>
          <p:cNvPr id="4" name="Title 1"/>
          <p:cNvSpPr>
            <a:spLocks noGrp="1"/>
          </p:cNvSpPr>
          <p:nvPr>
            <p:ph type="title"/>
          </p:nvPr>
        </p:nvSpPr>
        <p:spPr>
          <a:xfrm>
            <a:off x="493204" y="188640"/>
            <a:ext cx="8229600" cy="854968"/>
          </a:xfrm>
        </p:spPr>
        <p:txBody>
          <a:bodyPr>
            <a:normAutofit fontScale="90000"/>
          </a:bodyPr>
          <a:lstStyle/>
          <a:p>
            <a:r>
              <a:rPr lang="en-US" sz="3700" b="1">
                <a:latin typeface="Times New Roman" pitchFamily="18" charset="0"/>
                <a:cs typeface="Times New Roman" pitchFamily="18" charset="0"/>
              </a:rPr>
              <a:t> </a:t>
            </a:r>
            <a:r>
              <a:rPr lang="ru-RU" sz="3700" b="1" err="1">
                <a:latin typeface="Times New Roman" pitchFamily="18" charset="0"/>
                <a:cs typeface="Times New Roman" pitchFamily="18" charset="0"/>
              </a:rPr>
              <a:t>Масиви</a:t>
            </a:r>
            <a:r>
              <a:rPr lang="ru-RU" sz="3700" b="1">
                <a:latin typeface="Times New Roman" pitchFamily="18" charset="0"/>
                <a:cs typeface="Times New Roman" pitchFamily="18" charset="0"/>
              </a:rPr>
              <a:t> и </a:t>
            </a:r>
            <a:r>
              <a:rPr lang="ru-RU" sz="3700" b="1" err="1">
                <a:latin typeface="Times New Roman" pitchFamily="18" charset="0"/>
                <a:cs typeface="Times New Roman" pitchFamily="18" charset="0"/>
              </a:rPr>
              <a:t>структури</a:t>
            </a:r>
            <a:r>
              <a:rPr lang="ru-RU" sz="3700" b="1">
                <a:latin typeface="Times New Roman" pitchFamily="18" charset="0"/>
                <a:cs typeface="Times New Roman" pitchFamily="18" charset="0"/>
              </a:rPr>
              <a:t> в </a:t>
            </a:r>
            <a:r>
              <a:rPr lang="ru-RU" sz="3700" b="1" err="1">
                <a:latin typeface="Times New Roman" pitchFamily="18" charset="0"/>
                <a:cs typeface="Times New Roman" pitchFamily="18" charset="0"/>
              </a:rPr>
              <a:t>Асемблера</a:t>
            </a:r>
            <a:r>
              <a:rPr lang="ru-RU" sz="5400">
                <a:latin typeface="Times New Roman" pitchFamily="18" charset="0"/>
                <a:cs typeface="Times New Roman" pitchFamily="18" charset="0"/>
              </a:rPr>
              <a:t>.</a:t>
            </a:r>
            <a:endParaRPr lang="bg-BG" sz="4000" b="1"/>
          </a:p>
        </p:txBody>
      </p:sp>
    </p:spTree>
    <p:extLst>
      <p:ext uri="{BB962C8B-B14F-4D97-AF65-F5344CB8AC3E}">
        <p14:creationId xmlns:p14="http://schemas.microsoft.com/office/powerpoint/2010/main" val="3548111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016" y="1340768"/>
            <a:ext cx="8605464" cy="5273815"/>
          </a:xfrm>
        </p:spPr>
        <p:txBody>
          <a:bodyPr vert="horz" lIns="91440" tIns="45720" rIns="91440" bIns="45720" anchor="t">
            <a:noAutofit/>
          </a:bodyPr>
          <a:lstStyle/>
          <a:p>
            <a:pPr algn="just">
              <a:lnSpc>
                <a:spcPct val="122624"/>
              </a:lnSpc>
              <a:spcBef>
                <a:spcPts val="0"/>
              </a:spcBef>
            </a:pPr>
            <a:r>
              <a:rPr lang="bg-BG" sz="2100" b="1">
                <a:latin typeface="Times New Roman" pitchFamily="18" charset="0"/>
                <a:cs typeface="Times New Roman" pitchFamily="18" charset="0"/>
              </a:rPr>
              <a:t>Структури за </a:t>
            </a:r>
            <a:r>
              <a:rPr lang="en-US" sz="2100" b="1">
                <a:latin typeface="Times New Roman" pitchFamily="18" charset="0"/>
                <a:cs typeface="Times New Roman" pitchFamily="18" charset="0"/>
              </a:rPr>
              <a:t>ARM </a:t>
            </a:r>
            <a:endParaRPr lang="bg-BG" sz="2100" b="1">
              <a:latin typeface="Times New Roman" pitchFamily="18" charset="0"/>
              <a:cs typeface="Times New Roman" pitchFamily="18" charset="0"/>
            </a:endParaRPr>
          </a:p>
          <a:p>
            <a:pPr algn="just">
              <a:lnSpc>
                <a:spcPct val="122624"/>
              </a:lnSpc>
              <a:spcBef>
                <a:spcPts val="0"/>
              </a:spcBef>
            </a:pPr>
            <a:r>
              <a:rPr lang="ru-RU" sz="2100" err="1">
                <a:latin typeface="Times New Roman" pitchFamily="18" charset="0"/>
                <a:cs typeface="Times New Roman" pitchFamily="18" charset="0"/>
              </a:rPr>
              <a:t>Внедряването</a:t>
            </a:r>
            <a:r>
              <a:rPr lang="ru-RU" sz="2100">
                <a:latin typeface="Times New Roman" pitchFamily="18" charset="0"/>
                <a:cs typeface="Times New Roman" pitchFamily="18" charset="0"/>
              </a:rPr>
              <a:t> на </a:t>
            </a:r>
            <a:r>
              <a:rPr lang="ru-RU" sz="2100" err="1">
                <a:latin typeface="Times New Roman" pitchFamily="18" charset="0"/>
                <a:cs typeface="Times New Roman" pitchFamily="18" charset="0"/>
              </a:rPr>
              <a:t>структури</a:t>
            </a:r>
            <a:r>
              <a:rPr lang="ru-RU" sz="2100">
                <a:latin typeface="Times New Roman" pitchFamily="18" charset="0"/>
                <a:cs typeface="Times New Roman" pitchFamily="18" charset="0"/>
              </a:rPr>
              <a:t> е много подобно на </a:t>
            </a:r>
            <a:r>
              <a:rPr lang="ru-RU" sz="2100" err="1">
                <a:latin typeface="Times New Roman" pitchFamily="18" charset="0"/>
                <a:cs typeface="Times New Roman" pitchFamily="18" charset="0"/>
              </a:rPr>
              <a:t>внедряването</a:t>
            </a:r>
            <a:r>
              <a:rPr lang="ru-RU" sz="2100">
                <a:latin typeface="Times New Roman" pitchFamily="18" charset="0"/>
                <a:cs typeface="Times New Roman" pitchFamily="18" charset="0"/>
              </a:rPr>
              <a:t> на </a:t>
            </a:r>
            <a:r>
              <a:rPr lang="ru-RU" sz="2100" err="1">
                <a:latin typeface="Times New Roman" pitchFamily="18" charset="0"/>
                <a:cs typeface="Times New Roman" pitchFamily="18" charset="0"/>
              </a:rPr>
              <a:t>масиви</a:t>
            </a:r>
            <a:r>
              <a:rPr lang="ru-RU" sz="2100">
                <a:latin typeface="Times New Roman" pitchFamily="18" charset="0"/>
                <a:cs typeface="Times New Roman" pitchFamily="18" charset="0"/>
              </a:rPr>
              <a:t>.</a:t>
            </a:r>
            <a:endParaRPr lang="en-US" sz="2100">
              <a:latin typeface="Times New Roman" pitchFamily="18" charset="0"/>
              <a:cs typeface="Times New Roman" pitchFamily="18" charset="0"/>
            </a:endParaRPr>
          </a:p>
          <a:p>
            <a:pPr algn="just">
              <a:lnSpc>
                <a:spcPct val="122624"/>
              </a:lnSpc>
              <a:spcBef>
                <a:spcPts val="0"/>
              </a:spcBef>
            </a:pPr>
            <a:r>
              <a:rPr lang="ru-RU" sz="2100">
                <a:latin typeface="Times New Roman" pitchFamily="18" charset="0"/>
                <a:cs typeface="Times New Roman" pitchFamily="18" charset="0"/>
              </a:rPr>
              <a:t>Можем да </a:t>
            </a:r>
            <a:r>
              <a:rPr lang="ru-RU" sz="2100" err="1">
                <a:latin typeface="Times New Roman" pitchFamily="18" charset="0"/>
                <a:cs typeface="Times New Roman" pitchFamily="18" charset="0"/>
              </a:rPr>
              <a:t>третираме</a:t>
            </a:r>
            <a:r>
              <a:rPr lang="ru-RU" sz="2100">
                <a:latin typeface="Times New Roman" pitchFamily="18" charset="0"/>
                <a:cs typeface="Times New Roman" pitchFamily="18" charset="0"/>
              </a:rPr>
              <a:t> всяка структура като </a:t>
            </a:r>
            <a:r>
              <a:rPr lang="ru-RU" sz="2100" err="1">
                <a:latin typeface="Times New Roman" pitchFamily="18" charset="0"/>
                <a:cs typeface="Times New Roman" pitchFamily="18" charset="0"/>
              </a:rPr>
              <a:t>масив</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Следователно</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структурата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ще</a:t>
            </a:r>
            <a:r>
              <a:rPr lang="ru-RU" sz="2100">
                <a:latin typeface="Times New Roman" pitchFamily="18" charset="0"/>
                <a:cs typeface="Times New Roman" pitchFamily="18" charset="0"/>
              </a:rPr>
              <a:t> има </a:t>
            </a:r>
            <a:r>
              <a:rPr lang="ru-RU" sz="2100" err="1">
                <a:latin typeface="Times New Roman" pitchFamily="18" charset="0"/>
                <a:cs typeface="Times New Roman" pitchFamily="18" charset="0"/>
              </a:rPr>
              <a:t>основен</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адреси</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всеки</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елемент</a:t>
            </a:r>
            <a:r>
              <a:rPr lang="ru-RU" sz="2100">
                <a:latin typeface="Times New Roman" pitchFamily="18" charset="0"/>
                <a:cs typeface="Times New Roman" pitchFamily="18" charset="0"/>
              </a:rPr>
              <a:t> от </a:t>
            </a:r>
            <a:r>
              <a:rPr lang="ru-RU" sz="2100" err="1">
                <a:latin typeface="Times New Roman" pitchFamily="18" charset="0"/>
                <a:cs typeface="Times New Roman" pitchFamily="18" charset="0"/>
              </a:rPr>
              <a:t>структурата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ще</a:t>
            </a:r>
            <a:r>
              <a:rPr lang="ru-RU" sz="2100">
                <a:latin typeface="Times New Roman" pitchFamily="18" charset="0"/>
                <a:cs typeface="Times New Roman" pitchFamily="18" charset="0"/>
              </a:rPr>
              <a:t> има </a:t>
            </a:r>
            <a:r>
              <a:rPr lang="ru-RU" sz="2100" err="1">
                <a:latin typeface="Times New Roman" pitchFamily="18" charset="0"/>
                <a:cs typeface="Times New Roman" pitchFamily="18" charset="0"/>
              </a:rPr>
              <a:t>отместване</a:t>
            </a:r>
            <a:r>
              <a:rPr lang="ru-RU" sz="2100">
                <a:latin typeface="Times New Roman" pitchFamily="18" charset="0"/>
                <a:cs typeface="Times New Roman" pitchFamily="18" charset="0"/>
              </a:rPr>
              <a:t>. За </a:t>
            </a:r>
            <a:r>
              <a:rPr lang="ru-RU" sz="2100" err="1">
                <a:latin typeface="Times New Roman" pitchFamily="18" charset="0"/>
                <a:cs typeface="Times New Roman" pitchFamily="18" charset="0"/>
              </a:rPr>
              <a:t>разлика</a:t>
            </a:r>
            <a:r>
              <a:rPr lang="ru-RU" sz="2100">
                <a:latin typeface="Times New Roman" pitchFamily="18" charset="0"/>
                <a:cs typeface="Times New Roman" pitchFamily="18" charset="0"/>
              </a:rPr>
              <a:t> от </a:t>
            </a:r>
            <a:r>
              <a:rPr lang="ru-RU" sz="2100" err="1">
                <a:latin typeface="Times New Roman" pitchFamily="18" charset="0"/>
                <a:cs typeface="Times New Roman" pitchFamily="18" charset="0"/>
              </a:rPr>
              <a:t>масив</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различни</a:t>
            </a:r>
            <a:r>
              <a:rPr lang="ru-RU" sz="2100">
                <a:latin typeface="Times New Roman" pitchFamily="18" charset="0"/>
                <a:cs typeface="Times New Roman" pitchFamily="18" charset="0"/>
              </a:rPr>
              <a:t> елементи в </a:t>
            </a:r>
            <a:r>
              <a:rPr lang="ru-RU" sz="2100" err="1">
                <a:latin typeface="Times New Roman" pitchFamily="18" charset="0"/>
                <a:cs typeface="Times New Roman" pitchFamily="18" charset="0"/>
              </a:rPr>
              <a:t>aструктурата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може</a:t>
            </a:r>
            <a:r>
              <a:rPr lang="ru-RU" sz="2100">
                <a:latin typeface="Times New Roman" pitchFamily="18" charset="0"/>
                <a:cs typeface="Times New Roman" pitchFamily="18" charset="0"/>
              </a:rPr>
              <a:t> да има </a:t>
            </a:r>
            <a:r>
              <a:rPr lang="ru-RU" sz="2100" err="1">
                <a:latin typeface="Times New Roman" pitchFamily="18" charset="0"/>
                <a:cs typeface="Times New Roman" pitchFamily="18" charset="0"/>
              </a:rPr>
              <a:t>различни</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размери</a:t>
            </a:r>
            <a:r>
              <a:rPr lang="ru-RU" sz="2100">
                <a:latin typeface="Times New Roman" pitchFamily="18" charset="0"/>
                <a:cs typeface="Times New Roman" pitchFamily="18" charset="0"/>
              </a:rPr>
              <a:t> и по този начин те не са </a:t>
            </a:r>
            <a:r>
              <a:rPr lang="ru-RU" sz="2100" err="1">
                <a:latin typeface="Times New Roman" pitchFamily="18" charset="0"/>
                <a:cs typeface="Times New Roman" pitchFamily="18" charset="0"/>
              </a:rPr>
              <a:t>ограничени</a:t>
            </a:r>
            <a:r>
              <a:rPr lang="ru-RU" sz="2100">
                <a:latin typeface="Times New Roman" pitchFamily="18" charset="0"/>
                <a:cs typeface="Times New Roman" pitchFamily="18" charset="0"/>
              </a:rPr>
              <a:t> да </a:t>
            </a:r>
            <a:r>
              <a:rPr lang="ru-RU" sz="2100" err="1">
                <a:latin typeface="Times New Roman" pitchFamily="18" charset="0"/>
                <a:cs typeface="Times New Roman" pitchFamily="18" charset="0"/>
              </a:rPr>
              <a:t>започват</a:t>
            </a:r>
            <a:r>
              <a:rPr lang="ru-RU" sz="2100">
                <a:latin typeface="Times New Roman" pitchFamily="18" charset="0"/>
                <a:cs typeface="Times New Roman" pitchFamily="18" charset="0"/>
              </a:rPr>
              <a:t> с </a:t>
            </a:r>
            <a:r>
              <a:rPr lang="ru-RU" sz="2100" err="1">
                <a:latin typeface="Times New Roman" pitchFamily="18" charset="0"/>
                <a:cs typeface="Times New Roman" pitchFamily="18" charset="0"/>
              </a:rPr>
              <a:t>отмествания</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коитоса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кратни</a:t>
            </a:r>
            <a:r>
              <a:rPr lang="ru-RU" sz="2100">
                <a:latin typeface="Times New Roman" pitchFamily="18" charset="0"/>
                <a:cs typeface="Times New Roman" pitchFamily="18" charset="0"/>
              </a:rPr>
              <a:t> на размера на </a:t>
            </a:r>
            <a:r>
              <a:rPr lang="ru-RU" sz="2100" err="1">
                <a:latin typeface="Times New Roman" pitchFamily="18" charset="0"/>
                <a:cs typeface="Times New Roman" pitchFamily="18" charset="0"/>
              </a:rPr>
              <a:t>думата</a:t>
            </a:r>
            <a:r>
              <a:rPr lang="ru-RU" sz="2100">
                <a:latin typeface="Times New Roman" pitchFamily="18" charset="0"/>
                <a:cs typeface="Times New Roman" pitchFamily="18" charset="0"/>
              </a:rPr>
              <a:t>.</a:t>
            </a:r>
            <a:endParaRPr lang="en-US" sz="2100">
              <a:latin typeface="Times New Roman" pitchFamily="18" charset="0"/>
              <a:cs typeface="Times New Roman" pitchFamily="18" charset="0"/>
            </a:endParaRPr>
          </a:p>
          <a:p>
            <a:pPr algn="just">
              <a:lnSpc>
                <a:spcPct val="122624"/>
              </a:lnSpc>
              <a:spcBef>
                <a:spcPts val="0"/>
              </a:spcBef>
            </a:pPr>
            <a:endParaRPr lang="ru-RU" sz="2100">
              <a:latin typeface="Times New Roman" pitchFamily="18" charset="0"/>
              <a:cs typeface="Times New Roman" pitchFamily="18" charset="0"/>
            </a:endParaRPr>
          </a:p>
        </p:txBody>
      </p:sp>
      <p:sp>
        <p:nvSpPr>
          <p:cNvPr id="4" name="Title 1"/>
          <p:cNvSpPr>
            <a:spLocks noGrp="1"/>
          </p:cNvSpPr>
          <p:nvPr>
            <p:ph type="title"/>
          </p:nvPr>
        </p:nvSpPr>
        <p:spPr>
          <a:xfrm>
            <a:off x="493204" y="188640"/>
            <a:ext cx="8229600" cy="854968"/>
          </a:xfrm>
        </p:spPr>
        <p:txBody>
          <a:bodyPr>
            <a:normAutofit fontScale="90000"/>
          </a:bodyPr>
          <a:lstStyle/>
          <a:p>
            <a:r>
              <a:rPr lang="en-US" sz="3700" b="1">
                <a:latin typeface="Times New Roman" pitchFamily="18" charset="0"/>
                <a:cs typeface="Times New Roman" pitchFamily="18" charset="0"/>
              </a:rPr>
              <a:t> </a:t>
            </a:r>
            <a:r>
              <a:rPr lang="ru-RU" sz="3700" b="1" err="1">
                <a:latin typeface="Times New Roman" pitchFamily="18" charset="0"/>
                <a:cs typeface="Times New Roman" pitchFamily="18" charset="0"/>
              </a:rPr>
              <a:t>Масиви</a:t>
            </a:r>
            <a:r>
              <a:rPr lang="ru-RU" sz="3700" b="1">
                <a:latin typeface="Times New Roman" pitchFamily="18" charset="0"/>
                <a:cs typeface="Times New Roman" pitchFamily="18" charset="0"/>
              </a:rPr>
              <a:t> и </a:t>
            </a:r>
            <a:r>
              <a:rPr lang="ru-RU" sz="3700" b="1" err="1">
                <a:latin typeface="Times New Roman" pitchFamily="18" charset="0"/>
                <a:cs typeface="Times New Roman" pitchFamily="18" charset="0"/>
              </a:rPr>
              <a:t>структури</a:t>
            </a:r>
            <a:r>
              <a:rPr lang="ru-RU" sz="3700" b="1">
                <a:latin typeface="Times New Roman" pitchFamily="18" charset="0"/>
                <a:cs typeface="Times New Roman" pitchFamily="18" charset="0"/>
              </a:rPr>
              <a:t> в </a:t>
            </a:r>
            <a:r>
              <a:rPr lang="ru-RU" sz="3700" b="1" err="1">
                <a:latin typeface="Times New Roman" pitchFamily="18" charset="0"/>
                <a:cs typeface="Times New Roman" pitchFamily="18" charset="0"/>
              </a:rPr>
              <a:t>Асемблера</a:t>
            </a:r>
            <a:r>
              <a:rPr lang="ru-RU" sz="5400">
                <a:latin typeface="Times New Roman" pitchFamily="18" charset="0"/>
                <a:cs typeface="Times New Roman" pitchFamily="18" charset="0"/>
              </a:rPr>
              <a:t>.</a:t>
            </a:r>
            <a:endParaRPr lang="bg-BG" sz="4000" b="1"/>
          </a:p>
        </p:txBody>
      </p:sp>
      <p:pic>
        <p:nvPicPr>
          <p:cNvPr id="2" name="Картина 1"/>
          <p:cNvPicPr>
            <a:picLocks noChangeAspect="1"/>
          </p:cNvPicPr>
          <p:nvPr/>
        </p:nvPicPr>
        <p:blipFill>
          <a:blip r:embed="rId2"/>
          <a:stretch>
            <a:fillRect/>
          </a:stretch>
        </p:blipFill>
        <p:spPr>
          <a:xfrm>
            <a:off x="2267744" y="4581128"/>
            <a:ext cx="4824536" cy="2149248"/>
          </a:xfrm>
          <a:prstGeom prst="rect">
            <a:avLst/>
          </a:prstGeom>
        </p:spPr>
      </p:pic>
    </p:spTree>
    <p:extLst>
      <p:ext uri="{BB962C8B-B14F-4D97-AF65-F5344CB8AC3E}">
        <p14:creationId xmlns:p14="http://schemas.microsoft.com/office/powerpoint/2010/main" val="40736476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016" y="1268760"/>
            <a:ext cx="8605464" cy="5345823"/>
          </a:xfrm>
        </p:spPr>
        <p:txBody>
          <a:bodyPr vert="horz" lIns="91440" tIns="45720" rIns="91440" bIns="45720" anchor="t">
            <a:noAutofit/>
          </a:bodyPr>
          <a:lstStyle/>
          <a:p>
            <a:pPr algn="just">
              <a:lnSpc>
                <a:spcPct val="122624"/>
              </a:lnSpc>
              <a:spcBef>
                <a:spcPts val="0"/>
              </a:spcBef>
            </a:pPr>
            <a:r>
              <a:rPr lang="ru-RU" sz="2100">
                <a:latin typeface="Times New Roman" pitchFamily="18" charset="0"/>
                <a:cs typeface="Times New Roman" pitchFamily="18" charset="0"/>
              </a:rPr>
              <a:t>В </a:t>
            </a:r>
            <a:r>
              <a:rPr lang="ru-RU" sz="2100" err="1">
                <a:latin typeface="Times New Roman" pitchFamily="18" charset="0"/>
                <a:cs typeface="Times New Roman" pitchFamily="18" charset="0"/>
              </a:rPr>
              <a:t>Асемблерен</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език</a:t>
            </a:r>
            <a:r>
              <a:rPr lang="ru-RU" sz="2100">
                <a:latin typeface="Times New Roman" pitchFamily="18" charset="0"/>
                <a:cs typeface="Times New Roman" pitchFamily="18" charset="0"/>
              </a:rPr>
              <a:t> е </a:t>
            </a:r>
            <a:r>
              <a:rPr lang="ru-RU" sz="2100" err="1">
                <a:latin typeface="Times New Roman" pitchFamily="18" charset="0"/>
                <a:cs typeface="Times New Roman" pitchFamily="18" charset="0"/>
              </a:rPr>
              <a:t>възможно</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въздействие</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върху</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всеки</a:t>
            </a:r>
            <a:r>
              <a:rPr lang="ru-RU" sz="2100">
                <a:latin typeface="Times New Roman" pitchFamily="18" charset="0"/>
                <a:cs typeface="Times New Roman" pitchFamily="18" charset="0"/>
              </a:rPr>
              <a:t> бит от </a:t>
            </a:r>
            <a:r>
              <a:rPr lang="ru-RU" sz="2100" err="1">
                <a:latin typeface="Times New Roman" pitchFamily="18" charset="0"/>
                <a:cs typeface="Times New Roman" pitchFamily="18" charset="0"/>
              </a:rPr>
              <a:t>операндите</a:t>
            </a:r>
            <a:r>
              <a:rPr lang="ru-RU" sz="2100">
                <a:latin typeface="Times New Roman" pitchFamily="18" charset="0"/>
                <a:cs typeface="Times New Roman" pitchFamily="18" charset="0"/>
              </a:rPr>
              <a:t>. Това </a:t>
            </a:r>
            <a:r>
              <a:rPr lang="ru-RU" sz="2100" err="1">
                <a:latin typeface="Times New Roman" pitchFamily="18" charset="0"/>
                <a:cs typeface="Times New Roman" pitchFamily="18" charset="0"/>
              </a:rPr>
              <a:t>въздействие</a:t>
            </a:r>
            <a:r>
              <a:rPr lang="ru-RU" sz="2100">
                <a:latin typeface="Times New Roman" pitchFamily="18" charset="0"/>
                <a:cs typeface="Times New Roman" pitchFamily="18" charset="0"/>
              </a:rPr>
              <a:t> се </a:t>
            </a:r>
            <a:r>
              <a:rPr lang="ru-RU" sz="2100" err="1">
                <a:latin typeface="Times New Roman" pitchFamily="18" charset="0"/>
                <a:cs typeface="Times New Roman" pitchFamily="18" charset="0"/>
              </a:rPr>
              <a:t>извършва</a:t>
            </a:r>
            <a:r>
              <a:rPr lang="ru-RU" sz="2100">
                <a:latin typeface="Times New Roman" pitchFamily="18" charset="0"/>
                <a:cs typeface="Times New Roman" pitchFamily="18" charset="0"/>
              </a:rPr>
              <a:t> с помощта на </a:t>
            </a:r>
            <a:r>
              <a:rPr lang="ru-RU" sz="2100" err="1">
                <a:latin typeface="Times New Roman" pitchFamily="18" charset="0"/>
                <a:cs typeface="Times New Roman" pitchFamily="18" charset="0"/>
              </a:rPr>
              <a:t>команди</a:t>
            </a:r>
            <a:r>
              <a:rPr lang="ru-RU" sz="2100">
                <a:latin typeface="Times New Roman" pitchFamily="18" charset="0"/>
                <a:cs typeface="Times New Roman" pitchFamily="18" charset="0"/>
              </a:rPr>
              <a:t> за логически операции. </a:t>
            </a:r>
            <a:endParaRPr lang="en-US"/>
          </a:p>
          <a:p>
            <a:pPr algn="just">
              <a:lnSpc>
                <a:spcPct val="122624"/>
              </a:lnSpc>
              <a:spcBef>
                <a:spcPts val="0"/>
              </a:spcBef>
            </a:pPr>
            <a:endParaRPr lang="ru-RU" sz="2100">
              <a:latin typeface="Times New Roman" pitchFamily="18" charset="0"/>
              <a:cs typeface="Times New Roman" pitchFamily="18" charset="0"/>
            </a:endParaRPr>
          </a:p>
          <a:p>
            <a:pPr algn="just">
              <a:lnSpc>
                <a:spcPct val="122624"/>
              </a:lnSpc>
              <a:spcBef>
                <a:spcPts val="0"/>
              </a:spcBef>
            </a:pPr>
            <a:endParaRPr lang="ru-RU" sz="2100">
              <a:latin typeface="Times New Roman" pitchFamily="18" charset="0"/>
              <a:cs typeface="Times New Roman" pitchFamily="18" charset="0"/>
            </a:endParaRPr>
          </a:p>
          <a:p>
            <a:pPr algn="just">
              <a:lnSpc>
                <a:spcPct val="122624"/>
              </a:lnSpc>
              <a:spcBef>
                <a:spcPts val="0"/>
              </a:spcBef>
            </a:pPr>
            <a:endParaRPr lang="ru-RU" sz="2100">
              <a:latin typeface="Times New Roman" pitchFamily="18" charset="0"/>
              <a:cs typeface="Times New Roman" pitchFamily="18" charset="0"/>
            </a:endParaRPr>
          </a:p>
          <a:p>
            <a:pPr algn="just">
              <a:lnSpc>
                <a:spcPct val="122624"/>
              </a:lnSpc>
              <a:spcBef>
                <a:spcPts val="0"/>
              </a:spcBef>
            </a:pPr>
            <a:endParaRPr lang="ru-RU" sz="2100">
              <a:latin typeface="Times New Roman" pitchFamily="18" charset="0"/>
              <a:cs typeface="Times New Roman" pitchFamily="18" charset="0"/>
            </a:endParaRPr>
          </a:p>
          <a:p>
            <a:pPr algn="just">
              <a:lnSpc>
                <a:spcPct val="122624"/>
              </a:lnSpc>
              <a:spcBef>
                <a:spcPts val="0"/>
              </a:spcBef>
            </a:pPr>
            <a:endParaRPr lang="ru-RU" sz="2100">
              <a:latin typeface="Times New Roman" pitchFamily="18" charset="0"/>
              <a:cs typeface="Times New Roman" pitchFamily="18" charset="0"/>
            </a:endParaRPr>
          </a:p>
          <a:p>
            <a:pPr algn="just">
              <a:lnSpc>
                <a:spcPct val="122624"/>
              </a:lnSpc>
              <a:spcBef>
                <a:spcPts val="0"/>
              </a:spcBef>
            </a:pPr>
            <a:r>
              <a:rPr lang="ru-RU" sz="2100" err="1">
                <a:latin typeface="Times New Roman" pitchFamily="18" charset="0"/>
                <a:cs typeface="Times New Roman" pitchFamily="18" charset="0"/>
              </a:rPr>
              <a:t>Логическите</a:t>
            </a:r>
            <a:r>
              <a:rPr lang="ru-RU" sz="2100">
                <a:latin typeface="Times New Roman" pitchFamily="18" charset="0"/>
                <a:cs typeface="Times New Roman" pitchFamily="18" charset="0"/>
              </a:rPr>
              <a:t> операции се </a:t>
            </a:r>
            <a:r>
              <a:rPr lang="ru-RU" sz="2100" err="1">
                <a:latin typeface="Times New Roman" pitchFamily="18" charset="0"/>
                <a:cs typeface="Times New Roman" pitchFamily="18" charset="0"/>
              </a:rPr>
              <a:t>реализират</a:t>
            </a:r>
            <a:r>
              <a:rPr lang="ru-RU" sz="2100">
                <a:latin typeface="Times New Roman" pitchFamily="18" charset="0"/>
                <a:cs typeface="Times New Roman" pitchFamily="18" charset="0"/>
              </a:rPr>
              <a:t> като </a:t>
            </a:r>
            <a:r>
              <a:rPr lang="ru-RU" sz="2100" err="1">
                <a:latin typeface="Times New Roman" pitchFamily="18" charset="0"/>
                <a:cs typeface="Times New Roman" pitchFamily="18" charset="0"/>
              </a:rPr>
              <a:t>побитово</a:t>
            </a:r>
            <a:r>
              <a:rPr lang="ru-RU" sz="2100">
                <a:latin typeface="Times New Roman" pitchFamily="18" charset="0"/>
                <a:cs typeface="Times New Roman" pitchFamily="18" charset="0"/>
              </a:rPr>
              <a:t> се </a:t>
            </a:r>
            <a:r>
              <a:rPr lang="ru-RU" sz="2100" err="1">
                <a:latin typeface="Times New Roman" pitchFamily="18" charset="0"/>
                <a:cs typeface="Times New Roman" pitchFamily="18" charset="0"/>
              </a:rPr>
              <a:t>извършват</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основните</a:t>
            </a:r>
            <a:r>
              <a:rPr lang="ru-RU" sz="2100">
                <a:latin typeface="Times New Roman" pitchFamily="18" charset="0"/>
                <a:cs typeface="Times New Roman" pitchFamily="18" charset="0"/>
              </a:rPr>
              <a:t> логически функции между </a:t>
            </a:r>
            <a:r>
              <a:rPr lang="ru-RU" sz="2100" err="1">
                <a:latin typeface="Times New Roman" pitchFamily="18" charset="0"/>
                <a:cs typeface="Times New Roman" pitchFamily="18" charset="0"/>
              </a:rPr>
              <a:t>битовете</a:t>
            </a:r>
            <a:r>
              <a:rPr lang="ru-RU" sz="2100">
                <a:latin typeface="Times New Roman" pitchFamily="18" charset="0"/>
                <a:cs typeface="Times New Roman" pitchFamily="18" charset="0"/>
              </a:rPr>
              <a:t> на </a:t>
            </a:r>
            <a:r>
              <a:rPr lang="ru-RU" sz="2100" err="1">
                <a:latin typeface="Times New Roman" pitchFamily="18" charset="0"/>
                <a:cs typeface="Times New Roman" pitchFamily="18" charset="0"/>
              </a:rPr>
              <a:t>единия</a:t>
            </a:r>
            <a:r>
              <a:rPr lang="ru-RU" sz="2100">
                <a:latin typeface="Times New Roman" pitchFamily="18" charset="0"/>
                <a:cs typeface="Times New Roman" pitchFamily="18" charset="0"/>
              </a:rPr>
              <a:t> и </a:t>
            </a:r>
            <a:r>
              <a:rPr lang="ru-RU" sz="2100" err="1">
                <a:latin typeface="Times New Roman" pitchFamily="18" charset="0"/>
                <a:cs typeface="Times New Roman" pitchFamily="18" charset="0"/>
              </a:rPr>
              <a:t>битовете</a:t>
            </a:r>
            <a:r>
              <a:rPr lang="ru-RU" sz="2100">
                <a:latin typeface="Times New Roman" pitchFamily="18" charset="0"/>
                <a:cs typeface="Times New Roman" pitchFamily="18" charset="0"/>
              </a:rPr>
              <a:t> на </a:t>
            </a:r>
            <a:r>
              <a:rPr lang="ru-RU" sz="2100" err="1">
                <a:latin typeface="Times New Roman" pitchFamily="18" charset="0"/>
                <a:cs typeface="Times New Roman" pitchFamily="18" charset="0"/>
              </a:rPr>
              <a:t>другия</a:t>
            </a:r>
            <a:r>
              <a:rPr lang="ru-RU" sz="2100">
                <a:latin typeface="Times New Roman" pitchFamily="18" charset="0"/>
                <a:cs typeface="Times New Roman" pitchFamily="18" charset="0"/>
              </a:rPr>
              <a:t> операнд. </a:t>
            </a:r>
          </a:p>
          <a:p>
            <a:pPr algn="just">
              <a:lnSpc>
                <a:spcPct val="122624"/>
              </a:lnSpc>
              <a:spcBef>
                <a:spcPts val="0"/>
              </a:spcBef>
            </a:pPr>
            <a:r>
              <a:rPr lang="ru-RU" sz="2100" err="1">
                <a:latin typeface="Times New Roman" pitchFamily="18" charset="0"/>
                <a:cs typeface="Times New Roman" pitchFamily="18" charset="0"/>
              </a:rPr>
              <a:t>Операндите</a:t>
            </a:r>
            <a:r>
              <a:rPr lang="ru-RU" sz="2100">
                <a:latin typeface="Times New Roman" pitchFamily="18" charset="0"/>
                <a:cs typeface="Times New Roman" pitchFamily="18" charset="0"/>
              </a:rPr>
              <a:t> в </a:t>
            </a:r>
            <a:r>
              <a:rPr lang="ru-RU" sz="2100" err="1">
                <a:latin typeface="Times New Roman" pitchFamily="18" charset="0"/>
                <a:cs typeface="Times New Roman" pitchFamily="18" charset="0"/>
              </a:rPr>
              <a:t>битовите</a:t>
            </a:r>
            <a:r>
              <a:rPr lang="ru-RU" sz="2100">
                <a:latin typeface="Times New Roman" pitchFamily="18" charset="0"/>
                <a:cs typeface="Times New Roman" pitchFamily="18" charset="0"/>
              </a:rPr>
              <a:t> операции трябва да </a:t>
            </a:r>
            <a:r>
              <a:rPr lang="ru-RU" sz="2100" err="1">
                <a:latin typeface="Times New Roman" pitchFamily="18" charset="0"/>
                <a:cs typeface="Times New Roman" pitchFamily="18" charset="0"/>
              </a:rPr>
              <a:t>бъдат</a:t>
            </a:r>
            <a:r>
              <a:rPr lang="ru-RU" sz="2100">
                <a:latin typeface="Times New Roman" pitchFamily="18" charset="0"/>
                <a:cs typeface="Times New Roman" pitchFamily="18" charset="0"/>
              </a:rPr>
              <a:t> от един и </a:t>
            </a:r>
            <a:r>
              <a:rPr lang="ru-RU" sz="2100" err="1">
                <a:latin typeface="Times New Roman" pitchFamily="18" charset="0"/>
                <a:cs typeface="Times New Roman" pitchFamily="18" charset="0"/>
              </a:rPr>
              <a:t>същи</a:t>
            </a:r>
            <a:r>
              <a:rPr lang="ru-RU" sz="2100">
                <a:latin typeface="Times New Roman" pitchFamily="18" charset="0"/>
                <a:cs typeface="Times New Roman" pitchFamily="18" charset="0"/>
              </a:rPr>
              <a:t> тип. </a:t>
            </a:r>
          </a:p>
          <a:p>
            <a:pPr algn="just">
              <a:lnSpc>
                <a:spcPct val="122624"/>
              </a:lnSpc>
              <a:spcBef>
                <a:spcPts val="0"/>
              </a:spcBef>
            </a:pPr>
            <a:endParaRPr lang="bg-BG" sz="2100">
              <a:latin typeface="Times New Roman" pitchFamily="18" charset="0"/>
              <a:cs typeface="Times New Roman" pitchFamily="18" charset="0"/>
            </a:endParaRPr>
          </a:p>
        </p:txBody>
      </p:sp>
      <p:sp>
        <p:nvSpPr>
          <p:cNvPr id="4" name="Title 1"/>
          <p:cNvSpPr>
            <a:spLocks noGrp="1"/>
          </p:cNvSpPr>
          <p:nvPr>
            <p:ph type="title"/>
          </p:nvPr>
        </p:nvSpPr>
        <p:spPr>
          <a:xfrm>
            <a:off x="755576" y="301216"/>
            <a:ext cx="8229600" cy="854968"/>
          </a:xfrm>
        </p:spPr>
        <p:txBody>
          <a:bodyPr>
            <a:normAutofit fontScale="90000"/>
          </a:bodyPr>
          <a:lstStyle/>
          <a:p>
            <a:r>
              <a:rPr lang="en-US" sz="3700" b="1">
                <a:latin typeface="Times New Roman" pitchFamily="18" charset="0"/>
                <a:cs typeface="Times New Roman" pitchFamily="18" charset="0"/>
              </a:rPr>
              <a:t> </a:t>
            </a:r>
            <a:r>
              <a:rPr lang="ru-RU" sz="4000">
                <a:latin typeface="Times New Roman" pitchFamily="18" charset="0"/>
                <a:cs typeface="Times New Roman" pitchFamily="18" charset="0"/>
              </a:rPr>
              <a:t>Инструкции за </a:t>
            </a:r>
            <a:r>
              <a:rPr lang="ru-RU" sz="4000" err="1">
                <a:latin typeface="Times New Roman" pitchFamily="18" charset="0"/>
                <a:cs typeface="Times New Roman" pitchFamily="18" charset="0"/>
              </a:rPr>
              <a:t>манипулация</a:t>
            </a:r>
            <a:r>
              <a:rPr lang="ru-RU" sz="4000">
                <a:latin typeface="Times New Roman" pitchFamily="18" charset="0"/>
                <a:cs typeface="Times New Roman" pitchFamily="18" charset="0"/>
              </a:rPr>
              <a:t> на </a:t>
            </a:r>
            <a:r>
              <a:rPr lang="ru-RU" sz="4000" err="1">
                <a:latin typeface="Times New Roman" pitchFamily="18" charset="0"/>
                <a:cs typeface="Times New Roman" pitchFamily="18" charset="0"/>
              </a:rPr>
              <a:t>битове</a:t>
            </a:r>
            <a:r>
              <a:rPr lang="ru-RU" sz="4000">
                <a:latin typeface="Times New Roman" pitchFamily="18" charset="0"/>
                <a:cs typeface="Times New Roman" pitchFamily="18" charset="0"/>
              </a:rPr>
              <a:t>.</a:t>
            </a:r>
            <a:endParaRPr lang="bg-BG" sz="4000" b="1"/>
          </a:p>
        </p:txBody>
      </p:sp>
      <p:graphicFrame>
        <p:nvGraphicFramePr>
          <p:cNvPr id="5" name="Таблица 4"/>
          <p:cNvGraphicFramePr>
            <a:graphicFrameLocks noGrp="1"/>
          </p:cNvGraphicFramePr>
          <p:nvPr>
            <p:extLst>
              <p:ext uri="{D42A27DB-BD31-4B8C-83A1-F6EECF244321}">
                <p14:modId xmlns:p14="http://schemas.microsoft.com/office/powerpoint/2010/main" val="4114145453"/>
              </p:ext>
            </p:extLst>
          </p:nvPr>
        </p:nvGraphicFramePr>
        <p:xfrm>
          <a:off x="1920280" y="2564904"/>
          <a:ext cx="5338935" cy="1600715"/>
        </p:xfrm>
        <a:graphic>
          <a:graphicData uri="http://schemas.openxmlformats.org/drawingml/2006/table">
            <a:tbl>
              <a:tblPr>
                <a:tableStyleId>{5C22544A-7EE6-4342-B048-85BDC9FD1C3A}</a:tableStyleId>
              </a:tblPr>
              <a:tblGrid>
                <a:gridCol w="1067787">
                  <a:extLst>
                    <a:ext uri="{9D8B030D-6E8A-4147-A177-3AD203B41FA5}">
                      <a16:colId xmlns:a16="http://schemas.microsoft.com/office/drawing/2014/main" val="2117374618"/>
                    </a:ext>
                  </a:extLst>
                </a:gridCol>
                <a:gridCol w="1067787">
                  <a:extLst>
                    <a:ext uri="{9D8B030D-6E8A-4147-A177-3AD203B41FA5}">
                      <a16:colId xmlns:a16="http://schemas.microsoft.com/office/drawing/2014/main" val="3944927529"/>
                    </a:ext>
                  </a:extLst>
                </a:gridCol>
                <a:gridCol w="1067787">
                  <a:extLst>
                    <a:ext uri="{9D8B030D-6E8A-4147-A177-3AD203B41FA5}">
                      <a16:colId xmlns:a16="http://schemas.microsoft.com/office/drawing/2014/main" val="1259673326"/>
                    </a:ext>
                  </a:extLst>
                </a:gridCol>
                <a:gridCol w="1067787">
                  <a:extLst>
                    <a:ext uri="{9D8B030D-6E8A-4147-A177-3AD203B41FA5}">
                      <a16:colId xmlns:a16="http://schemas.microsoft.com/office/drawing/2014/main" val="2839892142"/>
                    </a:ext>
                  </a:extLst>
                </a:gridCol>
                <a:gridCol w="1067787">
                  <a:extLst>
                    <a:ext uri="{9D8B030D-6E8A-4147-A177-3AD203B41FA5}">
                      <a16:colId xmlns:a16="http://schemas.microsoft.com/office/drawing/2014/main" val="3125820552"/>
                    </a:ext>
                  </a:extLst>
                </a:gridCol>
              </a:tblGrid>
              <a:tr h="320143">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X</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Y</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AND</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OR</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XOR</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extLst>
                  <a:ext uri="{0D108BD9-81ED-4DB2-BD59-A6C34878D82A}">
                    <a16:rowId xmlns:a16="http://schemas.microsoft.com/office/drawing/2014/main" val="3253852867"/>
                  </a:ext>
                </a:extLst>
              </a:tr>
              <a:tr h="320143">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0</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0</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0</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0</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0</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extLst>
                  <a:ext uri="{0D108BD9-81ED-4DB2-BD59-A6C34878D82A}">
                    <a16:rowId xmlns:a16="http://schemas.microsoft.com/office/drawing/2014/main" val="1290034716"/>
                  </a:ext>
                </a:extLst>
              </a:tr>
              <a:tr h="320143">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0</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1</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0</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1</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1</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extLst>
                  <a:ext uri="{0D108BD9-81ED-4DB2-BD59-A6C34878D82A}">
                    <a16:rowId xmlns:a16="http://schemas.microsoft.com/office/drawing/2014/main" val="2857759876"/>
                  </a:ext>
                </a:extLst>
              </a:tr>
              <a:tr h="320143">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1</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0</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0</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1</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1</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extLst>
                  <a:ext uri="{0D108BD9-81ED-4DB2-BD59-A6C34878D82A}">
                    <a16:rowId xmlns:a16="http://schemas.microsoft.com/office/drawing/2014/main" val="3332180365"/>
                  </a:ext>
                </a:extLst>
              </a:tr>
              <a:tr h="320143">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1</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1</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1</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1</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tc>
                  <a:txBody>
                    <a:bodyPr/>
                    <a:lstStyle/>
                    <a:p>
                      <a:pPr algn="ctr">
                        <a:lnSpc>
                          <a:spcPct val="115000"/>
                        </a:lnSpc>
                        <a:spcAft>
                          <a:spcPts val="0"/>
                        </a:spcAft>
                      </a:pPr>
                      <a:r>
                        <a:rPr lang="bg-BG" sz="1500">
                          <a:effectLst/>
                          <a:latin typeface="Times New Roman" panose="02020603050405020304" pitchFamily="18" charset="0"/>
                          <a:cs typeface="Times New Roman" panose="02020603050405020304" pitchFamily="18" charset="0"/>
                        </a:rPr>
                        <a:t>0</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solidFill>
                      <a:schemeClr val="accent1">
                        <a:tint val="20000"/>
                      </a:schemeClr>
                    </a:solidFill>
                  </a:tcPr>
                </a:tc>
                <a:extLst>
                  <a:ext uri="{0D108BD9-81ED-4DB2-BD59-A6C34878D82A}">
                    <a16:rowId xmlns:a16="http://schemas.microsoft.com/office/drawing/2014/main" val="2833999209"/>
                  </a:ext>
                </a:extLst>
              </a:tr>
            </a:tbl>
          </a:graphicData>
        </a:graphic>
      </p:graphicFrame>
    </p:spTree>
    <p:extLst>
      <p:ext uri="{BB962C8B-B14F-4D97-AF65-F5344CB8AC3E}">
        <p14:creationId xmlns:p14="http://schemas.microsoft.com/office/powerpoint/2010/main" val="32120388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417" y="980728"/>
            <a:ext cx="8835063" cy="5633855"/>
          </a:xfrm>
        </p:spPr>
        <p:txBody>
          <a:bodyPr>
            <a:noAutofit/>
          </a:bodyPr>
          <a:lstStyle/>
          <a:p>
            <a:pPr algn="just">
              <a:spcBef>
                <a:spcPts val="0"/>
              </a:spcBef>
            </a:pPr>
            <a:r>
              <a:rPr lang="ru-RU" sz="2100" err="1">
                <a:latin typeface="Times New Roman" pitchFamily="18" charset="0"/>
                <a:cs typeface="Times New Roman" pitchFamily="18" charset="0"/>
              </a:rPr>
              <a:t>Инструкциите</a:t>
            </a:r>
            <a:r>
              <a:rPr lang="ru-RU" sz="2100">
                <a:latin typeface="Times New Roman" pitchFamily="18" charset="0"/>
                <a:cs typeface="Times New Roman" pitchFamily="18" charset="0"/>
              </a:rPr>
              <a:t> на х86, които се използват за логически операции са:</a:t>
            </a:r>
          </a:p>
          <a:p>
            <a:pPr algn="just">
              <a:spcBef>
                <a:spcPts val="0"/>
              </a:spcBef>
            </a:pPr>
            <a:r>
              <a:rPr lang="ru-RU" sz="2100">
                <a:latin typeface="Times New Roman" pitchFamily="18" charset="0"/>
                <a:cs typeface="Times New Roman" pitchFamily="18" charset="0"/>
              </a:rPr>
              <a:t>- </a:t>
            </a:r>
            <a:r>
              <a:rPr lang="en-US" sz="2100">
                <a:latin typeface="Times New Roman" pitchFamily="18" charset="0"/>
                <a:cs typeface="Times New Roman" pitchFamily="18" charset="0"/>
              </a:rPr>
              <a:t> NOT (</a:t>
            </a:r>
            <a:r>
              <a:rPr lang="ru-RU" sz="2100" err="1">
                <a:latin typeface="Times New Roman" pitchFamily="18" charset="0"/>
                <a:cs typeface="Times New Roman" pitchFamily="18" charset="0"/>
              </a:rPr>
              <a:t>логическо</a:t>
            </a:r>
            <a:r>
              <a:rPr lang="ru-RU" sz="2100">
                <a:latin typeface="Times New Roman" pitchFamily="18" charset="0"/>
                <a:cs typeface="Times New Roman" pitchFamily="18" charset="0"/>
              </a:rPr>
              <a:t> отрицание) </a:t>
            </a:r>
          </a:p>
          <a:p>
            <a:pPr algn="just">
              <a:spcBef>
                <a:spcPts val="0"/>
              </a:spcBef>
            </a:pPr>
            <a:r>
              <a:rPr lang="ru-RU" sz="2100">
                <a:latin typeface="Times New Roman" pitchFamily="18" charset="0"/>
                <a:cs typeface="Times New Roman" pitchFamily="18" charset="0"/>
              </a:rPr>
              <a:t>- </a:t>
            </a:r>
            <a:r>
              <a:rPr lang="en-US" sz="2100">
                <a:latin typeface="Times New Roman" pitchFamily="18" charset="0"/>
                <a:cs typeface="Times New Roman" pitchFamily="18" charset="0"/>
              </a:rPr>
              <a:t> AND (</a:t>
            </a:r>
            <a:r>
              <a:rPr lang="ru-RU" sz="2100" err="1">
                <a:latin typeface="Times New Roman" pitchFamily="18" charset="0"/>
                <a:cs typeface="Times New Roman" pitchFamily="18" charset="0"/>
              </a:rPr>
              <a:t>логическо</a:t>
            </a:r>
            <a:r>
              <a:rPr lang="ru-RU" sz="2100">
                <a:latin typeface="Times New Roman" pitchFamily="18" charset="0"/>
                <a:cs typeface="Times New Roman" pitchFamily="18" charset="0"/>
              </a:rPr>
              <a:t> умножение)</a:t>
            </a:r>
          </a:p>
          <a:p>
            <a:pPr algn="just">
              <a:spcBef>
                <a:spcPts val="0"/>
              </a:spcBef>
            </a:pPr>
            <a:r>
              <a:rPr lang="ru-RU" sz="2100">
                <a:latin typeface="Times New Roman" pitchFamily="18" charset="0"/>
                <a:cs typeface="Times New Roman" pitchFamily="18" charset="0"/>
              </a:rPr>
              <a:t>-  TEST (</a:t>
            </a:r>
            <a:r>
              <a:rPr lang="ru-RU" sz="2100" err="1">
                <a:latin typeface="Times New Roman" pitchFamily="18" charset="0"/>
                <a:cs typeface="Times New Roman" pitchFamily="18" charset="0"/>
              </a:rPr>
              <a:t>логическо</a:t>
            </a:r>
            <a:r>
              <a:rPr lang="ru-RU" sz="2100">
                <a:latin typeface="Times New Roman" pitchFamily="18" charset="0"/>
                <a:cs typeface="Times New Roman" pitchFamily="18" charset="0"/>
              </a:rPr>
              <a:t> умножение с цел проверка) </a:t>
            </a:r>
          </a:p>
          <a:p>
            <a:pPr algn="just">
              <a:spcBef>
                <a:spcPts val="0"/>
              </a:spcBef>
            </a:pPr>
            <a:r>
              <a:rPr lang="ru-RU" sz="2100">
                <a:latin typeface="Times New Roman" pitchFamily="18" charset="0"/>
                <a:cs typeface="Times New Roman" pitchFamily="18" charset="0"/>
              </a:rPr>
              <a:t>-  </a:t>
            </a:r>
            <a:r>
              <a:rPr lang="en-US" sz="2100">
                <a:latin typeface="Times New Roman" pitchFamily="18" charset="0"/>
                <a:cs typeface="Times New Roman" pitchFamily="18" charset="0"/>
              </a:rPr>
              <a:t>OR (</a:t>
            </a:r>
            <a:r>
              <a:rPr lang="ru-RU" sz="2100" err="1">
                <a:latin typeface="Times New Roman" pitchFamily="18" charset="0"/>
                <a:cs typeface="Times New Roman" pitchFamily="18" charset="0"/>
              </a:rPr>
              <a:t>логическо</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събиране</a:t>
            </a:r>
            <a:r>
              <a:rPr lang="ru-RU" sz="2100">
                <a:latin typeface="Times New Roman" pitchFamily="18" charset="0"/>
                <a:cs typeface="Times New Roman" pitchFamily="18" charset="0"/>
              </a:rPr>
              <a:t>) </a:t>
            </a:r>
          </a:p>
          <a:p>
            <a:pPr algn="just">
              <a:spcBef>
                <a:spcPts val="0"/>
              </a:spcBef>
            </a:pPr>
            <a:r>
              <a:rPr lang="ru-RU" sz="2100">
                <a:latin typeface="Times New Roman" pitchFamily="18" charset="0"/>
                <a:cs typeface="Times New Roman" pitchFamily="18" charset="0"/>
              </a:rPr>
              <a:t>-   XOR (</a:t>
            </a:r>
            <a:r>
              <a:rPr lang="ru-RU" sz="2100" err="1">
                <a:latin typeface="Times New Roman" pitchFamily="18" charset="0"/>
                <a:cs typeface="Times New Roman" pitchFamily="18" charset="0"/>
              </a:rPr>
              <a:t>изключващо</a:t>
            </a:r>
            <a:r>
              <a:rPr lang="ru-RU" sz="2100">
                <a:latin typeface="Times New Roman" pitchFamily="18" charset="0"/>
                <a:cs typeface="Times New Roman" pitchFamily="18" charset="0"/>
              </a:rPr>
              <a:t> ИЛИ, </a:t>
            </a:r>
            <a:r>
              <a:rPr lang="ru-RU" sz="2100" err="1">
                <a:latin typeface="Times New Roman" pitchFamily="18" charset="0"/>
                <a:cs typeface="Times New Roman" pitchFamily="18" charset="0"/>
              </a:rPr>
              <a:t>логическа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неравнозначност</a:t>
            </a:r>
            <a:r>
              <a:rPr lang="ru-RU" sz="2100">
                <a:latin typeface="Times New Roman" pitchFamily="18" charset="0"/>
                <a:cs typeface="Times New Roman" pitchFamily="18" charset="0"/>
              </a:rPr>
              <a:t>) </a:t>
            </a:r>
          </a:p>
          <a:p>
            <a:pPr marL="0" indent="0" algn="just">
              <a:spcBef>
                <a:spcPts val="0"/>
              </a:spcBef>
              <a:buNone/>
            </a:pPr>
            <a:r>
              <a:rPr lang="ru-RU" sz="2100">
                <a:latin typeface="Times New Roman" pitchFamily="18" charset="0"/>
                <a:cs typeface="Times New Roman" pitchFamily="18" charset="0"/>
              </a:rPr>
              <a:t>  В набора от инструкции за процесор ARM в групата на логическите операции са включени инструкциите </a:t>
            </a:r>
            <a:endParaRPr lang="en-US" sz="2100">
              <a:latin typeface="Times New Roman" pitchFamily="18" charset="0"/>
              <a:cs typeface="Times New Roman" pitchFamily="18" charset="0"/>
            </a:endParaRPr>
          </a:p>
          <a:p>
            <a:pPr marL="0" indent="0" algn="just">
              <a:spcBef>
                <a:spcPts val="0"/>
              </a:spcBef>
              <a:buNone/>
            </a:pPr>
            <a:r>
              <a:rPr lang="en-US" sz="2100">
                <a:latin typeface="Times New Roman" pitchFamily="18" charset="0"/>
                <a:cs typeface="Times New Roman" pitchFamily="18" charset="0"/>
              </a:rPr>
              <a:t> - </a:t>
            </a:r>
            <a:r>
              <a:rPr lang="ru-RU" sz="2100">
                <a:latin typeface="Times New Roman" pitchFamily="18" charset="0"/>
                <a:cs typeface="Times New Roman" pitchFamily="18" charset="0"/>
              </a:rPr>
              <a:t>AND</a:t>
            </a:r>
            <a:r>
              <a:rPr lang="en-US" sz="2100">
                <a:latin typeface="Times New Roman" pitchFamily="18" charset="0"/>
                <a:cs typeface="Times New Roman" pitchFamily="18" charset="0"/>
              </a:rPr>
              <a:t> (</a:t>
            </a:r>
            <a:r>
              <a:rPr lang="ru-RU" sz="2100">
                <a:latin typeface="Times New Roman" pitchFamily="18" charset="0"/>
                <a:cs typeface="Times New Roman" pitchFamily="18" charset="0"/>
              </a:rPr>
              <a:t>логическо умножение), </a:t>
            </a:r>
            <a:endParaRPr lang="en-US" sz="2100">
              <a:latin typeface="Times New Roman" pitchFamily="18" charset="0"/>
              <a:cs typeface="Times New Roman" pitchFamily="18" charset="0"/>
            </a:endParaRPr>
          </a:p>
          <a:p>
            <a:pPr marL="0" indent="0" algn="just">
              <a:spcBef>
                <a:spcPts val="0"/>
              </a:spcBef>
              <a:buNone/>
            </a:pPr>
            <a:r>
              <a:rPr lang="en-US" sz="2100">
                <a:latin typeface="Times New Roman" pitchFamily="18" charset="0"/>
                <a:cs typeface="Times New Roman" pitchFamily="18" charset="0"/>
              </a:rPr>
              <a:t> - </a:t>
            </a:r>
            <a:r>
              <a:rPr lang="ru-RU" sz="2100">
                <a:latin typeface="Times New Roman" pitchFamily="18" charset="0"/>
                <a:cs typeface="Times New Roman" pitchFamily="18" charset="0"/>
              </a:rPr>
              <a:t>EOR</a:t>
            </a:r>
            <a:r>
              <a:rPr lang="en-US" sz="2100">
                <a:latin typeface="Times New Roman" pitchFamily="18" charset="0"/>
                <a:cs typeface="Times New Roman" pitchFamily="18" charset="0"/>
              </a:rPr>
              <a:t> (</a:t>
            </a:r>
            <a:r>
              <a:rPr lang="bg-BG" sz="2100">
                <a:latin typeface="Times New Roman" pitchFamily="18" charset="0"/>
                <a:cs typeface="Times New Roman" pitchFamily="18" charset="0"/>
              </a:rPr>
              <a:t>изключващо ИЛИ</a:t>
            </a:r>
            <a:r>
              <a:rPr lang="en-US" sz="2100">
                <a:latin typeface="Times New Roman" pitchFamily="18" charset="0"/>
                <a:cs typeface="Times New Roman" pitchFamily="18" charset="0"/>
              </a:rPr>
              <a:t>)</a:t>
            </a:r>
            <a:r>
              <a:rPr lang="ru-RU" sz="2100">
                <a:latin typeface="Times New Roman" pitchFamily="18" charset="0"/>
                <a:cs typeface="Times New Roman" pitchFamily="18" charset="0"/>
              </a:rPr>
              <a:t>, </a:t>
            </a:r>
            <a:endParaRPr lang="en-US" sz="2100">
              <a:latin typeface="Times New Roman" pitchFamily="18" charset="0"/>
              <a:cs typeface="Times New Roman" pitchFamily="18" charset="0"/>
            </a:endParaRPr>
          </a:p>
          <a:p>
            <a:pPr marL="0" indent="0" algn="just">
              <a:spcBef>
                <a:spcPts val="0"/>
              </a:spcBef>
              <a:buNone/>
            </a:pPr>
            <a:r>
              <a:rPr lang="en-US" sz="2100">
                <a:latin typeface="Times New Roman" pitchFamily="18" charset="0"/>
                <a:cs typeface="Times New Roman" pitchFamily="18" charset="0"/>
              </a:rPr>
              <a:t> - </a:t>
            </a:r>
            <a:r>
              <a:rPr lang="ru-RU" sz="2100">
                <a:latin typeface="Times New Roman" pitchFamily="18" charset="0"/>
                <a:cs typeface="Times New Roman" pitchFamily="18" charset="0"/>
              </a:rPr>
              <a:t>ORR</a:t>
            </a:r>
            <a:r>
              <a:rPr lang="en-US" sz="2100">
                <a:latin typeface="Times New Roman" pitchFamily="18" charset="0"/>
                <a:cs typeface="Times New Roman" pitchFamily="18" charset="0"/>
              </a:rPr>
              <a:t>(</a:t>
            </a:r>
            <a:r>
              <a:rPr lang="ru-RU" sz="2100">
                <a:latin typeface="Times New Roman" pitchFamily="18" charset="0"/>
                <a:cs typeface="Times New Roman" pitchFamily="18" charset="0"/>
              </a:rPr>
              <a:t>логическо събиране</a:t>
            </a:r>
            <a:r>
              <a:rPr lang="en-US" sz="2100">
                <a:latin typeface="Times New Roman" pitchFamily="18" charset="0"/>
                <a:cs typeface="Times New Roman" pitchFamily="18" charset="0"/>
              </a:rPr>
              <a:t>)</a:t>
            </a:r>
            <a:r>
              <a:rPr lang="ru-RU" sz="2100">
                <a:latin typeface="Times New Roman" pitchFamily="18" charset="0"/>
                <a:cs typeface="Times New Roman" pitchFamily="18" charset="0"/>
              </a:rPr>
              <a:t>, </a:t>
            </a:r>
            <a:endParaRPr lang="en-US" sz="2100">
              <a:latin typeface="Times New Roman" pitchFamily="18" charset="0"/>
              <a:cs typeface="Times New Roman" pitchFamily="18" charset="0"/>
            </a:endParaRPr>
          </a:p>
          <a:p>
            <a:pPr marL="0" indent="0" algn="just">
              <a:spcBef>
                <a:spcPts val="0"/>
              </a:spcBef>
              <a:buNone/>
            </a:pPr>
            <a:r>
              <a:rPr lang="en-US" sz="2100">
                <a:latin typeface="Times New Roman" pitchFamily="18" charset="0"/>
                <a:cs typeface="Times New Roman" pitchFamily="18" charset="0"/>
              </a:rPr>
              <a:t> - </a:t>
            </a:r>
            <a:r>
              <a:rPr lang="ru-RU" sz="2100">
                <a:latin typeface="Times New Roman" pitchFamily="18" charset="0"/>
                <a:cs typeface="Times New Roman" pitchFamily="18" charset="0"/>
              </a:rPr>
              <a:t>BIC </a:t>
            </a:r>
            <a:r>
              <a:rPr lang="en-US" sz="2100">
                <a:latin typeface="Times New Roman" pitchFamily="18" charset="0"/>
                <a:cs typeface="Times New Roman" pitchFamily="18" charset="0"/>
              </a:rPr>
              <a:t>(</a:t>
            </a:r>
            <a:r>
              <a:rPr lang="bg-BG" sz="2100">
                <a:latin typeface="Times New Roman" pitchFamily="18" charset="0"/>
                <a:cs typeface="Times New Roman" pitchFamily="18" charset="0"/>
              </a:rPr>
              <a:t>побитово изчистване</a:t>
            </a:r>
            <a:r>
              <a:rPr lang="en-US" sz="2100">
                <a:latin typeface="Times New Roman" pitchFamily="18" charset="0"/>
                <a:cs typeface="Times New Roman" pitchFamily="18" charset="0"/>
              </a:rPr>
              <a:t>)</a:t>
            </a:r>
            <a:r>
              <a:rPr lang="ru-RU" sz="2100">
                <a:latin typeface="Times New Roman" pitchFamily="18" charset="0"/>
                <a:cs typeface="Times New Roman" pitchFamily="18" charset="0"/>
              </a:rPr>
              <a:t>, </a:t>
            </a:r>
            <a:endParaRPr lang="en-US" sz="2100">
              <a:latin typeface="Times New Roman" pitchFamily="18" charset="0"/>
              <a:cs typeface="Times New Roman" pitchFamily="18" charset="0"/>
            </a:endParaRPr>
          </a:p>
          <a:p>
            <a:pPr marL="0" indent="0" algn="just">
              <a:spcBef>
                <a:spcPts val="0"/>
              </a:spcBef>
              <a:buNone/>
            </a:pPr>
            <a:r>
              <a:rPr lang="en-US" sz="2100">
                <a:latin typeface="Times New Roman" pitchFamily="18" charset="0"/>
                <a:cs typeface="Times New Roman" pitchFamily="18" charset="0"/>
              </a:rPr>
              <a:t> - </a:t>
            </a:r>
            <a:r>
              <a:rPr lang="ru-RU" sz="2100">
                <a:latin typeface="Times New Roman" pitchFamily="18" charset="0"/>
                <a:cs typeface="Times New Roman" pitchFamily="18" charset="0"/>
              </a:rPr>
              <a:t>TST </a:t>
            </a:r>
            <a:r>
              <a:rPr lang="en-US" sz="2100">
                <a:latin typeface="Times New Roman" pitchFamily="18" charset="0"/>
                <a:cs typeface="Times New Roman" pitchFamily="18" charset="0"/>
              </a:rPr>
              <a:t>(</a:t>
            </a:r>
            <a:r>
              <a:rPr lang="bg-BG" sz="2100">
                <a:latin typeface="Times New Roman" pitchFamily="18" charset="0"/>
                <a:cs typeface="Times New Roman" pitchFamily="18" charset="0"/>
              </a:rPr>
              <a:t>побитов тест</a:t>
            </a:r>
            <a:r>
              <a:rPr lang="en-US" sz="2100">
                <a:latin typeface="Times New Roman" pitchFamily="18" charset="0"/>
                <a:cs typeface="Times New Roman" pitchFamily="18" charset="0"/>
              </a:rPr>
              <a:t>)</a:t>
            </a:r>
            <a:r>
              <a:rPr lang="ru-RU" sz="2100">
                <a:latin typeface="Times New Roman" pitchFamily="18" charset="0"/>
                <a:cs typeface="Times New Roman" pitchFamily="18" charset="0"/>
              </a:rPr>
              <a:t>, </a:t>
            </a:r>
            <a:endParaRPr lang="en-US" sz="2100">
              <a:latin typeface="Times New Roman" pitchFamily="18" charset="0"/>
              <a:cs typeface="Times New Roman" pitchFamily="18" charset="0"/>
            </a:endParaRPr>
          </a:p>
          <a:p>
            <a:pPr marL="0" indent="0" algn="just">
              <a:spcBef>
                <a:spcPts val="0"/>
              </a:spcBef>
              <a:buNone/>
            </a:pPr>
            <a:r>
              <a:rPr lang="en-US" sz="2100">
                <a:latin typeface="Times New Roman" pitchFamily="18" charset="0"/>
                <a:cs typeface="Times New Roman" pitchFamily="18" charset="0"/>
              </a:rPr>
              <a:t> - </a:t>
            </a:r>
            <a:r>
              <a:rPr lang="ru-RU" sz="2100">
                <a:latin typeface="Times New Roman" pitchFamily="18" charset="0"/>
                <a:cs typeface="Times New Roman" pitchFamily="18" charset="0"/>
              </a:rPr>
              <a:t>TEQ </a:t>
            </a:r>
            <a:r>
              <a:rPr lang="en-US" sz="2100">
                <a:latin typeface="Times New Roman" pitchFamily="18" charset="0"/>
                <a:cs typeface="Times New Roman" pitchFamily="18" charset="0"/>
              </a:rPr>
              <a:t>(</a:t>
            </a:r>
            <a:r>
              <a:rPr lang="bg-BG" sz="2100">
                <a:latin typeface="Times New Roman" pitchFamily="18" charset="0"/>
                <a:cs typeface="Times New Roman" pitchFamily="18" charset="0"/>
              </a:rPr>
              <a:t>тест за еквивалентност</a:t>
            </a:r>
            <a:r>
              <a:rPr lang="en-US" sz="2100">
                <a:latin typeface="Times New Roman" pitchFamily="18" charset="0"/>
                <a:cs typeface="Times New Roman" pitchFamily="18" charset="0"/>
              </a:rPr>
              <a:t>)</a:t>
            </a:r>
            <a:r>
              <a:rPr lang="ru-RU" sz="2100">
                <a:latin typeface="Times New Roman" pitchFamily="18" charset="0"/>
                <a:cs typeface="Times New Roman" pitchFamily="18" charset="0"/>
              </a:rPr>
              <a:t>, </a:t>
            </a:r>
            <a:endParaRPr lang="en-US" sz="2100">
              <a:latin typeface="Times New Roman" pitchFamily="18" charset="0"/>
              <a:cs typeface="Times New Roman" pitchFamily="18" charset="0"/>
            </a:endParaRPr>
          </a:p>
          <a:p>
            <a:pPr marL="0" indent="0" algn="just">
              <a:spcBef>
                <a:spcPts val="0"/>
              </a:spcBef>
              <a:buNone/>
            </a:pPr>
            <a:r>
              <a:rPr lang="en-US" sz="2100">
                <a:latin typeface="Times New Roman" pitchFamily="18" charset="0"/>
                <a:cs typeface="Times New Roman" pitchFamily="18" charset="0"/>
              </a:rPr>
              <a:t> - </a:t>
            </a:r>
            <a:r>
              <a:rPr lang="ru-RU" sz="2100">
                <a:latin typeface="Times New Roman" pitchFamily="18" charset="0"/>
                <a:cs typeface="Times New Roman" pitchFamily="18" charset="0"/>
              </a:rPr>
              <a:t>NOP </a:t>
            </a:r>
            <a:r>
              <a:rPr lang="en-US" sz="2100">
                <a:latin typeface="Times New Roman" pitchFamily="18" charset="0"/>
                <a:cs typeface="Times New Roman" pitchFamily="18" charset="0"/>
              </a:rPr>
              <a:t>(</a:t>
            </a:r>
            <a:r>
              <a:rPr lang="bg-BG" sz="2100">
                <a:latin typeface="Times New Roman" pitchFamily="18" charset="0"/>
                <a:cs typeface="Times New Roman" pitchFamily="18" charset="0"/>
              </a:rPr>
              <a:t>без операция</a:t>
            </a:r>
            <a:r>
              <a:rPr lang="en-US" sz="2100">
                <a:latin typeface="Times New Roman" pitchFamily="18" charset="0"/>
                <a:cs typeface="Times New Roman" pitchFamily="18" charset="0"/>
              </a:rPr>
              <a:t>),</a:t>
            </a:r>
          </a:p>
          <a:p>
            <a:pPr marL="0" indent="0" algn="just">
              <a:spcBef>
                <a:spcPts val="0"/>
              </a:spcBef>
              <a:buNone/>
            </a:pPr>
            <a:r>
              <a:rPr lang="en-US" sz="2100">
                <a:latin typeface="Times New Roman" pitchFamily="18" charset="0"/>
                <a:cs typeface="Times New Roman" pitchFamily="18" charset="0"/>
              </a:rPr>
              <a:t> - </a:t>
            </a:r>
            <a:r>
              <a:rPr lang="ru-RU" sz="2100">
                <a:latin typeface="Times New Roman" pitchFamily="18" charset="0"/>
                <a:cs typeface="Times New Roman" pitchFamily="18" charset="0"/>
              </a:rPr>
              <a:t>RBIT(обръщане на реда на битовете в регистър за някои модели на процесора). </a:t>
            </a:r>
          </a:p>
        </p:txBody>
      </p:sp>
      <p:sp>
        <p:nvSpPr>
          <p:cNvPr id="4" name="Title 1"/>
          <p:cNvSpPr>
            <a:spLocks noGrp="1"/>
          </p:cNvSpPr>
          <p:nvPr>
            <p:ph type="title"/>
          </p:nvPr>
        </p:nvSpPr>
        <p:spPr>
          <a:xfrm>
            <a:off x="493204" y="188640"/>
            <a:ext cx="8229600" cy="854968"/>
          </a:xfrm>
        </p:spPr>
        <p:txBody>
          <a:bodyPr>
            <a:normAutofit fontScale="90000"/>
          </a:bodyPr>
          <a:lstStyle/>
          <a:p>
            <a:r>
              <a:rPr lang="en-US" sz="3700" b="1">
                <a:latin typeface="Times New Roman" pitchFamily="18" charset="0"/>
                <a:cs typeface="Times New Roman" pitchFamily="18" charset="0"/>
              </a:rPr>
              <a:t> </a:t>
            </a:r>
            <a:r>
              <a:rPr lang="ru-RU" sz="4000">
                <a:latin typeface="Times New Roman" pitchFamily="18" charset="0"/>
                <a:cs typeface="Times New Roman" pitchFamily="18" charset="0"/>
              </a:rPr>
              <a:t>Инструкции за </a:t>
            </a:r>
            <a:r>
              <a:rPr lang="ru-RU" sz="4000" err="1">
                <a:latin typeface="Times New Roman" pitchFamily="18" charset="0"/>
                <a:cs typeface="Times New Roman" pitchFamily="18" charset="0"/>
              </a:rPr>
              <a:t>манипулация</a:t>
            </a:r>
            <a:r>
              <a:rPr lang="ru-RU" sz="4000">
                <a:latin typeface="Times New Roman" pitchFamily="18" charset="0"/>
                <a:cs typeface="Times New Roman" pitchFamily="18" charset="0"/>
              </a:rPr>
              <a:t> на </a:t>
            </a:r>
            <a:r>
              <a:rPr lang="ru-RU" sz="4000" err="1">
                <a:latin typeface="Times New Roman" pitchFamily="18" charset="0"/>
                <a:cs typeface="Times New Roman" pitchFamily="18" charset="0"/>
              </a:rPr>
              <a:t>битове</a:t>
            </a:r>
            <a:r>
              <a:rPr lang="ru-RU" sz="4000">
                <a:latin typeface="Times New Roman" pitchFamily="18" charset="0"/>
                <a:cs typeface="Times New Roman" pitchFamily="18" charset="0"/>
              </a:rPr>
              <a:t>.</a:t>
            </a:r>
            <a:endParaRPr lang="bg-BG" sz="4000" b="1"/>
          </a:p>
        </p:txBody>
      </p:sp>
    </p:spTree>
    <p:extLst>
      <p:ext uri="{BB962C8B-B14F-4D97-AF65-F5344CB8AC3E}">
        <p14:creationId xmlns:p14="http://schemas.microsoft.com/office/powerpoint/2010/main" val="3213980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016" y="1043608"/>
            <a:ext cx="8605464" cy="5814392"/>
          </a:xfrm>
        </p:spPr>
        <p:txBody>
          <a:bodyPr vert="horz" lIns="91440" tIns="45720" rIns="91440" bIns="45720" anchor="t">
            <a:noAutofit/>
          </a:bodyPr>
          <a:lstStyle/>
          <a:p>
            <a:pPr algn="just">
              <a:lnSpc>
                <a:spcPct val="135531"/>
              </a:lnSpc>
              <a:spcBef>
                <a:spcPts val="0"/>
              </a:spcBef>
            </a:pPr>
            <a:r>
              <a:rPr lang="ru-RU" sz="1900" err="1">
                <a:latin typeface="Times New Roman" pitchFamily="18" charset="0"/>
                <a:cs typeface="Times New Roman" pitchFamily="18" charset="0"/>
              </a:rPr>
              <a:t>Програмният</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цикъл</a:t>
            </a:r>
            <a:r>
              <a:rPr lang="ru-RU" sz="1900">
                <a:latin typeface="Times New Roman" pitchFamily="18" charset="0"/>
                <a:cs typeface="Times New Roman" pitchFamily="18" charset="0"/>
              </a:rPr>
              <a:t> е </a:t>
            </a:r>
            <a:r>
              <a:rPr lang="ru-RU" sz="1900" err="1">
                <a:latin typeface="Times New Roman" pitchFamily="18" charset="0"/>
                <a:cs typeface="Times New Roman" pitchFamily="18" charset="0"/>
              </a:rPr>
              <a:t>основната</a:t>
            </a:r>
            <a:r>
              <a:rPr lang="ru-RU" sz="1900">
                <a:latin typeface="Times New Roman" pitchFamily="18" charset="0"/>
                <a:cs typeface="Times New Roman" pitchFamily="18" charset="0"/>
              </a:rPr>
              <a:t> структура, </a:t>
            </a:r>
            <a:r>
              <a:rPr lang="ru-RU" sz="1900" err="1">
                <a:latin typeface="Times New Roman" pitchFamily="18" charset="0"/>
                <a:cs typeface="Times New Roman" pitchFamily="18" charset="0"/>
              </a:rPr>
              <a:t>която</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принуждава</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процесора</a:t>
            </a:r>
            <a:r>
              <a:rPr lang="ru-RU" sz="1900">
                <a:latin typeface="Times New Roman" pitchFamily="18" charset="0"/>
                <a:cs typeface="Times New Roman" pitchFamily="18" charset="0"/>
              </a:rPr>
              <a:t> да </a:t>
            </a:r>
            <a:r>
              <a:rPr lang="ru-RU" sz="1900" err="1">
                <a:latin typeface="Times New Roman" pitchFamily="18" charset="0"/>
                <a:cs typeface="Times New Roman" pitchFamily="18" charset="0"/>
              </a:rPr>
              <a:t>повтаря</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последователност</a:t>
            </a:r>
            <a:r>
              <a:rPr lang="ru-RU" sz="1900">
                <a:latin typeface="Times New Roman" pitchFamily="18" charset="0"/>
                <a:cs typeface="Times New Roman" pitchFamily="18" charset="0"/>
              </a:rPr>
              <a:t> от инструкции. Циклите </a:t>
            </a:r>
            <a:r>
              <a:rPr lang="ru-RU" sz="1900" err="1">
                <a:latin typeface="Times New Roman" pitchFamily="18" charset="0"/>
                <a:cs typeface="Times New Roman" pitchFamily="18" charset="0"/>
              </a:rPr>
              <a:t>имат</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четири</a:t>
            </a:r>
            <a:r>
              <a:rPr lang="ru-RU" sz="1900">
                <a:latin typeface="Times New Roman" pitchFamily="18" charset="0"/>
                <a:cs typeface="Times New Roman" pitchFamily="18" charset="0"/>
              </a:rPr>
              <a:t> секции: </a:t>
            </a:r>
            <a:endParaRPr lang="en-US" sz="1900">
              <a:latin typeface="Times New Roman" pitchFamily="18" charset="0"/>
              <a:cs typeface="Times New Roman" pitchFamily="18" charset="0"/>
            </a:endParaRPr>
          </a:p>
          <a:p>
            <a:pPr algn="just">
              <a:lnSpc>
                <a:spcPct val="135531"/>
              </a:lnSpc>
              <a:spcBef>
                <a:spcPts val="0"/>
              </a:spcBef>
            </a:pPr>
            <a:r>
              <a:rPr lang="ru-RU" sz="1900">
                <a:latin typeface="Times New Roman" pitchFamily="18" charset="0"/>
                <a:cs typeface="Times New Roman" pitchFamily="18" charset="0"/>
              </a:rPr>
              <a:t>1. </a:t>
            </a:r>
            <a:r>
              <a:rPr lang="ru-RU" sz="1900" err="1">
                <a:latin typeface="Times New Roman" pitchFamily="18" charset="0"/>
                <a:cs typeface="Times New Roman" pitchFamily="18" charset="0"/>
              </a:rPr>
              <a:t>Секцията</a:t>
            </a:r>
            <a:r>
              <a:rPr lang="ru-RU" sz="1900">
                <a:latin typeface="Times New Roman" pitchFamily="18" charset="0"/>
                <a:cs typeface="Times New Roman" pitchFamily="18" charset="0"/>
              </a:rPr>
              <a:t> за инициализация, </a:t>
            </a:r>
            <a:r>
              <a:rPr lang="ru-RU" sz="1900" err="1">
                <a:latin typeface="Times New Roman" pitchFamily="18" charset="0"/>
                <a:cs typeface="Times New Roman" pitchFamily="18" charset="0"/>
              </a:rPr>
              <a:t>която</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установява</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началните</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стойности</a:t>
            </a:r>
            <a:r>
              <a:rPr lang="ru-RU" sz="1900">
                <a:latin typeface="Times New Roman" pitchFamily="18" charset="0"/>
                <a:cs typeface="Times New Roman" pitchFamily="18" charset="0"/>
              </a:rPr>
              <a:t> на </a:t>
            </a:r>
            <a:r>
              <a:rPr lang="ru-RU" sz="1900" err="1">
                <a:latin typeface="Times New Roman" pitchFamily="18" charset="0"/>
                <a:cs typeface="Times New Roman" pitchFamily="18" charset="0"/>
              </a:rPr>
              <a:t>броячи</a:t>
            </a:r>
            <a:r>
              <a:rPr lang="ru-RU" sz="1900">
                <a:latin typeface="Times New Roman" pitchFamily="18" charset="0"/>
                <a:cs typeface="Times New Roman" pitchFamily="18" charset="0"/>
              </a:rPr>
              <a:t>, указатели и други </a:t>
            </a:r>
            <a:r>
              <a:rPr lang="ru-RU" sz="1900" err="1">
                <a:latin typeface="Times New Roman" pitchFamily="18" charset="0"/>
                <a:cs typeface="Times New Roman" pitchFamily="18" charset="0"/>
              </a:rPr>
              <a:t>променливи</a:t>
            </a:r>
            <a:r>
              <a:rPr lang="ru-RU" sz="1900">
                <a:latin typeface="Times New Roman" pitchFamily="18" charset="0"/>
                <a:cs typeface="Times New Roman" pitchFamily="18" charset="0"/>
              </a:rPr>
              <a:t>. </a:t>
            </a:r>
            <a:endParaRPr lang="en-US" sz="1900">
              <a:latin typeface="Times New Roman" pitchFamily="18" charset="0"/>
              <a:cs typeface="Times New Roman" pitchFamily="18" charset="0"/>
            </a:endParaRPr>
          </a:p>
          <a:p>
            <a:pPr algn="just">
              <a:lnSpc>
                <a:spcPct val="135531"/>
              </a:lnSpc>
              <a:spcBef>
                <a:spcPts val="0"/>
              </a:spcBef>
            </a:pPr>
            <a:r>
              <a:rPr lang="ru-RU" sz="1900">
                <a:latin typeface="Times New Roman" pitchFamily="18" charset="0"/>
                <a:cs typeface="Times New Roman" pitchFamily="18" charset="0"/>
              </a:rPr>
              <a:t>2. </a:t>
            </a:r>
            <a:r>
              <a:rPr lang="ru-RU" sz="1900" err="1">
                <a:latin typeface="Times New Roman" pitchFamily="18" charset="0"/>
                <a:cs typeface="Times New Roman" pitchFamily="18" charset="0"/>
              </a:rPr>
              <a:t>Секцията</a:t>
            </a:r>
            <a:r>
              <a:rPr lang="ru-RU" sz="1900">
                <a:latin typeface="Times New Roman" pitchFamily="18" charset="0"/>
                <a:cs typeface="Times New Roman" pitchFamily="18" charset="0"/>
              </a:rPr>
              <a:t> за обработка, </a:t>
            </a:r>
            <a:r>
              <a:rPr lang="ru-RU" sz="1900" err="1">
                <a:latin typeface="Times New Roman" pitchFamily="18" charset="0"/>
                <a:cs typeface="Times New Roman" pitchFamily="18" charset="0"/>
              </a:rPr>
              <a:t>където</a:t>
            </a:r>
            <a:r>
              <a:rPr lang="ru-RU" sz="1900">
                <a:latin typeface="Times New Roman" pitchFamily="18" charset="0"/>
                <a:cs typeface="Times New Roman" pitchFamily="18" charset="0"/>
              </a:rPr>
              <a:t> се </a:t>
            </a:r>
            <a:r>
              <a:rPr lang="ru-RU" sz="1900" err="1">
                <a:latin typeface="Times New Roman" pitchFamily="18" charset="0"/>
                <a:cs typeface="Times New Roman" pitchFamily="18" charset="0"/>
              </a:rPr>
              <a:t>извършва</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действителното</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манипулиране</a:t>
            </a:r>
            <a:r>
              <a:rPr lang="ru-RU" sz="1900">
                <a:latin typeface="Times New Roman" pitchFamily="18" charset="0"/>
                <a:cs typeface="Times New Roman" pitchFamily="18" charset="0"/>
              </a:rPr>
              <a:t> на </a:t>
            </a:r>
            <a:r>
              <a:rPr lang="ru-RU" sz="1900" err="1">
                <a:latin typeface="Times New Roman" pitchFamily="18" charset="0"/>
                <a:cs typeface="Times New Roman" pitchFamily="18" charset="0"/>
              </a:rPr>
              <a:t>данните</a:t>
            </a:r>
            <a:r>
              <a:rPr lang="ru-RU" sz="1900">
                <a:latin typeface="Times New Roman" pitchFamily="18" charset="0"/>
                <a:cs typeface="Times New Roman" pitchFamily="18" charset="0"/>
              </a:rPr>
              <a:t>. Това е </a:t>
            </a:r>
            <a:r>
              <a:rPr lang="ru-RU" sz="1900" err="1">
                <a:latin typeface="Times New Roman" pitchFamily="18" charset="0"/>
                <a:cs typeface="Times New Roman" pitchFamily="18" charset="0"/>
              </a:rPr>
              <a:t>секцията</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която</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представлява</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тяло</a:t>
            </a:r>
            <a:r>
              <a:rPr lang="ru-RU" sz="1900">
                <a:latin typeface="Times New Roman" pitchFamily="18" charset="0"/>
                <a:cs typeface="Times New Roman" pitchFamily="18" charset="0"/>
              </a:rPr>
              <a:t> на </a:t>
            </a:r>
            <a:r>
              <a:rPr lang="ru-RU" sz="1900" err="1">
                <a:latin typeface="Times New Roman" pitchFamily="18" charset="0"/>
                <a:cs typeface="Times New Roman" pitchFamily="18" charset="0"/>
              </a:rPr>
              <a:t>цикъла</a:t>
            </a:r>
            <a:r>
              <a:rPr lang="ru-RU" sz="1900">
                <a:latin typeface="Times New Roman" pitchFamily="18" charset="0"/>
                <a:cs typeface="Times New Roman" pitchFamily="18" charset="0"/>
              </a:rPr>
              <a:t>.</a:t>
            </a:r>
            <a:endParaRPr lang="en-US" sz="1900">
              <a:latin typeface="Times New Roman" pitchFamily="18" charset="0"/>
              <a:cs typeface="Times New Roman" pitchFamily="18" charset="0"/>
            </a:endParaRPr>
          </a:p>
          <a:p>
            <a:pPr algn="just">
              <a:lnSpc>
                <a:spcPct val="135531"/>
              </a:lnSpc>
              <a:spcBef>
                <a:spcPts val="0"/>
              </a:spcBef>
            </a:pPr>
            <a:r>
              <a:rPr lang="ru-RU" sz="1900">
                <a:latin typeface="Times New Roman" pitchFamily="18" charset="0"/>
                <a:cs typeface="Times New Roman" pitchFamily="18" charset="0"/>
              </a:rPr>
              <a:t>3. </a:t>
            </a:r>
            <a:r>
              <a:rPr lang="ru-RU" sz="1900" err="1">
                <a:latin typeface="Times New Roman" pitchFamily="18" charset="0"/>
                <a:cs typeface="Times New Roman" pitchFamily="18" charset="0"/>
              </a:rPr>
              <a:t>Секцията</a:t>
            </a:r>
            <a:r>
              <a:rPr lang="ru-RU" sz="1900">
                <a:latin typeface="Times New Roman" pitchFamily="18" charset="0"/>
                <a:cs typeface="Times New Roman" pitchFamily="18" charset="0"/>
              </a:rPr>
              <a:t> за </a:t>
            </a:r>
            <a:r>
              <a:rPr lang="ru-RU" sz="1900" err="1">
                <a:latin typeface="Times New Roman" pitchFamily="18" charset="0"/>
                <a:cs typeface="Times New Roman" pitchFamily="18" charset="0"/>
              </a:rPr>
              <a:t>контрол</a:t>
            </a:r>
            <a:r>
              <a:rPr lang="ru-RU" sz="1900">
                <a:latin typeface="Times New Roman" pitchFamily="18" charset="0"/>
                <a:cs typeface="Times New Roman" pitchFamily="18" charset="0"/>
              </a:rPr>
              <a:t> на </a:t>
            </a:r>
            <a:r>
              <a:rPr lang="ru-RU" sz="1900" err="1">
                <a:latin typeface="Times New Roman" pitchFamily="18" charset="0"/>
                <a:cs typeface="Times New Roman" pitchFamily="18" charset="0"/>
              </a:rPr>
              <a:t>цикъла</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която</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актуализира</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броячите</a:t>
            </a:r>
            <a:r>
              <a:rPr lang="ru-RU" sz="1900">
                <a:latin typeface="Times New Roman" pitchFamily="18" charset="0"/>
                <a:cs typeface="Times New Roman" pitchFamily="18" charset="0"/>
              </a:rPr>
              <a:t> и </a:t>
            </a:r>
            <a:r>
              <a:rPr lang="ru-RU" sz="1900" err="1">
                <a:latin typeface="Times New Roman" pitchFamily="18" charset="0"/>
                <a:cs typeface="Times New Roman" pitchFamily="18" charset="0"/>
              </a:rPr>
              <a:t>указателите</a:t>
            </a:r>
            <a:r>
              <a:rPr lang="ru-RU" sz="1900">
                <a:latin typeface="Times New Roman" pitchFamily="18" charset="0"/>
                <a:cs typeface="Times New Roman" pitchFamily="18" charset="0"/>
              </a:rPr>
              <a:t> за </a:t>
            </a:r>
            <a:r>
              <a:rPr lang="ru-RU" sz="1900" err="1">
                <a:latin typeface="Times New Roman" pitchFamily="18" charset="0"/>
                <a:cs typeface="Times New Roman" pitchFamily="18" charset="0"/>
              </a:rPr>
              <a:t>следващата</a:t>
            </a:r>
            <a:r>
              <a:rPr lang="ru-RU" sz="1900">
                <a:latin typeface="Times New Roman" pitchFamily="18" charset="0"/>
                <a:cs typeface="Times New Roman" pitchFamily="18" charset="0"/>
              </a:rPr>
              <a:t> итерация.</a:t>
            </a:r>
          </a:p>
          <a:p>
            <a:pPr algn="just">
              <a:lnSpc>
                <a:spcPct val="135531"/>
              </a:lnSpc>
              <a:spcBef>
                <a:spcPts val="0"/>
              </a:spcBef>
            </a:pPr>
            <a:r>
              <a:rPr lang="ru-RU" sz="1900">
                <a:latin typeface="Times New Roman" pitchFamily="18" charset="0"/>
                <a:cs typeface="Times New Roman" pitchFamily="18" charset="0"/>
              </a:rPr>
              <a:t> 4. </a:t>
            </a:r>
            <a:r>
              <a:rPr lang="ru-RU" sz="1900" err="1">
                <a:latin typeface="Times New Roman" pitchFamily="18" charset="0"/>
                <a:cs typeface="Times New Roman" pitchFamily="18" charset="0"/>
              </a:rPr>
              <a:t>Заключителният</a:t>
            </a:r>
            <a:r>
              <a:rPr lang="ru-RU" sz="1900">
                <a:latin typeface="Times New Roman" pitchFamily="18" charset="0"/>
                <a:cs typeface="Times New Roman" pitchFamily="18" charset="0"/>
              </a:rPr>
              <a:t> раздел, </a:t>
            </a:r>
            <a:r>
              <a:rPr lang="ru-RU" sz="1900" err="1">
                <a:latin typeface="Times New Roman" pitchFamily="18" charset="0"/>
                <a:cs typeface="Times New Roman" pitchFamily="18" charset="0"/>
              </a:rPr>
              <a:t>който</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може</a:t>
            </a:r>
            <a:r>
              <a:rPr lang="ru-RU" sz="1900">
                <a:latin typeface="Times New Roman" pitchFamily="18" charset="0"/>
                <a:cs typeface="Times New Roman" pitchFamily="18" charset="0"/>
              </a:rPr>
              <a:t> да е необходим за </a:t>
            </a:r>
            <a:r>
              <a:rPr lang="ru-RU" sz="1900" err="1">
                <a:latin typeface="Times New Roman" pitchFamily="18" charset="0"/>
                <a:cs typeface="Times New Roman" pitchFamily="18" charset="0"/>
              </a:rPr>
              <a:t>анализиране</a:t>
            </a:r>
            <a:r>
              <a:rPr lang="ru-RU" sz="1900">
                <a:latin typeface="Times New Roman" pitchFamily="18" charset="0"/>
                <a:cs typeface="Times New Roman" pitchFamily="18" charset="0"/>
              </a:rPr>
              <a:t> и </a:t>
            </a:r>
            <a:r>
              <a:rPr lang="ru-RU" sz="1900" err="1">
                <a:latin typeface="Times New Roman" pitchFamily="18" charset="0"/>
                <a:cs typeface="Times New Roman" pitchFamily="18" charset="0"/>
              </a:rPr>
              <a:t>съхраняване</a:t>
            </a:r>
            <a:r>
              <a:rPr lang="ru-RU" sz="1900">
                <a:latin typeface="Times New Roman" pitchFamily="18" charset="0"/>
                <a:cs typeface="Times New Roman" pitchFamily="18" charset="0"/>
              </a:rPr>
              <a:t> на </a:t>
            </a:r>
            <a:r>
              <a:rPr lang="ru-RU" sz="1900" err="1">
                <a:latin typeface="Times New Roman" pitchFamily="18" charset="0"/>
                <a:cs typeface="Times New Roman" pitchFamily="18" charset="0"/>
              </a:rPr>
              <a:t>резултатите</a:t>
            </a:r>
            <a:r>
              <a:rPr lang="ru-RU" sz="1900">
                <a:latin typeface="Times New Roman" pitchFamily="18" charset="0"/>
                <a:cs typeface="Times New Roman" pitchFamily="18" charset="0"/>
              </a:rPr>
              <a:t>. </a:t>
            </a:r>
          </a:p>
          <a:p>
            <a:pPr algn="just">
              <a:lnSpc>
                <a:spcPct val="135531"/>
              </a:lnSpc>
              <a:spcBef>
                <a:spcPts val="0"/>
              </a:spcBef>
            </a:pPr>
            <a:r>
              <a:rPr lang="ru-RU" sz="1900" err="1">
                <a:latin typeface="Times New Roman" pitchFamily="18" charset="0"/>
                <a:cs typeface="Times New Roman" pitchFamily="18" charset="0"/>
              </a:rPr>
              <a:t>Процесорът</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изпълнява</a:t>
            </a:r>
            <a:r>
              <a:rPr lang="ru-RU" sz="1900">
                <a:latin typeface="Times New Roman" pitchFamily="18" charset="0"/>
                <a:cs typeface="Times New Roman" pitchFamily="18" charset="0"/>
              </a:rPr>
              <a:t> раздели 1 и 4 само </a:t>
            </a:r>
            <a:r>
              <a:rPr lang="ru-RU" sz="1900" err="1">
                <a:latin typeface="Times New Roman" pitchFamily="18" charset="0"/>
                <a:cs typeface="Times New Roman" pitchFamily="18" charset="0"/>
              </a:rPr>
              <a:t>веднъж</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докато</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може</a:t>
            </a:r>
            <a:r>
              <a:rPr lang="ru-RU" sz="1900">
                <a:latin typeface="Times New Roman" pitchFamily="18" charset="0"/>
                <a:cs typeface="Times New Roman" pitchFamily="18" charset="0"/>
              </a:rPr>
              <a:t> да </a:t>
            </a:r>
            <a:r>
              <a:rPr lang="ru-RU" sz="1900" err="1">
                <a:latin typeface="Times New Roman" pitchFamily="18" charset="0"/>
                <a:cs typeface="Times New Roman" pitchFamily="18" charset="0"/>
              </a:rPr>
              <a:t>изпълнява</a:t>
            </a:r>
            <a:r>
              <a:rPr lang="ru-RU" sz="1900">
                <a:latin typeface="Times New Roman" pitchFamily="18" charset="0"/>
                <a:cs typeface="Times New Roman" pitchFamily="18" charset="0"/>
              </a:rPr>
              <a:t> раздели 2 и 3 много </a:t>
            </a:r>
            <a:r>
              <a:rPr lang="ru-RU" sz="1900" err="1">
                <a:latin typeface="Times New Roman" pitchFamily="18" charset="0"/>
                <a:cs typeface="Times New Roman" pitchFamily="18" charset="0"/>
              </a:rPr>
              <a:t>пъти</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Следователно</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времето</a:t>
            </a:r>
            <a:r>
              <a:rPr lang="ru-RU" sz="1900">
                <a:latin typeface="Times New Roman" pitchFamily="18" charset="0"/>
                <a:cs typeface="Times New Roman" pitchFamily="18" charset="0"/>
              </a:rPr>
              <a:t> за </a:t>
            </a:r>
            <a:r>
              <a:rPr lang="ru-RU" sz="1900" err="1">
                <a:latin typeface="Times New Roman" pitchFamily="18" charset="0"/>
                <a:cs typeface="Times New Roman" pitchFamily="18" charset="0"/>
              </a:rPr>
              <a:t>изпълнение</a:t>
            </a:r>
            <a:r>
              <a:rPr lang="ru-RU" sz="1900">
                <a:latin typeface="Times New Roman" pitchFamily="18" charset="0"/>
                <a:cs typeface="Times New Roman" pitchFamily="18" charset="0"/>
              </a:rPr>
              <a:t> на </a:t>
            </a:r>
            <a:r>
              <a:rPr lang="ru-RU" sz="1900" err="1">
                <a:latin typeface="Times New Roman" pitchFamily="18" charset="0"/>
                <a:cs typeface="Times New Roman" pitchFamily="18" charset="0"/>
              </a:rPr>
              <a:t>цикъла</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зависи</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главно</a:t>
            </a:r>
            <a:r>
              <a:rPr lang="ru-RU" sz="1900">
                <a:latin typeface="Times New Roman" pitchFamily="18" charset="0"/>
                <a:cs typeface="Times New Roman" pitchFamily="18" charset="0"/>
              </a:rPr>
              <a:t> от </a:t>
            </a:r>
            <a:r>
              <a:rPr lang="ru-RU" sz="1900" err="1">
                <a:latin typeface="Times New Roman" pitchFamily="18" charset="0"/>
                <a:cs typeface="Times New Roman" pitchFamily="18" charset="0"/>
              </a:rPr>
              <a:t>времето</a:t>
            </a:r>
            <a:r>
              <a:rPr lang="ru-RU" sz="1900">
                <a:latin typeface="Times New Roman" pitchFamily="18" charset="0"/>
                <a:cs typeface="Times New Roman" pitchFamily="18" charset="0"/>
              </a:rPr>
              <a:t> за </a:t>
            </a:r>
            <a:r>
              <a:rPr lang="ru-RU" sz="1900" err="1">
                <a:latin typeface="Times New Roman" pitchFamily="18" charset="0"/>
                <a:cs typeface="Times New Roman" pitchFamily="18" charset="0"/>
              </a:rPr>
              <a:t>изпълнение</a:t>
            </a:r>
            <a:r>
              <a:rPr lang="ru-RU" sz="1900">
                <a:latin typeface="Times New Roman" pitchFamily="18" charset="0"/>
                <a:cs typeface="Times New Roman" pitchFamily="18" charset="0"/>
              </a:rPr>
              <a:t> на секции 2 и 3. Тези секции трябва да се </a:t>
            </a:r>
            <a:r>
              <a:rPr lang="ru-RU" sz="1900" err="1">
                <a:latin typeface="Times New Roman" pitchFamily="18" charset="0"/>
                <a:cs typeface="Times New Roman" pitchFamily="18" charset="0"/>
              </a:rPr>
              <a:t>изпълняват</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възможно</a:t>
            </a:r>
            <a:r>
              <a:rPr lang="ru-RU" sz="1900">
                <a:latin typeface="Times New Roman" pitchFamily="18" charset="0"/>
                <a:cs typeface="Times New Roman" pitchFamily="18" charset="0"/>
              </a:rPr>
              <a:t> най-</a:t>
            </a:r>
            <a:r>
              <a:rPr lang="ru-RU" sz="1900" err="1">
                <a:latin typeface="Times New Roman" pitchFamily="18" charset="0"/>
                <a:cs typeface="Times New Roman" pitchFamily="18" charset="0"/>
              </a:rPr>
              <a:t>бързо</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докато</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времената</a:t>
            </a:r>
            <a:r>
              <a:rPr lang="ru-RU" sz="1900">
                <a:latin typeface="Times New Roman" pitchFamily="18" charset="0"/>
                <a:cs typeface="Times New Roman" pitchFamily="18" charset="0"/>
              </a:rPr>
              <a:t> за </a:t>
            </a:r>
            <a:r>
              <a:rPr lang="ru-RU" sz="1900" err="1">
                <a:latin typeface="Times New Roman" pitchFamily="18" charset="0"/>
                <a:cs typeface="Times New Roman" pitchFamily="18" charset="0"/>
              </a:rPr>
              <a:t>изпълнение</a:t>
            </a:r>
            <a:r>
              <a:rPr lang="ru-RU" sz="1900">
                <a:latin typeface="Times New Roman" pitchFamily="18" charset="0"/>
                <a:cs typeface="Times New Roman" pitchFamily="18" charset="0"/>
              </a:rPr>
              <a:t> на секции 1 и 4 </a:t>
            </a:r>
            <a:r>
              <a:rPr lang="ru-RU" sz="1900" err="1">
                <a:latin typeface="Times New Roman" pitchFamily="18" charset="0"/>
                <a:cs typeface="Times New Roman" pitchFamily="18" charset="0"/>
              </a:rPr>
              <a:t>имат</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по-малък</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ефект</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върху</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общата</a:t>
            </a:r>
            <a:r>
              <a:rPr lang="ru-RU" sz="1900">
                <a:latin typeface="Times New Roman" pitchFamily="18" charset="0"/>
                <a:cs typeface="Times New Roman" pitchFamily="18" charset="0"/>
              </a:rPr>
              <a:t> </a:t>
            </a:r>
            <a:r>
              <a:rPr lang="ru-RU" sz="1900" err="1">
                <a:latin typeface="Times New Roman" pitchFamily="18" charset="0"/>
                <a:cs typeface="Times New Roman" pitchFamily="18" charset="0"/>
              </a:rPr>
              <a:t>скорост</a:t>
            </a:r>
            <a:r>
              <a:rPr lang="ru-RU" sz="1900">
                <a:latin typeface="Times New Roman" pitchFamily="18" charset="0"/>
                <a:cs typeface="Times New Roman" pitchFamily="18" charset="0"/>
              </a:rPr>
              <a:t> на </a:t>
            </a:r>
            <a:r>
              <a:rPr lang="ru-RU" sz="1900" err="1">
                <a:latin typeface="Times New Roman" pitchFamily="18" charset="0"/>
                <a:cs typeface="Times New Roman" pitchFamily="18" charset="0"/>
              </a:rPr>
              <a:t>програмата</a:t>
            </a:r>
            <a:r>
              <a:rPr lang="ru-RU" sz="1900">
                <a:latin typeface="Times New Roman" pitchFamily="18" charset="0"/>
                <a:cs typeface="Times New Roman" pitchFamily="18" charset="0"/>
              </a:rPr>
              <a:t>. </a:t>
            </a:r>
          </a:p>
        </p:txBody>
      </p:sp>
      <p:sp>
        <p:nvSpPr>
          <p:cNvPr id="4" name="Title 1"/>
          <p:cNvSpPr>
            <a:spLocks noGrp="1"/>
          </p:cNvSpPr>
          <p:nvPr>
            <p:ph type="title"/>
          </p:nvPr>
        </p:nvSpPr>
        <p:spPr>
          <a:xfrm>
            <a:off x="493204" y="188640"/>
            <a:ext cx="8229600" cy="854968"/>
          </a:xfrm>
        </p:spPr>
        <p:txBody>
          <a:bodyPr>
            <a:normAutofit/>
          </a:bodyPr>
          <a:lstStyle/>
          <a:p>
            <a:r>
              <a:rPr lang="en-US" sz="4000">
                <a:latin typeface="Times New Roman" pitchFamily="18" charset="0"/>
                <a:cs typeface="Times New Roman" pitchFamily="18" charset="0"/>
              </a:rPr>
              <a:t> </a:t>
            </a:r>
            <a:r>
              <a:rPr lang="ru-RU" sz="4000" err="1">
                <a:latin typeface="Times New Roman" pitchFamily="18" charset="0"/>
                <a:cs typeface="Times New Roman" pitchFamily="18" charset="0"/>
              </a:rPr>
              <a:t>Програми</a:t>
            </a:r>
            <a:r>
              <a:rPr lang="ru-RU" sz="4000">
                <a:latin typeface="Times New Roman" pitchFamily="18" charset="0"/>
                <a:cs typeface="Times New Roman" pitchFamily="18" charset="0"/>
              </a:rPr>
              <a:t> с цикли. </a:t>
            </a:r>
            <a:endParaRPr lang="bg-BG" sz="4000" b="1"/>
          </a:p>
        </p:txBody>
      </p:sp>
    </p:spTree>
    <p:extLst>
      <p:ext uri="{BB962C8B-B14F-4D97-AF65-F5344CB8AC3E}">
        <p14:creationId xmlns:p14="http://schemas.microsoft.com/office/powerpoint/2010/main" val="29712796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016" y="1700808"/>
            <a:ext cx="8605464" cy="4913775"/>
          </a:xfrm>
        </p:spPr>
        <p:txBody>
          <a:bodyPr vert="horz" lIns="91440" tIns="45720" rIns="91440" bIns="45720" anchor="t">
            <a:noAutofit/>
          </a:bodyPr>
          <a:lstStyle/>
          <a:p>
            <a:pPr algn="just">
              <a:lnSpc>
                <a:spcPct val="122624"/>
              </a:lnSpc>
              <a:spcBef>
                <a:spcPts val="0"/>
              </a:spcBef>
            </a:pPr>
            <a:r>
              <a:rPr lang="ru-RU" sz="2100">
                <a:latin typeface="Times New Roman" pitchFamily="18" charset="0"/>
                <a:cs typeface="Times New Roman" pitchFamily="18" charset="0"/>
              </a:rPr>
              <a:t>Условие за край – този блок </a:t>
            </a:r>
            <a:r>
              <a:rPr lang="ru-RU" sz="2100" err="1">
                <a:latin typeface="Times New Roman" pitchFamily="18" charset="0"/>
                <a:cs typeface="Times New Roman" pitchFamily="18" charset="0"/>
              </a:rPr>
              <a:t>определя</a:t>
            </a:r>
            <a:r>
              <a:rPr lang="ru-RU" sz="2100">
                <a:latin typeface="Times New Roman" pitchFamily="18" charset="0"/>
                <a:cs typeface="Times New Roman" pitchFamily="18" charset="0"/>
              </a:rPr>
              <a:t> дали да се </a:t>
            </a:r>
            <a:r>
              <a:rPr lang="ru-RU" sz="2100" err="1">
                <a:latin typeface="Times New Roman" pitchFamily="18" charset="0"/>
                <a:cs typeface="Times New Roman" pitchFamily="18" charset="0"/>
              </a:rPr>
              <a:t>изпълни</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тялото</a:t>
            </a:r>
            <a:r>
              <a:rPr lang="ru-RU" sz="2100">
                <a:latin typeface="Times New Roman" pitchFamily="18" charset="0"/>
                <a:cs typeface="Times New Roman" pitchFamily="18" charset="0"/>
              </a:rPr>
              <a:t> на </a:t>
            </a:r>
            <a:r>
              <a:rPr lang="ru-RU" sz="2100" err="1">
                <a:latin typeface="Times New Roman" pitchFamily="18" charset="0"/>
                <a:cs typeface="Times New Roman" pitchFamily="18" charset="0"/>
              </a:rPr>
              <a:t>цикъла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още</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веднъж</a:t>
            </a:r>
            <a:r>
              <a:rPr lang="ru-RU" sz="2100">
                <a:latin typeface="Times New Roman" pitchFamily="18" charset="0"/>
                <a:cs typeface="Times New Roman" pitchFamily="18" charset="0"/>
              </a:rPr>
              <a:t> или не.</a:t>
            </a:r>
            <a:endParaRPr lang="en-US"/>
          </a:p>
          <a:p>
            <a:pPr algn="just">
              <a:lnSpc>
                <a:spcPct val="122624"/>
              </a:lnSpc>
              <a:spcBef>
                <a:spcPts val="0"/>
              </a:spcBef>
            </a:pPr>
            <a:r>
              <a:rPr lang="ru-RU" sz="2100">
                <a:latin typeface="Times New Roman" pitchFamily="18" charset="0"/>
                <a:cs typeface="Times New Roman" pitchFamily="18" charset="0"/>
              </a:rPr>
              <a:t>•	Ако </a:t>
            </a:r>
            <a:r>
              <a:rPr lang="ru-RU" sz="2100" err="1">
                <a:latin typeface="Times New Roman" pitchFamily="18" charset="0"/>
                <a:cs typeface="Times New Roman" pitchFamily="18" charset="0"/>
              </a:rPr>
              <a:t>условието</a:t>
            </a:r>
            <a:r>
              <a:rPr lang="ru-RU" sz="2100">
                <a:latin typeface="Times New Roman" pitchFamily="18" charset="0"/>
                <a:cs typeface="Times New Roman" pitchFamily="18" charset="0"/>
              </a:rPr>
              <a:t> за край е </a:t>
            </a:r>
            <a:r>
              <a:rPr lang="ru-RU" sz="2100" err="1">
                <a:latin typeface="Times New Roman" pitchFamily="18" charset="0"/>
                <a:cs typeface="Times New Roman" pitchFamily="18" charset="0"/>
              </a:rPr>
              <a:t>разположено</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преди</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тялото</a:t>
            </a:r>
            <a:r>
              <a:rPr lang="ru-RU" sz="2100">
                <a:latin typeface="Times New Roman" pitchFamily="18" charset="0"/>
                <a:cs typeface="Times New Roman" pitchFamily="18" charset="0"/>
              </a:rPr>
              <a:t> на </a:t>
            </a:r>
            <a:r>
              <a:rPr lang="ru-RU" sz="2100" err="1">
                <a:latin typeface="Times New Roman" pitchFamily="18" charset="0"/>
                <a:cs typeface="Times New Roman" pitchFamily="18" charset="0"/>
              </a:rPr>
              <a:t>цикъла</a:t>
            </a:r>
            <a:r>
              <a:rPr lang="ru-RU" sz="2100">
                <a:latin typeface="Times New Roman" pitchFamily="18" charset="0"/>
                <a:cs typeface="Times New Roman" pitchFamily="18" charset="0"/>
              </a:rPr>
              <a:t>, това е </a:t>
            </a:r>
            <a:r>
              <a:rPr lang="ru-RU" sz="2100" err="1">
                <a:latin typeface="Times New Roman" pitchFamily="18" charset="0"/>
                <a:cs typeface="Times New Roman" pitchFamily="18" charset="0"/>
              </a:rPr>
              <a:t>цикъл</a:t>
            </a:r>
            <a:r>
              <a:rPr lang="ru-RU" sz="2100">
                <a:latin typeface="Times New Roman" pitchFamily="18" charset="0"/>
                <a:cs typeface="Times New Roman" pitchFamily="18" charset="0"/>
              </a:rPr>
              <a:t> с предусловие.</a:t>
            </a:r>
          </a:p>
          <a:p>
            <a:pPr algn="just">
              <a:lnSpc>
                <a:spcPct val="122624"/>
              </a:lnSpc>
              <a:spcBef>
                <a:spcPts val="0"/>
              </a:spcBef>
            </a:pPr>
            <a:r>
              <a:rPr lang="ru-RU" sz="2100">
                <a:latin typeface="Times New Roman" pitchFamily="18" charset="0"/>
                <a:cs typeface="Times New Roman" pitchFamily="18" charset="0"/>
              </a:rPr>
              <a:t>•	Ако </a:t>
            </a:r>
            <a:r>
              <a:rPr lang="ru-RU" sz="2100" err="1">
                <a:latin typeface="Times New Roman" pitchFamily="18" charset="0"/>
                <a:cs typeface="Times New Roman" pitchFamily="18" charset="0"/>
              </a:rPr>
              <a:t>условието</a:t>
            </a:r>
            <a:r>
              <a:rPr lang="ru-RU" sz="2100">
                <a:latin typeface="Times New Roman" pitchFamily="18" charset="0"/>
                <a:cs typeface="Times New Roman" pitchFamily="18" charset="0"/>
              </a:rPr>
              <a:t> за край е </a:t>
            </a:r>
            <a:r>
              <a:rPr lang="ru-RU" sz="2100" err="1">
                <a:latin typeface="Times New Roman" pitchFamily="18" charset="0"/>
                <a:cs typeface="Times New Roman" pitchFamily="18" charset="0"/>
              </a:rPr>
              <a:t>разположено</a:t>
            </a:r>
            <a:r>
              <a:rPr lang="ru-RU" sz="2100">
                <a:latin typeface="Times New Roman" pitchFamily="18" charset="0"/>
                <a:cs typeface="Times New Roman" pitchFamily="18" charset="0"/>
              </a:rPr>
              <a:t> след </a:t>
            </a:r>
            <a:r>
              <a:rPr lang="ru-RU" sz="2100" err="1">
                <a:latin typeface="Times New Roman" pitchFamily="18" charset="0"/>
                <a:cs typeface="Times New Roman" pitchFamily="18" charset="0"/>
              </a:rPr>
              <a:t>тялото</a:t>
            </a:r>
            <a:r>
              <a:rPr lang="ru-RU" sz="2100">
                <a:latin typeface="Times New Roman" pitchFamily="18" charset="0"/>
                <a:cs typeface="Times New Roman" pitchFamily="18" charset="0"/>
              </a:rPr>
              <a:t> на </a:t>
            </a:r>
            <a:r>
              <a:rPr lang="ru-RU" sz="2100" err="1">
                <a:latin typeface="Times New Roman" pitchFamily="18" charset="0"/>
                <a:cs typeface="Times New Roman" pitchFamily="18" charset="0"/>
              </a:rPr>
              <a:t>цикъла</a:t>
            </a:r>
            <a:r>
              <a:rPr lang="ru-RU" sz="2100">
                <a:latin typeface="Times New Roman" pitchFamily="18" charset="0"/>
                <a:cs typeface="Times New Roman" pitchFamily="18" charset="0"/>
              </a:rPr>
              <a:t>, това е </a:t>
            </a:r>
            <a:r>
              <a:rPr lang="ru-RU" sz="2100" err="1">
                <a:latin typeface="Times New Roman" pitchFamily="18" charset="0"/>
                <a:cs typeface="Times New Roman" pitchFamily="18" charset="0"/>
              </a:rPr>
              <a:t>цикъл</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със</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следусловие</a:t>
            </a:r>
            <a:r>
              <a:rPr lang="ru-RU" sz="2100">
                <a:latin typeface="Times New Roman" pitchFamily="18" charset="0"/>
                <a:cs typeface="Times New Roman" pitchFamily="18" charset="0"/>
              </a:rPr>
              <a:t>.</a:t>
            </a:r>
          </a:p>
          <a:p>
            <a:pPr algn="just">
              <a:lnSpc>
                <a:spcPct val="122624"/>
              </a:lnSpc>
              <a:spcBef>
                <a:spcPts val="0"/>
              </a:spcBef>
            </a:pPr>
            <a:r>
              <a:rPr lang="ru-RU" sz="2100" err="1">
                <a:latin typeface="Times New Roman" pitchFamily="18" charset="0"/>
                <a:cs typeface="Times New Roman" pitchFamily="18" charset="0"/>
              </a:rPr>
              <a:t>Разликата</a:t>
            </a:r>
            <a:r>
              <a:rPr lang="ru-RU" sz="2100">
                <a:latin typeface="Times New Roman" pitchFamily="18" charset="0"/>
                <a:cs typeface="Times New Roman" pitchFamily="18" charset="0"/>
              </a:rPr>
              <a:t> между </a:t>
            </a:r>
            <a:r>
              <a:rPr lang="ru-RU" sz="2100" err="1">
                <a:latin typeface="Times New Roman" pitchFamily="18" charset="0"/>
                <a:cs typeface="Times New Roman" pitchFamily="18" charset="0"/>
              </a:rPr>
              <a:t>цикъл</a:t>
            </a:r>
            <a:r>
              <a:rPr lang="ru-RU" sz="2100">
                <a:latin typeface="Times New Roman" pitchFamily="18" charset="0"/>
                <a:cs typeface="Times New Roman" pitchFamily="18" charset="0"/>
              </a:rPr>
              <a:t> с предусловие и </a:t>
            </a:r>
            <a:r>
              <a:rPr lang="ru-RU" sz="2100" err="1">
                <a:latin typeface="Times New Roman" pitchFamily="18" charset="0"/>
                <a:cs typeface="Times New Roman" pitchFamily="18" charset="0"/>
              </a:rPr>
              <a:t>цикъл</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със</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следусловие</a:t>
            </a:r>
            <a:r>
              <a:rPr lang="ru-RU" sz="2100">
                <a:latin typeface="Times New Roman" pitchFamily="18" charset="0"/>
                <a:cs typeface="Times New Roman" pitchFamily="18" charset="0"/>
              </a:rPr>
              <a:t> е че този </a:t>
            </a:r>
            <a:r>
              <a:rPr lang="ru-RU" sz="2100" err="1">
                <a:latin typeface="Times New Roman" pitchFamily="18" charset="0"/>
                <a:cs typeface="Times New Roman" pitchFamily="18" charset="0"/>
              </a:rPr>
              <a:t>със</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следусловие</a:t>
            </a:r>
            <a:r>
              <a:rPr lang="ru-RU" sz="2100">
                <a:latin typeface="Times New Roman" pitchFamily="18" charset="0"/>
                <a:cs typeface="Times New Roman" pitchFamily="18" charset="0"/>
              </a:rPr>
              <a:t> се </a:t>
            </a:r>
            <a:r>
              <a:rPr lang="ru-RU" sz="2100" err="1">
                <a:latin typeface="Times New Roman" pitchFamily="18" charset="0"/>
                <a:cs typeface="Times New Roman" pitchFamily="18" charset="0"/>
              </a:rPr>
              <a:t>изпълнява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задължително</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поне</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веднъж</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докато</a:t>
            </a:r>
            <a:r>
              <a:rPr lang="ru-RU" sz="2100">
                <a:latin typeface="Times New Roman" pitchFamily="18" charset="0"/>
                <a:cs typeface="Times New Roman" pitchFamily="18" charset="0"/>
              </a:rPr>
              <a:t> този с предусловие </a:t>
            </a:r>
            <a:r>
              <a:rPr lang="ru-RU" sz="2100" err="1">
                <a:latin typeface="Times New Roman" pitchFamily="18" charset="0"/>
                <a:cs typeface="Times New Roman" pitchFamily="18" charset="0"/>
              </a:rPr>
              <a:t>може</a:t>
            </a:r>
            <a:r>
              <a:rPr lang="ru-RU" sz="2100">
                <a:latin typeface="Times New Roman" pitchFamily="18" charset="0"/>
                <a:cs typeface="Times New Roman" pitchFamily="18" charset="0"/>
              </a:rPr>
              <a:t> и да не се </a:t>
            </a:r>
            <a:r>
              <a:rPr lang="ru-RU" sz="2100" err="1">
                <a:latin typeface="Times New Roman" pitchFamily="18" charset="0"/>
                <a:cs typeface="Times New Roman" pitchFamily="18" charset="0"/>
              </a:rPr>
              <a:t>изпълни</a:t>
            </a:r>
            <a:r>
              <a:rPr lang="ru-RU" sz="2100">
                <a:latin typeface="Times New Roman" pitchFamily="18" charset="0"/>
                <a:cs typeface="Times New Roman" pitchFamily="18" charset="0"/>
              </a:rPr>
              <a:t>.</a:t>
            </a:r>
            <a:endParaRPr lang="en-US" sz="2100">
              <a:latin typeface="Times New Roman" pitchFamily="18" charset="0"/>
              <a:cs typeface="Times New Roman" pitchFamily="18" charset="0"/>
            </a:endParaRPr>
          </a:p>
          <a:p>
            <a:pPr algn="just">
              <a:lnSpc>
                <a:spcPct val="122624"/>
              </a:lnSpc>
              <a:spcBef>
                <a:spcPts val="0"/>
              </a:spcBef>
            </a:pPr>
            <a:endParaRPr lang="ru-RU" sz="2100">
              <a:latin typeface="Times New Roman" pitchFamily="18" charset="0"/>
              <a:cs typeface="Times New Roman" pitchFamily="18" charset="0"/>
            </a:endParaRPr>
          </a:p>
        </p:txBody>
      </p:sp>
      <p:sp>
        <p:nvSpPr>
          <p:cNvPr id="4" name="Title 1"/>
          <p:cNvSpPr>
            <a:spLocks noGrp="1"/>
          </p:cNvSpPr>
          <p:nvPr>
            <p:ph type="title"/>
          </p:nvPr>
        </p:nvSpPr>
        <p:spPr>
          <a:xfrm>
            <a:off x="493204" y="188640"/>
            <a:ext cx="8229600" cy="854968"/>
          </a:xfrm>
        </p:spPr>
        <p:txBody>
          <a:bodyPr>
            <a:normAutofit/>
          </a:bodyPr>
          <a:lstStyle/>
          <a:p>
            <a:r>
              <a:rPr lang="en-US" sz="4000">
                <a:latin typeface="Times New Roman" pitchFamily="18" charset="0"/>
                <a:cs typeface="Times New Roman" pitchFamily="18" charset="0"/>
              </a:rPr>
              <a:t> </a:t>
            </a:r>
            <a:r>
              <a:rPr lang="ru-RU" sz="4000" err="1">
                <a:latin typeface="Times New Roman" pitchFamily="18" charset="0"/>
                <a:cs typeface="Times New Roman" pitchFamily="18" charset="0"/>
              </a:rPr>
              <a:t>Програми</a:t>
            </a:r>
            <a:r>
              <a:rPr lang="ru-RU" sz="4000">
                <a:latin typeface="Times New Roman" pitchFamily="18" charset="0"/>
                <a:cs typeface="Times New Roman" pitchFamily="18" charset="0"/>
              </a:rPr>
              <a:t> с цикли. </a:t>
            </a:r>
            <a:endParaRPr lang="bg-BG" sz="4000" b="1"/>
          </a:p>
        </p:txBody>
      </p:sp>
    </p:spTree>
    <p:extLst>
      <p:ext uri="{BB962C8B-B14F-4D97-AF65-F5344CB8AC3E}">
        <p14:creationId xmlns:p14="http://schemas.microsoft.com/office/powerpoint/2010/main" val="1719819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016" y="1340768"/>
            <a:ext cx="8605464" cy="5273815"/>
          </a:xfrm>
        </p:spPr>
        <p:txBody>
          <a:bodyPr vert="horz" lIns="91440" tIns="45720" rIns="91440" bIns="45720" anchor="t">
            <a:noAutofit/>
          </a:bodyPr>
          <a:lstStyle/>
          <a:p>
            <a:pPr algn="just">
              <a:lnSpc>
                <a:spcPct val="122624"/>
              </a:lnSpc>
              <a:spcBef>
                <a:spcPts val="0"/>
              </a:spcBef>
            </a:pPr>
            <a:r>
              <a:rPr lang="bg-BG" sz="2100" b="1">
                <a:latin typeface="Times New Roman" pitchFamily="18" charset="0"/>
                <a:cs typeface="Times New Roman" pitchFamily="18" charset="0"/>
              </a:rPr>
              <a:t>х86 процесор.</a:t>
            </a:r>
            <a:endParaRPr lang="en-US"/>
          </a:p>
          <a:p>
            <a:pPr algn="just">
              <a:lnSpc>
                <a:spcPct val="122624"/>
              </a:lnSpc>
              <a:spcBef>
                <a:spcPts val="0"/>
              </a:spcBef>
            </a:pPr>
            <a:r>
              <a:rPr lang="ru-RU" sz="2100">
                <a:latin typeface="Times New Roman" pitchFamily="18" charset="0"/>
                <a:cs typeface="Times New Roman" pitchFamily="18" charset="0"/>
              </a:rPr>
              <a:t>Когато се </a:t>
            </a:r>
            <a:r>
              <a:rPr lang="ru-RU" sz="2100" err="1">
                <a:latin typeface="Times New Roman" pitchFamily="18" charset="0"/>
                <a:cs typeface="Times New Roman" pitchFamily="18" charset="0"/>
              </a:rPr>
              <a:t>реализира</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цикъл</a:t>
            </a:r>
            <a:r>
              <a:rPr lang="ru-RU" sz="2100">
                <a:latin typeface="Times New Roman" pitchFamily="18" charset="0"/>
                <a:cs typeface="Times New Roman" pitchFamily="18" charset="0"/>
              </a:rPr>
              <a:t> с </a:t>
            </a:r>
            <a:r>
              <a:rPr lang="ru-RU" sz="2100" err="1">
                <a:latin typeface="Times New Roman" pitchFamily="18" charset="0"/>
                <a:cs typeface="Times New Roman" pitchFamily="18" charset="0"/>
              </a:rPr>
              <a:t>предварително</a:t>
            </a:r>
            <a:r>
              <a:rPr lang="ru-RU" sz="2100">
                <a:latin typeface="Times New Roman" pitchFamily="18" charset="0"/>
                <a:cs typeface="Times New Roman" pitchFamily="18" charset="0"/>
              </a:rPr>
              <a:t> известен </a:t>
            </a:r>
            <a:r>
              <a:rPr lang="ru-RU" sz="2100" err="1">
                <a:latin typeface="Times New Roman" pitchFamily="18" charset="0"/>
                <a:cs typeface="Times New Roman" pitchFamily="18" charset="0"/>
              </a:rPr>
              <a:t>брой</a:t>
            </a:r>
            <a:r>
              <a:rPr lang="ru-RU" sz="2100">
                <a:latin typeface="Times New Roman" pitchFamily="18" charset="0"/>
                <a:cs typeface="Times New Roman" pitchFamily="18" charset="0"/>
              </a:rPr>
              <a:t> повторения при х86 </a:t>
            </a:r>
            <a:r>
              <a:rPr lang="ru-RU" sz="2100" err="1">
                <a:latin typeface="Times New Roman" pitchFamily="18" charset="0"/>
                <a:cs typeface="Times New Roman" pitchFamily="18" charset="0"/>
              </a:rPr>
              <a:t>процесор</a:t>
            </a:r>
            <a:r>
              <a:rPr lang="ru-RU" sz="2100">
                <a:latin typeface="Times New Roman" pitchFamily="18" charset="0"/>
                <a:cs typeface="Times New Roman" pitchFamily="18" charset="0"/>
              </a:rPr>
              <a:t> се използват инструкции за </a:t>
            </a:r>
            <a:r>
              <a:rPr lang="ru-RU" sz="2100" err="1">
                <a:latin typeface="Times New Roman" pitchFamily="18" charset="0"/>
                <a:cs typeface="Times New Roman" pitchFamily="18" charset="0"/>
              </a:rPr>
              <a:t>цикъл</a:t>
            </a:r>
            <a:r>
              <a:rPr lang="ru-RU" sz="2100">
                <a:latin typeface="Times New Roman" pitchFamily="18" charset="0"/>
                <a:cs typeface="Times New Roman" pitchFamily="18" charset="0"/>
              </a:rPr>
              <a:t>.</a:t>
            </a:r>
          </a:p>
          <a:p>
            <a:pPr algn="just">
              <a:lnSpc>
                <a:spcPct val="122624"/>
              </a:lnSpc>
              <a:spcBef>
                <a:spcPts val="0"/>
              </a:spcBef>
            </a:pPr>
            <a:r>
              <a:rPr lang="ru-RU" sz="2100">
                <a:latin typeface="Times New Roman" pitchFamily="18" charset="0"/>
                <a:cs typeface="Times New Roman" pitchFamily="18" charset="0"/>
              </a:rPr>
              <a:t>Тези инструкции </a:t>
            </a:r>
            <a:r>
              <a:rPr lang="ru-RU" sz="2100" err="1">
                <a:latin typeface="Times New Roman" pitchFamily="18" charset="0"/>
                <a:cs typeface="Times New Roman" pitchFamily="18" charset="0"/>
              </a:rPr>
              <a:t>осигуряват</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изпълнение</a:t>
            </a:r>
            <a:r>
              <a:rPr lang="ru-RU" sz="2100">
                <a:latin typeface="Times New Roman" pitchFamily="18" charset="0"/>
                <a:cs typeface="Times New Roman" pitchFamily="18" charset="0"/>
              </a:rPr>
              <a:t> на </a:t>
            </a:r>
            <a:r>
              <a:rPr lang="ru-RU" sz="2100" err="1">
                <a:latin typeface="Times New Roman" pitchFamily="18" charset="0"/>
                <a:cs typeface="Times New Roman" pitchFamily="18" charset="0"/>
              </a:rPr>
              <a:t>група</a:t>
            </a:r>
            <a:r>
              <a:rPr lang="ru-RU" sz="2100">
                <a:latin typeface="Times New Roman" pitchFamily="18" charset="0"/>
                <a:cs typeface="Times New Roman" pitchFamily="18" charset="0"/>
              </a:rPr>
              <a:t> операции многократно условно или безусловно, </a:t>
            </a:r>
            <a:r>
              <a:rPr lang="ru-RU" sz="2100" err="1">
                <a:latin typeface="Times New Roman" pitchFamily="18" charset="0"/>
                <a:cs typeface="Times New Roman" pitchFamily="18" charset="0"/>
              </a:rPr>
              <a:t>докато</a:t>
            </a:r>
            <a:r>
              <a:rPr lang="ru-RU" sz="2100">
                <a:latin typeface="Times New Roman" pitchFamily="18" charset="0"/>
                <a:cs typeface="Times New Roman" pitchFamily="18" charset="0"/>
              </a:rPr>
              <a:t> определен </a:t>
            </a:r>
            <a:r>
              <a:rPr lang="ru-RU" sz="2100" err="1">
                <a:latin typeface="Times New Roman" pitchFamily="18" charset="0"/>
                <a:cs typeface="Times New Roman" pitchFamily="18" charset="0"/>
              </a:rPr>
              <a:t>брояч</a:t>
            </a:r>
            <a:r>
              <a:rPr lang="ru-RU" sz="2100">
                <a:latin typeface="Times New Roman" pitchFamily="18" charset="0"/>
                <a:cs typeface="Times New Roman" pitchFamily="18" charset="0"/>
              </a:rPr>
              <a:t> има </a:t>
            </a:r>
            <a:r>
              <a:rPr lang="ru-RU" sz="2100" err="1">
                <a:latin typeface="Times New Roman" pitchFamily="18" charset="0"/>
                <a:cs typeface="Times New Roman" pitchFamily="18" charset="0"/>
              </a:rPr>
              <a:t>стойност</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нула</a:t>
            </a:r>
            <a:r>
              <a:rPr lang="ru-RU" sz="2100">
                <a:latin typeface="Times New Roman" pitchFamily="18" charset="0"/>
                <a:cs typeface="Times New Roman" pitchFamily="18" charset="0"/>
              </a:rPr>
              <a:t>. LOOP, LOOPE, LOOPNE </a:t>
            </a:r>
          </a:p>
          <a:p>
            <a:pPr algn="just">
              <a:lnSpc>
                <a:spcPct val="122624"/>
              </a:lnSpc>
              <a:spcBef>
                <a:spcPts val="0"/>
              </a:spcBef>
            </a:pPr>
            <a:r>
              <a:rPr lang="ru-RU" sz="2100" b="1">
                <a:latin typeface="Times New Roman" pitchFamily="18" charset="0"/>
                <a:cs typeface="Times New Roman" pitchFamily="18" charset="0"/>
              </a:rPr>
              <a:t>LOOP инструкция </a:t>
            </a:r>
          </a:p>
          <a:p>
            <a:pPr algn="just">
              <a:lnSpc>
                <a:spcPct val="122624"/>
              </a:lnSpc>
              <a:spcBef>
                <a:spcPts val="0"/>
              </a:spcBef>
            </a:pPr>
            <a:r>
              <a:rPr lang="ru-RU" sz="2100" err="1">
                <a:latin typeface="Times New Roman" pitchFamily="18" charset="0"/>
                <a:cs typeface="Times New Roman" pitchFamily="18" charset="0"/>
              </a:rPr>
              <a:t>Функцията</a:t>
            </a:r>
            <a:r>
              <a:rPr lang="ru-RU" sz="2100">
                <a:latin typeface="Times New Roman" pitchFamily="18" charset="0"/>
                <a:cs typeface="Times New Roman" pitchFamily="18" charset="0"/>
              </a:rPr>
              <a:t> на </a:t>
            </a:r>
            <a:r>
              <a:rPr lang="ru-RU" sz="2100" err="1">
                <a:latin typeface="Times New Roman" pitchFamily="18" charset="0"/>
                <a:cs typeface="Times New Roman" pitchFamily="18" charset="0"/>
              </a:rPr>
              <a:t>тази</a:t>
            </a:r>
            <a:r>
              <a:rPr lang="ru-RU" sz="2100">
                <a:latin typeface="Times New Roman" pitchFamily="18" charset="0"/>
                <a:cs typeface="Times New Roman" pitchFamily="18" charset="0"/>
              </a:rPr>
              <a:t> инструкция е да </a:t>
            </a:r>
            <a:r>
              <a:rPr lang="ru-RU" sz="2100" err="1">
                <a:latin typeface="Times New Roman" pitchFamily="18" charset="0"/>
                <a:cs typeface="Times New Roman" pitchFamily="18" charset="0"/>
              </a:rPr>
              <a:t>организира</a:t>
            </a:r>
            <a:r>
              <a:rPr lang="ru-RU" sz="2100">
                <a:latin typeface="Times New Roman" pitchFamily="18" charset="0"/>
                <a:cs typeface="Times New Roman" pitchFamily="18" charset="0"/>
              </a:rPr>
              <a:t> циклично </a:t>
            </a:r>
            <a:r>
              <a:rPr lang="ru-RU" sz="2100" err="1">
                <a:latin typeface="Times New Roman" pitchFamily="18" charset="0"/>
                <a:cs typeface="Times New Roman" pitchFamily="18" charset="0"/>
              </a:rPr>
              <a:t>изпълнение</a:t>
            </a:r>
            <a:r>
              <a:rPr lang="ru-RU" sz="2100">
                <a:latin typeface="Times New Roman" pitchFamily="18" charset="0"/>
                <a:cs typeface="Times New Roman" pitchFamily="18" charset="0"/>
              </a:rPr>
              <a:t> на </a:t>
            </a:r>
            <a:r>
              <a:rPr lang="ru-RU" sz="2100" err="1">
                <a:latin typeface="Times New Roman" pitchFamily="18" charset="0"/>
                <a:cs typeface="Times New Roman" pitchFamily="18" charset="0"/>
              </a:rPr>
              <a:t>група</a:t>
            </a:r>
            <a:r>
              <a:rPr lang="ru-RU" sz="2100">
                <a:latin typeface="Times New Roman" pitchFamily="18" charset="0"/>
                <a:cs typeface="Times New Roman" pitchFamily="18" charset="0"/>
              </a:rPr>
              <a:t> операции. </a:t>
            </a:r>
          </a:p>
          <a:p>
            <a:pPr algn="just">
              <a:lnSpc>
                <a:spcPct val="122624"/>
              </a:lnSpc>
              <a:spcBef>
                <a:spcPts val="0"/>
              </a:spcBef>
            </a:pPr>
            <a:r>
              <a:rPr lang="ru-RU" sz="2100">
                <a:latin typeface="Times New Roman" pitchFamily="18" charset="0"/>
                <a:cs typeface="Times New Roman" pitchFamily="18" charset="0"/>
              </a:rPr>
              <a:t>LOOP </a:t>
            </a:r>
            <a:r>
              <a:rPr lang="ru-RU" sz="2100" err="1">
                <a:latin typeface="Times New Roman" pitchFamily="18" charset="0"/>
                <a:cs typeface="Times New Roman" pitchFamily="18" charset="0"/>
              </a:rPr>
              <a:t>label</a:t>
            </a:r>
            <a:r>
              <a:rPr lang="ru-RU" sz="2100">
                <a:latin typeface="Times New Roman" pitchFamily="18" charset="0"/>
                <a:cs typeface="Times New Roman" pitchFamily="18" charset="0"/>
              </a:rPr>
              <a:t> </a:t>
            </a:r>
          </a:p>
          <a:p>
            <a:pPr algn="just">
              <a:lnSpc>
                <a:spcPct val="122624"/>
              </a:lnSpc>
              <a:spcBef>
                <a:spcPts val="0"/>
              </a:spcBef>
            </a:pPr>
            <a:r>
              <a:rPr lang="ru-RU" sz="2100">
                <a:latin typeface="Times New Roman" pitchFamily="18" charset="0"/>
                <a:cs typeface="Times New Roman" pitchFamily="18" charset="0"/>
              </a:rPr>
              <a:t>Loop инструкцията намалява стойността в CX</a:t>
            </a:r>
            <a:r>
              <a:rPr lang="en-US" sz="2100">
                <a:latin typeface="Times New Roman" pitchFamily="18" charset="0"/>
                <a:cs typeface="Times New Roman" pitchFamily="18" charset="0"/>
              </a:rPr>
              <a:t>/ECX</a:t>
            </a:r>
            <a:r>
              <a:rPr lang="ru-RU" sz="2100">
                <a:latin typeface="Times New Roman" pitchFamily="18" charset="0"/>
                <a:cs typeface="Times New Roman" pitchFamily="18" charset="0"/>
              </a:rPr>
              <a:t> регистъра с 1 и изпълнява потока от команди до етикета label докато стойността в CX</a:t>
            </a:r>
            <a:r>
              <a:rPr lang="en-US" sz="2100">
                <a:latin typeface="Times New Roman" pitchFamily="18" charset="0"/>
                <a:cs typeface="Times New Roman" pitchFamily="18" charset="0"/>
              </a:rPr>
              <a:t>/ECX</a:t>
            </a:r>
            <a:r>
              <a:rPr lang="ru-RU" sz="2100">
                <a:latin typeface="Times New Roman" pitchFamily="18" charset="0"/>
                <a:cs typeface="Times New Roman" pitchFamily="18" charset="0"/>
              </a:rPr>
              <a:t> е различна от 0. </a:t>
            </a:r>
            <a:endParaRPr lang="bg-BG" sz="2100">
              <a:latin typeface="Times New Roman" pitchFamily="18" charset="0"/>
              <a:cs typeface="Times New Roman" pitchFamily="18" charset="0"/>
            </a:endParaRPr>
          </a:p>
        </p:txBody>
      </p:sp>
      <p:sp>
        <p:nvSpPr>
          <p:cNvPr id="4" name="Title 1"/>
          <p:cNvSpPr>
            <a:spLocks noGrp="1"/>
          </p:cNvSpPr>
          <p:nvPr>
            <p:ph type="title"/>
          </p:nvPr>
        </p:nvSpPr>
        <p:spPr>
          <a:xfrm>
            <a:off x="493204" y="188640"/>
            <a:ext cx="8229600" cy="854968"/>
          </a:xfrm>
        </p:spPr>
        <p:txBody>
          <a:bodyPr>
            <a:normAutofit/>
          </a:bodyPr>
          <a:lstStyle/>
          <a:p>
            <a:r>
              <a:rPr lang="en-US" sz="4000">
                <a:latin typeface="Times New Roman" pitchFamily="18" charset="0"/>
                <a:cs typeface="Times New Roman" pitchFamily="18" charset="0"/>
              </a:rPr>
              <a:t> </a:t>
            </a:r>
            <a:r>
              <a:rPr lang="ru-RU" sz="4000" err="1">
                <a:latin typeface="Times New Roman" pitchFamily="18" charset="0"/>
                <a:cs typeface="Times New Roman" pitchFamily="18" charset="0"/>
              </a:rPr>
              <a:t>Програми</a:t>
            </a:r>
            <a:r>
              <a:rPr lang="ru-RU" sz="4000">
                <a:latin typeface="Times New Roman" pitchFamily="18" charset="0"/>
                <a:cs typeface="Times New Roman" pitchFamily="18" charset="0"/>
              </a:rPr>
              <a:t> с цикли. </a:t>
            </a:r>
            <a:endParaRPr lang="bg-BG" sz="4000" b="1"/>
          </a:p>
        </p:txBody>
      </p:sp>
    </p:spTree>
    <p:extLst>
      <p:ext uri="{BB962C8B-B14F-4D97-AF65-F5344CB8AC3E}">
        <p14:creationId xmlns:p14="http://schemas.microsoft.com/office/powerpoint/2010/main" val="3022564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96752"/>
            <a:ext cx="8893496" cy="5417831"/>
          </a:xfrm>
        </p:spPr>
        <p:txBody>
          <a:bodyPr vert="horz" lIns="91440" tIns="45720" rIns="91440" bIns="45720" anchor="t">
            <a:noAutofit/>
          </a:bodyPr>
          <a:lstStyle/>
          <a:p>
            <a:pPr algn="just">
              <a:lnSpc>
                <a:spcPct val="120171"/>
              </a:lnSpc>
              <a:spcBef>
                <a:spcPts val="0"/>
              </a:spcBef>
            </a:pPr>
            <a:r>
              <a:rPr lang="bg-BG" sz="2000" b="1">
                <a:latin typeface="Times New Roman" pitchFamily="18" charset="0"/>
                <a:cs typeface="Times New Roman" pitchFamily="18" charset="0"/>
              </a:rPr>
              <a:t>х86 процесор.</a:t>
            </a:r>
            <a:endParaRPr lang="en-US"/>
          </a:p>
          <a:p>
            <a:pPr algn="just">
              <a:lnSpc>
                <a:spcPct val="120171"/>
              </a:lnSpc>
              <a:spcBef>
                <a:spcPts val="0"/>
              </a:spcBef>
            </a:pPr>
            <a:r>
              <a:rPr lang="ru-RU" sz="2000" b="1">
                <a:latin typeface="Times New Roman" pitchFamily="18" charset="0"/>
                <a:cs typeface="Times New Roman" pitchFamily="18" charset="0"/>
              </a:rPr>
              <a:t>LOOPE инструкция </a:t>
            </a:r>
          </a:p>
          <a:p>
            <a:pPr algn="just">
              <a:lnSpc>
                <a:spcPct val="120171"/>
              </a:lnSpc>
              <a:spcBef>
                <a:spcPts val="0"/>
              </a:spcBef>
            </a:pPr>
            <a:r>
              <a:rPr lang="ru-RU" sz="2000" err="1">
                <a:latin typeface="Times New Roman" pitchFamily="18" charset="0"/>
                <a:cs typeface="Times New Roman" pitchFamily="18" charset="0"/>
              </a:rPr>
              <a:t>Функцията</a:t>
            </a:r>
            <a:r>
              <a:rPr lang="ru-RU" sz="2000">
                <a:latin typeface="Times New Roman" pitchFamily="18" charset="0"/>
                <a:cs typeface="Times New Roman" pitchFamily="18" charset="0"/>
              </a:rPr>
              <a:t> на </a:t>
            </a:r>
            <a:r>
              <a:rPr lang="ru-RU" sz="2000" err="1">
                <a:latin typeface="Times New Roman" pitchFamily="18" charset="0"/>
                <a:cs typeface="Times New Roman" pitchFamily="18" charset="0"/>
              </a:rPr>
              <a:t>тази</a:t>
            </a:r>
            <a:r>
              <a:rPr lang="ru-RU" sz="2000">
                <a:latin typeface="Times New Roman" pitchFamily="18" charset="0"/>
                <a:cs typeface="Times New Roman" pitchFamily="18" charset="0"/>
              </a:rPr>
              <a:t> инструкция е да </a:t>
            </a:r>
            <a:r>
              <a:rPr lang="ru-RU" sz="2000" err="1">
                <a:latin typeface="Times New Roman" pitchFamily="18" charset="0"/>
                <a:cs typeface="Times New Roman" pitchFamily="18" charset="0"/>
              </a:rPr>
              <a:t>организира</a:t>
            </a:r>
            <a:r>
              <a:rPr lang="ru-RU" sz="2000">
                <a:latin typeface="Times New Roman" pitchFamily="18" charset="0"/>
                <a:cs typeface="Times New Roman" pitchFamily="18" charset="0"/>
              </a:rPr>
              <a:t> циклично </a:t>
            </a:r>
            <a:r>
              <a:rPr lang="ru-RU" sz="2000" err="1">
                <a:latin typeface="Times New Roman" pitchFamily="18" charset="0"/>
                <a:cs typeface="Times New Roman" pitchFamily="18" charset="0"/>
              </a:rPr>
              <a:t>изпълнение</a:t>
            </a:r>
            <a:r>
              <a:rPr lang="ru-RU" sz="2000">
                <a:latin typeface="Times New Roman" pitchFamily="18" charset="0"/>
                <a:cs typeface="Times New Roman" pitchFamily="18" charset="0"/>
              </a:rPr>
              <a:t> на </a:t>
            </a:r>
            <a:r>
              <a:rPr lang="ru-RU" sz="2000" err="1">
                <a:latin typeface="Times New Roman" pitchFamily="18" charset="0"/>
                <a:cs typeface="Times New Roman" pitchFamily="18" charset="0"/>
              </a:rPr>
              <a:t>група</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операци</a:t>
            </a:r>
            <a:r>
              <a:rPr lang="ru-RU" sz="2000">
                <a:latin typeface="Times New Roman" pitchFamily="18" charset="0"/>
                <a:cs typeface="Times New Roman" pitchFamily="18" charset="0"/>
              </a:rPr>
              <a:t> в </a:t>
            </a:r>
            <a:r>
              <a:rPr lang="ru-RU" sz="2000" err="1">
                <a:latin typeface="Times New Roman" pitchFamily="18" charset="0"/>
                <a:cs typeface="Times New Roman" pitchFamily="18" charset="0"/>
              </a:rPr>
              <a:t>зависимост</a:t>
            </a:r>
            <a:r>
              <a:rPr lang="ru-RU" sz="2000">
                <a:latin typeface="Times New Roman" pitchFamily="18" charset="0"/>
                <a:cs typeface="Times New Roman" pitchFamily="18" charset="0"/>
              </a:rPr>
              <a:t> от </a:t>
            </a:r>
            <a:r>
              <a:rPr lang="ru-RU" sz="2000" err="1">
                <a:latin typeface="Times New Roman" pitchFamily="18" charset="0"/>
                <a:cs typeface="Times New Roman" pitchFamily="18" charset="0"/>
              </a:rPr>
              <a:t>състоянието</a:t>
            </a:r>
            <a:r>
              <a:rPr lang="ru-RU" sz="2000">
                <a:latin typeface="Times New Roman" pitchFamily="18" charset="0"/>
                <a:cs typeface="Times New Roman" pitchFamily="18" charset="0"/>
              </a:rPr>
              <a:t> на флаг ZF. </a:t>
            </a:r>
          </a:p>
          <a:p>
            <a:pPr algn="just">
              <a:lnSpc>
                <a:spcPct val="120171"/>
              </a:lnSpc>
              <a:spcBef>
                <a:spcPts val="0"/>
              </a:spcBef>
            </a:pPr>
            <a:r>
              <a:rPr lang="ru-RU" sz="2000">
                <a:latin typeface="Times New Roman" pitchFamily="18" charset="0"/>
                <a:cs typeface="Times New Roman" pitchFamily="18" charset="0"/>
              </a:rPr>
              <a:t>LOOPE </a:t>
            </a:r>
            <a:r>
              <a:rPr lang="ru-RU" sz="2000" err="1">
                <a:latin typeface="Times New Roman" pitchFamily="18" charset="0"/>
                <a:cs typeface="Times New Roman" pitchFamily="18" charset="0"/>
              </a:rPr>
              <a:t>label</a:t>
            </a:r>
            <a:r>
              <a:rPr lang="ru-RU" sz="2000">
                <a:latin typeface="Times New Roman" pitchFamily="18" charset="0"/>
                <a:cs typeface="Times New Roman" pitchFamily="18" charset="0"/>
              </a:rPr>
              <a:t> </a:t>
            </a:r>
          </a:p>
          <a:p>
            <a:pPr algn="just">
              <a:lnSpc>
                <a:spcPct val="120171"/>
              </a:lnSpc>
              <a:spcBef>
                <a:spcPts val="0"/>
              </a:spcBef>
            </a:pPr>
            <a:r>
              <a:rPr lang="ru-RU" sz="2000" err="1">
                <a:latin typeface="Times New Roman" pitchFamily="18" charset="0"/>
                <a:cs typeface="Times New Roman" pitchFamily="18" charset="0"/>
              </a:rPr>
              <a:t>Тази</a:t>
            </a:r>
            <a:r>
              <a:rPr lang="ru-RU" sz="2000">
                <a:latin typeface="Times New Roman" pitchFamily="18" charset="0"/>
                <a:cs typeface="Times New Roman" pitchFamily="18" charset="0"/>
              </a:rPr>
              <a:t> инструкция </a:t>
            </a:r>
            <a:r>
              <a:rPr lang="ru-RU" sz="2000" err="1">
                <a:latin typeface="Times New Roman" pitchFamily="18" charset="0"/>
                <a:cs typeface="Times New Roman" pitchFamily="18" charset="0"/>
              </a:rPr>
              <a:t>намалява</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стойността</a:t>
            </a:r>
            <a:r>
              <a:rPr lang="ru-RU" sz="2000">
                <a:latin typeface="Times New Roman" pitchFamily="18" charset="0"/>
                <a:cs typeface="Times New Roman" pitchFamily="18" charset="0"/>
              </a:rPr>
              <a:t> в CX </a:t>
            </a:r>
            <a:r>
              <a:rPr lang="ru-RU" sz="2000" err="1">
                <a:latin typeface="Times New Roman" pitchFamily="18" charset="0"/>
                <a:cs typeface="Times New Roman" pitchFamily="18" charset="0"/>
              </a:rPr>
              <a:t>регистъра</a:t>
            </a:r>
            <a:r>
              <a:rPr lang="ru-RU" sz="2000">
                <a:latin typeface="Times New Roman" pitchFamily="18" charset="0"/>
                <a:cs typeface="Times New Roman" pitchFamily="18" charset="0"/>
              </a:rPr>
              <a:t> с 1. Ако CX е различен от </a:t>
            </a:r>
            <a:r>
              <a:rPr lang="ru-RU" sz="2000" err="1">
                <a:latin typeface="Times New Roman" pitchFamily="18" charset="0"/>
                <a:cs typeface="Times New Roman" pitchFamily="18" charset="0"/>
              </a:rPr>
              <a:t>нула</a:t>
            </a:r>
            <a:r>
              <a:rPr lang="ru-RU" sz="2000">
                <a:latin typeface="Times New Roman" pitchFamily="18" charset="0"/>
                <a:cs typeface="Times New Roman" pitchFamily="18" charset="0"/>
              </a:rPr>
              <a:t> и ZF е равен на 1 се </a:t>
            </a:r>
            <a:r>
              <a:rPr lang="ru-RU" sz="2000" err="1">
                <a:latin typeface="Times New Roman" pitchFamily="18" charset="0"/>
                <a:cs typeface="Times New Roman" pitchFamily="18" charset="0"/>
              </a:rPr>
              <a:t>изпълнява</a:t>
            </a:r>
            <a:r>
              <a:rPr lang="ru-RU" sz="2000">
                <a:latin typeface="Times New Roman" pitchFamily="18" charset="0"/>
                <a:cs typeface="Times New Roman" pitchFamily="18" charset="0"/>
              </a:rPr>
              <a:t> потока от </a:t>
            </a:r>
            <a:r>
              <a:rPr lang="ru-RU" sz="2000" err="1">
                <a:latin typeface="Times New Roman" pitchFamily="18" charset="0"/>
                <a:cs typeface="Times New Roman" pitchFamily="18" charset="0"/>
              </a:rPr>
              <a:t>команди</a:t>
            </a:r>
            <a:r>
              <a:rPr lang="ru-RU" sz="2000">
                <a:latin typeface="Times New Roman" pitchFamily="18" charset="0"/>
                <a:cs typeface="Times New Roman" pitchFamily="18" charset="0"/>
              </a:rPr>
              <a:t> до </a:t>
            </a:r>
            <a:r>
              <a:rPr lang="ru-RU" sz="2000" err="1">
                <a:latin typeface="Times New Roman" pitchFamily="18" charset="0"/>
                <a:cs typeface="Times New Roman" pitchFamily="18" charset="0"/>
              </a:rPr>
              <a:t>етикета</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label</a:t>
            </a:r>
            <a:r>
              <a:rPr lang="ru-RU" sz="2000">
                <a:latin typeface="Times New Roman" pitchFamily="18" charset="0"/>
                <a:cs typeface="Times New Roman" pitchFamily="18" charset="0"/>
              </a:rPr>
              <a:t>. </a:t>
            </a:r>
          </a:p>
          <a:p>
            <a:pPr algn="just">
              <a:lnSpc>
                <a:spcPct val="120171"/>
              </a:lnSpc>
              <a:spcBef>
                <a:spcPts val="0"/>
              </a:spcBef>
            </a:pPr>
            <a:r>
              <a:rPr lang="ru-RU" sz="2000" b="1">
                <a:latin typeface="Times New Roman" pitchFamily="18" charset="0"/>
                <a:cs typeface="Times New Roman" pitchFamily="18" charset="0"/>
              </a:rPr>
              <a:t>LOOPNE инструкция </a:t>
            </a:r>
          </a:p>
          <a:p>
            <a:pPr algn="just">
              <a:lnSpc>
                <a:spcPct val="128755"/>
              </a:lnSpc>
              <a:spcBef>
                <a:spcPts val="0"/>
              </a:spcBef>
            </a:pPr>
            <a:r>
              <a:rPr lang="ru-RU" sz="2000" err="1">
                <a:latin typeface="Times New Roman" pitchFamily="18" charset="0"/>
                <a:cs typeface="Times New Roman" pitchFamily="18" charset="0"/>
              </a:rPr>
              <a:t>Функцията</a:t>
            </a:r>
            <a:r>
              <a:rPr lang="ru-RU" sz="2000">
                <a:latin typeface="Times New Roman" pitchFamily="18" charset="0"/>
                <a:cs typeface="Times New Roman" pitchFamily="18" charset="0"/>
              </a:rPr>
              <a:t> на </a:t>
            </a:r>
            <a:r>
              <a:rPr lang="ru-RU" sz="2000" err="1">
                <a:latin typeface="Times New Roman" pitchFamily="18" charset="0"/>
                <a:cs typeface="Times New Roman" pitchFamily="18" charset="0"/>
              </a:rPr>
              <a:t>тази</a:t>
            </a:r>
            <a:r>
              <a:rPr lang="ru-RU" sz="2000">
                <a:latin typeface="Times New Roman" pitchFamily="18" charset="0"/>
                <a:cs typeface="Times New Roman" pitchFamily="18" charset="0"/>
              </a:rPr>
              <a:t> инструкция е да </a:t>
            </a:r>
            <a:r>
              <a:rPr lang="ru-RU" sz="2000" err="1">
                <a:latin typeface="Times New Roman" pitchFamily="18" charset="0"/>
                <a:cs typeface="Times New Roman" pitchFamily="18" charset="0"/>
              </a:rPr>
              <a:t>организира</a:t>
            </a:r>
            <a:r>
              <a:rPr lang="ru-RU" sz="2000">
                <a:latin typeface="Times New Roman" pitchFamily="18" charset="0"/>
                <a:cs typeface="Times New Roman" pitchFamily="18" charset="0"/>
              </a:rPr>
              <a:t> циклично </a:t>
            </a:r>
            <a:r>
              <a:rPr lang="ru-RU" sz="2000" err="1">
                <a:latin typeface="Times New Roman" pitchFamily="18" charset="0"/>
                <a:cs typeface="Times New Roman" pitchFamily="18" charset="0"/>
              </a:rPr>
              <a:t>изпълнение</a:t>
            </a:r>
            <a:r>
              <a:rPr lang="ru-RU" sz="2000">
                <a:latin typeface="Times New Roman" pitchFamily="18" charset="0"/>
                <a:cs typeface="Times New Roman" pitchFamily="18" charset="0"/>
              </a:rPr>
              <a:t> на </a:t>
            </a:r>
            <a:r>
              <a:rPr lang="ru-RU" sz="2000" err="1">
                <a:latin typeface="Times New Roman" pitchFamily="18" charset="0"/>
                <a:cs typeface="Times New Roman" pitchFamily="18" charset="0"/>
              </a:rPr>
              <a:t>група</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операци</a:t>
            </a:r>
            <a:r>
              <a:rPr lang="ru-RU" sz="2000">
                <a:latin typeface="Times New Roman" pitchFamily="18" charset="0"/>
                <a:cs typeface="Times New Roman" pitchFamily="18" charset="0"/>
              </a:rPr>
              <a:t> в </a:t>
            </a:r>
            <a:r>
              <a:rPr lang="ru-RU" sz="2000" err="1">
                <a:latin typeface="Times New Roman" pitchFamily="18" charset="0"/>
                <a:cs typeface="Times New Roman" pitchFamily="18" charset="0"/>
              </a:rPr>
              <a:t>зависимост</a:t>
            </a:r>
            <a:r>
              <a:rPr lang="ru-RU" sz="2000">
                <a:latin typeface="Times New Roman" pitchFamily="18" charset="0"/>
                <a:cs typeface="Times New Roman" pitchFamily="18" charset="0"/>
              </a:rPr>
              <a:t> от </a:t>
            </a:r>
            <a:r>
              <a:rPr lang="ru-RU" sz="2000" err="1">
                <a:latin typeface="Times New Roman" pitchFamily="18" charset="0"/>
                <a:cs typeface="Times New Roman" pitchFamily="18" charset="0"/>
              </a:rPr>
              <a:t>състоянието</a:t>
            </a:r>
            <a:r>
              <a:rPr lang="ru-RU" sz="2000">
                <a:latin typeface="Times New Roman" pitchFamily="18" charset="0"/>
                <a:cs typeface="Times New Roman" pitchFamily="18" charset="0"/>
              </a:rPr>
              <a:t> на флаг ZF. </a:t>
            </a:r>
          </a:p>
          <a:p>
            <a:pPr algn="just">
              <a:lnSpc>
                <a:spcPct val="120171"/>
              </a:lnSpc>
              <a:spcBef>
                <a:spcPts val="0"/>
              </a:spcBef>
            </a:pPr>
            <a:r>
              <a:rPr lang="ru-RU" sz="2000">
                <a:latin typeface="Times New Roman" pitchFamily="18" charset="0"/>
                <a:cs typeface="Times New Roman" pitchFamily="18" charset="0"/>
              </a:rPr>
              <a:t>LOOPNE </a:t>
            </a:r>
            <a:r>
              <a:rPr lang="ru-RU" sz="2000" err="1">
                <a:latin typeface="Times New Roman" pitchFamily="18" charset="0"/>
                <a:cs typeface="Times New Roman" pitchFamily="18" charset="0"/>
              </a:rPr>
              <a:t>label</a:t>
            </a:r>
            <a:r>
              <a:rPr lang="ru-RU" sz="2000">
                <a:latin typeface="Times New Roman" pitchFamily="18" charset="0"/>
                <a:cs typeface="Times New Roman" pitchFamily="18" charset="0"/>
              </a:rPr>
              <a:t> </a:t>
            </a:r>
          </a:p>
          <a:p>
            <a:pPr algn="just">
              <a:lnSpc>
                <a:spcPct val="120171"/>
              </a:lnSpc>
              <a:spcBef>
                <a:spcPts val="0"/>
              </a:spcBef>
            </a:pPr>
            <a:r>
              <a:rPr lang="ru-RU" sz="2000" err="1">
                <a:latin typeface="Times New Roman" pitchFamily="18" charset="0"/>
                <a:cs typeface="Times New Roman" pitchFamily="18" charset="0"/>
              </a:rPr>
              <a:t>Тази</a:t>
            </a:r>
            <a:r>
              <a:rPr lang="ru-RU" sz="2000">
                <a:latin typeface="Times New Roman" pitchFamily="18" charset="0"/>
                <a:cs typeface="Times New Roman" pitchFamily="18" charset="0"/>
              </a:rPr>
              <a:t> инструкция </a:t>
            </a:r>
            <a:r>
              <a:rPr lang="ru-RU" sz="2000" err="1">
                <a:latin typeface="Times New Roman" pitchFamily="18" charset="0"/>
                <a:cs typeface="Times New Roman" pitchFamily="18" charset="0"/>
              </a:rPr>
              <a:t>намалява</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стойността</a:t>
            </a:r>
            <a:r>
              <a:rPr lang="ru-RU" sz="2000">
                <a:latin typeface="Times New Roman" pitchFamily="18" charset="0"/>
                <a:cs typeface="Times New Roman" pitchFamily="18" charset="0"/>
              </a:rPr>
              <a:t> в CX </a:t>
            </a:r>
            <a:r>
              <a:rPr lang="ru-RU" sz="2000" err="1">
                <a:latin typeface="Times New Roman" pitchFamily="18" charset="0"/>
                <a:cs typeface="Times New Roman" pitchFamily="18" charset="0"/>
              </a:rPr>
              <a:t>регистъра</a:t>
            </a:r>
            <a:r>
              <a:rPr lang="ru-RU" sz="2000">
                <a:latin typeface="Times New Roman" pitchFamily="18" charset="0"/>
                <a:cs typeface="Times New Roman" pitchFamily="18" charset="0"/>
              </a:rPr>
              <a:t> с 1. Ако ZF е </a:t>
            </a:r>
            <a:r>
              <a:rPr lang="ru-RU" sz="2000" err="1">
                <a:latin typeface="Times New Roman" pitchFamily="18" charset="0"/>
                <a:cs typeface="Times New Roman" pitchFamily="18" charset="0"/>
              </a:rPr>
              <a:t>ра</a:t>
            </a:r>
            <a:r>
              <a:rPr lang="bg-BG" sz="2000" err="1">
                <a:latin typeface="Times New Roman" pitchFamily="18" charset="0"/>
                <a:cs typeface="Times New Roman" pitchFamily="18" charset="0"/>
              </a:rPr>
              <a:t>вен</a:t>
            </a:r>
            <a:r>
              <a:rPr lang="bg-BG" sz="2000">
                <a:latin typeface="Times New Roman" pitchFamily="18" charset="0"/>
                <a:cs typeface="Times New Roman" pitchFamily="18" charset="0"/>
              </a:rPr>
              <a:t> на </a:t>
            </a:r>
            <a:r>
              <a:rPr lang="ru-RU" sz="2000" err="1">
                <a:latin typeface="Times New Roman" pitchFamily="18" charset="0"/>
                <a:cs typeface="Times New Roman" pitchFamily="18" charset="0"/>
              </a:rPr>
              <a:t>нула</a:t>
            </a:r>
            <a:r>
              <a:rPr lang="ru-RU" sz="2000">
                <a:latin typeface="Times New Roman" pitchFamily="18" charset="0"/>
                <a:cs typeface="Times New Roman" pitchFamily="18" charset="0"/>
              </a:rPr>
              <a:t> се </a:t>
            </a:r>
            <a:r>
              <a:rPr lang="ru-RU" sz="2000" err="1">
                <a:latin typeface="Times New Roman" pitchFamily="18" charset="0"/>
                <a:cs typeface="Times New Roman" pitchFamily="18" charset="0"/>
              </a:rPr>
              <a:t>изпълнява</a:t>
            </a:r>
            <a:r>
              <a:rPr lang="ru-RU" sz="2000">
                <a:latin typeface="Times New Roman" pitchFamily="18" charset="0"/>
                <a:cs typeface="Times New Roman" pitchFamily="18" charset="0"/>
              </a:rPr>
              <a:t> потока от </a:t>
            </a:r>
            <a:r>
              <a:rPr lang="ru-RU" sz="2000" err="1">
                <a:latin typeface="Times New Roman" pitchFamily="18" charset="0"/>
                <a:cs typeface="Times New Roman" pitchFamily="18" charset="0"/>
              </a:rPr>
              <a:t>команди</a:t>
            </a:r>
            <a:r>
              <a:rPr lang="ru-RU" sz="2000">
                <a:latin typeface="Times New Roman" pitchFamily="18" charset="0"/>
                <a:cs typeface="Times New Roman" pitchFamily="18" charset="0"/>
              </a:rPr>
              <a:t> до </a:t>
            </a:r>
            <a:r>
              <a:rPr lang="ru-RU" sz="2000" err="1">
                <a:latin typeface="Times New Roman" pitchFamily="18" charset="0"/>
                <a:cs typeface="Times New Roman" pitchFamily="18" charset="0"/>
              </a:rPr>
              <a:t>етикета</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label</a:t>
            </a:r>
            <a:r>
              <a:rPr lang="ru-RU" sz="2000">
                <a:latin typeface="Times New Roman" pitchFamily="18" charset="0"/>
                <a:cs typeface="Times New Roman" pitchFamily="18" charset="0"/>
              </a:rPr>
              <a:t>. </a:t>
            </a:r>
          </a:p>
          <a:p>
            <a:pPr algn="just">
              <a:lnSpc>
                <a:spcPct val="120171"/>
              </a:lnSpc>
              <a:spcBef>
                <a:spcPts val="0"/>
              </a:spcBef>
            </a:pPr>
            <a:r>
              <a:rPr lang="ru-RU" sz="2000" err="1">
                <a:latin typeface="Times New Roman" pitchFamily="18" charset="0"/>
                <a:cs typeface="Times New Roman" pitchFamily="18" charset="0"/>
              </a:rPr>
              <a:t>Нито</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една</a:t>
            </a:r>
            <a:r>
              <a:rPr lang="ru-RU" sz="2000">
                <a:latin typeface="Times New Roman" pitchFamily="18" charset="0"/>
                <a:cs typeface="Times New Roman" pitchFamily="18" charset="0"/>
              </a:rPr>
              <a:t> от тези инструкции не </a:t>
            </a:r>
            <a:r>
              <a:rPr lang="ru-RU" sz="2000" err="1">
                <a:latin typeface="Times New Roman" pitchFamily="18" charset="0"/>
                <a:cs typeface="Times New Roman" pitchFamily="18" charset="0"/>
              </a:rPr>
              <a:t>засяга</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състоянието</a:t>
            </a:r>
            <a:r>
              <a:rPr lang="ru-RU" sz="2000">
                <a:latin typeface="Times New Roman" pitchFamily="18" charset="0"/>
                <a:cs typeface="Times New Roman" pitchFamily="18" charset="0"/>
              </a:rPr>
              <a:t> на ZF.</a:t>
            </a:r>
            <a:endParaRPr lang="bg-BG" sz="2000">
              <a:latin typeface="Times New Roman" pitchFamily="18" charset="0"/>
              <a:cs typeface="Times New Roman" pitchFamily="18" charset="0"/>
            </a:endParaRPr>
          </a:p>
        </p:txBody>
      </p:sp>
      <p:sp>
        <p:nvSpPr>
          <p:cNvPr id="4" name="Title 1"/>
          <p:cNvSpPr>
            <a:spLocks noGrp="1"/>
          </p:cNvSpPr>
          <p:nvPr>
            <p:ph type="title"/>
          </p:nvPr>
        </p:nvSpPr>
        <p:spPr>
          <a:xfrm>
            <a:off x="493204" y="188640"/>
            <a:ext cx="8229600" cy="854968"/>
          </a:xfrm>
        </p:spPr>
        <p:txBody>
          <a:bodyPr>
            <a:normAutofit/>
          </a:bodyPr>
          <a:lstStyle/>
          <a:p>
            <a:r>
              <a:rPr lang="en-US" sz="4000">
                <a:latin typeface="Times New Roman" pitchFamily="18" charset="0"/>
                <a:cs typeface="Times New Roman" pitchFamily="18" charset="0"/>
              </a:rPr>
              <a:t> </a:t>
            </a:r>
            <a:r>
              <a:rPr lang="ru-RU" sz="4000" err="1">
                <a:latin typeface="Times New Roman" pitchFamily="18" charset="0"/>
                <a:cs typeface="Times New Roman" pitchFamily="18" charset="0"/>
              </a:rPr>
              <a:t>Програми</a:t>
            </a:r>
            <a:r>
              <a:rPr lang="ru-RU" sz="4000">
                <a:latin typeface="Times New Roman" pitchFamily="18" charset="0"/>
                <a:cs typeface="Times New Roman" pitchFamily="18" charset="0"/>
              </a:rPr>
              <a:t> с цикли. </a:t>
            </a:r>
            <a:endParaRPr lang="bg-BG" sz="4000" b="1"/>
          </a:p>
        </p:txBody>
      </p:sp>
    </p:spTree>
    <p:extLst>
      <p:ext uri="{BB962C8B-B14F-4D97-AF65-F5344CB8AC3E}">
        <p14:creationId xmlns:p14="http://schemas.microsoft.com/office/powerpoint/2010/main" val="18598348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016" y="1043608"/>
            <a:ext cx="8605464" cy="5814392"/>
          </a:xfrm>
        </p:spPr>
        <p:txBody>
          <a:bodyPr vert="horz" lIns="91440" tIns="45720" rIns="91440" bIns="45720" anchor="t">
            <a:noAutofit/>
          </a:bodyPr>
          <a:lstStyle/>
          <a:p>
            <a:pPr algn="just">
              <a:lnSpc>
                <a:spcPct val="122624"/>
              </a:lnSpc>
              <a:spcBef>
                <a:spcPts val="0"/>
              </a:spcBef>
            </a:pPr>
            <a:r>
              <a:rPr lang="en-US" sz="2100" b="1">
                <a:latin typeface="Times New Roman" pitchFamily="18" charset="0"/>
                <a:cs typeface="Times New Roman" pitchFamily="18" charset="0"/>
              </a:rPr>
              <a:t>ARM</a:t>
            </a:r>
            <a:r>
              <a:rPr lang="bg-BG" sz="2100" b="1">
                <a:latin typeface="Times New Roman" pitchFamily="18" charset="0"/>
                <a:cs typeface="Times New Roman" pitchFamily="18" charset="0"/>
              </a:rPr>
              <a:t> процесор.</a:t>
            </a:r>
            <a:endParaRPr lang="en-US" sz="2100" b="1">
              <a:latin typeface="Times New Roman" pitchFamily="18" charset="0"/>
              <a:cs typeface="Times New Roman" pitchFamily="18" charset="0"/>
            </a:endParaRPr>
          </a:p>
          <a:p>
            <a:pPr algn="just">
              <a:lnSpc>
                <a:spcPct val="122624"/>
              </a:lnSpc>
              <a:spcBef>
                <a:spcPts val="0"/>
              </a:spcBef>
            </a:pPr>
            <a:r>
              <a:rPr lang="ru-RU" sz="2100">
                <a:latin typeface="Times New Roman" pitchFamily="18" charset="0"/>
                <a:cs typeface="Times New Roman" pitchFamily="18" charset="0"/>
              </a:rPr>
              <a:t>Най-</a:t>
            </a:r>
            <a:r>
              <a:rPr lang="ru-RU" sz="2100" err="1">
                <a:latin typeface="Times New Roman" pitchFamily="18" charset="0"/>
                <a:cs typeface="Times New Roman" pitchFamily="18" charset="0"/>
              </a:rPr>
              <a:t>простият</a:t>
            </a:r>
            <a:r>
              <a:rPr lang="ru-RU" sz="2100">
                <a:latin typeface="Times New Roman" pitchFamily="18" charset="0"/>
                <a:cs typeface="Times New Roman" pitchFamily="18" charset="0"/>
              </a:rPr>
              <a:t> тип итерация е </a:t>
            </a:r>
            <a:r>
              <a:rPr lang="ru-RU" sz="2100" err="1">
                <a:latin typeface="Times New Roman" pitchFamily="18" charset="0"/>
                <a:cs typeface="Times New Roman" pitchFamily="18" charset="0"/>
              </a:rPr>
              <a:t>безусловният</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цикъл</a:t>
            </a:r>
            <a:r>
              <a:rPr lang="ru-RU" sz="2100">
                <a:latin typeface="Times New Roman" pitchFamily="18" charset="0"/>
                <a:cs typeface="Times New Roman" pitchFamily="18" charset="0"/>
              </a:rPr>
              <a:t>, известен като </a:t>
            </a:r>
            <a:r>
              <a:rPr lang="ru-RU" sz="2100" err="1">
                <a:latin typeface="Times New Roman" pitchFamily="18" charset="0"/>
                <a:cs typeface="Times New Roman" pitchFamily="18" charset="0"/>
              </a:rPr>
              <a:t>безкраен</a:t>
            </a:r>
            <a:r>
              <a:rPr lang="ru-RU" sz="2100">
                <a:latin typeface="Times New Roman" pitchFamily="18" charset="0"/>
                <a:cs typeface="Times New Roman" pitchFamily="18" charset="0"/>
              </a:rPr>
              <a:t> </a:t>
            </a:r>
            <a:r>
              <a:rPr lang="ru-RU" sz="2100" err="1">
                <a:latin typeface="Times New Roman" pitchFamily="18" charset="0"/>
                <a:cs typeface="Times New Roman" pitchFamily="18" charset="0"/>
              </a:rPr>
              <a:t>цикъл</a:t>
            </a:r>
            <a:r>
              <a:rPr lang="ru-RU" sz="2100">
                <a:latin typeface="Times New Roman" pitchFamily="18" charset="0"/>
                <a:cs typeface="Times New Roman" pitchFamily="18" charset="0"/>
              </a:rPr>
              <a:t>. Този тип цикъл може да се използва в програми или задачи, които трябва да продължат да работят за неопределено време. Малко езици на високо ниво предоставят истински безусловен цикъл, но програмистът на високо ниво може да постигне подобен ефект, като използва условен цикъл и указва условие, което винаги се оценява като вярно.</a:t>
            </a:r>
            <a:endParaRPr lang="en-US" sz="2100">
              <a:latin typeface="Times New Roman" pitchFamily="18" charset="0"/>
              <a:cs typeface="Times New Roman" pitchFamily="18" charset="0"/>
            </a:endParaRPr>
          </a:p>
          <a:p>
            <a:pPr algn="just">
              <a:lnSpc>
                <a:spcPct val="122624"/>
              </a:lnSpc>
              <a:spcBef>
                <a:spcPts val="0"/>
              </a:spcBef>
            </a:pPr>
            <a:r>
              <a:rPr lang="en-US" sz="2100" b="1">
                <a:latin typeface="Times New Roman" pitchFamily="18" charset="0"/>
                <a:cs typeface="Times New Roman" pitchFamily="18" charset="0"/>
              </a:rPr>
              <a:t>. . .</a:t>
            </a:r>
          </a:p>
          <a:p>
            <a:pPr algn="just">
              <a:lnSpc>
                <a:spcPct val="122624"/>
              </a:lnSpc>
              <a:spcBef>
                <a:spcPts val="0"/>
              </a:spcBef>
            </a:pPr>
            <a:r>
              <a:rPr lang="en-US" sz="2100" b="1">
                <a:latin typeface="Times New Roman" pitchFamily="18" charset="0"/>
                <a:cs typeface="Times New Roman" pitchFamily="18" charset="0"/>
              </a:rPr>
              <a:t>2          </a:t>
            </a:r>
            <a:r>
              <a:rPr lang="en-US" sz="2100" b="1" err="1">
                <a:latin typeface="Times New Roman" pitchFamily="18" charset="0"/>
                <a:cs typeface="Times New Roman" pitchFamily="18" charset="0"/>
              </a:rPr>
              <a:t>ldr</a:t>
            </a:r>
            <a:r>
              <a:rPr lang="en-US" sz="2100" b="1">
                <a:latin typeface="Times New Roman" pitchFamily="18" charset="0"/>
                <a:cs typeface="Times New Roman" pitchFamily="18" charset="0"/>
              </a:rPr>
              <a:t> r0,=</a:t>
            </a:r>
            <a:r>
              <a:rPr lang="en-US" sz="2100" b="1" err="1">
                <a:latin typeface="Times New Roman" pitchFamily="18" charset="0"/>
                <a:cs typeface="Times New Roman" pitchFamily="18" charset="0"/>
              </a:rPr>
              <a:t>hellostr</a:t>
            </a:r>
            <a:r>
              <a:rPr lang="en-US" sz="2100" b="1">
                <a:latin typeface="Times New Roman" pitchFamily="18" charset="0"/>
                <a:cs typeface="Times New Roman" pitchFamily="18" charset="0"/>
              </a:rPr>
              <a:t> 	 ; load pointer to "Hello World\n\0" </a:t>
            </a:r>
          </a:p>
          <a:p>
            <a:pPr algn="just">
              <a:lnSpc>
                <a:spcPct val="122624"/>
              </a:lnSpc>
              <a:spcBef>
                <a:spcPts val="0"/>
              </a:spcBef>
            </a:pPr>
            <a:r>
              <a:rPr lang="en-US" sz="2100" b="1">
                <a:latin typeface="Times New Roman" pitchFamily="18" charset="0"/>
                <a:cs typeface="Times New Roman" pitchFamily="18" charset="0"/>
              </a:rPr>
              <a:t>3 loop: </a:t>
            </a:r>
            <a:r>
              <a:rPr lang="en-US" sz="2100" b="1" err="1">
                <a:latin typeface="Times New Roman" pitchFamily="18" charset="0"/>
                <a:cs typeface="Times New Roman" pitchFamily="18" charset="0"/>
              </a:rPr>
              <a:t>bl</a:t>
            </a:r>
            <a:r>
              <a:rPr lang="en-US" sz="2100" b="1">
                <a:latin typeface="Times New Roman" pitchFamily="18" charset="0"/>
                <a:cs typeface="Times New Roman" pitchFamily="18" charset="0"/>
              </a:rPr>
              <a:t> </a:t>
            </a:r>
            <a:r>
              <a:rPr lang="en-US" sz="2100" b="1" err="1">
                <a:latin typeface="Times New Roman" pitchFamily="18" charset="0"/>
                <a:cs typeface="Times New Roman" pitchFamily="18" charset="0"/>
              </a:rPr>
              <a:t>printf</a:t>
            </a:r>
            <a:r>
              <a:rPr lang="en-US" sz="2100" b="1">
                <a:latin typeface="Times New Roman" pitchFamily="18" charset="0"/>
                <a:cs typeface="Times New Roman" pitchFamily="18" charset="0"/>
              </a:rPr>
              <a:t>  		; print "Hello World\n" </a:t>
            </a:r>
          </a:p>
          <a:p>
            <a:pPr algn="just">
              <a:lnSpc>
                <a:spcPct val="122624"/>
              </a:lnSpc>
              <a:spcBef>
                <a:spcPts val="0"/>
              </a:spcBef>
            </a:pPr>
            <a:r>
              <a:rPr lang="en-US" sz="2100" b="1">
                <a:latin typeface="Times New Roman" pitchFamily="18" charset="0"/>
                <a:cs typeface="Times New Roman" pitchFamily="18" charset="0"/>
              </a:rPr>
              <a:t>4           b loop 		; repeat loop unconditionally</a:t>
            </a:r>
          </a:p>
          <a:p>
            <a:pPr algn="just">
              <a:lnSpc>
                <a:spcPct val="122624"/>
              </a:lnSpc>
              <a:spcBef>
                <a:spcPts val="0"/>
              </a:spcBef>
            </a:pPr>
            <a:r>
              <a:rPr lang="en-US" sz="2100" b="1">
                <a:latin typeface="Times New Roman" pitchFamily="18" charset="0"/>
                <a:cs typeface="Times New Roman" pitchFamily="18" charset="0"/>
              </a:rPr>
              <a:t>. . .</a:t>
            </a:r>
          </a:p>
          <a:p>
            <a:pPr algn="just">
              <a:lnSpc>
                <a:spcPct val="122624"/>
              </a:lnSpc>
              <a:spcBef>
                <a:spcPts val="0"/>
              </a:spcBef>
            </a:pPr>
            <a:endParaRPr lang="bg-BG" sz="2100" b="1">
              <a:latin typeface="Times New Roman" pitchFamily="18" charset="0"/>
              <a:cs typeface="Times New Roman" pitchFamily="18" charset="0"/>
            </a:endParaRPr>
          </a:p>
        </p:txBody>
      </p:sp>
      <p:sp>
        <p:nvSpPr>
          <p:cNvPr id="4" name="Title 1"/>
          <p:cNvSpPr>
            <a:spLocks noGrp="1"/>
          </p:cNvSpPr>
          <p:nvPr>
            <p:ph type="title"/>
          </p:nvPr>
        </p:nvSpPr>
        <p:spPr>
          <a:xfrm>
            <a:off x="493204" y="188640"/>
            <a:ext cx="8229600" cy="854968"/>
          </a:xfrm>
        </p:spPr>
        <p:txBody>
          <a:bodyPr>
            <a:normAutofit/>
          </a:bodyPr>
          <a:lstStyle/>
          <a:p>
            <a:r>
              <a:rPr lang="en-US" sz="4000">
                <a:latin typeface="Times New Roman" pitchFamily="18" charset="0"/>
                <a:cs typeface="Times New Roman" pitchFamily="18" charset="0"/>
              </a:rPr>
              <a:t> </a:t>
            </a:r>
            <a:r>
              <a:rPr lang="ru-RU" sz="4000" err="1">
                <a:latin typeface="Times New Roman" pitchFamily="18" charset="0"/>
                <a:cs typeface="Times New Roman" pitchFamily="18" charset="0"/>
              </a:rPr>
              <a:t>Програми</a:t>
            </a:r>
            <a:r>
              <a:rPr lang="ru-RU" sz="4000">
                <a:latin typeface="Times New Roman" pitchFamily="18" charset="0"/>
                <a:cs typeface="Times New Roman" pitchFamily="18" charset="0"/>
              </a:rPr>
              <a:t> с цикли. </a:t>
            </a:r>
            <a:endParaRPr lang="bg-BG" sz="4000" b="1"/>
          </a:p>
        </p:txBody>
      </p:sp>
    </p:spTree>
    <p:extLst>
      <p:ext uri="{BB962C8B-B14F-4D97-AF65-F5344CB8AC3E}">
        <p14:creationId xmlns:p14="http://schemas.microsoft.com/office/powerpoint/2010/main" val="34116673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01" y="854968"/>
            <a:ext cx="8928992" cy="6246440"/>
          </a:xfrm>
        </p:spPr>
        <p:txBody>
          <a:bodyPr vert="horz" lIns="91440" tIns="45720" rIns="91440" bIns="45720" anchor="t">
            <a:noAutofit/>
          </a:bodyPr>
          <a:lstStyle/>
          <a:p>
            <a:pPr algn="just">
              <a:lnSpc>
                <a:spcPct val="143061"/>
              </a:lnSpc>
              <a:spcBef>
                <a:spcPts val="0"/>
              </a:spcBef>
            </a:pPr>
            <a:r>
              <a:rPr lang="en-US" sz="1800" b="1">
                <a:latin typeface="Times New Roman" pitchFamily="18" charset="0"/>
                <a:cs typeface="Times New Roman" pitchFamily="18" charset="0"/>
              </a:rPr>
              <a:t>ARM</a:t>
            </a:r>
            <a:r>
              <a:rPr lang="bg-BG" sz="1800" b="1">
                <a:latin typeface="Times New Roman" pitchFamily="18" charset="0"/>
                <a:cs typeface="Times New Roman" pitchFamily="18" charset="0"/>
              </a:rPr>
              <a:t> процесор.</a:t>
            </a:r>
            <a:endParaRPr lang="en-US" sz="1800" b="1">
              <a:latin typeface="Times New Roman" pitchFamily="18" charset="0"/>
              <a:cs typeface="Times New Roman" pitchFamily="18" charset="0"/>
            </a:endParaRPr>
          </a:p>
          <a:p>
            <a:pPr algn="just">
              <a:spcBef>
                <a:spcPts val="0"/>
              </a:spcBef>
            </a:pPr>
            <a:r>
              <a:rPr lang="ru-RU" sz="1800" err="1">
                <a:latin typeface="Times New Roman" pitchFamily="18" charset="0"/>
                <a:cs typeface="Times New Roman" pitchFamily="18" charset="0"/>
              </a:rPr>
              <a:t>Цикъл</a:t>
            </a:r>
            <a:r>
              <a:rPr lang="ru-RU" sz="1800">
                <a:latin typeface="Times New Roman" pitchFamily="18" charset="0"/>
                <a:cs typeface="Times New Roman" pitchFamily="18" charset="0"/>
              </a:rPr>
              <a:t> с предусловие е </a:t>
            </a:r>
            <a:r>
              <a:rPr lang="ru-RU" sz="1800" err="1">
                <a:latin typeface="Times New Roman" pitchFamily="18" charset="0"/>
                <a:cs typeface="Times New Roman" pitchFamily="18" charset="0"/>
              </a:rPr>
              <a:t>цикъл</a:t>
            </a:r>
            <a:r>
              <a:rPr lang="ru-RU" sz="1800">
                <a:latin typeface="Times New Roman" pitchFamily="18" charset="0"/>
                <a:cs typeface="Times New Roman" pitchFamily="18" charset="0"/>
              </a:rPr>
              <a:t>, в </a:t>
            </a:r>
            <a:r>
              <a:rPr lang="ru-RU" sz="1800" err="1">
                <a:latin typeface="Times New Roman" pitchFamily="18" charset="0"/>
                <a:cs typeface="Times New Roman" pitchFamily="18" charset="0"/>
              </a:rPr>
              <a:t>който</a:t>
            </a:r>
            <a:r>
              <a:rPr lang="ru-RU" sz="1800">
                <a:latin typeface="Times New Roman" pitchFamily="18" charset="0"/>
                <a:cs typeface="Times New Roman" pitchFamily="18" charset="0"/>
              </a:rPr>
              <a:t> се </a:t>
            </a:r>
            <a:r>
              <a:rPr lang="ru-RU" sz="1800" err="1">
                <a:latin typeface="Times New Roman" pitchFamily="18" charset="0"/>
                <a:cs typeface="Times New Roman" pitchFamily="18" charset="0"/>
              </a:rPr>
              <a:t>извършва</a:t>
            </a:r>
            <a:r>
              <a:rPr lang="ru-RU" sz="1800">
                <a:latin typeface="Times New Roman" pitchFamily="18" charset="0"/>
                <a:cs typeface="Times New Roman" pitchFamily="18" charset="0"/>
              </a:rPr>
              <a:t> тест, </a:t>
            </a:r>
            <a:r>
              <a:rPr lang="ru-RU" sz="1800" err="1">
                <a:latin typeface="Times New Roman" pitchFamily="18" charset="0"/>
                <a:cs typeface="Times New Roman" pitchFamily="18" charset="0"/>
              </a:rPr>
              <a:t>преди</a:t>
            </a:r>
            <a:r>
              <a:rPr lang="ru-RU" sz="1800">
                <a:latin typeface="Times New Roman" pitchFamily="18" charset="0"/>
                <a:cs typeface="Times New Roman" pitchFamily="18" charset="0"/>
              </a:rPr>
              <a:t> да се </a:t>
            </a:r>
            <a:r>
              <a:rPr lang="ru-RU" sz="1800" err="1">
                <a:latin typeface="Times New Roman" pitchFamily="18" charset="0"/>
                <a:cs typeface="Times New Roman" pitchFamily="18" charset="0"/>
              </a:rPr>
              <a:t>изпълни</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блокът</a:t>
            </a:r>
            <a:r>
              <a:rPr lang="ru-RU" sz="1800">
                <a:latin typeface="Times New Roman" pitchFamily="18" charset="0"/>
                <a:cs typeface="Times New Roman" pitchFamily="18" charset="0"/>
              </a:rPr>
              <a:t> от инструкции, </a:t>
            </a:r>
            <a:r>
              <a:rPr lang="ru-RU" sz="1800" err="1">
                <a:latin typeface="Times New Roman" pitchFamily="18" charset="0"/>
                <a:cs typeface="Times New Roman" pitchFamily="18" charset="0"/>
              </a:rPr>
              <a:t>образуващи</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тялото</a:t>
            </a:r>
            <a:r>
              <a:rPr lang="ru-RU" sz="1800">
                <a:latin typeface="Times New Roman" pitchFamily="18" charset="0"/>
                <a:cs typeface="Times New Roman" pitchFamily="18" charset="0"/>
              </a:rPr>
              <a:t> на </a:t>
            </a:r>
            <a:r>
              <a:rPr lang="ru-RU" sz="1800" err="1">
                <a:latin typeface="Times New Roman" pitchFamily="18" charset="0"/>
                <a:cs typeface="Times New Roman" pitchFamily="18" charset="0"/>
              </a:rPr>
              <a:t>цикъла</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Ако</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условието</a:t>
            </a:r>
            <a:r>
              <a:rPr lang="ru-RU" sz="1800">
                <a:latin typeface="Times New Roman" pitchFamily="18" charset="0"/>
                <a:cs typeface="Times New Roman" pitchFamily="18" charset="0"/>
              </a:rPr>
              <a:t> се </a:t>
            </a:r>
            <a:r>
              <a:rPr lang="ru-RU" sz="1800" err="1">
                <a:latin typeface="Times New Roman" pitchFamily="18" charset="0"/>
                <a:cs typeface="Times New Roman" pitchFamily="18" charset="0"/>
              </a:rPr>
              <a:t>изчисли</a:t>
            </a:r>
            <a:r>
              <a:rPr lang="ru-RU" sz="1800">
                <a:latin typeface="Times New Roman" pitchFamily="18" charset="0"/>
                <a:cs typeface="Times New Roman" pitchFamily="18" charset="0"/>
              </a:rPr>
              <a:t> като </a:t>
            </a:r>
            <a:r>
              <a:rPr lang="ru-RU" sz="1800" err="1">
                <a:latin typeface="Times New Roman" pitchFamily="18" charset="0"/>
                <a:cs typeface="Times New Roman" pitchFamily="18" charset="0"/>
              </a:rPr>
              <a:t>true</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тогава</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тялото</a:t>
            </a:r>
            <a:r>
              <a:rPr lang="ru-RU" sz="1800">
                <a:latin typeface="Times New Roman" pitchFamily="18" charset="0"/>
                <a:cs typeface="Times New Roman" pitchFamily="18" charset="0"/>
              </a:rPr>
              <a:t> на </a:t>
            </a:r>
            <a:r>
              <a:rPr lang="ru-RU" sz="1800" err="1">
                <a:latin typeface="Times New Roman" pitchFamily="18" charset="0"/>
                <a:cs typeface="Times New Roman" pitchFamily="18" charset="0"/>
              </a:rPr>
              <a:t>цикъла</a:t>
            </a:r>
            <a:r>
              <a:rPr lang="ru-RU" sz="1800">
                <a:latin typeface="Times New Roman" pitchFamily="18" charset="0"/>
                <a:cs typeface="Times New Roman" pitchFamily="18" charset="0"/>
              </a:rPr>
              <a:t> се </a:t>
            </a:r>
            <a:r>
              <a:rPr lang="ru-RU" sz="1800" err="1">
                <a:latin typeface="Times New Roman" pitchFamily="18" charset="0"/>
                <a:cs typeface="Times New Roman" pitchFamily="18" charset="0"/>
              </a:rPr>
              <a:t>изпълнява</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Последната</a:t>
            </a:r>
            <a:r>
              <a:rPr lang="ru-RU" sz="1800">
                <a:latin typeface="Times New Roman" pitchFamily="18" charset="0"/>
                <a:cs typeface="Times New Roman" pitchFamily="18" charset="0"/>
              </a:rPr>
              <a:t> инструкция в </a:t>
            </a:r>
            <a:r>
              <a:rPr lang="ru-RU" sz="1800" err="1">
                <a:latin typeface="Times New Roman" pitchFamily="18" charset="0"/>
                <a:cs typeface="Times New Roman" pitchFamily="18" charset="0"/>
              </a:rPr>
              <a:t>тялото</a:t>
            </a:r>
            <a:r>
              <a:rPr lang="ru-RU" sz="1800">
                <a:latin typeface="Times New Roman" pitchFamily="18" charset="0"/>
                <a:cs typeface="Times New Roman" pitchFamily="18" charset="0"/>
              </a:rPr>
              <a:t> на </a:t>
            </a:r>
            <a:r>
              <a:rPr lang="ru-RU" sz="1800" err="1">
                <a:latin typeface="Times New Roman" pitchFamily="18" charset="0"/>
                <a:cs typeface="Times New Roman" pitchFamily="18" charset="0"/>
              </a:rPr>
              <a:t>цикъла</a:t>
            </a:r>
            <a:r>
              <a:rPr lang="ru-RU" sz="1800">
                <a:latin typeface="Times New Roman" pitchFamily="18" charset="0"/>
                <a:cs typeface="Times New Roman" pitchFamily="18" charset="0"/>
              </a:rPr>
              <a:t> е </a:t>
            </a:r>
            <a:r>
              <a:rPr lang="ru-RU" sz="1800" err="1">
                <a:latin typeface="Times New Roman" pitchFamily="18" charset="0"/>
                <a:cs typeface="Times New Roman" pitchFamily="18" charset="0"/>
              </a:rPr>
              <a:t>разклонение</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към</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началото</a:t>
            </a:r>
            <a:r>
              <a:rPr lang="ru-RU" sz="1800">
                <a:latin typeface="Times New Roman" pitchFamily="18" charset="0"/>
                <a:cs typeface="Times New Roman" pitchFamily="18" charset="0"/>
              </a:rPr>
              <a:t> на </a:t>
            </a:r>
            <a:r>
              <a:rPr lang="ru-RU" sz="1800" err="1">
                <a:latin typeface="Times New Roman" pitchFamily="18" charset="0"/>
                <a:cs typeface="Times New Roman" pitchFamily="18" charset="0"/>
              </a:rPr>
              <a:t>условието</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Ако</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условието</a:t>
            </a:r>
            <a:r>
              <a:rPr lang="ru-RU" sz="1800">
                <a:latin typeface="Times New Roman" pitchFamily="18" charset="0"/>
                <a:cs typeface="Times New Roman" pitchFamily="18" charset="0"/>
              </a:rPr>
              <a:t> се изчисли </a:t>
            </a:r>
            <a:r>
              <a:rPr lang="ru-RU" sz="1800" err="1">
                <a:latin typeface="Times New Roman" pitchFamily="18" charset="0"/>
                <a:cs typeface="Times New Roman" pitchFamily="18" charset="0"/>
              </a:rPr>
              <a:t>като</a:t>
            </a:r>
            <a:r>
              <a:rPr lang="ru-RU" sz="1800">
                <a:latin typeface="Times New Roman" pitchFamily="18" charset="0"/>
                <a:cs typeface="Times New Roman" pitchFamily="18" charset="0"/>
              </a:rPr>
              <a:t> </a:t>
            </a:r>
            <a:r>
              <a:rPr lang="ru-RU" sz="1800" err="1">
                <a:latin typeface="Times New Roman" pitchFamily="18" charset="0"/>
                <a:cs typeface="Times New Roman" pitchFamily="18" charset="0"/>
              </a:rPr>
              <a:t>false</a:t>
            </a:r>
            <a:r>
              <a:rPr lang="ru-RU" sz="1800">
                <a:latin typeface="Times New Roman" pitchFamily="18" charset="0"/>
                <a:cs typeface="Times New Roman" pitchFamily="18" charset="0"/>
              </a:rPr>
              <a:t>(</a:t>
            </a:r>
            <a:r>
              <a:rPr lang="ru-RU" sz="1800" err="1">
                <a:latin typeface="Times New Roman" pitchFamily="18" charset="0"/>
                <a:cs typeface="Times New Roman" pitchFamily="18" charset="0"/>
              </a:rPr>
              <a:t>лъжа</a:t>
            </a:r>
            <a:r>
              <a:rPr lang="ru-RU" sz="1800">
                <a:latin typeface="Times New Roman" pitchFamily="18" charset="0"/>
                <a:cs typeface="Times New Roman" pitchFamily="18" charset="0"/>
              </a:rPr>
              <a:t>), тогава изпълнението се разклонява към първата инструкция, следваща тялото на цикъла. При асемблиране </a:t>
            </a:r>
            <a:r>
              <a:rPr lang="ru-RU" sz="1800" err="1">
                <a:latin typeface="Times New Roman" pitchFamily="18" charset="0"/>
                <a:cs typeface="Times New Roman" pitchFamily="18" charset="0"/>
              </a:rPr>
              <a:t>цикълът</a:t>
            </a:r>
            <a:r>
              <a:rPr lang="ru-RU" sz="1800">
                <a:latin typeface="Times New Roman" pitchFamily="18" charset="0"/>
                <a:cs typeface="Times New Roman" pitchFamily="18" charset="0"/>
              </a:rPr>
              <a:t> с предусловие се конструира много подобно на израз if-then. Единствената разлика е, че включва допълнителна инструкция за разклоняване в края на последователността от инструкции, които формират тялото. </a:t>
            </a:r>
            <a:endParaRPr lang="en-US" sz="1800">
              <a:latin typeface="Times New Roman" pitchFamily="18" charset="0"/>
              <a:cs typeface="Times New Roman" pitchFamily="18" charset="0"/>
            </a:endParaRPr>
          </a:p>
          <a:p>
            <a:pPr algn="just">
              <a:spcBef>
                <a:spcPts val="0"/>
              </a:spcBef>
            </a:pPr>
            <a:endParaRPr lang="en-US" sz="1800">
              <a:latin typeface="Times New Roman" pitchFamily="18" charset="0"/>
              <a:cs typeface="Times New Roman" pitchFamily="18" charset="0"/>
            </a:endParaRPr>
          </a:p>
          <a:p>
            <a:pPr algn="just">
              <a:lnSpc>
                <a:spcPct val="143061"/>
              </a:lnSpc>
              <a:spcBef>
                <a:spcPts val="0"/>
              </a:spcBef>
            </a:pPr>
            <a:r>
              <a:rPr lang="en-US" sz="1800" b="1">
                <a:latin typeface="Times New Roman" pitchFamily="18" charset="0"/>
                <a:cs typeface="Times New Roman" pitchFamily="18" charset="0"/>
              </a:rPr>
              <a:t>                  1 . . . </a:t>
            </a:r>
          </a:p>
          <a:p>
            <a:pPr algn="just">
              <a:lnSpc>
                <a:spcPct val="143061"/>
              </a:lnSpc>
              <a:spcBef>
                <a:spcPts val="0"/>
              </a:spcBef>
            </a:pPr>
            <a:r>
              <a:rPr lang="en-US" sz="1800" b="1">
                <a:latin typeface="Times New Roman" pitchFamily="18" charset="0"/>
                <a:cs typeface="Times New Roman" pitchFamily="18" charset="0"/>
              </a:rPr>
              <a:t>                  2 loop: </a:t>
            </a:r>
            <a:r>
              <a:rPr lang="en-US" sz="1800" b="1" err="1">
                <a:latin typeface="Times New Roman" pitchFamily="18" charset="0"/>
                <a:cs typeface="Times New Roman" pitchFamily="18" charset="0"/>
              </a:rPr>
              <a:t>cmp</a:t>
            </a:r>
            <a:r>
              <a:rPr lang="en-US" sz="1800" b="1">
                <a:latin typeface="Times New Roman" pitchFamily="18" charset="0"/>
                <a:cs typeface="Times New Roman" pitchFamily="18" charset="0"/>
              </a:rPr>
              <a:t> r0, r1 	</a:t>
            </a:r>
            <a:r>
              <a:rPr lang="bg-BG" sz="1800" b="1">
                <a:latin typeface="Times New Roman" pitchFamily="18" charset="0"/>
                <a:cs typeface="Times New Roman" pitchFamily="18" charset="0"/>
              </a:rPr>
              <a:t>;</a:t>
            </a:r>
            <a:r>
              <a:rPr lang="en-US" sz="1800" b="1">
                <a:latin typeface="Times New Roman" pitchFamily="18" charset="0"/>
                <a:cs typeface="Times New Roman" pitchFamily="18" charset="0"/>
              </a:rPr>
              <a:t>perform loop test </a:t>
            </a:r>
          </a:p>
          <a:p>
            <a:pPr algn="just">
              <a:lnSpc>
                <a:spcPct val="143061"/>
              </a:lnSpc>
              <a:spcBef>
                <a:spcPts val="0"/>
              </a:spcBef>
            </a:pPr>
            <a:r>
              <a:rPr lang="en-US" sz="1800" b="1">
                <a:latin typeface="Times New Roman" pitchFamily="18" charset="0"/>
                <a:cs typeface="Times New Roman" pitchFamily="18" charset="0"/>
              </a:rPr>
              <a:t>                  3           </a:t>
            </a:r>
            <a:r>
              <a:rPr lang="en-US" sz="1800" b="1" err="1">
                <a:latin typeface="Times New Roman" pitchFamily="18" charset="0"/>
                <a:cs typeface="Times New Roman" pitchFamily="18" charset="0"/>
              </a:rPr>
              <a:t>blt</a:t>
            </a:r>
            <a:r>
              <a:rPr lang="en-US" sz="1800" b="1">
                <a:latin typeface="Times New Roman" pitchFamily="18" charset="0"/>
                <a:cs typeface="Times New Roman" pitchFamily="18" charset="0"/>
              </a:rPr>
              <a:t> done 	</a:t>
            </a:r>
            <a:r>
              <a:rPr lang="bg-BG" sz="1800" b="1">
                <a:latin typeface="Times New Roman" pitchFamily="18" charset="0"/>
                <a:cs typeface="Times New Roman" pitchFamily="18" charset="0"/>
              </a:rPr>
              <a:t>;</a:t>
            </a:r>
            <a:r>
              <a:rPr lang="en-US" sz="1800" b="1">
                <a:latin typeface="Times New Roman" pitchFamily="18" charset="0"/>
                <a:cs typeface="Times New Roman" pitchFamily="18" charset="0"/>
              </a:rPr>
              <a:t>exit loop if r0 &lt; r1</a:t>
            </a:r>
          </a:p>
          <a:p>
            <a:pPr algn="just">
              <a:lnSpc>
                <a:spcPct val="143061"/>
              </a:lnSpc>
              <a:spcBef>
                <a:spcPts val="0"/>
              </a:spcBef>
            </a:pPr>
            <a:r>
              <a:rPr lang="en-US" sz="1800" b="1">
                <a:latin typeface="Times New Roman" pitchFamily="18" charset="0"/>
                <a:cs typeface="Times New Roman" pitchFamily="18" charset="0"/>
              </a:rPr>
              <a:t>                  4 . . . 			</a:t>
            </a:r>
            <a:r>
              <a:rPr lang="bg-BG" sz="1800" b="1">
                <a:latin typeface="Times New Roman" pitchFamily="18" charset="0"/>
                <a:cs typeface="Times New Roman" pitchFamily="18" charset="0"/>
              </a:rPr>
              <a:t>;</a:t>
            </a:r>
            <a:r>
              <a:rPr lang="en-US" sz="1800" b="1">
                <a:latin typeface="Times New Roman" pitchFamily="18" charset="0"/>
                <a:cs typeface="Times New Roman" pitchFamily="18" charset="0"/>
              </a:rPr>
              <a:t>body of loop </a:t>
            </a:r>
          </a:p>
          <a:p>
            <a:pPr algn="just">
              <a:lnSpc>
                <a:spcPct val="143061"/>
              </a:lnSpc>
              <a:spcBef>
                <a:spcPts val="0"/>
              </a:spcBef>
            </a:pPr>
            <a:r>
              <a:rPr lang="en-US" sz="1800" b="1">
                <a:latin typeface="Times New Roman" pitchFamily="18" charset="0"/>
                <a:cs typeface="Times New Roman" pitchFamily="18" charset="0"/>
              </a:rPr>
              <a:t>                  5           b loop 		</a:t>
            </a:r>
            <a:r>
              <a:rPr lang="bg-BG" sz="1800" b="1">
                <a:latin typeface="Times New Roman" pitchFamily="18" charset="0"/>
                <a:cs typeface="Times New Roman" pitchFamily="18" charset="0"/>
              </a:rPr>
              <a:t>;</a:t>
            </a:r>
            <a:r>
              <a:rPr lang="en-US" sz="1800" b="1">
                <a:latin typeface="Times New Roman" pitchFamily="18" charset="0"/>
                <a:cs typeface="Times New Roman" pitchFamily="18" charset="0"/>
              </a:rPr>
              <a:t>repeat loop </a:t>
            </a:r>
          </a:p>
          <a:p>
            <a:pPr algn="just">
              <a:lnSpc>
                <a:spcPct val="143061"/>
              </a:lnSpc>
              <a:spcBef>
                <a:spcPts val="0"/>
              </a:spcBef>
            </a:pPr>
            <a:r>
              <a:rPr lang="en-US" sz="1800" b="1">
                <a:latin typeface="Times New Roman" pitchFamily="18" charset="0"/>
                <a:cs typeface="Times New Roman" pitchFamily="18" charset="0"/>
              </a:rPr>
              <a:t>                  6 done:</a:t>
            </a:r>
          </a:p>
          <a:p>
            <a:pPr algn="just">
              <a:lnSpc>
                <a:spcPct val="143061"/>
              </a:lnSpc>
              <a:spcBef>
                <a:spcPts val="0"/>
              </a:spcBef>
            </a:pPr>
            <a:r>
              <a:rPr lang="en-US" sz="1800" b="1">
                <a:latin typeface="Times New Roman" pitchFamily="18" charset="0"/>
                <a:cs typeface="Times New Roman" pitchFamily="18" charset="0"/>
              </a:rPr>
              <a:t>                  7 . . .</a:t>
            </a:r>
            <a:endParaRPr lang="bg-BG" sz="1800" b="1">
              <a:latin typeface="Times New Roman" pitchFamily="18" charset="0"/>
              <a:cs typeface="Times New Roman" pitchFamily="18" charset="0"/>
            </a:endParaRPr>
          </a:p>
        </p:txBody>
      </p:sp>
      <p:sp>
        <p:nvSpPr>
          <p:cNvPr id="4" name="Title 1"/>
          <p:cNvSpPr>
            <a:spLocks noGrp="1"/>
          </p:cNvSpPr>
          <p:nvPr>
            <p:ph type="title"/>
          </p:nvPr>
        </p:nvSpPr>
        <p:spPr>
          <a:xfrm>
            <a:off x="539552" y="0"/>
            <a:ext cx="8229600" cy="854968"/>
          </a:xfrm>
        </p:spPr>
        <p:txBody>
          <a:bodyPr>
            <a:normAutofit/>
          </a:bodyPr>
          <a:lstStyle/>
          <a:p>
            <a:r>
              <a:rPr lang="en-US" sz="4000">
                <a:latin typeface="Times New Roman" pitchFamily="18" charset="0"/>
                <a:cs typeface="Times New Roman" pitchFamily="18" charset="0"/>
              </a:rPr>
              <a:t> </a:t>
            </a:r>
            <a:r>
              <a:rPr lang="ru-RU" sz="4000" err="1">
                <a:latin typeface="Times New Roman" pitchFamily="18" charset="0"/>
                <a:cs typeface="Times New Roman" pitchFamily="18" charset="0"/>
              </a:rPr>
              <a:t>Програми</a:t>
            </a:r>
            <a:r>
              <a:rPr lang="ru-RU" sz="4000">
                <a:latin typeface="Times New Roman" pitchFamily="18" charset="0"/>
                <a:cs typeface="Times New Roman" pitchFamily="18" charset="0"/>
              </a:rPr>
              <a:t> с цикли. </a:t>
            </a:r>
            <a:endParaRPr lang="bg-BG" sz="4000" b="1"/>
          </a:p>
        </p:txBody>
      </p:sp>
    </p:spTree>
    <p:extLst>
      <p:ext uri="{BB962C8B-B14F-4D97-AF65-F5344CB8AC3E}">
        <p14:creationId xmlns:p14="http://schemas.microsoft.com/office/powerpoint/2010/main" val="34374659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01" y="1124744"/>
            <a:ext cx="8928992" cy="5976664"/>
          </a:xfrm>
        </p:spPr>
        <p:txBody>
          <a:bodyPr vert="horz" lIns="91440" tIns="45720" rIns="91440" bIns="45720" anchor="t">
            <a:noAutofit/>
          </a:bodyPr>
          <a:lstStyle/>
          <a:p>
            <a:pPr algn="just">
              <a:lnSpc>
                <a:spcPct val="143061"/>
              </a:lnSpc>
              <a:spcBef>
                <a:spcPts val="0"/>
              </a:spcBef>
            </a:pPr>
            <a:r>
              <a:rPr lang="en-US" sz="1800" b="1">
                <a:latin typeface="Times New Roman" pitchFamily="18" charset="0"/>
                <a:cs typeface="Times New Roman" pitchFamily="18" charset="0"/>
              </a:rPr>
              <a:t>ARM</a:t>
            </a:r>
            <a:r>
              <a:rPr lang="bg-BG" sz="1800" b="1">
                <a:latin typeface="Times New Roman" pitchFamily="18" charset="0"/>
                <a:cs typeface="Times New Roman" pitchFamily="18" charset="0"/>
              </a:rPr>
              <a:t> процесор.</a:t>
            </a:r>
            <a:endParaRPr lang="en-US" sz="1800" b="1">
              <a:latin typeface="Times New Roman" pitchFamily="18" charset="0"/>
              <a:cs typeface="Times New Roman" pitchFamily="18" charset="0"/>
            </a:endParaRPr>
          </a:p>
          <a:p>
            <a:pPr algn="just">
              <a:lnSpc>
                <a:spcPct val="111587"/>
              </a:lnSpc>
              <a:spcBef>
                <a:spcPts val="0"/>
              </a:spcBef>
            </a:pPr>
            <a:r>
              <a:rPr lang="bg-BG" sz="2000">
                <a:latin typeface="Times New Roman" pitchFamily="18" charset="0"/>
                <a:cs typeface="Times New Roman" pitchFamily="18" charset="0"/>
              </a:rPr>
              <a:t>Цикъл със </a:t>
            </a:r>
            <a:r>
              <a:rPr lang="bg-BG" sz="2000" err="1">
                <a:latin typeface="Times New Roman" pitchFamily="18" charset="0"/>
                <a:cs typeface="Times New Roman" pitchFamily="18" charset="0"/>
              </a:rPr>
              <a:t>следусловие</a:t>
            </a:r>
            <a:r>
              <a:rPr lang="bg-BG" sz="2000">
                <a:latin typeface="Times New Roman" pitchFamily="18" charset="0"/>
                <a:cs typeface="Times New Roman" pitchFamily="18" charset="0"/>
              </a:rPr>
              <a:t>, </a:t>
            </a:r>
            <a:r>
              <a:rPr lang="ru-RU" sz="2000" err="1">
                <a:latin typeface="Times New Roman" pitchFamily="18" charset="0"/>
                <a:cs typeface="Times New Roman" pitchFamily="18" charset="0"/>
              </a:rPr>
              <a:t>тестът</a:t>
            </a:r>
            <a:r>
              <a:rPr lang="ru-RU" sz="2000">
                <a:latin typeface="Times New Roman" pitchFamily="18" charset="0"/>
                <a:cs typeface="Times New Roman" pitchFamily="18" charset="0"/>
              </a:rPr>
              <a:t> се </a:t>
            </a:r>
            <a:r>
              <a:rPr lang="ru-RU" sz="2000" err="1">
                <a:latin typeface="Times New Roman" pitchFamily="18" charset="0"/>
                <a:cs typeface="Times New Roman" pitchFamily="18" charset="0"/>
              </a:rPr>
              <a:t>извършва</a:t>
            </a:r>
            <a:r>
              <a:rPr lang="ru-RU" sz="2000">
                <a:latin typeface="Times New Roman" pitchFamily="18" charset="0"/>
                <a:cs typeface="Times New Roman" pitchFamily="18" charset="0"/>
              </a:rPr>
              <a:t> след </a:t>
            </a:r>
            <a:r>
              <a:rPr lang="ru-RU" sz="2000" err="1">
                <a:latin typeface="Times New Roman" pitchFamily="18" charset="0"/>
                <a:cs typeface="Times New Roman" pitchFamily="18" charset="0"/>
              </a:rPr>
              <a:t>изпълнение</a:t>
            </a:r>
            <a:r>
              <a:rPr lang="ru-RU" sz="2000">
                <a:latin typeface="Times New Roman" pitchFamily="18" charset="0"/>
                <a:cs typeface="Times New Roman" pitchFamily="18" charset="0"/>
              </a:rPr>
              <a:t> на </a:t>
            </a:r>
            <a:r>
              <a:rPr lang="ru-RU" sz="2000" err="1">
                <a:latin typeface="Times New Roman" pitchFamily="18" charset="0"/>
                <a:cs typeface="Times New Roman" pitchFamily="18" charset="0"/>
              </a:rPr>
              <a:t>тялото</a:t>
            </a:r>
            <a:r>
              <a:rPr lang="ru-RU" sz="2000">
                <a:latin typeface="Times New Roman" pitchFamily="18" charset="0"/>
                <a:cs typeface="Times New Roman" pitchFamily="18" charset="0"/>
              </a:rPr>
              <a:t> на </a:t>
            </a:r>
            <a:r>
              <a:rPr lang="ru-RU" sz="2000" err="1">
                <a:latin typeface="Times New Roman" pitchFamily="18" charset="0"/>
                <a:cs typeface="Times New Roman" pitchFamily="18" charset="0"/>
              </a:rPr>
              <a:t>цикъла</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Ако</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условието</a:t>
            </a:r>
            <a:r>
              <a:rPr lang="ru-RU" sz="2000">
                <a:latin typeface="Times New Roman" pitchFamily="18" charset="0"/>
                <a:cs typeface="Times New Roman" pitchFamily="18" charset="0"/>
              </a:rPr>
              <a:t> се </a:t>
            </a:r>
            <a:r>
              <a:rPr lang="ru-RU" sz="2000" err="1">
                <a:latin typeface="Times New Roman" pitchFamily="18" charset="0"/>
                <a:cs typeface="Times New Roman" pitchFamily="18" charset="0"/>
              </a:rPr>
              <a:t>изчисли</a:t>
            </a:r>
            <a:r>
              <a:rPr lang="ru-RU" sz="2000">
                <a:latin typeface="Times New Roman" pitchFamily="18" charset="0"/>
                <a:cs typeface="Times New Roman" pitchFamily="18" charset="0"/>
              </a:rPr>
              <a:t> като </a:t>
            </a:r>
            <a:r>
              <a:rPr lang="en-US" sz="2000">
                <a:latin typeface="Times New Roman" pitchFamily="18" charset="0"/>
                <a:cs typeface="Times New Roman" pitchFamily="18" charset="0"/>
              </a:rPr>
              <a:t>true</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тогава</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изпълнението</a:t>
            </a:r>
            <a:r>
              <a:rPr lang="ru-RU" sz="2000">
                <a:latin typeface="Times New Roman" pitchFamily="18" charset="0"/>
                <a:cs typeface="Times New Roman" pitchFamily="18" charset="0"/>
              </a:rPr>
              <a:t> се </a:t>
            </a:r>
            <a:r>
              <a:rPr lang="ru-RU" sz="2000" err="1">
                <a:latin typeface="Times New Roman" pitchFamily="18" charset="0"/>
                <a:cs typeface="Times New Roman" pitchFamily="18" charset="0"/>
              </a:rPr>
              <a:t>разклонява</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към</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първата</a:t>
            </a:r>
            <a:r>
              <a:rPr lang="ru-RU" sz="2000">
                <a:latin typeface="Times New Roman" pitchFamily="18" charset="0"/>
                <a:cs typeface="Times New Roman" pitchFamily="18" charset="0"/>
              </a:rPr>
              <a:t> инструкция в </a:t>
            </a:r>
            <a:r>
              <a:rPr lang="ru-RU" sz="2000" err="1">
                <a:latin typeface="Times New Roman" pitchFamily="18" charset="0"/>
                <a:cs typeface="Times New Roman" pitchFamily="18" charset="0"/>
              </a:rPr>
              <a:t>тялото</a:t>
            </a:r>
            <a:r>
              <a:rPr lang="ru-RU" sz="2000">
                <a:latin typeface="Times New Roman" pitchFamily="18" charset="0"/>
                <a:cs typeface="Times New Roman" pitchFamily="18" charset="0"/>
              </a:rPr>
              <a:t> на </a:t>
            </a:r>
            <a:r>
              <a:rPr lang="ru-RU" sz="2000" err="1">
                <a:latin typeface="Times New Roman" pitchFamily="18" charset="0"/>
                <a:cs typeface="Times New Roman" pitchFamily="18" charset="0"/>
              </a:rPr>
              <a:t>цикъла</a:t>
            </a:r>
            <a:r>
              <a:rPr lang="ru-RU" sz="2000">
                <a:latin typeface="Times New Roman" pitchFamily="18" charset="0"/>
                <a:cs typeface="Times New Roman" pitchFamily="18" charset="0"/>
              </a:rPr>
              <a:t>. В противен случай </a:t>
            </a:r>
            <a:r>
              <a:rPr lang="ru-RU" sz="2000" err="1">
                <a:latin typeface="Times New Roman" pitchFamily="18" charset="0"/>
                <a:cs typeface="Times New Roman" pitchFamily="18" charset="0"/>
              </a:rPr>
              <a:t>изпълнението</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продължава</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последователно</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Повечето</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структурирани</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езици</a:t>
            </a:r>
            <a:r>
              <a:rPr lang="ru-RU" sz="2000">
                <a:latin typeface="Times New Roman" pitchFamily="18" charset="0"/>
                <a:cs typeface="Times New Roman" pitchFamily="18" charset="0"/>
              </a:rPr>
              <a:t> за </a:t>
            </a:r>
            <a:r>
              <a:rPr lang="ru-RU" sz="2000" err="1">
                <a:latin typeface="Times New Roman" pitchFamily="18" charset="0"/>
                <a:cs typeface="Times New Roman" pitchFamily="18" charset="0"/>
              </a:rPr>
              <a:t>програмиране</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имат</a:t>
            </a:r>
            <a:r>
              <a:rPr lang="ru-RU" sz="2000">
                <a:latin typeface="Times New Roman" pitchFamily="18" charset="0"/>
                <a:cs typeface="Times New Roman" pitchFamily="18" charset="0"/>
              </a:rPr>
              <a:t> конструкция на </a:t>
            </a:r>
            <a:r>
              <a:rPr lang="ru-RU" sz="2000" err="1">
                <a:latin typeface="Times New Roman" pitchFamily="18" charset="0"/>
                <a:cs typeface="Times New Roman" pitchFamily="18" charset="0"/>
              </a:rPr>
              <a:t>цикъл</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със</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следусловие</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Тялото</a:t>
            </a:r>
            <a:r>
              <a:rPr lang="ru-RU" sz="2000">
                <a:latin typeface="Times New Roman" pitchFamily="18" charset="0"/>
                <a:cs typeface="Times New Roman" pitchFamily="18" charset="0"/>
              </a:rPr>
              <a:t> на </a:t>
            </a:r>
            <a:r>
              <a:rPr lang="ru-RU" sz="2000" err="1">
                <a:latin typeface="Times New Roman" pitchFamily="18" charset="0"/>
                <a:cs typeface="Times New Roman" pitchFamily="18" charset="0"/>
              </a:rPr>
              <a:t>такъв</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цикъл</a:t>
            </a:r>
            <a:r>
              <a:rPr lang="ru-RU" sz="2000">
                <a:latin typeface="Times New Roman" pitchFamily="18" charset="0"/>
                <a:cs typeface="Times New Roman" pitchFamily="18" charset="0"/>
              </a:rPr>
              <a:t>  винаги </a:t>
            </a:r>
            <a:r>
              <a:rPr lang="ru-RU" sz="2000" err="1">
                <a:latin typeface="Times New Roman" pitchFamily="18" charset="0"/>
                <a:cs typeface="Times New Roman" pitchFamily="18" charset="0"/>
              </a:rPr>
              <a:t>ще</a:t>
            </a:r>
            <a:r>
              <a:rPr lang="ru-RU" sz="2000">
                <a:latin typeface="Times New Roman" pitchFamily="18" charset="0"/>
                <a:cs typeface="Times New Roman" pitchFamily="18" charset="0"/>
              </a:rPr>
              <a:t> се </a:t>
            </a:r>
            <a:r>
              <a:rPr lang="ru-RU" sz="2000" err="1">
                <a:latin typeface="Times New Roman" pitchFamily="18" charset="0"/>
                <a:cs typeface="Times New Roman" pitchFamily="18" charset="0"/>
              </a:rPr>
              <a:t>изпълнява</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поне</a:t>
            </a:r>
            <a:r>
              <a:rPr lang="ru-RU" sz="2000">
                <a:latin typeface="Times New Roman" pitchFamily="18" charset="0"/>
                <a:cs typeface="Times New Roman" pitchFamily="18" charset="0"/>
              </a:rPr>
              <a:t> </a:t>
            </a:r>
            <a:r>
              <a:rPr lang="ru-RU" sz="2000" err="1">
                <a:latin typeface="Times New Roman" pitchFamily="18" charset="0"/>
                <a:cs typeface="Times New Roman" pitchFamily="18" charset="0"/>
              </a:rPr>
              <a:t>веднъж</a:t>
            </a:r>
            <a:r>
              <a:rPr lang="ru-RU" sz="2000">
                <a:latin typeface="Times New Roman" pitchFamily="18" charset="0"/>
                <a:cs typeface="Times New Roman" pitchFamily="18" charset="0"/>
              </a:rPr>
              <a:t>.</a:t>
            </a:r>
          </a:p>
          <a:p>
            <a:pPr algn="just">
              <a:lnSpc>
                <a:spcPct val="111587"/>
              </a:lnSpc>
              <a:spcBef>
                <a:spcPts val="0"/>
              </a:spcBef>
            </a:pPr>
            <a:endParaRPr lang="bg-BG" sz="2000">
              <a:latin typeface="Times New Roman" pitchFamily="18" charset="0"/>
              <a:cs typeface="Times New Roman" pitchFamily="18" charset="0"/>
            </a:endParaRPr>
          </a:p>
          <a:p>
            <a:pPr algn="just">
              <a:lnSpc>
                <a:spcPct val="111587"/>
              </a:lnSpc>
              <a:spcBef>
                <a:spcPts val="0"/>
              </a:spcBef>
            </a:pPr>
            <a:r>
              <a:rPr lang="bg-BG" sz="2000">
                <a:latin typeface="Times New Roman" pitchFamily="18" charset="0"/>
                <a:cs typeface="Times New Roman" pitchFamily="18" charset="0"/>
              </a:rPr>
              <a:t>1 	</a:t>
            </a:r>
            <a:r>
              <a:rPr lang="en-US" sz="2000">
                <a:latin typeface="Times New Roman" pitchFamily="18" charset="0"/>
                <a:cs typeface="Times New Roman" pitchFamily="18" charset="0"/>
              </a:rPr>
              <a:t>loop:</a:t>
            </a:r>
            <a:r>
              <a:rPr lang="bg-BG" sz="2000">
                <a:latin typeface="Times New Roman" pitchFamily="18" charset="0"/>
                <a:cs typeface="Times New Roman" pitchFamily="18" charset="0"/>
              </a:rPr>
              <a:t> </a:t>
            </a:r>
            <a:r>
              <a:rPr lang="en-US" sz="2000">
                <a:latin typeface="Times New Roman" pitchFamily="18" charset="0"/>
                <a:cs typeface="Times New Roman" pitchFamily="18" charset="0"/>
              </a:rPr>
              <a:t>. . .</a:t>
            </a:r>
          </a:p>
          <a:p>
            <a:pPr algn="just">
              <a:lnSpc>
                <a:spcPct val="111587"/>
              </a:lnSpc>
              <a:spcBef>
                <a:spcPts val="0"/>
              </a:spcBef>
            </a:pPr>
            <a:r>
              <a:rPr lang="en-US" sz="2000">
                <a:latin typeface="Times New Roman" pitchFamily="18" charset="0"/>
                <a:cs typeface="Times New Roman" pitchFamily="18" charset="0"/>
              </a:rPr>
              <a:t>2</a:t>
            </a:r>
            <a:r>
              <a:rPr lang="bg-BG" sz="2000">
                <a:latin typeface="Times New Roman" pitchFamily="18" charset="0"/>
                <a:cs typeface="Times New Roman" pitchFamily="18" charset="0"/>
              </a:rPr>
              <a:t> 	</a:t>
            </a:r>
            <a:r>
              <a:rPr lang="en-US" sz="2000">
                <a:latin typeface="Times New Roman" pitchFamily="18" charset="0"/>
                <a:cs typeface="Times New Roman" pitchFamily="18" charset="0"/>
              </a:rPr>
              <a:t>. . . </a:t>
            </a:r>
            <a:r>
              <a:rPr lang="bg-BG" sz="2000">
                <a:latin typeface="Times New Roman" pitchFamily="18" charset="0"/>
                <a:cs typeface="Times New Roman" pitchFamily="18" charset="0"/>
              </a:rPr>
              <a:t>       		  ;</a:t>
            </a:r>
            <a:r>
              <a:rPr lang="en-US" sz="2000">
                <a:latin typeface="Times New Roman" pitchFamily="18" charset="0"/>
                <a:cs typeface="Times New Roman" pitchFamily="18" charset="0"/>
              </a:rPr>
              <a:t> body of loop </a:t>
            </a:r>
            <a:endParaRPr lang="bg-BG" sz="2000">
              <a:latin typeface="Times New Roman" pitchFamily="18" charset="0"/>
              <a:cs typeface="Times New Roman" pitchFamily="18" charset="0"/>
            </a:endParaRPr>
          </a:p>
          <a:p>
            <a:pPr algn="just">
              <a:lnSpc>
                <a:spcPct val="111587"/>
              </a:lnSpc>
              <a:spcBef>
                <a:spcPts val="0"/>
              </a:spcBef>
            </a:pPr>
            <a:r>
              <a:rPr lang="en-US" sz="2000">
                <a:latin typeface="Times New Roman" pitchFamily="18" charset="0"/>
                <a:cs typeface="Times New Roman" pitchFamily="18" charset="0"/>
              </a:rPr>
              <a:t>3 </a:t>
            </a:r>
            <a:r>
              <a:rPr lang="bg-BG" sz="2000">
                <a:latin typeface="Times New Roman" pitchFamily="18" charset="0"/>
                <a:cs typeface="Times New Roman" pitchFamily="18" charset="0"/>
              </a:rPr>
              <a:t>	</a:t>
            </a:r>
            <a:r>
              <a:rPr lang="en-US" sz="2000" err="1">
                <a:latin typeface="Times New Roman" pitchFamily="18" charset="0"/>
                <a:cs typeface="Times New Roman" pitchFamily="18" charset="0"/>
              </a:rPr>
              <a:t>cmp</a:t>
            </a:r>
            <a:r>
              <a:rPr lang="en-US" sz="2000">
                <a:latin typeface="Times New Roman" pitchFamily="18" charset="0"/>
                <a:cs typeface="Times New Roman" pitchFamily="18" charset="0"/>
              </a:rPr>
              <a:t> r0, r1 </a:t>
            </a:r>
            <a:r>
              <a:rPr lang="bg-BG" sz="2000">
                <a:latin typeface="Times New Roman" pitchFamily="18" charset="0"/>
                <a:cs typeface="Times New Roman" pitchFamily="18" charset="0"/>
              </a:rPr>
              <a:t>	  ;</a:t>
            </a:r>
            <a:r>
              <a:rPr lang="en-US" sz="2000">
                <a:latin typeface="Times New Roman" pitchFamily="18" charset="0"/>
                <a:cs typeface="Times New Roman" pitchFamily="18" charset="0"/>
              </a:rPr>
              <a:t>perform loop test </a:t>
            </a:r>
            <a:endParaRPr lang="bg-BG" sz="2000">
              <a:latin typeface="Times New Roman" pitchFamily="18" charset="0"/>
              <a:cs typeface="Times New Roman" pitchFamily="18" charset="0"/>
            </a:endParaRPr>
          </a:p>
          <a:p>
            <a:pPr algn="just">
              <a:lnSpc>
                <a:spcPct val="111587"/>
              </a:lnSpc>
              <a:spcBef>
                <a:spcPts val="0"/>
              </a:spcBef>
            </a:pPr>
            <a:r>
              <a:rPr lang="en-US" sz="2000">
                <a:latin typeface="Times New Roman" pitchFamily="18" charset="0"/>
                <a:cs typeface="Times New Roman" pitchFamily="18" charset="0"/>
              </a:rPr>
              <a:t>4 </a:t>
            </a:r>
            <a:r>
              <a:rPr lang="bg-BG" sz="2000">
                <a:latin typeface="Times New Roman" pitchFamily="18" charset="0"/>
                <a:cs typeface="Times New Roman" pitchFamily="18" charset="0"/>
              </a:rPr>
              <a:t>	</a:t>
            </a:r>
            <a:r>
              <a:rPr lang="en-US" sz="2000" err="1">
                <a:latin typeface="Times New Roman" pitchFamily="18" charset="0"/>
                <a:cs typeface="Times New Roman" pitchFamily="18" charset="0"/>
              </a:rPr>
              <a:t>blt</a:t>
            </a:r>
            <a:r>
              <a:rPr lang="en-US" sz="2000">
                <a:latin typeface="Times New Roman" pitchFamily="18" charset="0"/>
                <a:cs typeface="Times New Roman" pitchFamily="18" charset="0"/>
              </a:rPr>
              <a:t> loop </a:t>
            </a:r>
            <a:r>
              <a:rPr lang="bg-BG" sz="2000">
                <a:latin typeface="Times New Roman" pitchFamily="18" charset="0"/>
                <a:cs typeface="Times New Roman" pitchFamily="18" charset="0"/>
              </a:rPr>
              <a:t>		  ;</a:t>
            </a:r>
            <a:r>
              <a:rPr lang="en-US" sz="2000">
                <a:latin typeface="Times New Roman" pitchFamily="18" charset="0"/>
                <a:cs typeface="Times New Roman" pitchFamily="18" charset="0"/>
              </a:rPr>
              <a:t>repeat loop if r0 &lt; r1</a:t>
            </a:r>
          </a:p>
          <a:p>
            <a:pPr algn="just">
              <a:lnSpc>
                <a:spcPct val="111587"/>
              </a:lnSpc>
              <a:spcBef>
                <a:spcPts val="0"/>
              </a:spcBef>
            </a:pPr>
            <a:r>
              <a:rPr lang="en-US" sz="2000">
                <a:latin typeface="Times New Roman" pitchFamily="18" charset="0"/>
                <a:cs typeface="Times New Roman" pitchFamily="18" charset="0"/>
              </a:rPr>
              <a:t>5</a:t>
            </a:r>
            <a:r>
              <a:rPr lang="bg-BG" sz="2000">
                <a:latin typeface="Times New Roman" pitchFamily="18" charset="0"/>
                <a:cs typeface="Times New Roman" pitchFamily="18" charset="0"/>
              </a:rPr>
              <a:t> 	</a:t>
            </a:r>
            <a:r>
              <a:rPr lang="en-US" sz="2000">
                <a:latin typeface="Times New Roman" pitchFamily="18" charset="0"/>
                <a:cs typeface="Times New Roman" pitchFamily="18" charset="0"/>
              </a:rPr>
              <a:t>. . .</a:t>
            </a:r>
          </a:p>
          <a:p>
            <a:pPr algn="just">
              <a:spcBef>
                <a:spcPts val="0"/>
              </a:spcBef>
            </a:pPr>
            <a:endParaRPr lang="ru-RU" sz="1800">
              <a:latin typeface="Times New Roman" pitchFamily="18" charset="0"/>
              <a:cs typeface="Times New Roman" pitchFamily="18" charset="0"/>
            </a:endParaRPr>
          </a:p>
        </p:txBody>
      </p:sp>
      <p:sp>
        <p:nvSpPr>
          <p:cNvPr id="4" name="Title 1"/>
          <p:cNvSpPr>
            <a:spLocks noGrp="1"/>
          </p:cNvSpPr>
          <p:nvPr>
            <p:ph type="title"/>
          </p:nvPr>
        </p:nvSpPr>
        <p:spPr>
          <a:xfrm>
            <a:off x="539552" y="269776"/>
            <a:ext cx="8229600" cy="854968"/>
          </a:xfrm>
        </p:spPr>
        <p:txBody>
          <a:bodyPr>
            <a:normAutofit/>
          </a:bodyPr>
          <a:lstStyle/>
          <a:p>
            <a:r>
              <a:rPr lang="en-US" sz="4000">
                <a:latin typeface="Times New Roman" pitchFamily="18" charset="0"/>
                <a:cs typeface="Times New Roman" pitchFamily="18" charset="0"/>
              </a:rPr>
              <a:t> </a:t>
            </a:r>
            <a:r>
              <a:rPr lang="ru-RU" sz="4000" err="1">
                <a:latin typeface="Times New Roman" pitchFamily="18" charset="0"/>
                <a:cs typeface="Times New Roman" pitchFamily="18" charset="0"/>
              </a:rPr>
              <a:t>Програми</a:t>
            </a:r>
            <a:r>
              <a:rPr lang="ru-RU" sz="4000">
                <a:latin typeface="Times New Roman" pitchFamily="18" charset="0"/>
                <a:cs typeface="Times New Roman" pitchFamily="18" charset="0"/>
              </a:rPr>
              <a:t> с цикли. </a:t>
            </a:r>
            <a:endParaRPr lang="bg-BG" sz="4000" b="1"/>
          </a:p>
        </p:txBody>
      </p:sp>
    </p:spTree>
    <p:extLst>
      <p:ext uri="{BB962C8B-B14F-4D97-AF65-F5344CB8AC3E}">
        <p14:creationId xmlns:p14="http://schemas.microsoft.com/office/powerpoint/2010/main" val="610758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016" y="1043608"/>
            <a:ext cx="8605464" cy="5570975"/>
          </a:xfrm>
        </p:spPr>
        <p:txBody>
          <a:bodyPr vert="horz" lIns="91440" tIns="45720" rIns="91440" bIns="45720" anchor="t">
            <a:noAutofit/>
          </a:bodyPr>
          <a:lstStyle/>
          <a:p>
            <a:pPr algn="just">
              <a:lnSpc>
                <a:spcPct val="122624"/>
              </a:lnSpc>
              <a:spcBef>
                <a:spcPts val="0"/>
              </a:spcBef>
            </a:pPr>
            <a:endParaRPr lang="en-US" sz="2100">
              <a:latin typeface="Times New Roman" pitchFamily="18" charset="0"/>
              <a:cs typeface="Times New Roman" pitchFamily="18" charset="0"/>
            </a:endParaRPr>
          </a:p>
          <a:p>
            <a:pPr algn="just">
              <a:lnSpc>
                <a:spcPct val="122624"/>
              </a:lnSpc>
              <a:spcBef>
                <a:spcPts val="0"/>
              </a:spcBef>
            </a:pPr>
            <a:endParaRPr lang="en-US" sz="2100">
              <a:latin typeface="Times New Roman" pitchFamily="18" charset="0"/>
              <a:cs typeface="Times New Roman" pitchFamily="18" charset="0"/>
            </a:endParaRPr>
          </a:p>
          <a:p>
            <a:pPr algn="just">
              <a:lnSpc>
                <a:spcPct val="122624"/>
              </a:lnSpc>
              <a:spcBef>
                <a:spcPts val="0"/>
              </a:spcBef>
            </a:pPr>
            <a:endParaRPr lang="en-US" sz="2100">
              <a:latin typeface="Times New Roman" pitchFamily="18" charset="0"/>
              <a:cs typeface="Times New Roman" pitchFamily="18" charset="0"/>
            </a:endParaRPr>
          </a:p>
          <a:p>
            <a:pPr algn="just">
              <a:lnSpc>
                <a:spcPct val="122624"/>
              </a:lnSpc>
              <a:spcBef>
                <a:spcPts val="0"/>
              </a:spcBef>
            </a:pPr>
            <a:endParaRPr lang="en-US" sz="2100">
              <a:latin typeface="Times New Roman" pitchFamily="18" charset="0"/>
              <a:cs typeface="Times New Roman" pitchFamily="18" charset="0"/>
            </a:endParaRPr>
          </a:p>
          <a:p>
            <a:pPr marL="0" indent="0" algn="just">
              <a:lnSpc>
                <a:spcPct val="99042"/>
              </a:lnSpc>
              <a:spcBef>
                <a:spcPts val="0"/>
              </a:spcBef>
              <a:buNone/>
            </a:pPr>
            <a:r>
              <a:rPr lang="bg-BG" b="1">
                <a:latin typeface="Times New Roman" pitchFamily="18" charset="0"/>
                <a:cs typeface="Times New Roman" pitchFamily="18" charset="0"/>
              </a:rPr>
              <a:t>Задача</a:t>
            </a:r>
            <a:r>
              <a:rPr lang="en-US" b="1">
                <a:latin typeface="Times New Roman" pitchFamily="18" charset="0"/>
                <a:cs typeface="Times New Roman" pitchFamily="18" charset="0"/>
              </a:rPr>
              <a:t> 1</a:t>
            </a:r>
            <a:r>
              <a:rPr lang="bg-BG" b="1">
                <a:latin typeface="Times New Roman" pitchFamily="18" charset="0"/>
                <a:cs typeface="Times New Roman" pitchFamily="18" charset="0"/>
              </a:rPr>
              <a:t>. Пресметнете сумата от елементите на масива А</a:t>
            </a:r>
            <a:r>
              <a:rPr lang="en-US" b="1">
                <a:latin typeface="Times New Roman" pitchFamily="18" charset="0"/>
                <a:cs typeface="Times New Roman" pitchFamily="18" charset="0"/>
              </a:rPr>
              <a:t>[N],</a:t>
            </a:r>
            <a:r>
              <a:rPr lang="bg-BG" b="1">
                <a:latin typeface="Times New Roman" pitchFamily="18" charset="0"/>
                <a:cs typeface="Times New Roman" pitchFamily="18" charset="0"/>
              </a:rPr>
              <a:t> който има 10 -  32</a:t>
            </a:r>
            <a:r>
              <a:rPr lang="en-US" b="1">
                <a:latin typeface="Times New Roman" pitchFamily="18" charset="0"/>
                <a:cs typeface="Times New Roman" pitchFamily="18" charset="0"/>
              </a:rPr>
              <a:t>b </a:t>
            </a:r>
            <a:r>
              <a:rPr lang="bg-BG" b="1">
                <a:latin typeface="Times New Roman" pitchFamily="18" charset="0"/>
                <a:cs typeface="Times New Roman" pitchFamily="18" charset="0"/>
              </a:rPr>
              <a:t>елемента записани в паметта. </a:t>
            </a:r>
            <a:r>
              <a:rPr lang="en-US" b="1">
                <a:latin typeface="Times New Roman" pitchFamily="18" charset="0"/>
                <a:cs typeface="Times New Roman" pitchFamily="18" charset="0"/>
              </a:rPr>
              <a:t>Sum – </a:t>
            </a:r>
            <a:r>
              <a:rPr lang="bg-BG" b="1">
                <a:latin typeface="Times New Roman" pitchFamily="18" charset="0"/>
                <a:cs typeface="Times New Roman" pitchFamily="18" charset="0"/>
              </a:rPr>
              <a:t>сумата е с размер 32</a:t>
            </a:r>
            <a:r>
              <a:rPr lang="en-US" b="1">
                <a:latin typeface="Times New Roman" pitchFamily="18" charset="0"/>
                <a:cs typeface="Times New Roman" pitchFamily="18" charset="0"/>
              </a:rPr>
              <a:t>b</a:t>
            </a:r>
          </a:p>
          <a:p>
            <a:pPr marL="0" indent="0" algn="just">
              <a:lnSpc>
                <a:spcPct val="122624"/>
              </a:lnSpc>
              <a:spcBef>
                <a:spcPts val="0"/>
              </a:spcBef>
              <a:buNone/>
            </a:pPr>
            <a:endParaRPr lang="en-US" sz="2100">
              <a:latin typeface="Times New Roman" pitchFamily="18" charset="0"/>
              <a:cs typeface="Times New Roman" pitchFamily="18" charset="0"/>
            </a:endParaRPr>
          </a:p>
        </p:txBody>
      </p:sp>
      <p:sp>
        <p:nvSpPr>
          <p:cNvPr id="4" name="Title 1"/>
          <p:cNvSpPr>
            <a:spLocks noGrp="1"/>
          </p:cNvSpPr>
          <p:nvPr>
            <p:ph type="title"/>
          </p:nvPr>
        </p:nvSpPr>
        <p:spPr>
          <a:xfrm>
            <a:off x="493204" y="188640"/>
            <a:ext cx="8229600" cy="854968"/>
          </a:xfrm>
        </p:spPr>
        <p:txBody>
          <a:bodyPr>
            <a:normAutofit/>
          </a:bodyPr>
          <a:lstStyle/>
          <a:p>
            <a:r>
              <a:rPr lang="en-US" sz="4000">
                <a:latin typeface="Times New Roman" pitchFamily="18" charset="0"/>
                <a:cs typeface="Times New Roman" pitchFamily="18" charset="0"/>
              </a:rPr>
              <a:t> </a:t>
            </a:r>
            <a:endParaRPr lang="bg-BG" sz="4000" b="1"/>
          </a:p>
        </p:txBody>
      </p:sp>
    </p:spTree>
    <p:extLst>
      <p:ext uri="{BB962C8B-B14F-4D97-AF65-F5344CB8AC3E}">
        <p14:creationId xmlns:p14="http://schemas.microsoft.com/office/powerpoint/2010/main" val="36634133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8352" y="88730"/>
            <a:ext cx="8605464" cy="6912768"/>
          </a:xfrm>
        </p:spPr>
        <p:txBody>
          <a:bodyPr vert="horz" lIns="91440" tIns="45720" rIns="91440" bIns="45720" anchor="t">
            <a:noAutofit/>
          </a:bodyPr>
          <a:lstStyle/>
          <a:p>
            <a:pPr marL="0" indent="0" algn="just">
              <a:lnSpc>
                <a:spcPct val="111587"/>
              </a:lnSpc>
              <a:spcBef>
                <a:spcPts val="0"/>
              </a:spcBef>
              <a:buNone/>
            </a:pPr>
            <a:r>
              <a:rPr lang="en-US" sz="2000">
                <a:latin typeface="Times New Roman"/>
                <a:cs typeface="Times New Roman"/>
              </a:rPr>
              <a:t>.486</a:t>
            </a:r>
            <a:endParaRPr lang="en-US">
              <a:latin typeface="Constantia"/>
              <a:cs typeface="Times New Roman"/>
            </a:endParaRPr>
          </a:p>
          <a:p>
            <a:pPr marL="0" indent="0" algn="just">
              <a:lnSpc>
                <a:spcPct val="111587"/>
              </a:lnSpc>
              <a:spcBef>
                <a:spcPts val="0"/>
              </a:spcBef>
              <a:buNone/>
            </a:pPr>
            <a:r>
              <a:rPr lang="en-US" sz="2000">
                <a:latin typeface="Times New Roman"/>
                <a:cs typeface="Times New Roman"/>
              </a:rPr>
              <a:t>	.model </a:t>
            </a:r>
            <a:r>
              <a:rPr lang="en-US" sz="2000" err="1">
                <a:latin typeface="Times New Roman"/>
                <a:cs typeface="Times New Roman"/>
              </a:rPr>
              <a:t>flat,stdcall</a:t>
            </a:r>
            <a:endParaRPr lang="en-US" sz="2000">
              <a:latin typeface="Times New Roman"/>
              <a:cs typeface="Times New Roman"/>
            </a:endParaRPr>
          </a:p>
          <a:p>
            <a:pPr marL="0" indent="0" algn="just">
              <a:lnSpc>
                <a:spcPct val="111587"/>
              </a:lnSpc>
              <a:spcBef>
                <a:spcPts val="0"/>
              </a:spcBef>
              <a:buNone/>
            </a:pPr>
            <a:r>
              <a:rPr lang="en-US" sz="2000">
                <a:latin typeface="Times New Roman"/>
                <a:cs typeface="Times New Roman"/>
              </a:rPr>
              <a:t>	</a:t>
            </a:r>
            <a:r>
              <a:rPr lang="en-US" sz="2000" err="1">
                <a:latin typeface="Times New Roman"/>
                <a:cs typeface="Times New Roman"/>
              </a:rPr>
              <a:t>includelib</a:t>
            </a:r>
            <a:r>
              <a:rPr lang="en-US" sz="2000">
                <a:latin typeface="Times New Roman"/>
                <a:cs typeface="Times New Roman"/>
              </a:rPr>
              <a:t> \masm32\lib\kernel32.lib</a:t>
            </a:r>
            <a:endParaRPr lang="en-US">
              <a:latin typeface="Times New Roman"/>
              <a:cs typeface="Times New Roman"/>
            </a:endParaRPr>
          </a:p>
          <a:p>
            <a:pPr marL="0" indent="0" algn="just">
              <a:lnSpc>
                <a:spcPct val="111587"/>
              </a:lnSpc>
              <a:spcBef>
                <a:spcPts val="0"/>
              </a:spcBef>
              <a:buNone/>
            </a:pPr>
            <a:r>
              <a:rPr lang="en-US" sz="2000">
                <a:latin typeface="Times New Roman"/>
                <a:cs typeface="Times New Roman"/>
              </a:rPr>
              <a:t>	</a:t>
            </a:r>
            <a:r>
              <a:rPr lang="en-US" sz="2000" err="1">
                <a:latin typeface="Times New Roman"/>
                <a:cs typeface="Times New Roman"/>
              </a:rPr>
              <a:t>ExitProcess</a:t>
            </a:r>
            <a:r>
              <a:rPr lang="en-US" sz="2000">
                <a:latin typeface="Times New Roman"/>
                <a:cs typeface="Times New Roman"/>
              </a:rPr>
              <a:t> </a:t>
            </a:r>
            <a:r>
              <a:rPr lang="en-US" sz="2000" err="1">
                <a:latin typeface="Times New Roman"/>
                <a:cs typeface="Times New Roman"/>
              </a:rPr>
              <a:t>proto:DWORD</a:t>
            </a:r>
            <a:endParaRPr lang="en-US" sz="2000">
              <a:latin typeface="Times New Roman"/>
              <a:cs typeface="Times New Roman"/>
            </a:endParaRPr>
          </a:p>
          <a:p>
            <a:pPr marL="0" indent="0" algn="just">
              <a:lnSpc>
                <a:spcPct val="111587"/>
              </a:lnSpc>
              <a:spcBef>
                <a:spcPts val="0"/>
              </a:spcBef>
              <a:buNone/>
            </a:pPr>
            <a:r>
              <a:rPr lang="en-US" sz="2000">
                <a:latin typeface="Times New Roman"/>
                <a:cs typeface="Times New Roman"/>
              </a:rPr>
              <a:t>	.data</a:t>
            </a:r>
            <a:endParaRPr lang="en-US">
              <a:latin typeface="Constantia"/>
              <a:cs typeface="Times New Roman"/>
            </a:endParaRPr>
          </a:p>
          <a:p>
            <a:pPr marL="0" indent="0" algn="just">
              <a:lnSpc>
                <a:spcPct val="111587"/>
              </a:lnSpc>
              <a:spcBef>
                <a:spcPts val="0"/>
              </a:spcBef>
              <a:buNone/>
            </a:pPr>
            <a:r>
              <a:rPr lang="en-US" sz="2000">
                <a:latin typeface="Times New Roman"/>
                <a:cs typeface="Times New Roman"/>
              </a:rPr>
              <a:t>A 	dd 	5,6,7,12,34,78,22,88,99,100</a:t>
            </a:r>
            <a:endParaRPr lang="en-US">
              <a:latin typeface="Times New Roman"/>
              <a:cs typeface="Times New Roman"/>
            </a:endParaRPr>
          </a:p>
          <a:p>
            <a:pPr marL="0" indent="0" algn="just">
              <a:lnSpc>
                <a:spcPct val="111587"/>
              </a:lnSpc>
              <a:spcBef>
                <a:spcPts val="0"/>
              </a:spcBef>
              <a:buNone/>
            </a:pPr>
            <a:r>
              <a:rPr lang="en-US" sz="2000">
                <a:latin typeface="Times New Roman"/>
                <a:cs typeface="Times New Roman"/>
              </a:rPr>
              <a:t>Sum	dd  	0		;Res=451=0x1c3</a:t>
            </a:r>
            <a:endParaRPr lang="en-US">
              <a:latin typeface="Times New Roman"/>
              <a:cs typeface="Times New Roman"/>
            </a:endParaRPr>
          </a:p>
          <a:p>
            <a:pPr marL="0" indent="0" algn="just">
              <a:lnSpc>
                <a:spcPct val="111587"/>
              </a:lnSpc>
              <a:spcBef>
                <a:spcPts val="0"/>
              </a:spcBef>
              <a:buNone/>
            </a:pPr>
            <a:r>
              <a:rPr lang="en-US" sz="2000">
                <a:latin typeface="Times New Roman"/>
                <a:cs typeface="Times New Roman"/>
              </a:rPr>
              <a:t>N	dd	10		;N=10</a:t>
            </a:r>
            <a:endParaRPr lang="en-US">
              <a:latin typeface="Times New Roman"/>
              <a:cs typeface="Times New Roman"/>
            </a:endParaRPr>
          </a:p>
          <a:p>
            <a:pPr marL="0" indent="0" algn="just">
              <a:lnSpc>
                <a:spcPct val="111587"/>
              </a:lnSpc>
              <a:spcBef>
                <a:spcPts val="0"/>
              </a:spcBef>
              <a:buNone/>
            </a:pPr>
            <a:r>
              <a:rPr lang="en-US" sz="2000">
                <a:latin typeface="Times New Roman"/>
                <a:cs typeface="Times New Roman"/>
              </a:rPr>
              <a:t>	.code</a:t>
            </a:r>
            <a:endParaRPr lang="en-US">
              <a:latin typeface="Times New Roman"/>
              <a:cs typeface="Times New Roman"/>
            </a:endParaRPr>
          </a:p>
          <a:p>
            <a:pPr marL="0" indent="0" algn="just">
              <a:lnSpc>
                <a:spcPct val="111587"/>
              </a:lnSpc>
              <a:spcBef>
                <a:spcPts val="0"/>
              </a:spcBef>
              <a:buNone/>
            </a:pPr>
            <a:r>
              <a:rPr lang="en-US" sz="2000">
                <a:latin typeface="Times New Roman"/>
                <a:cs typeface="Times New Roman"/>
              </a:rPr>
              <a:t>start: lea </a:t>
            </a:r>
            <a:r>
              <a:rPr lang="en-US" sz="2000" err="1">
                <a:latin typeface="Times New Roman"/>
                <a:cs typeface="Times New Roman"/>
              </a:rPr>
              <a:t>esi,A</a:t>
            </a:r>
            <a:r>
              <a:rPr lang="en-US" sz="2000">
                <a:latin typeface="Times New Roman"/>
                <a:cs typeface="Times New Roman"/>
              </a:rPr>
              <a:t>		;Load the address of the first element of A</a:t>
            </a:r>
            <a:endParaRPr lang="en-US">
              <a:latin typeface="Times New Roman"/>
              <a:cs typeface="Times New Roman"/>
            </a:endParaRPr>
          </a:p>
          <a:p>
            <a:pPr marL="0" indent="0" algn="just">
              <a:lnSpc>
                <a:spcPct val="111587"/>
              </a:lnSpc>
              <a:spcBef>
                <a:spcPts val="0"/>
              </a:spcBef>
              <a:buNone/>
            </a:pPr>
            <a:r>
              <a:rPr lang="en-US" sz="2000">
                <a:latin typeface="Times New Roman"/>
                <a:cs typeface="Times New Roman"/>
              </a:rPr>
              <a:t>	mov eax,0		;</a:t>
            </a:r>
            <a:r>
              <a:rPr lang="en-US" sz="2000" err="1">
                <a:latin typeface="Times New Roman"/>
                <a:cs typeface="Times New Roman"/>
              </a:rPr>
              <a:t>eax</a:t>
            </a:r>
            <a:r>
              <a:rPr lang="en-US" sz="2000">
                <a:latin typeface="Times New Roman"/>
                <a:cs typeface="Times New Roman"/>
              </a:rPr>
              <a:t>(Current Sum)=0</a:t>
            </a:r>
            <a:endParaRPr lang="en-US">
              <a:latin typeface="Times New Roman"/>
              <a:cs typeface="Times New Roman"/>
            </a:endParaRPr>
          </a:p>
          <a:p>
            <a:pPr marL="0" indent="0" algn="just">
              <a:lnSpc>
                <a:spcPct val="111587"/>
              </a:lnSpc>
              <a:spcBef>
                <a:spcPts val="0"/>
              </a:spcBef>
              <a:buNone/>
            </a:pPr>
            <a:r>
              <a:rPr lang="en-US" sz="2000">
                <a:latin typeface="Times New Roman"/>
                <a:cs typeface="Times New Roman"/>
              </a:rPr>
              <a:t>	mov </a:t>
            </a:r>
            <a:r>
              <a:rPr lang="en-US" sz="2000" err="1">
                <a:latin typeface="Times New Roman"/>
                <a:cs typeface="Times New Roman"/>
              </a:rPr>
              <a:t>ecx,N</a:t>
            </a:r>
            <a:r>
              <a:rPr lang="en-US" sz="2000">
                <a:latin typeface="Times New Roman"/>
                <a:cs typeface="Times New Roman"/>
              </a:rPr>
              <a:t>		;(N)-&gt;</a:t>
            </a:r>
            <a:r>
              <a:rPr lang="en-US" sz="2000" err="1">
                <a:latin typeface="Times New Roman"/>
                <a:cs typeface="Times New Roman"/>
              </a:rPr>
              <a:t>ecx</a:t>
            </a:r>
            <a:endParaRPr lang="en-US" sz="2000">
              <a:latin typeface="Times New Roman"/>
              <a:cs typeface="Times New Roman"/>
            </a:endParaRPr>
          </a:p>
          <a:p>
            <a:pPr marL="0" indent="0" algn="just">
              <a:lnSpc>
                <a:spcPct val="111587"/>
              </a:lnSpc>
              <a:spcBef>
                <a:spcPts val="0"/>
              </a:spcBef>
              <a:buNone/>
            </a:pPr>
            <a:r>
              <a:rPr lang="en-US" sz="2000">
                <a:latin typeface="Times New Roman"/>
                <a:cs typeface="Times New Roman"/>
              </a:rPr>
              <a:t>Next:	 mov </a:t>
            </a:r>
            <a:r>
              <a:rPr lang="en-US" sz="2000" err="1">
                <a:latin typeface="Times New Roman"/>
                <a:cs typeface="Times New Roman"/>
              </a:rPr>
              <a:t>ebx</a:t>
            </a:r>
            <a:r>
              <a:rPr lang="en-US" sz="2000">
                <a:latin typeface="Times New Roman"/>
                <a:cs typeface="Times New Roman"/>
              </a:rPr>
              <a:t>,[</a:t>
            </a:r>
            <a:r>
              <a:rPr lang="en-US" sz="2000" err="1">
                <a:latin typeface="Times New Roman"/>
                <a:cs typeface="Times New Roman"/>
              </a:rPr>
              <a:t>esi</a:t>
            </a:r>
            <a:r>
              <a:rPr lang="en-US" sz="2000">
                <a:latin typeface="Times New Roman"/>
                <a:cs typeface="Times New Roman"/>
              </a:rPr>
              <a:t>]	;</a:t>
            </a:r>
            <a:r>
              <a:rPr lang="en-US" sz="2000" err="1">
                <a:latin typeface="Times New Roman"/>
                <a:cs typeface="Times New Roman"/>
              </a:rPr>
              <a:t>ebx</a:t>
            </a:r>
            <a:r>
              <a:rPr lang="en-US" sz="2000">
                <a:latin typeface="Times New Roman"/>
                <a:cs typeface="Times New Roman"/>
              </a:rPr>
              <a:t>=current element of A</a:t>
            </a:r>
            <a:endParaRPr lang="en-US">
              <a:latin typeface="Times New Roman"/>
              <a:cs typeface="Times New Roman"/>
            </a:endParaRPr>
          </a:p>
          <a:p>
            <a:pPr marL="0" indent="0" algn="just">
              <a:lnSpc>
                <a:spcPct val="111587"/>
              </a:lnSpc>
              <a:spcBef>
                <a:spcPts val="0"/>
              </a:spcBef>
              <a:buNone/>
            </a:pPr>
            <a:r>
              <a:rPr lang="en-US" sz="2000">
                <a:latin typeface="Times New Roman"/>
                <a:cs typeface="Times New Roman"/>
              </a:rPr>
              <a:t>	add </a:t>
            </a:r>
            <a:r>
              <a:rPr lang="en-US" sz="2000" err="1">
                <a:latin typeface="Times New Roman"/>
                <a:cs typeface="Times New Roman"/>
              </a:rPr>
              <a:t>eax,ebx</a:t>
            </a:r>
            <a:r>
              <a:rPr lang="en-US" sz="2000">
                <a:latin typeface="Times New Roman"/>
                <a:cs typeface="Times New Roman"/>
              </a:rPr>
              <a:t>	       ;Add </a:t>
            </a:r>
            <a:r>
              <a:rPr lang="en-US" sz="2000" err="1">
                <a:latin typeface="Times New Roman"/>
                <a:cs typeface="Times New Roman"/>
              </a:rPr>
              <a:t>ebx</a:t>
            </a:r>
            <a:r>
              <a:rPr lang="en-US" sz="2000">
                <a:latin typeface="Times New Roman"/>
                <a:cs typeface="Times New Roman"/>
              </a:rPr>
              <a:t> to sum(</a:t>
            </a:r>
            <a:r>
              <a:rPr lang="en-US" sz="2000" err="1">
                <a:latin typeface="Times New Roman"/>
                <a:cs typeface="Times New Roman"/>
              </a:rPr>
              <a:t>eax</a:t>
            </a:r>
            <a:r>
              <a:rPr lang="en-US" sz="2000">
                <a:latin typeface="Times New Roman"/>
                <a:cs typeface="Times New Roman"/>
              </a:rPr>
              <a:t>)</a:t>
            </a:r>
            <a:endParaRPr lang="en-US">
              <a:latin typeface="Times New Roman"/>
              <a:cs typeface="Times New Roman"/>
            </a:endParaRPr>
          </a:p>
          <a:p>
            <a:pPr marL="0" indent="0" algn="just">
              <a:lnSpc>
                <a:spcPct val="111587"/>
              </a:lnSpc>
              <a:spcBef>
                <a:spcPts val="0"/>
              </a:spcBef>
              <a:buNone/>
            </a:pPr>
            <a:r>
              <a:rPr lang="en-US" sz="2000">
                <a:latin typeface="Times New Roman"/>
                <a:cs typeface="Times New Roman"/>
              </a:rPr>
              <a:t>	add esi,4		;</a:t>
            </a:r>
            <a:r>
              <a:rPr lang="en-US" sz="2000" err="1">
                <a:latin typeface="Times New Roman"/>
                <a:cs typeface="Times New Roman"/>
              </a:rPr>
              <a:t>esi</a:t>
            </a:r>
            <a:r>
              <a:rPr lang="en-US" sz="2000">
                <a:latin typeface="Times New Roman"/>
                <a:cs typeface="Times New Roman"/>
              </a:rPr>
              <a:t>=</a:t>
            </a:r>
            <a:r>
              <a:rPr lang="en-US" sz="2000" err="1">
                <a:latin typeface="Times New Roman"/>
                <a:cs typeface="Times New Roman"/>
              </a:rPr>
              <a:t>Neht</a:t>
            </a:r>
            <a:r>
              <a:rPr lang="en-US" sz="2000">
                <a:latin typeface="Times New Roman"/>
                <a:cs typeface="Times New Roman"/>
              </a:rPr>
              <a:t> element address</a:t>
            </a:r>
            <a:endParaRPr lang="en-US">
              <a:latin typeface="Times New Roman"/>
              <a:cs typeface="Times New Roman"/>
            </a:endParaRPr>
          </a:p>
          <a:p>
            <a:pPr marL="0" indent="0" algn="just">
              <a:lnSpc>
                <a:spcPct val="111587"/>
              </a:lnSpc>
              <a:spcBef>
                <a:spcPts val="0"/>
              </a:spcBef>
              <a:buNone/>
            </a:pPr>
            <a:r>
              <a:rPr lang="en-US" sz="2000">
                <a:latin typeface="Times New Roman"/>
                <a:cs typeface="Times New Roman"/>
              </a:rPr>
              <a:t>	loop Next</a:t>
            </a:r>
            <a:endParaRPr lang="en-US">
              <a:latin typeface="Times New Roman"/>
              <a:cs typeface="Times New Roman"/>
            </a:endParaRPr>
          </a:p>
          <a:p>
            <a:pPr marL="0" indent="0" algn="just">
              <a:lnSpc>
                <a:spcPct val="111587"/>
              </a:lnSpc>
              <a:spcBef>
                <a:spcPts val="0"/>
              </a:spcBef>
              <a:buNone/>
            </a:pPr>
            <a:r>
              <a:rPr lang="en-US" sz="2000">
                <a:latin typeface="Times New Roman"/>
                <a:cs typeface="Times New Roman"/>
              </a:rPr>
              <a:t>	mov </a:t>
            </a:r>
            <a:r>
              <a:rPr lang="en-US" sz="2000" err="1">
                <a:latin typeface="Times New Roman"/>
                <a:cs typeface="Times New Roman"/>
              </a:rPr>
              <a:t>Sum,eax</a:t>
            </a:r>
            <a:r>
              <a:rPr lang="en-US" sz="2000">
                <a:latin typeface="Times New Roman"/>
                <a:cs typeface="Times New Roman"/>
              </a:rPr>
              <a:t>	       ;Store the sum into memory</a:t>
            </a:r>
            <a:endParaRPr lang="en-US">
              <a:latin typeface="Times New Roman"/>
              <a:cs typeface="Times New Roman"/>
            </a:endParaRPr>
          </a:p>
          <a:p>
            <a:pPr marL="0" indent="0" algn="just">
              <a:lnSpc>
                <a:spcPct val="111587"/>
              </a:lnSpc>
              <a:spcBef>
                <a:spcPts val="0"/>
              </a:spcBef>
              <a:buNone/>
            </a:pPr>
            <a:r>
              <a:rPr lang="en-US" sz="2000">
                <a:latin typeface="Times New Roman"/>
                <a:cs typeface="Times New Roman"/>
              </a:rPr>
              <a:t>	invoke ExitProcess,0</a:t>
            </a:r>
            <a:endParaRPr lang="en-US">
              <a:latin typeface="Times New Roman"/>
              <a:cs typeface="Times New Roman"/>
            </a:endParaRPr>
          </a:p>
          <a:p>
            <a:pPr marL="0" indent="0" algn="just">
              <a:lnSpc>
                <a:spcPct val="111587"/>
              </a:lnSpc>
              <a:spcBef>
                <a:spcPts val="0"/>
              </a:spcBef>
              <a:buNone/>
            </a:pPr>
            <a:r>
              <a:rPr lang="en-US" sz="2000">
                <a:latin typeface="Times New Roman"/>
                <a:cs typeface="Times New Roman"/>
              </a:rPr>
              <a:t>	end start</a:t>
            </a:r>
            <a:endParaRPr lang="en-US">
              <a:latin typeface="Times New Roman"/>
              <a:cs typeface="Times New Roman"/>
            </a:endParaRPr>
          </a:p>
          <a:p>
            <a:pPr algn="just">
              <a:lnSpc>
                <a:spcPct val="128755"/>
              </a:lnSpc>
              <a:spcBef>
                <a:spcPts val="0"/>
              </a:spcBef>
            </a:pPr>
            <a:endParaRPr lang="en-US" sz="2000">
              <a:latin typeface="Times New Roman" pitchFamily="18" charset="0"/>
              <a:cs typeface="Times New Roman" pitchFamily="18" charset="0"/>
            </a:endParaRPr>
          </a:p>
          <a:p>
            <a:pPr marL="0" indent="0" algn="just">
              <a:lnSpc>
                <a:spcPct val="128755"/>
              </a:lnSpc>
              <a:spcBef>
                <a:spcPts val="0"/>
              </a:spcBef>
              <a:buNone/>
            </a:pPr>
            <a:endParaRPr lang="en-US" sz="2000">
              <a:latin typeface="Times New Roman" pitchFamily="18" charset="0"/>
              <a:cs typeface="Times New Roman" pitchFamily="18" charset="0"/>
            </a:endParaRPr>
          </a:p>
        </p:txBody>
      </p:sp>
      <p:sp>
        <p:nvSpPr>
          <p:cNvPr id="4" name="Title 1"/>
          <p:cNvSpPr>
            <a:spLocks noGrp="1"/>
          </p:cNvSpPr>
          <p:nvPr>
            <p:ph type="title"/>
          </p:nvPr>
        </p:nvSpPr>
        <p:spPr>
          <a:xfrm>
            <a:off x="493204" y="188640"/>
            <a:ext cx="8229600" cy="854968"/>
          </a:xfrm>
        </p:spPr>
        <p:txBody>
          <a:bodyPr>
            <a:normAutofit/>
          </a:bodyPr>
          <a:lstStyle/>
          <a:p>
            <a:r>
              <a:rPr lang="en-US" sz="4000">
                <a:latin typeface="Times New Roman" pitchFamily="18" charset="0"/>
                <a:cs typeface="Times New Roman" pitchFamily="18" charset="0"/>
              </a:rPr>
              <a:t> </a:t>
            </a:r>
            <a:endParaRPr lang="bg-BG" sz="4000" b="1"/>
          </a:p>
        </p:txBody>
      </p:sp>
    </p:spTree>
    <p:extLst>
      <p:ext uri="{BB962C8B-B14F-4D97-AF65-F5344CB8AC3E}">
        <p14:creationId xmlns:p14="http://schemas.microsoft.com/office/powerpoint/2010/main" val="14031852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67744" y="776900"/>
            <a:ext cx="4536504" cy="5625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878575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016" y="116632"/>
            <a:ext cx="8605464" cy="6696744"/>
          </a:xfrm>
        </p:spPr>
        <p:txBody>
          <a:bodyPr vert="horz" lIns="91440" tIns="45720" rIns="91440" bIns="45720" anchor="t">
            <a:noAutofit/>
          </a:bodyPr>
          <a:lstStyle/>
          <a:p>
            <a:pPr algn="just">
              <a:lnSpc>
                <a:spcPct val="111587"/>
              </a:lnSpc>
              <a:spcBef>
                <a:spcPts val="0"/>
              </a:spcBef>
            </a:pPr>
            <a:r>
              <a:rPr lang="en-US" sz="2000">
                <a:latin typeface="Times New Roman" pitchFamily="18" charset="0"/>
                <a:cs typeface="Times New Roman" pitchFamily="18" charset="0"/>
              </a:rPr>
              <a:t>.text</a:t>
            </a:r>
            <a:endParaRPr lang="en-US"/>
          </a:p>
          <a:p>
            <a:pPr algn="just">
              <a:lnSpc>
                <a:spcPct val="111587"/>
              </a:lnSpc>
              <a:spcBef>
                <a:spcPts val="0"/>
              </a:spcBef>
            </a:pPr>
            <a:r>
              <a:rPr lang="en-US" sz="2000">
                <a:latin typeface="Times New Roman" pitchFamily="18" charset="0"/>
                <a:cs typeface="Times New Roman" pitchFamily="18" charset="0"/>
              </a:rPr>
              <a:t>	.global start</a:t>
            </a:r>
          </a:p>
          <a:p>
            <a:pPr algn="just">
              <a:lnSpc>
                <a:spcPct val="111587"/>
              </a:lnSpc>
              <a:spcBef>
                <a:spcPts val="0"/>
              </a:spcBef>
            </a:pPr>
            <a:r>
              <a:rPr lang="en-US" sz="2000">
                <a:latin typeface="Times New Roman" pitchFamily="18" charset="0"/>
                <a:cs typeface="Times New Roman" pitchFamily="18" charset="0"/>
              </a:rPr>
              <a:t>start:	LDR R0,=A	;Load the address of the first element of the array</a:t>
            </a:r>
          </a:p>
          <a:p>
            <a:pPr algn="just">
              <a:lnSpc>
                <a:spcPct val="111587"/>
              </a:lnSpc>
              <a:spcBef>
                <a:spcPts val="0"/>
              </a:spcBef>
            </a:pPr>
            <a:r>
              <a:rPr lang="en-US" sz="2000">
                <a:latin typeface="Times New Roman" pitchFamily="18" charset="0"/>
                <a:cs typeface="Times New Roman" pitchFamily="18" charset="0"/>
              </a:rPr>
              <a:t>	MOV R1,#0	;R1(Current Sum)=0</a:t>
            </a:r>
          </a:p>
          <a:p>
            <a:pPr algn="just">
              <a:lnSpc>
                <a:spcPct val="111587"/>
              </a:lnSpc>
              <a:spcBef>
                <a:spcPts val="0"/>
              </a:spcBef>
            </a:pPr>
            <a:r>
              <a:rPr lang="en-US" sz="2000">
                <a:latin typeface="Times New Roman" pitchFamily="18" charset="0"/>
                <a:cs typeface="Times New Roman" pitchFamily="18" charset="0"/>
              </a:rPr>
              <a:t>	LDR R2,=N	;R2=Address of the N</a:t>
            </a:r>
          </a:p>
          <a:p>
            <a:pPr algn="just">
              <a:lnSpc>
                <a:spcPct val="111587"/>
              </a:lnSpc>
              <a:spcBef>
                <a:spcPts val="0"/>
              </a:spcBef>
            </a:pPr>
            <a:r>
              <a:rPr lang="en-US" sz="2000">
                <a:latin typeface="Times New Roman" pitchFamily="18" charset="0"/>
                <a:cs typeface="Times New Roman" pitchFamily="18" charset="0"/>
              </a:rPr>
              <a:t>	LDR R2,[R2]	;R2=Number of elements/loops/</a:t>
            </a:r>
          </a:p>
          <a:p>
            <a:pPr algn="just">
              <a:lnSpc>
                <a:spcPct val="111587"/>
              </a:lnSpc>
              <a:spcBef>
                <a:spcPts val="0"/>
              </a:spcBef>
            </a:pPr>
            <a:r>
              <a:rPr lang="en-US" sz="2000">
                <a:latin typeface="Times New Roman" pitchFamily="18" charset="0"/>
                <a:cs typeface="Times New Roman" pitchFamily="18" charset="0"/>
              </a:rPr>
              <a:t>Next:	 LDR R3,[R0]	;R3&lt;-Current element</a:t>
            </a:r>
          </a:p>
          <a:p>
            <a:pPr algn="just">
              <a:lnSpc>
                <a:spcPct val="111587"/>
              </a:lnSpc>
              <a:spcBef>
                <a:spcPts val="0"/>
              </a:spcBef>
            </a:pPr>
            <a:r>
              <a:rPr lang="en-US" sz="2000">
                <a:latin typeface="Times New Roman" pitchFamily="18" charset="0"/>
                <a:cs typeface="Times New Roman" pitchFamily="18" charset="0"/>
              </a:rPr>
              <a:t>	ADD R1,R1,R3	;Add R3 to sum(R1)</a:t>
            </a:r>
          </a:p>
          <a:p>
            <a:pPr algn="just">
              <a:lnSpc>
                <a:spcPct val="111587"/>
              </a:lnSpc>
              <a:spcBef>
                <a:spcPts val="0"/>
              </a:spcBef>
            </a:pPr>
            <a:r>
              <a:rPr lang="en-US" sz="2000">
                <a:latin typeface="Times New Roman" pitchFamily="18" charset="0"/>
                <a:cs typeface="Times New Roman" pitchFamily="18" charset="0"/>
              </a:rPr>
              <a:t>	ADD R0,R0,#4	;R0=Next element address</a:t>
            </a:r>
          </a:p>
          <a:p>
            <a:pPr algn="just">
              <a:lnSpc>
                <a:spcPct val="111587"/>
              </a:lnSpc>
              <a:spcBef>
                <a:spcPts val="0"/>
              </a:spcBef>
            </a:pPr>
            <a:r>
              <a:rPr lang="en-US" sz="2000">
                <a:latin typeface="Times New Roman" pitchFamily="18" charset="0"/>
                <a:cs typeface="Times New Roman" pitchFamily="18" charset="0"/>
              </a:rPr>
              <a:t>	SUBS R2,R2,#1	;Leaved loops</a:t>
            </a:r>
          </a:p>
          <a:p>
            <a:pPr algn="just">
              <a:lnSpc>
                <a:spcPct val="111587"/>
              </a:lnSpc>
              <a:spcBef>
                <a:spcPts val="0"/>
              </a:spcBef>
            </a:pPr>
            <a:r>
              <a:rPr lang="en-US" sz="2000">
                <a:latin typeface="Times New Roman" pitchFamily="18" charset="0"/>
                <a:cs typeface="Times New Roman" pitchFamily="18" charset="0"/>
              </a:rPr>
              <a:t>	BNE Next	;if R2&lt;&gt;0 repeat</a:t>
            </a:r>
          </a:p>
          <a:p>
            <a:pPr algn="just">
              <a:lnSpc>
                <a:spcPct val="111587"/>
              </a:lnSpc>
              <a:spcBef>
                <a:spcPts val="0"/>
              </a:spcBef>
            </a:pPr>
            <a:r>
              <a:rPr lang="en-US" sz="2000">
                <a:latin typeface="Times New Roman" pitchFamily="18" charset="0"/>
                <a:cs typeface="Times New Roman" pitchFamily="18" charset="0"/>
              </a:rPr>
              <a:t>	LDR R4,=Sum	;Load the address of the sum</a:t>
            </a:r>
          </a:p>
          <a:p>
            <a:pPr algn="just">
              <a:lnSpc>
                <a:spcPct val="111587"/>
              </a:lnSpc>
              <a:spcBef>
                <a:spcPts val="0"/>
              </a:spcBef>
            </a:pPr>
            <a:r>
              <a:rPr lang="en-US" sz="2000">
                <a:latin typeface="Times New Roman" pitchFamily="18" charset="0"/>
                <a:cs typeface="Times New Roman" pitchFamily="18" charset="0"/>
              </a:rPr>
              <a:t>	STR R1, [R4]	;(R1)-&gt; Sum</a:t>
            </a:r>
          </a:p>
          <a:p>
            <a:pPr algn="just">
              <a:lnSpc>
                <a:spcPct val="111587"/>
              </a:lnSpc>
              <a:spcBef>
                <a:spcPts val="0"/>
              </a:spcBef>
            </a:pPr>
            <a:r>
              <a:rPr lang="en-US" sz="2000">
                <a:latin typeface="Times New Roman" pitchFamily="18" charset="0"/>
                <a:cs typeface="Times New Roman" pitchFamily="18" charset="0"/>
              </a:rPr>
              <a:t>	SWI 0x11</a:t>
            </a:r>
          </a:p>
          <a:p>
            <a:pPr algn="just">
              <a:lnSpc>
                <a:spcPct val="111587"/>
              </a:lnSpc>
              <a:spcBef>
                <a:spcPts val="0"/>
              </a:spcBef>
            </a:pPr>
            <a:r>
              <a:rPr lang="en-US" sz="2000">
                <a:latin typeface="Times New Roman" pitchFamily="18" charset="0"/>
                <a:cs typeface="Times New Roman" pitchFamily="18" charset="0"/>
              </a:rPr>
              <a:t>	.data</a:t>
            </a:r>
          </a:p>
          <a:p>
            <a:pPr algn="just">
              <a:lnSpc>
                <a:spcPct val="111587"/>
              </a:lnSpc>
              <a:spcBef>
                <a:spcPts val="0"/>
              </a:spcBef>
            </a:pPr>
            <a:r>
              <a:rPr lang="en-US" sz="2000">
                <a:latin typeface="Times New Roman" pitchFamily="18" charset="0"/>
                <a:cs typeface="Times New Roman" pitchFamily="18" charset="0"/>
              </a:rPr>
              <a:t>A: 	.word 5,6,7,12,34,78,22,88,99,100</a:t>
            </a:r>
          </a:p>
          <a:p>
            <a:pPr algn="just">
              <a:lnSpc>
                <a:spcPct val="111587"/>
              </a:lnSpc>
              <a:spcBef>
                <a:spcPts val="0"/>
              </a:spcBef>
            </a:pPr>
            <a:r>
              <a:rPr lang="en-US" sz="2000">
                <a:latin typeface="Times New Roman" pitchFamily="18" charset="0"/>
                <a:cs typeface="Times New Roman" pitchFamily="18" charset="0"/>
              </a:rPr>
              <a:t>	.ALIGN</a:t>
            </a:r>
          </a:p>
          <a:p>
            <a:pPr algn="just">
              <a:lnSpc>
                <a:spcPct val="111587"/>
              </a:lnSpc>
              <a:spcBef>
                <a:spcPts val="0"/>
              </a:spcBef>
            </a:pPr>
            <a:r>
              <a:rPr lang="en-US" sz="2000">
                <a:latin typeface="Times New Roman" pitchFamily="18" charset="0"/>
                <a:cs typeface="Times New Roman" pitchFamily="18" charset="0"/>
              </a:rPr>
              <a:t>Sum:	.word 0		;Res=451=0x1c3</a:t>
            </a:r>
          </a:p>
          <a:p>
            <a:pPr algn="just">
              <a:lnSpc>
                <a:spcPct val="111587"/>
              </a:lnSpc>
              <a:spcBef>
                <a:spcPts val="0"/>
              </a:spcBef>
            </a:pPr>
            <a:r>
              <a:rPr lang="en-US" sz="2000">
                <a:latin typeface="Times New Roman" pitchFamily="18" charset="0"/>
                <a:cs typeface="Times New Roman" pitchFamily="18" charset="0"/>
              </a:rPr>
              <a:t>N:	.word	10	;N=10</a:t>
            </a:r>
          </a:p>
          <a:p>
            <a:pPr algn="just">
              <a:lnSpc>
                <a:spcPct val="111587"/>
              </a:lnSpc>
              <a:spcBef>
                <a:spcPts val="0"/>
              </a:spcBef>
            </a:pPr>
            <a:r>
              <a:rPr lang="en-US" sz="2000">
                <a:latin typeface="Times New Roman" pitchFamily="18" charset="0"/>
                <a:cs typeface="Times New Roman" pitchFamily="18" charset="0"/>
              </a:rPr>
              <a:t>	.END</a:t>
            </a:r>
          </a:p>
          <a:p>
            <a:pPr marL="0" indent="0" algn="just">
              <a:lnSpc>
                <a:spcPct val="128755"/>
              </a:lnSpc>
              <a:spcBef>
                <a:spcPts val="0"/>
              </a:spcBef>
              <a:buNone/>
            </a:pPr>
            <a:endParaRPr lang="en-US" sz="2000">
              <a:latin typeface="Times New Roman" pitchFamily="18" charset="0"/>
              <a:cs typeface="Times New Roman" pitchFamily="18" charset="0"/>
            </a:endParaRPr>
          </a:p>
        </p:txBody>
      </p:sp>
      <p:sp>
        <p:nvSpPr>
          <p:cNvPr id="4" name="Title 1"/>
          <p:cNvSpPr>
            <a:spLocks noGrp="1"/>
          </p:cNvSpPr>
          <p:nvPr>
            <p:ph type="title"/>
          </p:nvPr>
        </p:nvSpPr>
        <p:spPr>
          <a:xfrm>
            <a:off x="493204" y="188640"/>
            <a:ext cx="8229600" cy="854968"/>
          </a:xfrm>
        </p:spPr>
        <p:txBody>
          <a:bodyPr>
            <a:normAutofit/>
          </a:bodyPr>
          <a:lstStyle/>
          <a:p>
            <a:r>
              <a:rPr lang="en-US" sz="4000">
                <a:latin typeface="Times New Roman" pitchFamily="18" charset="0"/>
                <a:cs typeface="Times New Roman" pitchFamily="18" charset="0"/>
              </a:rPr>
              <a:t> </a:t>
            </a:r>
            <a:endParaRPr lang="bg-BG" sz="4000" b="1"/>
          </a:p>
        </p:txBody>
      </p:sp>
    </p:spTree>
    <p:extLst>
      <p:ext uri="{BB962C8B-B14F-4D97-AF65-F5344CB8AC3E}">
        <p14:creationId xmlns:p14="http://schemas.microsoft.com/office/powerpoint/2010/main" val="9807561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016" y="116632"/>
            <a:ext cx="8605464" cy="6696744"/>
          </a:xfrm>
        </p:spPr>
        <p:txBody>
          <a:bodyPr vert="horz" lIns="91440" tIns="45720" rIns="91440" bIns="45720" anchor="t">
            <a:noAutofit/>
          </a:bodyPr>
          <a:lstStyle/>
          <a:p>
            <a:pPr marL="0" indent="0" algn="just">
              <a:lnSpc>
                <a:spcPct val="128755"/>
              </a:lnSpc>
              <a:spcBef>
                <a:spcPts val="0"/>
              </a:spcBef>
              <a:buNone/>
            </a:pPr>
            <a:endParaRPr lang="en-US" sz="2000">
              <a:latin typeface="Times New Roman" pitchFamily="18" charset="0"/>
              <a:cs typeface="Times New Roman" pitchFamily="18" charset="0"/>
            </a:endParaRPr>
          </a:p>
          <a:p>
            <a:pPr marL="0" indent="0" algn="just">
              <a:lnSpc>
                <a:spcPct val="128755"/>
              </a:lnSpc>
              <a:spcBef>
                <a:spcPts val="0"/>
              </a:spcBef>
              <a:buNone/>
            </a:pPr>
            <a:endParaRPr lang="en-US" sz="2000">
              <a:latin typeface="Times New Roman" pitchFamily="18" charset="0"/>
              <a:cs typeface="Times New Roman" pitchFamily="18" charset="0"/>
            </a:endParaRPr>
          </a:p>
        </p:txBody>
      </p:sp>
      <p:sp>
        <p:nvSpPr>
          <p:cNvPr id="4" name="Title 1"/>
          <p:cNvSpPr>
            <a:spLocks noGrp="1"/>
          </p:cNvSpPr>
          <p:nvPr>
            <p:ph type="title"/>
          </p:nvPr>
        </p:nvSpPr>
        <p:spPr>
          <a:xfrm>
            <a:off x="493204" y="188640"/>
            <a:ext cx="8229600" cy="854968"/>
          </a:xfrm>
        </p:spPr>
        <p:txBody>
          <a:bodyPr>
            <a:normAutofit/>
          </a:bodyPr>
          <a:lstStyle/>
          <a:p>
            <a:r>
              <a:rPr lang="en-US" sz="4000">
                <a:latin typeface="Times New Roman" pitchFamily="18" charset="0"/>
                <a:cs typeface="Times New Roman" pitchFamily="18" charset="0"/>
              </a:rPr>
              <a:t> </a:t>
            </a:r>
            <a:endParaRPr lang="bg-BG" sz="4000" b="1"/>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652923"/>
            <a:ext cx="3600399" cy="57834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378483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Контейнер за съдържание 2"/>
          <p:cNvSpPr>
            <a:spLocks noGrp="1"/>
          </p:cNvSpPr>
          <p:nvPr>
            <p:ph idx="1"/>
          </p:nvPr>
        </p:nvSpPr>
        <p:spPr>
          <a:xfrm>
            <a:off x="457200" y="548680"/>
            <a:ext cx="8229600" cy="5775920"/>
          </a:xfrm>
        </p:spPr>
        <p:txBody>
          <a:bodyPr/>
          <a:lstStyle/>
          <a:p>
            <a:endParaRPr lang="bg-BG"/>
          </a:p>
          <a:p>
            <a:endParaRPr lang="bg-BG"/>
          </a:p>
          <a:p>
            <a:endParaRPr lang="bg-BG"/>
          </a:p>
          <a:p>
            <a:endParaRPr lang="bg-BG"/>
          </a:p>
          <a:p>
            <a:r>
              <a:rPr lang="bg-BG" b="1">
                <a:latin typeface="Times New Roman" panose="02020603050405020304" pitchFamily="18" charset="0"/>
                <a:cs typeface="Times New Roman" panose="02020603050405020304" pitchFamily="18" charset="0"/>
              </a:rPr>
              <a:t>Задача</a:t>
            </a:r>
            <a:r>
              <a:rPr lang="en-US" b="1">
                <a:latin typeface="Times New Roman" panose="02020603050405020304" pitchFamily="18" charset="0"/>
                <a:cs typeface="Times New Roman" panose="02020603050405020304" pitchFamily="18" charset="0"/>
              </a:rPr>
              <a:t> 2</a:t>
            </a:r>
            <a:r>
              <a:rPr lang="bg-BG" b="1">
                <a:latin typeface="Times New Roman" panose="02020603050405020304" pitchFamily="18" charset="0"/>
                <a:cs typeface="Times New Roman" panose="02020603050405020304" pitchFamily="18" charset="0"/>
              </a:rPr>
              <a:t>. Изчислете сумата на поредните естествени числа от 1 до </a:t>
            </a:r>
            <a:r>
              <a:rPr lang="en-US" b="1">
                <a:latin typeface="Times New Roman" panose="02020603050405020304" pitchFamily="18" charset="0"/>
                <a:cs typeface="Times New Roman" panose="02020603050405020304" pitchFamily="18" charset="0"/>
              </a:rPr>
              <a:t>N, </a:t>
            </a:r>
            <a:r>
              <a:rPr lang="bg-BG" b="1">
                <a:latin typeface="Times New Roman" panose="02020603050405020304" pitchFamily="18" charset="0"/>
                <a:cs typeface="Times New Roman" panose="02020603050405020304" pitchFamily="18" charset="0"/>
              </a:rPr>
              <a:t>ако </a:t>
            </a:r>
            <a:r>
              <a:rPr lang="en-US" b="1">
                <a:latin typeface="Times New Roman" panose="02020603050405020304" pitchFamily="18" charset="0"/>
                <a:cs typeface="Times New Roman" panose="02020603050405020304" pitchFamily="18" charset="0"/>
              </a:rPr>
              <a:t>N = 50, sum = N*(N+1)/2</a:t>
            </a:r>
          </a:p>
        </p:txBody>
      </p:sp>
    </p:spTree>
    <p:extLst>
      <p:ext uri="{BB962C8B-B14F-4D97-AF65-F5344CB8AC3E}">
        <p14:creationId xmlns:p14="http://schemas.microsoft.com/office/powerpoint/2010/main" val="15113459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Контейнер за съдържание 2"/>
          <p:cNvSpPr>
            <a:spLocks noGrp="1"/>
          </p:cNvSpPr>
          <p:nvPr>
            <p:ph idx="1"/>
          </p:nvPr>
        </p:nvSpPr>
        <p:spPr>
          <a:xfrm>
            <a:off x="251520" y="836712"/>
            <a:ext cx="8435280" cy="5904656"/>
          </a:xfrm>
        </p:spPr>
        <p:txBody>
          <a:bodyPr vert="horz" lIns="91440" tIns="45720" rIns="91440" bIns="45720" anchor="t">
            <a:noAutofit/>
          </a:bodyPr>
          <a:lstStyle/>
          <a:p>
            <a:pPr>
              <a:spcBef>
                <a:spcPts val="0"/>
              </a:spcBef>
            </a:pPr>
            <a:r>
              <a:rPr lang="en-US" sz="2000">
                <a:latin typeface="Times New Roman"/>
                <a:cs typeface="Times New Roman"/>
              </a:rPr>
              <a:t>.486</a:t>
            </a:r>
          </a:p>
          <a:p>
            <a:pPr>
              <a:spcBef>
                <a:spcPts val="0"/>
              </a:spcBef>
            </a:pPr>
            <a:r>
              <a:rPr lang="en-US" sz="2000">
                <a:latin typeface="Times New Roman"/>
                <a:cs typeface="Times New Roman"/>
              </a:rPr>
              <a:t>	.model </a:t>
            </a:r>
            <a:r>
              <a:rPr lang="en-US" sz="2000" err="1">
                <a:latin typeface="Times New Roman"/>
                <a:cs typeface="Times New Roman"/>
              </a:rPr>
              <a:t>flat,stdcall</a:t>
            </a:r>
            <a:endParaRPr lang="en-US" sz="2000">
              <a:latin typeface="Times New Roman"/>
              <a:cs typeface="Times New Roman"/>
            </a:endParaRPr>
          </a:p>
          <a:p>
            <a:pPr>
              <a:spcBef>
                <a:spcPts val="0"/>
              </a:spcBef>
            </a:pPr>
            <a:r>
              <a:rPr lang="en-US" sz="2000">
                <a:latin typeface="Times New Roman"/>
                <a:cs typeface="Times New Roman"/>
              </a:rPr>
              <a:t>	</a:t>
            </a:r>
            <a:r>
              <a:rPr lang="en-US" sz="2000" err="1">
                <a:latin typeface="Times New Roman"/>
                <a:cs typeface="Times New Roman"/>
              </a:rPr>
              <a:t>includelib</a:t>
            </a:r>
            <a:r>
              <a:rPr lang="en-US" sz="2000">
                <a:latin typeface="Times New Roman"/>
                <a:cs typeface="Times New Roman"/>
              </a:rPr>
              <a:t> \masm32\lib\kernel32.lib</a:t>
            </a:r>
          </a:p>
          <a:p>
            <a:pPr>
              <a:spcBef>
                <a:spcPts val="0"/>
              </a:spcBef>
            </a:pPr>
            <a:r>
              <a:rPr lang="en-US" sz="2000">
                <a:latin typeface="Times New Roman"/>
                <a:cs typeface="Times New Roman"/>
              </a:rPr>
              <a:t>	</a:t>
            </a:r>
            <a:r>
              <a:rPr lang="en-US" sz="2000" err="1">
                <a:latin typeface="Times New Roman"/>
                <a:cs typeface="Times New Roman"/>
              </a:rPr>
              <a:t>ExitProcess</a:t>
            </a:r>
            <a:r>
              <a:rPr lang="en-US" sz="2000">
                <a:latin typeface="Times New Roman"/>
                <a:cs typeface="Times New Roman"/>
              </a:rPr>
              <a:t> </a:t>
            </a:r>
            <a:r>
              <a:rPr lang="en-US" sz="2000" err="1">
                <a:latin typeface="Times New Roman"/>
                <a:cs typeface="Times New Roman"/>
              </a:rPr>
              <a:t>proto:DWORD</a:t>
            </a:r>
            <a:endParaRPr lang="en-US" sz="2000">
              <a:latin typeface="Times New Roman"/>
              <a:cs typeface="Times New Roman"/>
            </a:endParaRPr>
          </a:p>
          <a:p>
            <a:pPr>
              <a:spcBef>
                <a:spcPts val="0"/>
              </a:spcBef>
            </a:pPr>
            <a:r>
              <a:rPr lang="en-US" sz="2000">
                <a:latin typeface="Times New Roman" panose="02020603050405020304" pitchFamily="18" charset="0"/>
                <a:cs typeface="Times New Roman" panose="02020603050405020304" pitchFamily="18" charset="0"/>
              </a:rPr>
              <a:t>	.data</a:t>
            </a:r>
          </a:p>
          <a:p>
            <a:pPr>
              <a:spcBef>
                <a:spcPts val="0"/>
              </a:spcBef>
            </a:pPr>
            <a:r>
              <a:rPr lang="en-US" sz="2000">
                <a:latin typeface="Times New Roman"/>
                <a:cs typeface="Times New Roman"/>
              </a:rPr>
              <a:t>N	 </a:t>
            </a:r>
            <a:r>
              <a:rPr lang="en-US" sz="2000" err="1">
                <a:latin typeface="Times New Roman"/>
                <a:cs typeface="Times New Roman"/>
              </a:rPr>
              <a:t>dd</a:t>
            </a:r>
            <a:r>
              <a:rPr lang="en-US" sz="2000">
                <a:latin typeface="Times New Roman"/>
                <a:cs typeface="Times New Roman"/>
              </a:rPr>
              <a:t> 	50	;N=50</a:t>
            </a:r>
          </a:p>
          <a:p>
            <a:pPr>
              <a:spcBef>
                <a:spcPts val="0"/>
              </a:spcBef>
            </a:pPr>
            <a:r>
              <a:rPr lang="en-US" sz="2000">
                <a:latin typeface="Times New Roman"/>
                <a:cs typeface="Times New Roman"/>
              </a:rPr>
              <a:t>sum	</a:t>
            </a:r>
            <a:r>
              <a:rPr lang="en-US" sz="2000" err="1">
                <a:latin typeface="Times New Roman"/>
                <a:cs typeface="Times New Roman"/>
              </a:rPr>
              <a:t>dd</a:t>
            </a:r>
            <a:r>
              <a:rPr lang="en-US" sz="2000">
                <a:latin typeface="Times New Roman"/>
                <a:cs typeface="Times New Roman"/>
              </a:rPr>
              <a:t>  	0	;sum=1275=0x</a:t>
            </a:r>
          </a:p>
          <a:p>
            <a:pPr>
              <a:spcBef>
                <a:spcPts val="0"/>
              </a:spcBef>
            </a:pPr>
            <a:r>
              <a:rPr lang="en-US" sz="2000">
                <a:latin typeface="Times New Roman" panose="02020603050405020304" pitchFamily="18" charset="0"/>
                <a:cs typeface="Times New Roman" panose="02020603050405020304" pitchFamily="18" charset="0"/>
              </a:rPr>
              <a:t>	.code</a:t>
            </a:r>
          </a:p>
          <a:p>
            <a:pPr>
              <a:spcBef>
                <a:spcPts val="0"/>
              </a:spcBef>
            </a:pPr>
            <a:r>
              <a:rPr lang="en-US" sz="2000">
                <a:latin typeface="Times New Roman" panose="02020603050405020304" pitchFamily="18" charset="0"/>
                <a:cs typeface="Times New Roman" panose="02020603050405020304" pitchFamily="18" charset="0"/>
              </a:rPr>
              <a:t>start: 	</a:t>
            </a:r>
          </a:p>
          <a:p>
            <a:pPr>
              <a:spcBef>
                <a:spcPts val="0"/>
              </a:spcBef>
            </a:pPr>
            <a:r>
              <a:rPr lang="en-US" sz="2000">
                <a:latin typeface="Times New Roman"/>
                <a:cs typeface="Times New Roman"/>
              </a:rPr>
              <a:t>            </a:t>
            </a:r>
            <a:r>
              <a:rPr lang="en-US" sz="2000" err="1">
                <a:latin typeface="Times New Roman"/>
                <a:cs typeface="Times New Roman"/>
              </a:rPr>
              <a:t>mov</a:t>
            </a:r>
            <a:r>
              <a:rPr lang="en-US" sz="2000">
                <a:latin typeface="Times New Roman"/>
                <a:cs typeface="Times New Roman"/>
              </a:rPr>
              <a:t> ebx,0	;Load the value of the first element of line-1</a:t>
            </a:r>
          </a:p>
          <a:p>
            <a:pPr>
              <a:spcBef>
                <a:spcPts val="0"/>
              </a:spcBef>
            </a:pPr>
            <a:r>
              <a:rPr lang="en-US" sz="2000">
                <a:latin typeface="Times New Roman"/>
                <a:cs typeface="Times New Roman"/>
              </a:rPr>
              <a:t>	  </a:t>
            </a:r>
            <a:r>
              <a:rPr lang="en-US" sz="2000" err="1">
                <a:latin typeface="Times New Roman"/>
                <a:cs typeface="Times New Roman"/>
              </a:rPr>
              <a:t>mov</a:t>
            </a:r>
            <a:r>
              <a:rPr lang="en-US" sz="2000">
                <a:latin typeface="Times New Roman"/>
                <a:cs typeface="Times New Roman"/>
              </a:rPr>
              <a:t> eax,0	;</a:t>
            </a:r>
            <a:r>
              <a:rPr lang="en-US" sz="2000" err="1">
                <a:latin typeface="Times New Roman"/>
                <a:cs typeface="Times New Roman"/>
              </a:rPr>
              <a:t>eax</a:t>
            </a:r>
            <a:r>
              <a:rPr lang="en-US" sz="2000">
                <a:latin typeface="Times New Roman"/>
                <a:cs typeface="Times New Roman"/>
              </a:rPr>
              <a:t>(Current Sum)=0</a:t>
            </a:r>
          </a:p>
          <a:p>
            <a:pPr>
              <a:spcBef>
                <a:spcPts val="0"/>
              </a:spcBef>
            </a:pPr>
            <a:r>
              <a:rPr lang="en-US" sz="2000">
                <a:latin typeface="Times New Roman"/>
                <a:cs typeface="Times New Roman"/>
              </a:rPr>
              <a:t>	  </a:t>
            </a:r>
            <a:r>
              <a:rPr lang="en-US" sz="2000" err="1">
                <a:latin typeface="Times New Roman"/>
                <a:cs typeface="Times New Roman"/>
              </a:rPr>
              <a:t>mov</a:t>
            </a:r>
            <a:r>
              <a:rPr lang="en-US" sz="2000">
                <a:latin typeface="Times New Roman"/>
                <a:cs typeface="Times New Roman"/>
              </a:rPr>
              <a:t> </a:t>
            </a:r>
            <a:r>
              <a:rPr lang="en-US" sz="2000" err="1">
                <a:latin typeface="Times New Roman"/>
                <a:cs typeface="Times New Roman"/>
              </a:rPr>
              <a:t>ecx,N</a:t>
            </a:r>
            <a:r>
              <a:rPr lang="en-US" sz="2000">
                <a:latin typeface="Times New Roman"/>
                <a:cs typeface="Times New Roman"/>
              </a:rPr>
              <a:t>		;(N)-&gt;</a:t>
            </a:r>
            <a:r>
              <a:rPr lang="en-US" sz="2000" err="1">
                <a:latin typeface="Times New Roman"/>
                <a:cs typeface="Times New Roman"/>
              </a:rPr>
              <a:t>ecx</a:t>
            </a:r>
            <a:endParaRPr lang="en-US" sz="2000">
              <a:latin typeface="Times New Roman"/>
              <a:cs typeface="Times New Roman"/>
            </a:endParaRPr>
          </a:p>
          <a:p>
            <a:pPr>
              <a:spcBef>
                <a:spcPts val="0"/>
              </a:spcBef>
            </a:pPr>
            <a:r>
              <a:rPr lang="en-US" sz="2000">
                <a:latin typeface="Times New Roman"/>
                <a:cs typeface="Times New Roman"/>
              </a:rPr>
              <a:t>Next:	  </a:t>
            </a:r>
            <a:r>
              <a:rPr lang="en-US" sz="2000" err="1">
                <a:latin typeface="Times New Roman"/>
                <a:cs typeface="Times New Roman"/>
              </a:rPr>
              <a:t>inc</a:t>
            </a:r>
            <a:r>
              <a:rPr lang="en-US" sz="2000">
                <a:latin typeface="Times New Roman"/>
                <a:cs typeface="Times New Roman"/>
              </a:rPr>
              <a:t> </a:t>
            </a:r>
            <a:r>
              <a:rPr lang="en-US" sz="2000" err="1">
                <a:latin typeface="Times New Roman"/>
                <a:cs typeface="Times New Roman"/>
              </a:rPr>
              <a:t>ebx</a:t>
            </a:r>
            <a:r>
              <a:rPr lang="en-US" sz="2000">
                <a:latin typeface="Times New Roman"/>
                <a:cs typeface="Times New Roman"/>
              </a:rPr>
              <a:t>		;</a:t>
            </a:r>
            <a:r>
              <a:rPr lang="en-US" sz="2000" err="1">
                <a:latin typeface="Times New Roman"/>
                <a:cs typeface="Times New Roman"/>
              </a:rPr>
              <a:t>ebx</a:t>
            </a:r>
            <a:r>
              <a:rPr lang="en-US" sz="2000">
                <a:latin typeface="Times New Roman"/>
                <a:cs typeface="Times New Roman"/>
              </a:rPr>
              <a:t>=ebx+1/next value of the line</a:t>
            </a:r>
          </a:p>
          <a:p>
            <a:pPr>
              <a:spcBef>
                <a:spcPts val="0"/>
              </a:spcBef>
            </a:pPr>
            <a:r>
              <a:rPr lang="en-US" sz="2000">
                <a:latin typeface="Times New Roman"/>
                <a:cs typeface="Times New Roman"/>
              </a:rPr>
              <a:t>	  add </a:t>
            </a:r>
            <a:r>
              <a:rPr lang="en-US" sz="2000" err="1">
                <a:latin typeface="Times New Roman"/>
                <a:cs typeface="Times New Roman"/>
              </a:rPr>
              <a:t>eax,ebx</a:t>
            </a:r>
            <a:r>
              <a:rPr lang="en-US" sz="2000">
                <a:latin typeface="Times New Roman"/>
                <a:cs typeface="Times New Roman"/>
              </a:rPr>
              <a:t>	;Add </a:t>
            </a:r>
            <a:r>
              <a:rPr lang="en-US" sz="2000" err="1">
                <a:latin typeface="Times New Roman"/>
                <a:cs typeface="Times New Roman"/>
              </a:rPr>
              <a:t>ebx</a:t>
            </a:r>
            <a:r>
              <a:rPr lang="en-US" sz="2000">
                <a:latin typeface="Times New Roman"/>
                <a:cs typeface="Times New Roman"/>
              </a:rPr>
              <a:t> to sum(</a:t>
            </a:r>
            <a:r>
              <a:rPr lang="en-US" sz="2000" err="1">
                <a:latin typeface="Times New Roman"/>
                <a:cs typeface="Times New Roman"/>
              </a:rPr>
              <a:t>eax</a:t>
            </a:r>
            <a:r>
              <a:rPr lang="en-US" sz="2000">
                <a:latin typeface="Times New Roman"/>
                <a:cs typeface="Times New Roman"/>
              </a:rPr>
              <a:t>)</a:t>
            </a:r>
          </a:p>
          <a:p>
            <a:pPr>
              <a:spcBef>
                <a:spcPts val="0"/>
              </a:spcBef>
            </a:pPr>
            <a:r>
              <a:rPr lang="en-US" sz="2000">
                <a:latin typeface="Times New Roman" panose="02020603050405020304" pitchFamily="18" charset="0"/>
                <a:cs typeface="Times New Roman" panose="02020603050405020304" pitchFamily="18" charset="0"/>
              </a:rPr>
              <a:t>	  loop Next</a:t>
            </a:r>
          </a:p>
          <a:p>
            <a:pPr>
              <a:spcBef>
                <a:spcPts val="0"/>
              </a:spcBef>
            </a:pPr>
            <a:r>
              <a:rPr lang="en-US" sz="2000">
                <a:latin typeface="Times New Roman"/>
                <a:cs typeface="Times New Roman"/>
              </a:rPr>
              <a:t>	  </a:t>
            </a:r>
            <a:r>
              <a:rPr lang="en-US" sz="2000" err="1">
                <a:latin typeface="Times New Roman"/>
                <a:cs typeface="Times New Roman"/>
              </a:rPr>
              <a:t>mov</a:t>
            </a:r>
            <a:r>
              <a:rPr lang="en-US" sz="2000">
                <a:latin typeface="Times New Roman"/>
                <a:cs typeface="Times New Roman"/>
              </a:rPr>
              <a:t> </a:t>
            </a:r>
            <a:r>
              <a:rPr lang="en-US" sz="2000" err="1">
                <a:latin typeface="Times New Roman"/>
                <a:cs typeface="Times New Roman"/>
              </a:rPr>
              <a:t>sum,eax</a:t>
            </a:r>
            <a:r>
              <a:rPr lang="en-US" sz="2000">
                <a:latin typeface="Times New Roman"/>
                <a:cs typeface="Times New Roman"/>
              </a:rPr>
              <a:t>	;Store the sum into memory</a:t>
            </a:r>
          </a:p>
          <a:p>
            <a:pPr>
              <a:spcBef>
                <a:spcPts val="0"/>
              </a:spcBef>
            </a:pPr>
            <a:r>
              <a:rPr lang="en-US" sz="2000">
                <a:latin typeface="Times New Roman"/>
                <a:cs typeface="Times New Roman"/>
              </a:rPr>
              <a:t>	  invoke ExitProcess,0</a:t>
            </a:r>
            <a:endParaRPr lang="en-US" sz="2000">
              <a:latin typeface="Times New Roman" panose="02020603050405020304" pitchFamily="18" charset="0"/>
              <a:cs typeface="Times New Roman" panose="02020603050405020304" pitchFamily="18" charset="0"/>
            </a:endParaRPr>
          </a:p>
          <a:p>
            <a:pPr>
              <a:spcBef>
                <a:spcPts val="0"/>
              </a:spcBef>
            </a:pPr>
            <a:r>
              <a:rPr lang="en-US" sz="2000">
                <a:latin typeface="Times New Roman"/>
                <a:cs typeface="Times New Roman"/>
              </a:rPr>
              <a:t>	  end start</a:t>
            </a:r>
            <a:endParaRPr lang="en-US">
              <a:latin typeface="Constantia"/>
              <a:cs typeface="Times New Roman" panose="02020603050405020304" pitchFamily="18" charset="0"/>
            </a:endParaRPr>
          </a:p>
        </p:txBody>
      </p:sp>
    </p:spTree>
    <p:extLst>
      <p:ext uri="{BB962C8B-B14F-4D97-AF65-F5344CB8AC3E}">
        <p14:creationId xmlns:p14="http://schemas.microsoft.com/office/powerpoint/2010/main" val="13491100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95736" y="764704"/>
            <a:ext cx="4176464" cy="56078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231896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Контейнер за съдържание 2"/>
          <p:cNvSpPr>
            <a:spLocks noGrp="1"/>
          </p:cNvSpPr>
          <p:nvPr>
            <p:ph idx="1"/>
          </p:nvPr>
        </p:nvSpPr>
        <p:spPr>
          <a:xfrm>
            <a:off x="457200" y="908720"/>
            <a:ext cx="8229600" cy="5760640"/>
          </a:xfrm>
        </p:spPr>
        <p:txBody>
          <a:bodyPr>
            <a:noAutofit/>
          </a:bodyPr>
          <a:lstStyle/>
          <a:p>
            <a:pPr>
              <a:spcBef>
                <a:spcPts val="0"/>
              </a:spcBef>
            </a:pPr>
            <a:r>
              <a:rPr lang="en-US" sz="2000">
                <a:latin typeface="Times New Roman" panose="02020603050405020304" pitchFamily="18" charset="0"/>
                <a:cs typeface="Times New Roman" panose="02020603050405020304" pitchFamily="18" charset="0"/>
              </a:rPr>
              <a:t>.text</a:t>
            </a:r>
          </a:p>
          <a:p>
            <a:pPr>
              <a:spcBef>
                <a:spcPts val="0"/>
              </a:spcBef>
            </a:pPr>
            <a:r>
              <a:rPr lang="en-US" sz="2000">
                <a:latin typeface="Times New Roman" panose="02020603050405020304" pitchFamily="18" charset="0"/>
                <a:cs typeface="Times New Roman" panose="02020603050405020304" pitchFamily="18" charset="0"/>
              </a:rPr>
              <a:t>	.global start</a:t>
            </a:r>
          </a:p>
          <a:p>
            <a:pPr>
              <a:spcBef>
                <a:spcPts val="0"/>
              </a:spcBef>
            </a:pPr>
            <a:r>
              <a:rPr lang="en-US" sz="2000">
                <a:latin typeface="Times New Roman" panose="02020603050405020304" pitchFamily="18" charset="0"/>
                <a:cs typeface="Times New Roman" panose="02020603050405020304" pitchFamily="18" charset="0"/>
              </a:rPr>
              <a:t>start:	LDR  R0,=N	;Load the address of the first element of </a:t>
            </a:r>
            <a:r>
              <a:rPr lang="en-US" sz="2000" err="1">
                <a:latin typeface="Times New Roman" panose="02020603050405020304" pitchFamily="18" charset="0"/>
                <a:cs typeface="Times New Roman" panose="02020603050405020304" pitchFamily="18" charset="0"/>
              </a:rPr>
              <a:t>thre</a:t>
            </a:r>
            <a:r>
              <a:rPr lang="en-US" sz="2000">
                <a:latin typeface="Times New Roman" panose="02020603050405020304" pitchFamily="18" charset="0"/>
                <a:cs typeface="Times New Roman" panose="02020603050405020304" pitchFamily="18" charset="0"/>
              </a:rPr>
              <a:t> array</a:t>
            </a:r>
          </a:p>
          <a:p>
            <a:pPr>
              <a:spcBef>
                <a:spcPts val="0"/>
              </a:spcBef>
            </a:pPr>
            <a:r>
              <a:rPr lang="en-US" sz="2000">
                <a:latin typeface="Times New Roman" panose="02020603050405020304" pitchFamily="18" charset="0"/>
                <a:cs typeface="Times New Roman" panose="02020603050405020304" pitchFamily="18" charset="0"/>
              </a:rPr>
              <a:t>	LDR  R0,[R0]     	;R0=Loops	</a:t>
            </a:r>
          </a:p>
          <a:p>
            <a:pPr>
              <a:spcBef>
                <a:spcPts val="0"/>
              </a:spcBef>
            </a:pPr>
            <a:r>
              <a:rPr lang="en-US" sz="2000">
                <a:latin typeface="Times New Roman" panose="02020603050405020304" pitchFamily="18" charset="0"/>
                <a:cs typeface="Times New Roman" panose="02020603050405020304" pitchFamily="18" charset="0"/>
              </a:rPr>
              <a:t>	MOV R1,#0	;R1(Current sum)=0</a:t>
            </a:r>
          </a:p>
          <a:p>
            <a:pPr>
              <a:spcBef>
                <a:spcPts val="0"/>
              </a:spcBef>
            </a:pPr>
            <a:r>
              <a:rPr lang="en-US" sz="2000">
                <a:latin typeface="Times New Roman" panose="02020603050405020304" pitchFamily="18" charset="0"/>
                <a:cs typeface="Times New Roman" panose="02020603050405020304" pitchFamily="18" charset="0"/>
              </a:rPr>
              <a:t>	MOV R3,#0	;R3= First element of the line -1</a:t>
            </a:r>
          </a:p>
          <a:p>
            <a:pPr>
              <a:spcBef>
                <a:spcPts val="0"/>
              </a:spcBef>
            </a:pPr>
            <a:r>
              <a:rPr lang="en-US" sz="2000">
                <a:latin typeface="Times New Roman" panose="02020603050405020304" pitchFamily="18" charset="0"/>
                <a:cs typeface="Times New Roman" panose="02020603050405020304" pitchFamily="18" charset="0"/>
              </a:rPr>
              <a:t>Next:	ADD  R3,R3,#1	;R3&lt;-Current element+1=Next element</a:t>
            </a:r>
          </a:p>
          <a:p>
            <a:pPr>
              <a:spcBef>
                <a:spcPts val="0"/>
              </a:spcBef>
            </a:pPr>
            <a:r>
              <a:rPr lang="en-US" sz="2000">
                <a:latin typeface="Times New Roman" panose="02020603050405020304" pitchFamily="18" charset="0"/>
                <a:cs typeface="Times New Roman" panose="02020603050405020304" pitchFamily="18" charset="0"/>
              </a:rPr>
              <a:t>	ADD  R1,R1,R3	;Add R3 to sum (R1) </a:t>
            </a:r>
          </a:p>
          <a:p>
            <a:pPr>
              <a:spcBef>
                <a:spcPts val="0"/>
              </a:spcBef>
            </a:pPr>
            <a:r>
              <a:rPr lang="en-US" sz="2000">
                <a:latin typeface="Times New Roman" panose="02020603050405020304" pitchFamily="18" charset="0"/>
                <a:cs typeface="Times New Roman" panose="02020603050405020304" pitchFamily="18" charset="0"/>
              </a:rPr>
              <a:t>	SUBS R0,R0,#1	;Leaved loops=Loops-1</a:t>
            </a:r>
          </a:p>
          <a:p>
            <a:pPr>
              <a:spcBef>
                <a:spcPts val="0"/>
              </a:spcBef>
            </a:pPr>
            <a:r>
              <a:rPr lang="en-US" sz="2000">
                <a:latin typeface="Times New Roman" panose="02020603050405020304" pitchFamily="18" charset="0"/>
                <a:cs typeface="Times New Roman" panose="02020603050405020304" pitchFamily="18" charset="0"/>
              </a:rPr>
              <a:t>	BNE  Next	;if R1&lt;&gt;0 repeat</a:t>
            </a:r>
          </a:p>
          <a:p>
            <a:pPr>
              <a:spcBef>
                <a:spcPts val="0"/>
              </a:spcBef>
            </a:pPr>
            <a:r>
              <a:rPr lang="en-US" sz="2000">
                <a:latin typeface="Times New Roman" panose="02020603050405020304" pitchFamily="18" charset="0"/>
                <a:cs typeface="Times New Roman" panose="02020603050405020304" pitchFamily="18" charset="0"/>
              </a:rPr>
              <a:t>	LDR  R2,=sum	;Load the address of the sum</a:t>
            </a:r>
          </a:p>
          <a:p>
            <a:pPr>
              <a:spcBef>
                <a:spcPts val="0"/>
              </a:spcBef>
            </a:pPr>
            <a:r>
              <a:rPr lang="en-US" sz="2000">
                <a:latin typeface="Times New Roman" panose="02020603050405020304" pitchFamily="18" charset="0"/>
                <a:cs typeface="Times New Roman" panose="02020603050405020304" pitchFamily="18" charset="0"/>
              </a:rPr>
              <a:t>	STR  R1, [R2]	;(R1)-&gt; sum</a:t>
            </a:r>
          </a:p>
          <a:p>
            <a:pPr>
              <a:spcBef>
                <a:spcPts val="0"/>
              </a:spcBef>
            </a:pPr>
            <a:r>
              <a:rPr lang="en-US" sz="2000">
                <a:latin typeface="Times New Roman" panose="02020603050405020304" pitchFamily="18" charset="0"/>
                <a:cs typeface="Times New Roman" panose="02020603050405020304" pitchFamily="18" charset="0"/>
              </a:rPr>
              <a:t>	SWI 0x11</a:t>
            </a:r>
          </a:p>
          <a:p>
            <a:pPr>
              <a:spcBef>
                <a:spcPts val="0"/>
              </a:spcBef>
            </a:pPr>
            <a:r>
              <a:rPr lang="en-US" sz="2000">
                <a:latin typeface="Times New Roman" panose="02020603050405020304" pitchFamily="18" charset="0"/>
                <a:cs typeface="Times New Roman" panose="02020603050405020304" pitchFamily="18" charset="0"/>
              </a:rPr>
              <a:t>	.data</a:t>
            </a:r>
          </a:p>
          <a:p>
            <a:pPr>
              <a:spcBef>
                <a:spcPts val="0"/>
              </a:spcBef>
            </a:pPr>
            <a:r>
              <a:rPr lang="en-US" sz="2000">
                <a:latin typeface="Times New Roman" panose="02020603050405020304" pitchFamily="18" charset="0"/>
                <a:cs typeface="Times New Roman" panose="02020603050405020304" pitchFamily="18" charset="0"/>
              </a:rPr>
              <a:t>N: 	.word 	50	;N=50</a:t>
            </a:r>
          </a:p>
          <a:p>
            <a:pPr>
              <a:spcBef>
                <a:spcPts val="0"/>
              </a:spcBef>
            </a:pPr>
            <a:r>
              <a:rPr lang="en-US" sz="2000">
                <a:latin typeface="Times New Roman" panose="02020603050405020304" pitchFamily="18" charset="0"/>
                <a:cs typeface="Times New Roman" panose="02020603050405020304" pitchFamily="18" charset="0"/>
              </a:rPr>
              <a:t>sum:	.word       0 	;sum=1275=0x4fb</a:t>
            </a:r>
          </a:p>
          <a:p>
            <a:pPr>
              <a:spcBef>
                <a:spcPts val="0"/>
              </a:spcBef>
            </a:pPr>
            <a:r>
              <a:rPr lang="en-US" sz="2000">
                <a:latin typeface="Times New Roman" panose="02020603050405020304" pitchFamily="18" charset="0"/>
                <a:cs typeface="Times New Roman" panose="02020603050405020304" pitchFamily="18" charset="0"/>
              </a:rPr>
              <a:t>	.END</a:t>
            </a:r>
          </a:p>
        </p:txBody>
      </p:sp>
    </p:spTree>
    <p:extLst>
      <p:ext uri="{BB962C8B-B14F-4D97-AF65-F5344CB8AC3E}">
        <p14:creationId xmlns:p14="http://schemas.microsoft.com/office/powerpoint/2010/main" val="38082010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11761" y="980728"/>
            <a:ext cx="4300818" cy="56414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981567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fa43d559-56ce-40e4-b5e0-b1d2f1c6a948" xsi:nil="true"/>
    <lcf76f155ced4ddcb4097134ff3c332f xmlns="1170580e-cc85-4814-90d0-7c45caf9543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Документ" ma:contentTypeID="0x0101002815A41C86513B4096C6BAC35CB04A7C" ma:contentTypeVersion="11" ma:contentTypeDescription="Създаване на нов документ" ma:contentTypeScope="" ma:versionID="aeaffb348d2b52f24d410ae28bdf175e">
  <xsd:schema xmlns:xsd="http://www.w3.org/2001/XMLSchema" xmlns:xs="http://www.w3.org/2001/XMLSchema" xmlns:p="http://schemas.microsoft.com/office/2006/metadata/properties" xmlns:ns2="1170580e-cc85-4814-90d0-7c45caf95435" xmlns:ns3="fa43d559-56ce-40e4-b5e0-b1d2f1c6a948" targetNamespace="http://schemas.microsoft.com/office/2006/metadata/properties" ma:root="true" ma:fieldsID="2b6c80141cda9f3fb17d02d04063fe73" ns2:_="" ns3:_="">
    <xsd:import namespace="1170580e-cc85-4814-90d0-7c45caf95435"/>
    <xsd:import namespace="fa43d559-56ce-40e4-b5e0-b1d2f1c6a94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70580e-cc85-4814-90d0-7c45caf954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Етикети за изображения" ma:readOnly="false" ma:fieldId="{5cf76f15-5ced-4ddc-b409-7134ff3c332f}" ma:taxonomyMulti="true" ma:sspId="f94169f7-4ae2-4031-b8fa-636baa109d8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a43d559-56ce-40e4-b5e0-b1d2f1c6a94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8ac84de-a7dc-4418-88f8-8ba02af593f2}" ma:internalName="TaxCatchAll" ma:showField="CatchAllData" ma:web="fa43d559-56ce-40e4-b5e0-b1d2f1c6a94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съдържание"/>
        <xsd:element ref="dc:title" minOccurs="0" maxOccurs="1" ma:index="4" ma:displayName="Заглав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53751D2-FF4F-4001-8E3A-3F68699CAB91}">
  <ds:schemaRefs>
    <ds:schemaRef ds:uri="http://schemas.microsoft.com/sharepoint/v3/contenttype/forms"/>
  </ds:schemaRefs>
</ds:datastoreItem>
</file>

<file path=customXml/itemProps2.xml><?xml version="1.0" encoding="utf-8"?>
<ds:datastoreItem xmlns:ds="http://schemas.openxmlformats.org/officeDocument/2006/customXml" ds:itemID="{DEC5B215-881A-4083-B0D0-6166D7C569FE}">
  <ds:schemaRefs>
    <ds:schemaRef ds:uri="http://schemas.microsoft.com/office/2006/metadata/properties"/>
    <ds:schemaRef ds:uri="http://schemas.microsoft.com/office/infopath/2007/PartnerControls"/>
    <ds:schemaRef ds:uri="fa43d559-56ce-40e4-b5e0-b1d2f1c6a948"/>
    <ds:schemaRef ds:uri="1170580e-cc85-4814-90d0-7c45caf95435"/>
  </ds:schemaRefs>
</ds:datastoreItem>
</file>

<file path=customXml/itemProps3.xml><?xml version="1.0" encoding="utf-8"?>
<ds:datastoreItem xmlns:ds="http://schemas.openxmlformats.org/officeDocument/2006/customXml" ds:itemID="{04870808-4348-4C95-8BD8-246A540377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70580e-cc85-4814-90d0-7c45caf95435"/>
    <ds:schemaRef ds:uri="fa43d559-56ce-40e4-b5e0-b1d2f1c6a94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Flow</Template>
  <Application>Microsoft Office PowerPoint</Application>
  <PresentationFormat>On-screen Show (4:3)</PresentationFormat>
  <Slides>43</Slides>
  <Notes>0</Notes>
  <HiddenSlides>0</HiddenSlide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Flow</vt:lpstr>
      <vt:lpstr>Масиви и структури в Асемблера.  Инструкции за манипулация на битове.  Програми с цикли. </vt:lpstr>
      <vt:lpstr> Масиви и структури в Асемблера.</vt:lpstr>
      <vt:lpstr> Масиви и структури в Асемблера.</vt:lpstr>
      <vt:lpstr> Масиви и структури в Асемблера.</vt:lpstr>
      <vt:lpstr> Масиви и структури в Асемблера.</vt:lpstr>
      <vt:lpstr> Масиви и структури в Асемблера.</vt:lpstr>
      <vt:lpstr> Масиви и структури в Асемблера.</vt:lpstr>
      <vt:lpstr> Масиви и структури в Асемблера.</vt:lpstr>
      <vt:lpstr> </vt:lpstr>
      <vt:lpstr>PowerPoint Presentation</vt:lpstr>
      <vt:lpstr>PowerPoint Presentation</vt:lpstr>
      <vt:lpstr> Масиви и структури в Асемблера.</vt:lpstr>
      <vt:lpstr> Масиви и структури в Асемблера.</vt:lpstr>
      <vt:lpstr> Масиви и структури в Асемблера.</vt:lpstr>
      <vt:lpstr> Масиви и структури в Асемблера.</vt:lpstr>
      <vt:lpstr> Масиви и структури в Асемблера.</vt:lpstr>
      <vt:lpstr> Масиви и структури в Асемблера.</vt:lpstr>
      <vt:lpstr> Масиви и структури в Асемблера.</vt:lpstr>
      <vt:lpstr> Масиви и структури в Асемблера.</vt:lpstr>
      <vt:lpstr> Масиви и структури в Асемблера.</vt:lpstr>
      <vt:lpstr> Масиви и структури в Асемблера.</vt:lpstr>
      <vt:lpstr> Масиви и структури в Асемблера.</vt:lpstr>
      <vt:lpstr> Масиви и структури в Асемблера.</vt:lpstr>
      <vt:lpstr> Масиви и структури в Асемблера.</vt:lpstr>
      <vt:lpstr> Инструкции за манипулация на битове.</vt:lpstr>
      <vt:lpstr> Инструкции за манипулация на битове.</vt:lpstr>
      <vt:lpstr> Програми с цикли. </vt:lpstr>
      <vt:lpstr> Програми с цикли. </vt:lpstr>
      <vt:lpstr> Програми с цикли. </vt:lpstr>
      <vt:lpstr> Програми с цикли. </vt:lpstr>
      <vt:lpstr> Програми с цикли. </vt:lpstr>
      <vt:lpstr> Програми с цикли. </vt:lpstr>
      <vt:lpstr> Програми с цикли. </vt:lpstr>
      <vt:lpstr> </vt:lpstr>
      <vt:lpstr> </vt:lpstr>
      <vt:lpstr>PowerPoint Presentation</vt:lpstr>
      <vt:lpstr> </vt:lpstr>
      <vt:lpstr>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Програмен модел на микропроцесор IA-32. Методи за адресация. Формати на данните. Структура на паметта. Таблица с инструкции за микропроцесора.</dc:title>
  <dc:creator>Desi</dc:creator>
  <cp:revision>11</cp:revision>
  <dcterms:created xsi:type="dcterms:W3CDTF">2024-02-15T19:55:55Z</dcterms:created>
  <dcterms:modified xsi:type="dcterms:W3CDTF">2024-05-09T18:52:17Z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0x0101002815A41C86513B4096C6BAC35CB04A7C</vt:lpwstr>
  </property>
  <property fmtid="{D5CDD505-2E9C-101B-9397-08002B2CF9AE}" pid="3" name="MediaServiceImageTags">
    <vt:lpwstr/>
  </property>
</Properties>
</file>
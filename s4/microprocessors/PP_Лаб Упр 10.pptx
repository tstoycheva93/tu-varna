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50"/>
  </p:notesMasterIdLst>
  <p:sldIdLst>
    <p:sldId id="256" r:id="rId5"/>
    <p:sldId id="381" r:id="rId6"/>
    <p:sldId id="483" r:id="rId7"/>
    <p:sldId id="482" r:id="rId8"/>
    <p:sldId id="484" r:id="rId9"/>
    <p:sldId id="485" r:id="rId10"/>
    <p:sldId id="486" r:id="rId11"/>
    <p:sldId id="487" r:id="rId12"/>
    <p:sldId id="494" r:id="rId13"/>
    <p:sldId id="508" r:id="rId14"/>
    <p:sldId id="520" r:id="rId15"/>
    <p:sldId id="495" r:id="rId16"/>
    <p:sldId id="496" r:id="rId17"/>
    <p:sldId id="511" r:id="rId18"/>
    <p:sldId id="512" r:id="rId19"/>
    <p:sldId id="489" r:id="rId20"/>
    <p:sldId id="510" r:id="rId21"/>
    <p:sldId id="491" r:id="rId22"/>
    <p:sldId id="493" r:id="rId23"/>
    <p:sldId id="431" r:id="rId24"/>
    <p:sldId id="500" r:id="rId25"/>
    <p:sldId id="499" r:id="rId26"/>
    <p:sldId id="498" r:id="rId27"/>
    <p:sldId id="503" r:id="rId28"/>
    <p:sldId id="502" r:id="rId29"/>
    <p:sldId id="527" r:id="rId30"/>
    <p:sldId id="528" r:id="rId31"/>
    <p:sldId id="501" r:id="rId32"/>
    <p:sldId id="514" r:id="rId33"/>
    <p:sldId id="517" r:id="rId34"/>
    <p:sldId id="521" r:id="rId35"/>
    <p:sldId id="522" r:id="rId36"/>
    <p:sldId id="523" r:id="rId37"/>
    <p:sldId id="524" r:id="rId38"/>
    <p:sldId id="525" r:id="rId39"/>
    <p:sldId id="529" r:id="rId40"/>
    <p:sldId id="530" r:id="rId41"/>
    <p:sldId id="526" r:id="rId42"/>
    <p:sldId id="504" r:id="rId43"/>
    <p:sldId id="432" r:id="rId44"/>
    <p:sldId id="433" r:id="rId45"/>
    <p:sldId id="518" r:id="rId46"/>
    <p:sldId id="519" r:id="rId47"/>
    <p:sldId id="532" r:id="rId48"/>
    <p:sldId id="531" r:id="rId49"/>
  </p:sldIdLst>
  <p:sldSz cx="9144000" cy="6858000" type="screen4x3"/>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BED722-83CB-B82B-0DE0-3DB140836A1F}" v="6" dt="2024-05-08T18:00:10.902"/>
  </p1510:revLst>
</p1510:revInfo>
</file>

<file path=ppt/tableStyles.xml><?xml version="1.0" encoding="utf-8"?>
<a:tblStyleLst xmlns:a="http://schemas.openxmlformats.org/drawingml/2006/main" def="{5C22544A-7EE6-4342-B048-85BDC9FD1C3A}">
  <a:tblStyle styleId="{5C22544A-7EE6-4342-B048-85BDC9FD1C3A}" styleName="Среден стил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5" autoAdjust="0"/>
    <p:restoredTop sz="92824" autoAdjust="0"/>
  </p:normalViewPr>
  <p:slideViewPr>
    <p:cSldViewPr>
      <p:cViewPr varScale="1">
        <p:scale>
          <a:sx n="97" d="100"/>
          <a:sy n="97" d="100"/>
        </p:scale>
        <p:origin x="-114" y="-18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ВАСИЛЕНА ЙОРДАНОВА ДАСКАЛСКА СИТ 2к - 22621660" userId="S::s22621660@onlineedu.tu-varna.bg::d03e636c-35e2-4062-8fcb-6a18c519d00b" providerId="AD" clId="Web-{58BED722-83CB-B82B-0DE0-3DB140836A1F}"/>
    <pc:docChg chg="modSld">
      <pc:chgData name="ВАСИЛЕНА ЙОРДАНОВА ДАСКАЛСКА СИТ 2к - 22621660" userId="S::s22621660@onlineedu.tu-varna.bg::d03e636c-35e2-4062-8fcb-6a18c519d00b" providerId="AD" clId="Web-{58BED722-83CB-B82B-0DE0-3DB140836A1F}" dt="2024-05-08T18:00:10.902" v="4" actId="20577"/>
      <pc:docMkLst>
        <pc:docMk/>
      </pc:docMkLst>
      <pc:sldChg chg="modSp">
        <pc:chgData name="ВАСИЛЕНА ЙОРДАНОВА ДАСКАЛСКА СИТ 2к - 22621660" userId="S::s22621660@onlineedu.tu-varna.bg::d03e636c-35e2-4062-8fcb-6a18c519d00b" providerId="AD" clId="Web-{58BED722-83CB-B82B-0DE0-3DB140836A1F}" dt="2024-05-08T18:00:10.902" v="4" actId="20577"/>
        <pc:sldMkLst>
          <pc:docMk/>
          <pc:sldMk cId="1403185233" sldId="432"/>
        </pc:sldMkLst>
        <pc:spChg chg="mod">
          <ac:chgData name="ВАСИЛЕНА ЙОРДАНОВА ДАСКАЛСКА СИТ 2к - 22621660" userId="S::s22621660@onlineedu.tu-varna.bg::d03e636c-35e2-4062-8fcb-6a18c519d00b" providerId="AD" clId="Web-{58BED722-83CB-B82B-0DE0-3DB140836A1F}" dt="2024-05-08T18:00:10.902" v="4" actId="20577"/>
          <ac:spMkLst>
            <pc:docMk/>
            <pc:sldMk cId="1403185233" sldId="432"/>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92332A-55AF-4551-8E83-32AC6773F37C}" type="datetimeFigureOut">
              <a:rPr lang="bg-BG" smtClean="0"/>
              <a:pPr/>
              <a:t>8.5.2024 г.</a:t>
            </a:fld>
            <a:endParaRPr lang="bg-B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78BE4E-C978-4DDD-BFFE-20E7B8E0D29B}" type="slidenum">
              <a:rPr lang="bg-BG" smtClean="0"/>
              <a:pPr/>
              <a:t>‹#›</a:t>
            </a:fld>
            <a:endParaRPr lang="bg-BG"/>
          </a:p>
        </p:txBody>
      </p:sp>
    </p:spTree>
    <p:extLst>
      <p:ext uri="{BB962C8B-B14F-4D97-AF65-F5344CB8AC3E}">
        <p14:creationId xmlns:p14="http://schemas.microsoft.com/office/powerpoint/2010/main" val="3989593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p:sp>
      <p:sp>
        <p:nvSpPr>
          <p:cNvPr id="3" name="Контейнер за бележки 2"/>
          <p:cNvSpPr>
            <a:spLocks noGrp="1"/>
          </p:cNvSpPr>
          <p:nvPr>
            <p:ph type="body" idx="1"/>
          </p:nvPr>
        </p:nvSpPr>
        <p:spPr/>
        <p:txBody>
          <a:bodyPr/>
          <a:lstStyle/>
          <a:p>
            <a:endParaRPr lang="en-US" dirty="0"/>
          </a:p>
        </p:txBody>
      </p:sp>
      <p:sp>
        <p:nvSpPr>
          <p:cNvPr id="4" name="Контейнер за номер на слайда 3"/>
          <p:cNvSpPr>
            <a:spLocks noGrp="1"/>
          </p:cNvSpPr>
          <p:nvPr>
            <p:ph type="sldNum" sz="quarter" idx="10"/>
          </p:nvPr>
        </p:nvSpPr>
        <p:spPr/>
        <p:txBody>
          <a:bodyPr/>
          <a:lstStyle/>
          <a:p>
            <a:fld id="{7A78BE4E-C978-4DDD-BFFE-20E7B8E0D29B}" type="slidenum">
              <a:rPr lang="bg-BG" smtClean="0"/>
              <a:pPr/>
              <a:t>27</a:t>
            </a:fld>
            <a:endParaRPr lang="bg-BG"/>
          </a:p>
        </p:txBody>
      </p:sp>
    </p:spTree>
    <p:extLst>
      <p:ext uri="{BB962C8B-B14F-4D97-AF65-F5344CB8AC3E}">
        <p14:creationId xmlns:p14="http://schemas.microsoft.com/office/powerpoint/2010/main" val="120088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p:sp>
      <p:sp>
        <p:nvSpPr>
          <p:cNvPr id="3" name="Контейнер за бележки 2"/>
          <p:cNvSpPr>
            <a:spLocks noGrp="1"/>
          </p:cNvSpPr>
          <p:nvPr>
            <p:ph type="body" idx="1"/>
          </p:nvPr>
        </p:nvSpPr>
        <p:spPr/>
        <p:txBody>
          <a:bodyPr/>
          <a:lstStyle/>
          <a:p>
            <a:endParaRPr lang="en-US" dirty="0"/>
          </a:p>
        </p:txBody>
      </p:sp>
      <p:sp>
        <p:nvSpPr>
          <p:cNvPr id="4" name="Контейнер за номер на слайда 3"/>
          <p:cNvSpPr>
            <a:spLocks noGrp="1"/>
          </p:cNvSpPr>
          <p:nvPr>
            <p:ph type="sldNum" sz="quarter" idx="10"/>
          </p:nvPr>
        </p:nvSpPr>
        <p:spPr/>
        <p:txBody>
          <a:bodyPr/>
          <a:lstStyle/>
          <a:p>
            <a:fld id="{7A78BE4E-C978-4DDD-BFFE-20E7B8E0D29B}" type="slidenum">
              <a:rPr lang="bg-BG" smtClean="0"/>
              <a:pPr/>
              <a:t>40</a:t>
            </a:fld>
            <a:endParaRPr lang="bg-BG"/>
          </a:p>
        </p:txBody>
      </p:sp>
    </p:spTree>
    <p:extLst>
      <p:ext uri="{BB962C8B-B14F-4D97-AF65-F5344CB8AC3E}">
        <p14:creationId xmlns:p14="http://schemas.microsoft.com/office/powerpoint/2010/main" val="553066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CD2AA38-B623-4529-8E38-4C26B6BE11C2}" type="datetimeFigureOut">
              <a:rPr lang="bg-BG" smtClean="0"/>
              <a:pPr/>
              <a:t>8.5.2024 г.</a:t>
            </a:fld>
            <a:endParaRPr lang="bg-BG"/>
          </a:p>
        </p:txBody>
      </p:sp>
      <p:sp>
        <p:nvSpPr>
          <p:cNvPr id="19" name="Footer Placeholder 18"/>
          <p:cNvSpPr>
            <a:spLocks noGrp="1"/>
          </p:cNvSpPr>
          <p:nvPr>
            <p:ph type="ftr" sz="quarter" idx="11"/>
          </p:nvPr>
        </p:nvSpPr>
        <p:spPr/>
        <p:txBody>
          <a:bodyPr/>
          <a:lstStyle/>
          <a:p>
            <a:endParaRPr lang="bg-BG"/>
          </a:p>
        </p:txBody>
      </p:sp>
      <p:sp>
        <p:nvSpPr>
          <p:cNvPr id="27" name="Slide Number Placeholder 26"/>
          <p:cNvSpPr>
            <a:spLocks noGrp="1"/>
          </p:cNvSpPr>
          <p:nvPr>
            <p:ph type="sldNum" sz="quarter" idx="12"/>
          </p:nvPr>
        </p:nvSpPr>
        <p:spPr/>
        <p:txBody>
          <a:bodyPr/>
          <a:lstStyle/>
          <a:p>
            <a:fld id="{24109040-8F74-4CAF-B14B-2C048A8F2A9A}" type="slidenum">
              <a:rPr lang="bg-BG" smtClean="0"/>
              <a:pPr/>
              <a:t>‹#›</a:t>
            </a:fld>
            <a:endParaRPr lang="bg-BG"/>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8.5.2024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CD2AA38-B623-4529-8E38-4C26B6BE11C2}" type="datetimeFigureOut">
              <a:rPr lang="bg-BG" smtClean="0"/>
              <a:pPr/>
              <a:t>8.5.2024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CD2AA38-B623-4529-8E38-4C26B6BE11C2}" type="datetimeFigureOut">
              <a:rPr lang="bg-BG" smtClean="0"/>
              <a:pPr/>
              <a:t>8.5.2024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CD2AA38-B623-4529-8E38-4C26B6BE11C2}" type="datetimeFigureOut">
              <a:rPr lang="bg-BG" smtClean="0"/>
              <a:pPr/>
              <a:t>8.5.2024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BCD2AA38-B623-4529-8E38-4C26B6BE11C2}" type="datetimeFigureOut">
              <a:rPr lang="bg-BG" smtClean="0"/>
              <a:pPr/>
              <a:t>8.5.2024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D2AA38-B623-4529-8E38-4C26B6BE11C2}" type="datetimeFigureOut">
              <a:rPr lang="bg-BG" smtClean="0"/>
              <a:pPr/>
              <a:t>8.5.2024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CD2AA38-B623-4529-8E38-4C26B6BE11C2}" type="datetimeFigureOut">
              <a:rPr lang="bg-BG" smtClean="0"/>
              <a:pPr/>
              <a:t>8.5.2024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CD2AA38-B623-4529-8E38-4C26B6BE11C2}" type="datetimeFigureOut">
              <a:rPr lang="bg-BG" smtClean="0"/>
              <a:pPr/>
              <a:t>8.5.2024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a:xfrm>
            <a:off x="8077200" y="6356350"/>
            <a:ext cx="609600" cy="365125"/>
          </a:xfrm>
        </p:spPr>
        <p:txBody>
          <a:bodyPr/>
          <a:lstStyle/>
          <a:p>
            <a:fld id="{24109040-8F74-4CAF-B14B-2C048A8F2A9A}" type="slidenum">
              <a:rPr lang="bg-BG" smtClean="0"/>
              <a:pPr/>
              <a:t>‹#›</a:t>
            </a:fld>
            <a:endParaRPr lang="bg-BG"/>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8.5.2024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8.5.2024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BCD2AA38-B623-4529-8E38-4C26B6BE11C2}" type="datetimeFigureOut">
              <a:rPr lang="bg-BG" smtClean="0"/>
              <a:pPr/>
              <a:t>8.5.2024 г.</a:t>
            </a:fld>
            <a:endParaRPr lang="bg-BG"/>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bg-BG"/>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4109040-8F74-4CAF-B14B-2C048A8F2A9A}" type="slidenum">
              <a:rPr lang="bg-BG" smtClean="0"/>
              <a:pPr/>
              <a:t>‹#›</a:t>
            </a:fld>
            <a:endParaRPr lang="bg-BG"/>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928670"/>
            <a:ext cx="7851648" cy="5186386"/>
          </a:xfrm>
        </p:spPr>
        <p:txBody>
          <a:bodyPr rIns="0">
            <a:noAutofit/>
          </a:bodyPr>
          <a:lstStyle/>
          <a:p>
            <a:r>
              <a:rPr lang="bg-BG" sz="6000" dirty="0">
                <a:solidFill>
                  <a:schemeClr val="tx1"/>
                </a:solidFill>
                <a:latin typeface="Times New Roman" pitchFamily="18" charset="0"/>
                <a:cs typeface="Times New Roman" pitchFamily="18" charset="0"/>
              </a:rPr>
              <a:t>Подпрограми. Предаване на параметрите. Стек и работа със стека.</a:t>
            </a:r>
            <a:endParaRPr lang="bg-BG" sz="5500" dirty="0">
              <a:solidFill>
                <a:schemeClr val="tx1"/>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95536" y="116632"/>
            <a:ext cx="8229600" cy="1143000"/>
          </a:xfrm>
        </p:spPr>
        <p:txBody>
          <a:bodyPr>
            <a:noAutofit/>
          </a:bodyPr>
          <a:lstStyle/>
          <a:p>
            <a:r>
              <a:rPr lang="bg-BG" sz="4400" b="1" dirty="0">
                <a:latin typeface="Times New Roman" panose="02020603050405020304" pitchFamily="18" charset="0"/>
                <a:cs typeface="Times New Roman" panose="02020603050405020304" pitchFamily="18" charset="0"/>
              </a:rPr>
              <a:t>Подпрограми</a:t>
            </a:r>
          </a:p>
        </p:txBody>
      </p:sp>
      <p:sp>
        <p:nvSpPr>
          <p:cNvPr id="6" name="Rectangle 2"/>
          <p:cNvSpPr>
            <a:spLocks noGrp="1" noChangeArrowheads="1"/>
          </p:cNvSpPr>
          <p:nvPr>
            <p:ph idx="1"/>
          </p:nvPr>
        </p:nvSpPr>
        <p:spPr bwMode="auto">
          <a:xfrm>
            <a:off x="191588" y="1413520"/>
            <a:ext cx="8637496"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ClrTx/>
              <a:buSzTx/>
              <a:buNone/>
            </a:pPr>
            <a:r>
              <a:rPr lang="bg-BG" altLang="en-US" sz="2300" dirty="0">
                <a:solidFill>
                  <a:srgbClr val="000000"/>
                </a:solidFill>
                <a:latin typeface="Times New Roman" panose="02020603050405020304" pitchFamily="18" charset="0"/>
                <a:cs typeface="Times New Roman" panose="02020603050405020304" pitchFamily="18" charset="0"/>
              </a:rPr>
              <a:t>Подпрограмите са самостоятелни алгоритмични схеми</a:t>
            </a:r>
            <a:r>
              <a:rPr kumimoji="0" lang="bg-BG" altLang="en-US" sz="2300" b="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които са изнесени и записани отделно и само веднъж.</a:t>
            </a:r>
            <a:r>
              <a:rPr kumimoji="0" lang="bg-BG" altLang="en-US" sz="2300" b="0" u="none" strike="noStrike" cap="none" normalizeH="0" dirty="0">
                <a:ln>
                  <a:noFill/>
                </a:ln>
                <a:solidFill>
                  <a:srgbClr val="000000"/>
                </a:solidFill>
                <a:effectLst/>
                <a:latin typeface="Times New Roman" panose="02020603050405020304" pitchFamily="18" charset="0"/>
                <a:cs typeface="Times New Roman" panose="02020603050405020304" pitchFamily="18" charset="0"/>
              </a:rPr>
              <a:t> </a:t>
            </a:r>
            <a:r>
              <a:rPr kumimoji="0" lang="bg-BG" altLang="en-US" sz="23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Действията в тях се повтарят винаги, когато в текущо функциониращия алгоритъм има необходимост от тях. При това изпълнението на текущия алгоритъм се преустановява (прекъсва) временно.</a:t>
            </a:r>
            <a:r>
              <a:rPr lang="bg-BG" altLang="en-US" sz="2300" dirty="0">
                <a:latin typeface="Times New Roman" panose="02020603050405020304" pitchFamily="18" charset="0"/>
                <a:cs typeface="Times New Roman" panose="02020603050405020304" pitchFamily="18" charset="0"/>
              </a:rPr>
              <a:t> Т</a:t>
            </a:r>
            <a:r>
              <a:rPr kumimoji="0" lang="bg-BG" altLang="en-US" sz="23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е следва да се изпълняват всеки път, когато към тях се осъществи обръщение, и то върху различни и конкретни данни. Подпрограмите се възприемат като </a:t>
            </a:r>
            <a:r>
              <a:rPr kumimoji="0" lang="bg-BG" altLang="en-US" sz="23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специализирани програмни инструменти</a:t>
            </a:r>
            <a:r>
              <a:rPr kumimoji="0" lang="bg-BG" altLang="en-US" sz="23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bg-BG"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bg-BG" altLang="en-US" sz="23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Всеки път, когато в текущо изпълнявания алгоритъм възникне необходимост от групата действия на една подпрограма, тяхното включване към общия ход на изчислителния процес се осъществява с </a:t>
            </a:r>
            <a:r>
              <a:rPr kumimoji="0" lang="bg-BG" altLang="en-US" sz="23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безусловни алгоритмични преходи</a:t>
            </a:r>
            <a:r>
              <a:rPr kumimoji="0" lang="bg-BG" altLang="en-US" sz="23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Тези алгоритмични преходи обаче са особени и те трябва да решават две задачи:</a:t>
            </a:r>
            <a:r>
              <a:rPr kumimoji="0" lang="bg-BG"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bg-BG"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5045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95536" y="116632"/>
            <a:ext cx="8229600" cy="1143000"/>
          </a:xfrm>
        </p:spPr>
        <p:txBody>
          <a:bodyPr>
            <a:noAutofit/>
          </a:bodyPr>
          <a:lstStyle/>
          <a:p>
            <a:r>
              <a:rPr lang="bg-BG" sz="4400" b="1" dirty="0">
                <a:latin typeface="Times New Roman" panose="02020603050405020304" pitchFamily="18" charset="0"/>
                <a:cs typeface="Times New Roman" panose="02020603050405020304" pitchFamily="18" charset="0"/>
              </a:rPr>
              <a:t>Подпрограми</a:t>
            </a:r>
          </a:p>
        </p:txBody>
      </p:sp>
      <p:sp>
        <p:nvSpPr>
          <p:cNvPr id="6" name="Rectangle 2"/>
          <p:cNvSpPr>
            <a:spLocks noGrp="1" noChangeArrowheads="1"/>
          </p:cNvSpPr>
          <p:nvPr>
            <p:ph idx="1"/>
          </p:nvPr>
        </p:nvSpPr>
        <p:spPr bwMode="auto">
          <a:xfrm>
            <a:off x="251520" y="1412776"/>
            <a:ext cx="8649648"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bg-BG"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Да реализират безусловен алгоритмичен преход към подпрограмата, като при това осигурят възможността за </a:t>
            </a:r>
            <a:r>
              <a:rPr kumimoji="0" lang="bg-BG" altLang="en-US" sz="22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връщане</a:t>
            </a:r>
            <a:r>
              <a:rPr kumimoji="0" lang="bg-BG"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към алгоритъма, който ги е повикал. Когато извиканата за изпълнение подпрограма завърши, тя от своя страна трябва да изпълни обратен безусловен алгоритмичен преход, с който да се възстанови хода на преди това прекъснатия алгоритъм.</a:t>
            </a:r>
            <a:endParaRPr kumimoji="0" lang="bg-BG"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bg-BG"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При всяко обръщение към подпрограмата нейното изпълнение следва да се реализира върху конкретните за случая данни. В резултат на това се получават и конкретни данни, които са необходими на алгоритъма, извършил обръщението към подпрограмата. Ето защо всяко обръщение към последната е свързано със задачата за организация на </a:t>
            </a:r>
            <a:r>
              <a:rPr kumimoji="0" lang="bg-BG" altLang="en-US" sz="22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предаването на конкретните данни</a:t>
            </a:r>
            <a:r>
              <a:rPr kumimoji="0" lang="bg-BG"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Конкретните данни за всяко изпълнение се наричат </a:t>
            </a:r>
            <a:r>
              <a:rPr kumimoji="0" lang="bg-BG" altLang="en-US" sz="22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действителни</a:t>
            </a:r>
            <a:r>
              <a:rPr kumimoji="0" lang="bg-BG"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Действителните данни се присвояват като стойности на </a:t>
            </a:r>
            <a:r>
              <a:rPr kumimoji="0" lang="bg-BG" altLang="en-US" sz="22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формалните</a:t>
            </a:r>
            <a:r>
              <a:rPr kumimoji="0" lang="bg-BG"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променливи, с които е за програмиран алгоритъма на подпрограмата.</a:t>
            </a:r>
            <a:endParaRPr kumimoji="0" lang="bg-BG"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2347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95536" y="116632"/>
            <a:ext cx="8229600" cy="1143000"/>
          </a:xfrm>
        </p:spPr>
        <p:txBody>
          <a:bodyPr>
            <a:noAutofit/>
          </a:bodyPr>
          <a:lstStyle/>
          <a:p>
            <a:r>
              <a:rPr lang="bg-BG" sz="4400" b="1" dirty="0">
                <a:latin typeface="Times New Roman" panose="02020603050405020304" pitchFamily="18" charset="0"/>
                <a:cs typeface="Times New Roman" panose="02020603050405020304" pitchFamily="18" charset="0"/>
              </a:rPr>
              <a:t>Подпрограми</a:t>
            </a:r>
          </a:p>
        </p:txBody>
      </p:sp>
      <p:sp>
        <p:nvSpPr>
          <p:cNvPr id="6" name="Rectangle 2"/>
          <p:cNvSpPr>
            <a:spLocks noGrp="1" noChangeArrowheads="1"/>
          </p:cNvSpPr>
          <p:nvPr>
            <p:ph idx="1"/>
          </p:nvPr>
        </p:nvSpPr>
        <p:spPr bwMode="auto">
          <a:xfrm>
            <a:off x="134814" y="1444297"/>
            <a:ext cx="875104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ClrTx/>
              <a:buSzTx/>
              <a:buNone/>
            </a:pPr>
            <a:r>
              <a:rPr lang="en-US" altLang="en-US" sz="2100" dirty="0">
                <a:solidFill>
                  <a:srgbClr val="000000"/>
                </a:solidFill>
                <a:latin typeface="Times New Roman" panose="02020603050405020304" pitchFamily="18" charset="0"/>
                <a:cs typeface="Times New Roman" panose="02020603050405020304" pitchFamily="18" charset="0"/>
              </a:rPr>
              <a:t>	</a:t>
            </a:r>
            <a:r>
              <a:rPr lang="bg-BG" altLang="en-US" sz="2100" dirty="0">
                <a:solidFill>
                  <a:srgbClr val="000000"/>
                </a:solidFill>
                <a:latin typeface="Times New Roman" panose="02020603050405020304" pitchFamily="18" charset="0"/>
                <a:cs typeface="Times New Roman" panose="02020603050405020304" pitchFamily="18" charset="0"/>
              </a:rPr>
              <a:t>Подпрограмната техника е основен похват в структурното програмиране и се прилага за реализация на не регулярни повторения. Подпрограмите са програмни инструменти, които се използват когато се наложи. В останалото време те са бездейни. Често подпрограмите се наричат процедури или функции, понятия, които са наложени в езиците от високо ниво. На машинно ниво обаче те нямат смисъл, тъй като тази техника се осигурява апаратно. Реализацията на подпрограмната техника на това ниво е значително по-обременителна за програмиста, отколкото на високото ниво. Това е така, защото Асемблер не предоставя автоматизираните средства за програмиране, с помощта на които се решават задачите (проблемите) на този вид програмиране.</a:t>
            </a:r>
            <a:endParaRPr lang="en-US" altLang="en-US" sz="2100" dirty="0">
              <a:solidFill>
                <a:srgbClr val="000000"/>
              </a:solidFill>
              <a:latin typeface="Times New Roman" panose="02020603050405020304" pitchFamily="18" charset="0"/>
              <a:cs typeface="Times New Roman" panose="02020603050405020304" pitchFamily="18" charset="0"/>
            </a:endParaRPr>
          </a:p>
          <a:p>
            <a:pPr marL="0" lvl="0" indent="0" algn="just">
              <a:buClrTx/>
              <a:buSzTx/>
              <a:buNone/>
            </a:pPr>
            <a:r>
              <a:rPr lang="en-US" altLang="en-US" sz="2100" dirty="0">
                <a:latin typeface="Times New Roman" panose="02020603050405020304" pitchFamily="18" charset="0"/>
                <a:cs typeface="Times New Roman" panose="02020603050405020304" pitchFamily="18" charset="0"/>
              </a:rPr>
              <a:t>	</a:t>
            </a:r>
            <a:r>
              <a:rPr lang="bg-BG" altLang="en-US" sz="2100" dirty="0">
                <a:latin typeface="Times New Roman" panose="02020603050405020304" pitchFamily="18" charset="0"/>
                <a:cs typeface="Times New Roman" panose="02020603050405020304" pitchFamily="18" charset="0"/>
              </a:rPr>
              <a:t>Една подпрограма не работи дотогава, докато към нея не се обърнат или не я повикат. Тя следва да се разполага така, че да се избегне случайно и ненужно обръщение към нея. Ако програмата използва няколко подпрограми, те обикновено се разполагат последователно, една след друга. </a:t>
            </a:r>
            <a:endParaRPr kumimoji="0" lang="bg-BG"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701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95536" y="116632"/>
            <a:ext cx="8229600" cy="667529"/>
          </a:xfrm>
        </p:spPr>
        <p:txBody>
          <a:bodyPr>
            <a:noAutofit/>
          </a:bodyPr>
          <a:lstStyle/>
          <a:p>
            <a:r>
              <a:rPr lang="bg-BG" sz="4400" b="1" dirty="0">
                <a:latin typeface="Times New Roman" panose="02020603050405020304" pitchFamily="18" charset="0"/>
                <a:cs typeface="Times New Roman" panose="02020603050405020304" pitchFamily="18" charset="0"/>
              </a:rPr>
              <a:t>Подпрограми</a:t>
            </a:r>
          </a:p>
        </p:txBody>
      </p:sp>
      <p:sp>
        <p:nvSpPr>
          <p:cNvPr id="6" name="Rectangle 2"/>
          <p:cNvSpPr>
            <a:spLocks noGrp="1" noChangeArrowheads="1"/>
          </p:cNvSpPr>
          <p:nvPr>
            <p:ph idx="1"/>
          </p:nvPr>
        </p:nvSpPr>
        <p:spPr bwMode="auto">
          <a:xfrm>
            <a:off x="196478" y="817497"/>
            <a:ext cx="8751044"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ClrTx/>
              <a:buSzTx/>
              <a:buNone/>
            </a:pPr>
            <a:r>
              <a:rPr lang="en-US" altLang="en-US" sz="2000" dirty="0">
                <a:latin typeface="Times New Roman" panose="02020603050405020304" pitchFamily="18" charset="0"/>
                <a:cs typeface="Times New Roman" panose="02020603050405020304" pitchFamily="18" charset="0"/>
              </a:rPr>
              <a:t>	</a:t>
            </a:r>
            <a:r>
              <a:rPr lang="bg-BG" altLang="en-US" sz="2000" dirty="0">
                <a:latin typeface="Times New Roman" panose="02020603050405020304" pitchFamily="18" charset="0"/>
                <a:cs typeface="Times New Roman" panose="02020603050405020304" pitchFamily="18" charset="0"/>
              </a:rPr>
              <a:t>В асемблерския текст на програмата, текстовете на подпрограмите обикновено се разполагат в края на кодовия сегмент, след командата за край на кода (вижте по-долу рисунка а), или в началото на този сегмент, преди първата команда, с чието изпълнение стартира програмата (вижте рисунка б). Когато програмите са големи, а подпрограмите са много, последните могат да бъдат разположени в отделен сегмент (рисунка в).</a:t>
            </a:r>
          </a:p>
          <a:p>
            <a:pPr marL="0" lvl="0" indent="0" algn="just">
              <a:buClrTx/>
              <a:buSzTx/>
              <a:buNone/>
            </a:pPr>
            <a:endParaRPr lang="ru-RU" altLang="en-US" sz="1800" dirty="0">
              <a:latin typeface="Times New Roman" panose="02020603050405020304" pitchFamily="18" charset="0"/>
              <a:cs typeface="Times New Roman" panose="02020603050405020304" pitchFamily="18" charset="0"/>
            </a:endParaRPr>
          </a:p>
          <a:p>
            <a:pPr marL="0" lvl="0" indent="0" algn="just">
              <a:buClrTx/>
              <a:buSzTx/>
              <a:buNone/>
            </a:pPr>
            <a:endParaRPr lang="ru-RU" altLang="en-US" sz="1800" dirty="0">
              <a:latin typeface="Times New Roman" panose="02020603050405020304" pitchFamily="18" charset="0"/>
              <a:cs typeface="Times New Roman" panose="02020603050405020304" pitchFamily="18" charset="0"/>
            </a:endParaRPr>
          </a:p>
          <a:p>
            <a:pPr marL="0" lvl="0" indent="0" algn="just">
              <a:buClrTx/>
              <a:buSzTx/>
              <a:buNone/>
            </a:pPr>
            <a:endParaRPr lang="ru-RU" altLang="en-US" sz="1800" dirty="0">
              <a:latin typeface="Times New Roman" panose="02020603050405020304" pitchFamily="18" charset="0"/>
              <a:cs typeface="Times New Roman" panose="02020603050405020304" pitchFamily="18" charset="0"/>
            </a:endParaRPr>
          </a:p>
          <a:p>
            <a:pPr marL="0" lvl="0" indent="0" algn="just">
              <a:buClrTx/>
              <a:buSzTx/>
              <a:buNone/>
            </a:pPr>
            <a:endParaRPr lang="ru-RU" altLang="en-US" sz="1800" dirty="0">
              <a:latin typeface="Times New Roman" panose="02020603050405020304" pitchFamily="18" charset="0"/>
              <a:cs typeface="Times New Roman" panose="02020603050405020304" pitchFamily="18" charset="0"/>
            </a:endParaRPr>
          </a:p>
          <a:p>
            <a:pPr marL="0" lvl="0" indent="0" algn="just">
              <a:buClrTx/>
              <a:buSzTx/>
              <a:buNone/>
            </a:pPr>
            <a:endParaRPr lang="ru-RU" altLang="en-US" sz="1800" dirty="0">
              <a:latin typeface="Times New Roman" panose="02020603050405020304" pitchFamily="18" charset="0"/>
              <a:cs typeface="Times New Roman" panose="02020603050405020304" pitchFamily="18" charset="0"/>
            </a:endParaRPr>
          </a:p>
          <a:p>
            <a:pPr marL="0" lvl="0" indent="0" algn="just">
              <a:buClrTx/>
              <a:buSzTx/>
              <a:buNone/>
            </a:pPr>
            <a:endParaRPr lang="ru-RU" altLang="en-US" sz="1800" dirty="0">
              <a:latin typeface="Times New Roman" panose="02020603050405020304" pitchFamily="18" charset="0"/>
              <a:cs typeface="Times New Roman" panose="02020603050405020304" pitchFamily="18" charset="0"/>
            </a:endParaRPr>
          </a:p>
          <a:p>
            <a:pPr marL="0" lvl="0" indent="0" algn="just">
              <a:buClrTx/>
              <a:buSzTx/>
              <a:buNone/>
            </a:pPr>
            <a:endParaRPr lang="ru-RU" altLang="en-US" sz="1800" dirty="0">
              <a:latin typeface="Times New Roman" panose="02020603050405020304" pitchFamily="18" charset="0"/>
              <a:cs typeface="Times New Roman" panose="02020603050405020304" pitchFamily="18" charset="0"/>
            </a:endParaRPr>
          </a:p>
          <a:p>
            <a:pPr marL="0" lvl="0" indent="0" algn="just">
              <a:buClrTx/>
              <a:buSzTx/>
              <a:buNone/>
            </a:pPr>
            <a:endParaRPr lang="ru-RU" altLang="en-US" sz="1800" dirty="0">
              <a:latin typeface="Times New Roman" panose="02020603050405020304" pitchFamily="18" charset="0"/>
              <a:cs typeface="Times New Roman" panose="02020603050405020304" pitchFamily="18" charset="0"/>
            </a:endParaRPr>
          </a:p>
          <a:p>
            <a:pPr marL="0" lvl="0" indent="0" algn="just">
              <a:buClrTx/>
              <a:buSzTx/>
              <a:buNone/>
            </a:pPr>
            <a:endParaRPr lang="ru-RU" altLang="en-US" sz="1800" dirty="0">
              <a:latin typeface="Times New Roman" panose="02020603050405020304" pitchFamily="18" charset="0"/>
              <a:cs typeface="Times New Roman" panose="02020603050405020304" pitchFamily="18" charset="0"/>
            </a:endParaRPr>
          </a:p>
          <a:p>
            <a:pPr marL="0" lvl="0" indent="0" algn="just">
              <a:buClrTx/>
              <a:buSzTx/>
              <a:buNone/>
            </a:pPr>
            <a:endParaRPr lang="ru-RU" altLang="en-US" sz="1800" dirty="0">
              <a:latin typeface="Times New Roman" panose="02020603050405020304" pitchFamily="18" charset="0"/>
              <a:cs typeface="Times New Roman" panose="02020603050405020304" pitchFamily="18" charset="0"/>
            </a:endParaRPr>
          </a:p>
          <a:p>
            <a:pPr marL="0" lvl="0" indent="0" algn="just">
              <a:buClrTx/>
              <a:buSzTx/>
              <a:buNone/>
            </a:pPr>
            <a:endParaRPr lang="ru-RU" altLang="en-US" sz="1800" dirty="0">
              <a:latin typeface="Times New Roman" panose="02020603050405020304" pitchFamily="18" charset="0"/>
              <a:cs typeface="Times New Roman" panose="02020603050405020304" pitchFamily="18" charset="0"/>
            </a:endParaRPr>
          </a:p>
          <a:p>
            <a:pPr marL="0" lvl="0" indent="0" algn="just">
              <a:buClrTx/>
              <a:buSzTx/>
              <a:buNone/>
            </a:pPr>
            <a:endParaRPr lang="ru-RU" altLang="en-US" sz="1800" dirty="0">
              <a:latin typeface="Times New Roman" panose="02020603050405020304" pitchFamily="18" charset="0"/>
              <a:cs typeface="Times New Roman" panose="02020603050405020304" pitchFamily="18" charset="0"/>
            </a:endParaRPr>
          </a:p>
          <a:p>
            <a:pPr marL="0" lvl="0" indent="0" algn="just">
              <a:buClrTx/>
              <a:buSzTx/>
              <a:buNone/>
            </a:pPr>
            <a:r>
              <a:rPr lang="ru-RU" altLang="en-US" sz="1800" dirty="0">
                <a:latin typeface="Times New Roman" panose="02020603050405020304" pitchFamily="18" charset="0"/>
                <a:cs typeface="Times New Roman" panose="02020603050405020304" pitchFamily="18" charset="0"/>
              </a:rPr>
              <a:t> </a:t>
            </a:r>
            <a:endParaRPr kumimoji="0" lang="bg-BG"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 name="Картина 1"/>
          <p:cNvPicPr>
            <a:picLocks noChangeAspect="1"/>
          </p:cNvPicPr>
          <p:nvPr/>
        </p:nvPicPr>
        <p:blipFill>
          <a:blip r:embed="rId2"/>
          <a:stretch>
            <a:fillRect/>
          </a:stretch>
        </p:blipFill>
        <p:spPr>
          <a:xfrm>
            <a:off x="1115616" y="2996952"/>
            <a:ext cx="7200800" cy="2902525"/>
          </a:xfrm>
          <a:prstGeom prst="rect">
            <a:avLst/>
          </a:prstGeom>
        </p:spPr>
      </p:pic>
    </p:spTree>
    <p:extLst>
      <p:ext uri="{BB962C8B-B14F-4D97-AF65-F5344CB8AC3E}">
        <p14:creationId xmlns:p14="http://schemas.microsoft.com/office/powerpoint/2010/main" val="1290397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95536" y="116632"/>
            <a:ext cx="8229600" cy="720080"/>
          </a:xfrm>
        </p:spPr>
        <p:txBody>
          <a:bodyPr>
            <a:noAutofit/>
          </a:bodyPr>
          <a:lstStyle/>
          <a:p>
            <a:r>
              <a:rPr lang="bg-BG" sz="4400" b="1" dirty="0">
                <a:latin typeface="Times New Roman" panose="02020603050405020304" pitchFamily="18" charset="0"/>
                <a:cs typeface="Times New Roman" panose="02020603050405020304" pitchFamily="18" charset="0"/>
              </a:rPr>
              <a:t>Подпрограми</a:t>
            </a:r>
          </a:p>
        </p:txBody>
      </p:sp>
      <p:sp>
        <p:nvSpPr>
          <p:cNvPr id="6" name="Rectangle 2"/>
          <p:cNvSpPr>
            <a:spLocks noGrp="1" noChangeArrowheads="1"/>
          </p:cNvSpPr>
          <p:nvPr>
            <p:ph idx="1"/>
          </p:nvPr>
        </p:nvSpPr>
        <p:spPr bwMode="auto">
          <a:xfrm>
            <a:off x="251520" y="1124744"/>
            <a:ext cx="875104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ClrTx/>
              <a:buSzTx/>
              <a:buNone/>
            </a:pPr>
            <a:r>
              <a:rPr lang="ru-RU" altLang="en-US" sz="1800" dirty="0">
                <a:latin typeface="Times New Roman" panose="02020603050405020304" pitchFamily="18" charset="0"/>
                <a:cs typeface="Times New Roman" panose="02020603050405020304" pitchFamily="18" charset="0"/>
              </a:rPr>
              <a:t> В </a:t>
            </a:r>
            <a:r>
              <a:rPr lang="bg-BG" altLang="en-US" sz="1800" dirty="0">
                <a:latin typeface="Times New Roman" panose="02020603050405020304" pitchFamily="18" charset="0"/>
                <a:cs typeface="Times New Roman" panose="02020603050405020304" pitchFamily="18" charset="0"/>
              </a:rPr>
              <a:t>Асемблер е приет </a:t>
            </a:r>
            <a:r>
              <a:rPr lang="ru-RU" altLang="en-US" sz="1800" dirty="0">
                <a:latin typeface="Times New Roman" panose="02020603050405020304" pitchFamily="18" charset="0"/>
                <a:cs typeface="Times New Roman" panose="02020603050405020304" pitchFamily="18" charset="0"/>
              </a:rPr>
              <a:t>определен начин за </a:t>
            </a:r>
            <a:r>
              <a:rPr lang="bg-BG" altLang="en-US" sz="1800" dirty="0">
                <a:latin typeface="Times New Roman" panose="02020603050405020304" pitchFamily="18" charset="0"/>
                <a:cs typeface="Times New Roman" panose="02020603050405020304" pitchFamily="18" charset="0"/>
              </a:rPr>
              <a:t>оформяне на подпрограмите,</a:t>
            </a:r>
            <a:r>
              <a:rPr lang="ru-RU" altLang="en-US" sz="1800" dirty="0">
                <a:latin typeface="Times New Roman" panose="02020603050405020304" pitchFamily="18" charset="0"/>
                <a:cs typeface="Times New Roman" panose="02020603050405020304" pitchFamily="18" charset="0"/>
              </a:rPr>
              <a:t> във вид на процедура: </a:t>
            </a:r>
            <a:endParaRPr lang="en-US" altLang="en-US" sz="1800" dirty="0">
              <a:latin typeface="Times New Roman" panose="02020603050405020304" pitchFamily="18" charset="0"/>
              <a:cs typeface="Times New Roman" panose="02020603050405020304" pitchFamily="18" charset="0"/>
            </a:endParaRPr>
          </a:p>
          <a:p>
            <a:pPr marL="0" lvl="0" indent="0" algn="just">
              <a:buClrTx/>
              <a:buSzTx/>
              <a:buNone/>
            </a:pPr>
            <a:r>
              <a:rPr lang="en-US" altLang="en-US" sz="1800" dirty="0">
                <a:latin typeface="Times New Roman" panose="02020603050405020304" pitchFamily="18" charset="0"/>
                <a:cs typeface="Times New Roman" panose="02020603050405020304" pitchFamily="18" charset="0"/>
              </a:rPr>
              <a:t>	</a:t>
            </a:r>
            <a:r>
              <a:rPr lang="ru-RU" altLang="en-US" sz="1800" b="1" dirty="0">
                <a:latin typeface="Times New Roman" panose="02020603050405020304" pitchFamily="18" charset="0"/>
                <a:cs typeface="Times New Roman" panose="02020603050405020304" pitchFamily="18" charset="0"/>
              </a:rPr>
              <a:t>&lt;</a:t>
            </a:r>
            <a:r>
              <a:rPr lang="ru-RU" altLang="en-US" sz="1800" b="1" dirty="0" err="1">
                <a:latin typeface="Times New Roman" panose="02020603050405020304" pitchFamily="18" charset="0"/>
                <a:cs typeface="Times New Roman" panose="02020603050405020304" pitchFamily="18" charset="0"/>
              </a:rPr>
              <a:t>име</a:t>
            </a:r>
            <a:r>
              <a:rPr lang="ru-RU" altLang="en-US" sz="1800" b="1" dirty="0">
                <a:latin typeface="Times New Roman" panose="02020603050405020304" pitchFamily="18" charset="0"/>
                <a:cs typeface="Times New Roman" panose="02020603050405020304" pitchFamily="18" charset="0"/>
              </a:rPr>
              <a:t> на </a:t>
            </a:r>
            <a:r>
              <a:rPr lang="ru-RU" altLang="en-US" sz="1800" b="1" dirty="0" err="1">
                <a:latin typeface="Times New Roman" panose="02020603050405020304" pitchFamily="18" charset="0"/>
                <a:cs typeface="Times New Roman" panose="02020603050405020304" pitchFamily="18" charset="0"/>
              </a:rPr>
              <a:t>процедурата</a:t>
            </a:r>
            <a:r>
              <a:rPr lang="ru-RU" altLang="en-US" sz="1800" b="1" dirty="0">
                <a:latin typeface="Times New Roman" panose="02020603050405020304" pitchFamily="18" charset="0"/>
                <a:cs typeface="Times New Roman" panose="02020603050405020304" pitchFamily="18" charset="0"/>
              </a:rPr>
              <a:t>&gt; PROC  &lt;</a:t>
            </a:r>
            <a:r>
              <a:rPr lang="ru-RU" altLang="en-US" sz="1800" b="1" dirty="0" err="1">
                <a:latin typeface="Times New Roman" panose="02020603050405020304" pitchFamily="18" charset="0"/>
                <a:cs typeface="Times New Roman" panose="02020603050405020304" pitchFamily="18" charset="0"/>
              </a:rPr>
              <a:t>параметър</a:t>
            </a:r>
            <a:r>
              <a:rPr lang="ru-RU" altLang="en-US" sz="1800" b="1" dirty="0">
                <a:latin typeface="Times New Roman" panose="02020603050405020304" pitchFamily="18" charset="0"/>
                <a:cs typeface="Times New Roman" panose="02020603050405020304" pitchFamily="18" charset="0"/>
              </a:rPr>
              <a:t>&gt;</a:t>
            </a:r>
            <a:endParaRPr lang="en-US" altLang="en-US" sz="1800" b="1" dirty="0">
              <a:latin typeface="Times New Roman" panose="02020603050405020304" pitchFamily="18" charset="0"/>
              <a:cs typeface="Times New Roman" panose="02020603050405020304" pitchFamily="18" charset="0"/>
            </a:endParaRPr>
          </a:p>
          <a:p>
            <a:pPr marL="0" lvl="0" indent="0" algn="just">
              <a:buClrTx/>
              <a:buSzTx/>
              <a:buNone/>
            </a:pPr>
            <a:r>
              <a:rPr lang="en-US" altLang="en-US" sz="1800" b="1" dirty="0">
                <a:latin typeface="Times New Roman" panose="02020603050405020304" pitchFamily="18" charset="0"/>
                <a:cs typeface="Times New Roman" panose="02020603050405020304" pitchFamily="18" charset="0"/>
              </a:rPr>
              <a:t>			</a:t>
            </a:r>
            <a:r>
              <a:rPr lang="ru-RU" altLang="en-US" sz="1800" b="1" dirty="0">
                <a:latin typeface="Times New Roman" panose="02020603050405020304" pitchFamily="18" charset="0"/>
                <a:cs typeface="Times New Roman" panose="02020603050405020304" pitchFamily="18" charset="0"/>
              </a:rPr>
              <a:t>      &lt;</a:t>
            </a:r>
            <a:r>
              <a:rPr lang="ru-RU" altLang="en-US" sz="1800" b="1" dirty="0" err="1">
                <a:latin typeface="Times New Roman" panose="02020603050405020304" pitchFamily="18" charset="0"/>
                <a:cs typeface="Times New Roman" panose="02020603050405020304" pitchFamily="18" charset="0"/>
              </a:rPr>
              <a:t>тяло</a:t>
            </a:r>
            <a:r>
              <a:rPr lang="ru-RU" altLang="en-US" sz="1800" b="1" dirty="0">
                <a:latin typeface="Times New Roman" panose="02020603050405020304" pitchFamily="18" charset="0"/>
                <a:cs typeface="Times New Roman" panose="02020603050405020304" pitchFamily="18" charset="0"/>
              </a:rPr>
              <a:t> на </a:t>
            </a:r>
            <a:r>
              <a:rPr lang="ru-RU" altLang="en-US" sz="1800" b="1" dirty="0" err="1">
                <a:latin typeface="Times New Roman" panose="02020603050405020304" pitchFamily="18" charset="0"/>
                <a:cs typeface="Times New Roman" panose="02020603050405020304" pitchFamily="18" charset="0"/>
              </a:rPr>
              <a:t>процедурата</a:t>
            </a:r>
            <a:r>
              <a:rPr lang="ru-RU" altLang="en-US" sz="1800" b="1" dirty="0">
                <a:latin typeface="Times New Roman" panose="02020603050405020304" pitchFamily="18" charset="0"/>
                <a:cs typeface="Times New Roman" panose="02020603050405020304" pitchFamily="18" charset="0"/>
              </a:rPr>
              <a:t>&gt;       </a:t>
            </a:r>
            <a:endParaRPr lang="en-US" altLang="en-US" sz="1800" b="1" dirty="0">
              <a:latin typeface="Times New Roman" panose="02020603050405020304" pitchFamily="18" charset="0"/>
              <a:cs typeface="Times New Roman" panose="02020603050405020304" pitchFamily="18" charset="0"/>
            </a:endParaRPr>
          </a:p>
          <a:p>
            <a:pPr marL="0" lvl="0" indent="0" algn="just">
              <a:buClrTx/>
              <a:buSzTx/>
              <a:buNone/>
            </a:pPr>
            <a:r>
              <a:rPr lang="en-US" altLang="en-US" sz="1800" b="1" dirty="0">
                <a:latin typeface="Times New Roman" panose="02020603050405020304" pitchFamily="18" charset="0"/>
                <a:cs typeface="Times New Roman" panose="02020603050405020304" pitchFamily="18" charset="0"/>
              </a:rPr>
              <a:t>	</a:t>
            </a:r>
            <a:r>
              <a:rPr lang="ru-RU" altLang="en-US" sz="1800" b="1" dirty="0">
                <a:latin typeface="Times New Roman" panose="02020603050405020304" pitchFamily="18" charset="0"/>
                <a:cs typeface="Times New Roman" panose="02020603050405020304" pitchFamily="18" charset="0"/>
              </a:rPr>
              <a:t>&lt;</a:t>
            </a:r>
            <a:r>
              <a:rPr lang="ru-RU" altLang="en-US" sz="1800" b="1" dirty="0" err="1">
                <a:latin typeface="Times New Roman" panose="02020603050405020304" pitchFamily="18" charset="0"/>
                <a:cs typeface="Times New Roman" panose="02020603050405020304" pitchFamily="18" charset="0"/>
              </a:rPr>
              <a:t>име</a:t>
            </a:r>
            <a:r>
              <a:rPr lang="ru-RU" altLang="en-US" sz="1800" b="1" dirty="0">
                <a:latin typeface="Times New Roman" panose="02020603050405020304" pitchFamily="18" charset="0"/>
                <a:cs typeface="Times New Roman" panose="02020603050405020304" pitchFamily="18" charset="0"/>
              </a:rPr>
              <a:t> на </a:t>
            </a:r>
            <a:r>
              <a:rPr lang="ru-RU" altLang="en-US" sz="1800" b="1" dirty="0" err="1">
                <a:latin typeface="Times New Roman" panose="02020603050405020304" pitchFamily="18" charset="0"/>
                <a:cs typeface="Times New Roman" panose="02020603050405020304" pitchFamily="18" charset="0"/>
              </a:rPr>
              <a:t>процедурата</a:t>
            </a:r>
            <a:r>
              <a:rPr lang="ru-RU" altLang="en-US" sz="1800" b="1" dirty="0">
                <a:latin typeface="Times New Roman" panose="02020603050405020304" pitchFamily="18" charset="0"/>
                <a:cs typeface="Times New Roman" panose="02020603050405020304" pitchFamily="18" charset="0"/>
              </a:rPr>
              <a:t>&gt; ENDP</a:t>
            </a:r>
            <a:r>
              <a:rPr lang="ru-RU" altLang="en-US" sz="1800" dirty="0">
                <a:latin typeface="Times New Roman" panose="02020603050405020304" pitchFamily="18" charset="0"/>
                <a:cs typeface="Times New Roman" panose="02020603050405020304" pitchFamily="18" charset="0"/>
              </a:rPr>
              <a:t> </a:t>
            </a:r>
            <a:endParaRPr lang="en-US" altLang="en-US" sz="1800" dirty="0">
              <a:latin typeface="Times New Roman" panose="02020603050405020304" pitchFamily="18" charset="0"/>
              <a:cs typeface="Times New Roman" panose="02020603050405020304" pitchFamily="18" charset="0"/>
            </a:endParaRPr>
          </a:p>
          <a:p>
            <a:pPr marL="0" lvl="0" indent="0" algn="just">
              <a:buClrTx/>
              <a:buSzTx/>
              <a:buNone/>
            </a:pPr>
            <a:r>
              <a:rPr lang="bg-BG" altLang="en-US" sz="1800" dirty="0">
                <a:latin typeface="Times New Roman" panose="02020603050405020304" pitchFamily="18" charset="0"/>
                <a:cs typeface="Times New Roman" panose="02020603050405020304" pitchFamily="18" charset="0"/>
              </a:rPr>
              <a:t>Подпрограмата  започва с директивата </a:t>
            </a:r>
            <a:r>
              <a:rPr lang="bg-BG" altLang="en-US" sz="1800" b="1" dirty="0">
                <a:latin typeface="Times New Roman" panose="02020603050405020304" pitchFamily="18" charset="0"/>
                <a:cs typeface="Times New Roman" panose="02020603050405020304" pitchFamily="18" charset="0"/>
              </a:rPr>
              <a:t>PROC </a:t>
            </a:r>
            <a:r>
              <a:rPr lang="bg-BG" altLang="en-US" sz="1800" dirty="0">
                <a:latin typeface="Times New Roman" panose="02020603050405020304" pitchFamily="18" charset="0"/>
                <a:cs typeface="Times New Roman" panose="02020603050405020304" pitchFamily="18" charset="0"/>
              </a:rPr>
              <a:t>и завършва с директивата </a:t>
            </a:r>
            <a:r>
              <a:rPr lang="bg-BG" altLang="en-US" sz="1800" b="1" dirty="0">
                <a:latin typeface="Times New Roman" panose="02020603050405020304" pitchFamily="18" charset="0"/>
                <a:cs typeface="Times New Roman" panose="02020603050405020304" pitchFamily="18" charset="0"/>
              </a:rPr>
              <a:t>ENDP</a:t>
            </a:r>
            <a:r>
              <a:rPr lang="bg-BG" altLang="en-US" sz="1800" dirty="0">
                <a:latin typeface="Times New Roman" panose="02020603050405020304" pitchFamily="18" charset="0"/>
                <a:cs typeface="Times New Roman" panose="02020603050405020304" pitchFamily="18" charset="0"/>
              </a:rPr>
              <a:t>. И двете директиви са обявяват с едно и също име. Името на процедурата се възприема като етикет, който сочи първата команда в подпрограмата. Този етикет/име се използва за обръщение към подпрограмата. </a:t>
            </a:r>
          </a:p>
          <a:p>
            <a:pPr marL="0" lvl="0" indent="0" algn="just">
              <a:buClrTx/>
              <a:buSzTx/>
              <a:buNone/>
            </a:pPr>
            <a:r>
              <a:rPr lang="bg-BG" altLang="en-US" sz="1800" dirty="0">
                <a:latin typeface="Times New Roman" panose="02020603050405020304" pitchFamily="18" charset="0"/>
                <a:cs typeface="Times New Roman" panose="02020603050405020304" pitchFamily="18" charset="0"/>
              </a:rPr>
              <a:t>Директивата </a:t>
            </a:r>
            <a:r>
              <a:rPr lang="bg-BG" altLang="en-US" sz="1800" b="1" dirty="0">
                <a:latin typeface="Times New Roman" panose="02020603050405020304" pitchFamily="18" charset="0"/>
                <a:cs typeface="Times New Roman" panose="02020603050405020304" pitchFamily="18" charset="0"/>
              </a:rPr>
              <a:t>PROC</a:t>
            </a:r>
            <a:r>
              <a:rPr lang="bg-BG" altLang="en-US" sz="1800" dirty="0">
                <a:latin typeface="Times New Roman" panose="02020603050405020304" pitchFamily="18" charset="0"/>
                <a:cs typeface="Times New Roman" panose="02020603050405020304" pitchFamily="18" charset="0"/>
              </a:rPr>
              <a:t> има параметър. Това е или </a:t>
            </a:r>
            <a:r>
              <a:rPr lang="bg-BG" altLang="en-US" sz="1800" b="1" dirty="0">
                <a:latin typeface="Times New Roman" panose="02020603050405020304" pitchFamily="18" charset="0"/>
                <a:cs typeface="Times New Roman" panose="02020603050405020304" pitchFamily="18" charset="0"/>
              </a:rPr>
              <a:t>NEAR (близък), или FAR (далечен). </a:t>
            </a:r>
            <a:r>
              <a:rPr lang="bg-BG" altLang="en-US" sz="1800" dirty="0">
                <a:latin typeface="Times New Roman" panose="02020603050405020304" pitchFamily="18" charset="0"/>
                <a:cs typeface="Times New Roman" panose="02020603050405020304" pitchFamily="18" charset="0"/>
              </a:rPr>
              <a:t>Параметърът може да отсъства. Тогава по подразбиране той се приема NEAR (близък). Така за процедурата може да се говори, че тя е “близка” или е “отдалечена”.</a:t>
            </a:r>
          </a:p>
          <a:p>
            <a:pPr marL="0" lvl="0" indent="0" algn="just">
              <a:buClrTx/>
              <a:buSzTx/>
              <a:buNone/>
            </a:pPr>
            <a:r>
              <a:rPr lang="bg-BG" altLang="en-US" sz="1800" b="1" i="1" dirty="0">
                <a:latin typeface="Times New Roman" panose="02020603050405020304" pitchFamily="18" charset="0"/>
                <a:cs typeface="Times New Roman" panose="02020603050405020304" pitchFamily="18" charset="0"/>
              </a:rPr>
              <a:t>Към близка процедура се извършват обръщения само от текущия команден сегмент, но не и от други командни сегменти. Към далечна процедура са възможни обръщения от всеки команден сегмент. </a:t>
            </a:r>
          </a:p>
          <a:p>
            <a:pPr marL="0" lvl="0" indent="0" algn="just">
              <a:buClrTx/>
              <a:buSzTx/>
              <a:buNone/>
            </a:pPr>
            <a:r>
              <a:rPr lang="bg-BG" altLang="en-US" sz="1800" b="1" i="1" dirty="0">
                <a:latin typeface="Times New Roman" panose="02020603050405020304" pitchFamily="18" charset="0"/>
                <a:cs typeface="Times New Roman" panose="02020603050405020304" pitchFamily="18" charset="0"/>
              </a:rPr>
              <a:t>Имената на променливите и на етикетите, описани в процедурите не са локални, ето защо трябва да са уникални и да не съвпадат с други имена, използвани в програмата. В Асемблер </a:t>
            </a:r>
            <a:r>
              <a:rPr lang="ru-RU" altLang="en-US" sz="1800" b="1" i="1" dirty="0">
                <a:latin typeface="Times New Roman" panose="02020603050405020304" pitchFamily="18" charset="0"/>
                <a:cs typeface="Times New Roman" panose="02020603050405020304" pitchFamily="18" charset="0"/>
              </a:rPr>
              <a:t>не е позволено вложено описание на процедури, т.е. не се допуска да се описва процедура в рамките на друга процедура. </a:t>
            </a:r>
            <a:endParaRPr kumimoji="0" lang="bg-BG"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4853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40234" y="764704"/>
            <a:ext cx="8229600" cy="648072"/>
          </a:xfrm>
        </p:spPr>
        <p:txBody>
          <a:bodyPr>
            <a:noAutofit/>
          </a:bodyPr>
          <a:lstStyle/>
          <a:p>
            <a:r>
              <a:rPr lang="ru-RU" sz="4400" b="1" dirty="0">
                <a:latin typeface="Times New Roman" panose="02020603050405020304" pitchFamily="18" charset="0"/>
                <a:cs typeface="Times New Roman" panose="02020603050405020304" pitchFamily="18" charset="0"/>
              </a:rPr>
              <a:t> </a:t>
            </a:r>
            <a:r>
              <a:rPr lang="ru-RU" sz="3400" b="1" dirty="0" err="1">
                <a:latin typeface="Times New Roman" panose="02020603050405020304" pitchFamily="18" charset="0"/>
                <a:cs typeface="Times New Roman" panose="02020603050405020304" pitchFamily="18" charset="0"/>
              </a:rPr>
              <a:t>Обръщение</a:t>
            </a:r>
            <a:r>
              <a:rPr lang="ru-RU" sz="3400" b="1" dirty="0">
                <a:latin typeface="Times New Roman" panose="02020603050405020304" pitchFamily="18" charset="0"/>
                <a:cs typeface="Times New Roman" panose="02020603050405020304" pitchFamily="18" charset="0"/>
              </a:rPr>
              <a:t> </a:t>
            </a:r>
            <a:r>
              <a:rPr lang="ru-RU" sz="3400" b="1" dirty="0" err="1">
                <a:latin typeface="Times New Roman" panose="02020603050405020304" pitchFamily="18" charset="0"/>
                <a:cs typeface="Times New Roman" panose="02020603050405020304" pitchFamily="18" charset="0"/>
              </a:rPr>
              <a:t>към</a:t>
            </a:r>
            <a:r>
              <a:rPr lang="ru-RU" sz="3400" b="1" dirty="0">
                <a:latin typeface="Times New Roman" panose="02020603050405020304" pitchFamily="18" charset="0"/>
                <a:cs typeface="Times New Roman" panose="02020603050405020304" pitchFamily="18" charset="0"/>
              </a:rPr>
              <a:t> процедура и </a:t>
            </a:r>
            <a:r>
              <a:rPr lang="ru-RU" sz="3400" b="1" dirty="0" err="1">
                <a:latin typeface="Times New Roman" panose="02020603050405020304" pitchFamily="18" charset="0"/>
                <a:cs typeface="Times New Roman" panose="02020603050405020304" pitchFamily="18" charset="0"/>
              </a:rPr>
              <a:t>връщане</a:t>
            </a:r>
            <a:r>
              <a:rPr lang="ru-RU" sz="3400" b="1" dirty="0">
                <a:latin typeface="Times New Roman" panose="02020603050405020304" pitchFamily="18" charset="0"/>
                <a:cs typeface="Times New Roman" panose="02020603050405020304" pitchFamily="18" charset="0"/>
              </a:rPr>
              <a:t> от процедура </a:t>
            </a:r>
            <a:endParaRPr lang="bg-BG" sz="3400" b="1" dirty="0">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idx="1"/>
          </p:nvPr>
        </p:nvSpPr>
        <p:spPr bwMode="auto">
          <a:xfrm>
            <a:off x="323528" y="1436440"/>
            <a:ext cx="8607028" cy="5093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ClrTx/>
              <a:buSzTx/>
              <a:buNone/>
            </a:pPr>
            <a:r>
              <a:rPr lang="ru-RU" altLang="en-US" sz="2000" dirty="0">
                <a:latin typeface="Times New Roman" panose="02020603050405020304" pitchFamily="18" charset="0"/>
                <a:cs typeface="Times New Roman" panose="02020603050405020304" pitchFamily="18" charset="0"/>
              </a:rPr>
              <a:t> </a:t>
            </a:r>
            <a:r>
              <a:rPr lang="bg-BG" altLang="en-US" sz="2000" dirty="0">
                <a:latin typeface="Times New Roman" panose="02020603050405020304" pitchFamily="18" charset="0"/>
                <a:cs typeface="Times New Roman" panose="02020603050405020304" pitchFamily="18" charset="0"/>
              </a:rPr>
              <a:t>Обръщането към процедура се нарича извикване. Командите за работа с подпрограми по същество са специализирани машинни команди за безусловен преход. Безусловен е преходът към подпрограмата и такъв е той при връщане от подпрограма. По време на изпълнение на подпрограмата, казваме че преходната (викащата) програма е прекъсната. Такова прекъсване (при преход към подпрограма) се определя като програмно прекъсване. </a:t>
            </a:r>
          </a:p>
          <a:p>
            <a:pPr marL="0" lvl="0" indent="0" algn="just">
              <a:buClrTx/>
              <a:buSzTx/>
              <a:buNone/>
            </a:pPr>
            <a:r>
              <a:rPr lang="bg-BG" altLang="en-US" sz="2000" b="1" dirty="0">
                <a:latin typeface="Times New Roman" panose="02020603050405020304" pitchFamily="18" charset="0"/>
                <a:cs typeface="Times New Roman" panose="02020603050405020304" pitchFamily="18" charset="0"/>
              </a:rPr>
              <a:t>В Асемблер работата с процедури (подпрограми) се осъществява с две команди:   </a:t>
            </a:r>
          </a:p>
          <a:p>
            <a:pPr marL="0" lvl="0" indent="0" algn="just">
              <a:buClrTx/>
              <a:buSzTx/>
              <a:buNone/>
            </a:pPr>
            <a:r>
              <a:rPr lang="ru-RU" altLang="en-US" sz="2000" dirty="0">
                <a:latin typeface="Times New Roman" panose="02020603050405020304" pitchFamily="18" charset="0"/>
                <a:cs typeface="Times New Roman" panose="02020603050405020304" pitchFamily="18" charset="0"/>
              </a:rPr>
              <a:t>		</a:t>
            </a:r>
            <a:r>
              <a:rPr lang="ru-RU" altLang="en-US" sz="2000" b="1" dirty="0">
                <a:latin typeface="Times New Roman" panose="02020603050405020304" pitchFamily="18" charset="0"/>
                <a:cs typeface="Times New Roman" panose="02020603050405020304" pitchFamily="18" charset="0"/>
              </a:rPr>
              <a:t>CALL   &lt;</a:t>
            </a:r>
            <a:r>
              <a:rPr lang="ru-RU" altLang="en-US" sz="2000" b="1" dirty="0" err="1">
                <a:latin typeface="Times New Roman" panose="02020603050405020304" pitchFamily="18" charset="0"/>
                <a:cs typeface="Times New Roman" panose="02020603050405020304" pitchFamily="18" charset="0"/>
              </a:rPr>
              <a:t>име</a:t>
            </a:r>
            <a:r>
              <a:rPr lang="ru-RU" altLang="en-US" sz="2000" b="1" dirty="0">
                <a:latin typeface="Times New Roman" panose="02020603050405020304" pitchFamily="18" charset="0"/>
                <a:cs typeface="Times New Roman" panose="02020603050405020304" pitchFamily="18" charset="0"/>
              </a:rPr>
              <a:t> на процедура&gt;       ; обръщение (</a:t>
            </a:r>
            <a:r>
              <a:rPr lang="ru-RU" altLang="en-US" sz="2000" b="1" dirty="0" err="1">
                <a:latin typeface="Times New Roman" panose="02020603050405020304" pitchFamily="18" charset="0"/>
                <a:cs typeface="Times New Roman" panose="02020603050405020304" pitchFamily="18" charset="0"/>
              </a:rPr>
              <a:t>извикване</a:t>
            </a:r>
            <a:r>
              <a:rPr lang="ru-RU" altLang="en-US" sz="2000" b="1" dirty="0">
                <a:latin typeface="Times New Roman" panose="02020603050405020304" pitchFamily="18" charset="0"/>
                <a:cs typeface="Times New Roman" panose="02020603050405020304" pitchFamily="18" charset="0"/>
              </a:rPr>
              <a:t>)</a:t>
            </a:r>
          </a:p>
          <a:p>
            <a:pPr marL="0" lvl="0" indent="0" algn="just">
              <a:buClrTx/>
              <a:buSzTx/>
              <a:buNone/>
            </a:pPr>
            <a:endParaRPr lang="ru-RU" altLang="en-US" sz="2000" b="1" dirty="0">
              <a:latin typeface="Times New Roman" panose="02020603050405020304" pitchFamily="18" charset="0"/>
              <a:cs typeface="Times New Roman" panose="02020603050405020304" pitchFamily="18" charset="0"/>
            </a:endParaRPr>
          </a:p>
          <a:p>
            <a:pPr marL="0" lvl="0" indent="0" algn="just">
              <a:buClrTx/>
              <a:buSzTx/>
              <a:buNone/>
            </a:pPr>
            <a:r>
              <a:rPr lang="ru-RU" altLang="en-US" sz="2000" b="1" dirty="0">
                <a:latin typeface="Times New Roman" panose="02020603050405020304" pitchFamily="18" charset="0"/>
                <a:cs typeface="Times New Roman" panose="02020603050405020304" pitchFamily="18" charset="0"/>
              </a:rPr>
              <a:t>	               RET                                               ; връщане</a:t>
            </a:r>
          </a:p>
          <a:p>
            <a:pPr marL="0" lvl="0" indent="0" algn="just">
              <a:buClrTx/>
              <a:buSzTx/>
              <a:buNone/>
            </a:pPr>
            <a:r>
              <a:rPr lang="ru-RU" altLang="en-US" sz="2000" b="1" dirty="0" err="1">
                <a:latin typeface="Times New Roman" panose="02020603050405020304" pitchFamily="18" charset="0"/>
                <a:cs typeface="Times New Roman" panose="02020603050405020304" pitchFamily="18" charset="0"/>
              </a:rPr>
              <a:t>Командата</a:t>
            </a:r>
            <a:r>
              <a:rPr lang="ru-RU" altLang="en-US" sz="2000" b="1" dirty="0">
                <a:latin typeface="Times New Roman" panose="02020603050405020304" pitchFamily="18" charset="0"/>
                <a:cs typeface="Times New Roman" panose="02020603050405020304" pitchFamily="18" charset="0"/>
              </a:rPr>
              <a:t> CALL </a:t>
            </a:r>
            <a:r>
              <a:rPr lang="ru-RU" altLang="en-US" sz="2000" b="1" dirty="0" err="1">
                <a:latin typeface="Times New Roman" panose="02020603050405020304" pitchFamily="18" charset="0"/>
                <a:cs typeface="Times New Roman" panose="02020603050405020304" pitchFamily="18" charset="0"/>
              </a:rPr>
              <a:t>записва</a:t>
            </a:r>
            <a:r>
              <a:rPr lang="ru-RU" altLang="en-US" sz="2000" b="1" dirty="0">
                <a:latin typeface="Times New Roman" panose="02020603050405020304" pitchFamily="18" charset="0"/>
                <a:cs typeface="Times New Roman" panose="02020603050405020304" pitchFamily="18" charset="0"/>
              </a:rPr>
              <a:t> </a:t>
            </a:r>
            <a:r>
              <a:rPr lang="ru-RU" altLang="en-US" sz="2000" b="1" dirty="0" err="1">
                <a:latin typeface="Times New Roman" panose="02020603050405020304" pitchFamily="18" charset="0"/>
                <a:cs typeface="Times New Roman" panose="02020603050405020304" pitchFamily="18" charset="0"/>
              </a:rPr>
              <a:t>съдържанието</a:t>
            </a:r>
            <a:r>
              <a:rPr lang="ru-RU" altLang="en-US" sz="2000" b="1" dirty="0">
                <a:latin typeface="Times New Roman" panose="02020603050405020304" pitchFamily="18" charset="0"/>
                <a:cs typeface="Times New Roman" panose="02020603050405020304" pitchFamily="18" charset="0"/>
              </a:rPr>
              <a:t> на </a:t>
            </a:r>
            <a:r>
              <a:rPr lang="ru-RU" altLang="en-US" sz="2000" b="1" dirty="0" err="1">
                <a:latin typeface="Times New Roman" panose="02020603050405020304" pitchFamily="18" charset="0"/>
                <a:cs typeface="Times New Roman" panose="02020603050405020304" pitchFamily="18" charset="0"/>
              </a:rPr>
              <a:t>програмния</a:t>
            </a:r>
            <a:r>
              <a:rPr lang="ru-RU" altLang="en-US" sz="2000" b="1" dirty="0">
                <a:latin typeface="Times New Roman" panose="02020603050405020304" pitchFamily="18" charset="0"/>
                <a:cs typeface="Times New Roman" panose="02020603050405020304" pitchFamily="18" charset="0"/>
              </a:rPr>
              <a:t> </a:t>
            </a:r>
            <a:r>
              <a:rPr lang="ru-RU" altLang="en-US" sz="2000" b="1" dirty="0" err="1">
                <a:latin typeface="Times New Roman" panose="02020603050405020304" pitchFamily="18" charset="0"/>
                <a:cs typeface="Times New Roman" panose="02020603050405020304" pitchFamily="18" charset="0"/>
              </a:rPr>
              <a:t>брояч</a:t>
            </a:r>
            <a:r>
              <a:rPr lang="ru-RU" altLang="en-US" sz="2000" b="1" dirty="0">
                <a:latin typeface="Times New Roman" panose="02020603050405020304" pitchFamily="18" charset="0"/>
                <a:cs typeface="Times New Roman" panose="02020603050405020304" pitchFamily="18" charset="0"/>
              </a:rPr>
              <a:t> в стека и след това </a:t>
            </a:r>
            <a:r>
              <a:rPr lang="ru-RU" altLang="en-US" sz="2000" b="1" dirty="0" err="1">
                <a:latin typeface="Times New Roman" panose="02020603050405020304" pitchFamily="18" charset="0"/>
                <a:cs typeface="Times New Roman" panose="02020603050405020304" pitchFamily="18" charset="0"/>
              </a:rPr>
              <a:t>зарежда</a:t>
            </a:r>
            <a:r>
              <a:rPr lang="ru-RU" altLang="en-US" sz="2000" b="1" dirty="0">
                <a:latin typeface="Times New Roman" panose="02020603050405020304" pitchFamily="18" charset="0"/>
                <a:cs typeface="Times New Roman" panose="02020603050405020304" pitchFamily="18" charset="0"/>
              </a:rPr>
              <a:t> в него адреса за </a:t>
            </a:r>
            <a:r>
              <a:rPr lang="ru-RU" altLang="en-US" sz="2000" b="1" dirty="0" err="1">
                <a:latin typeface="Times New Roman" panose="02020603050405020304" pitchFamily="18" charset="0"/>
                <a:cs typeface="Times New Roman" panose="02020603050405020304" pitchFamily="18" charset="0"/>
              </a:rPr>
              <a:t>преход</a:t>
            </a:r>
            <a:r>
              <a:rPr lang="ru-RU" altLang="en-US" sz="2000" b="1" dirty="0">
                <a:latin typeface="Times New Roman" panose="02020603050405020304" pitchFamily="18" charset="0"/>
                <a:cs typeface="Times New Roman" panose="02020603050405020304" pitchFamily="18" charset="0"/>
              </a:rPr>
              <a:t>, </a:t>
            </a:r>
            <a:r>
              <a:rPr lang="ru-RU" altLang="en-US" sz="2000" b="1" dirty="0" err="1">
                <a:latin typeface="Times New Roman" panose="02020603050405020304" pitchFamily="18" charset="0"/>
                <a:cs typeface="Times New Roman" panose="02020603050405020304" pitchFamily="18" charset="0"/>
              </a:rPr>
              <a:t>който</a:t>
            </a:r>
            <a:r>
              <a:rPr lang="ru-RU" altLang="en-US" sz="2000" b="1" dirty="0">
                <a:latin typeface="Times New Roman" panose="02020603050405020304" pitchFamily="18" charset="0"/>
                <a:cs typeface="Times New Roman" panose="02020603050405020304" pitchFamily="18" charset="0"/>
              </a:rPr>
              <a:t> е </a:t>
            </a:r>
            <a:r>
              <a:rPr lang="ru-RU" altLang="en-US" sz="2000" b="1" dirty="0" err="1">
                <a:latin typeface="Times New Roman" panose="02020603050405020304" pitchFamily="18" charset="0"/>
                <a:cs typeface="Times New Roman" panose="02020603050405020304" pitchFamily="18" charset="0"/>
              </a:rPr>
              <a:t>стойност</a:t>
            </a:r>
            <a:r>
              <a:rPr lang="ru-RU" altLang="en-US" sz="2000" b="1" dirty="0">
                <a:latin typeface="Times New Roman" panose="02020603050405020304" pitchFamily="18" charset="0"/>
                <a:cs typeface="Times New Roman" panose="02020603050405020304" pitchFamily="18" charset="0"/>
              </a:rPr>
              <a:t> на </a:t>
            </a:r>
            <a:r>
              <a:rPr lang="ru-RU" altLang="en-US" sz="2000" b="1" dirty="0" err="1">
                <a:latin typeface="Times New Roman" panose="02020603050405020304" pitchFamily="18" charset="0"/>
                <a:cs typeface="Times New Roman" panose="02020603050405020304" pitchFamily="18" charset="0"/>
              </a:rPr>
              <a:t>името</a:t>
            </a:r>
            <a:r>
              <a:rPr lang="ru-RU" altLang="en-US" sz="2000" b="1" dirty="0">
                <a:latin typeface="Times New Roman" panose="02020603050405020304" pitchFamily="18" charset="0"/>
                <a:cs typeface="Times New Roman" panose="02020603050405020304" pitchFamily="18" charset="0"/>
              </a:rPr>
              <a:t> на </a:t>
            </a:r>
            <a:r>
              <a:rPr lang="ru-RU" altLang="en-US" sz="2000" b="1" dirty="0" err="1">
                <a:latin typeface="Times New Roman" panose="02020603050405020304" pitchFamily="18" charset="0"/>
                <a:cs typeface="Times New Roman" panose="02020603050405020304" pitchFamily="18" charset="0"/>
              </a:rPr>
              <a:t>процедурата</a:t>
            </a:r>
            <a:r>
              <a:rPr lang="ru-RU" altLang="en-US" sz="2000" b="1" dirty="0">
                <a:latin typeface="Times New Roman" panose="02020603050405020304" pitchFamily="18" charset="0"/>
                <a:cs typeface="Times New Roman" panose="02020603050405020304" pitchFamily="18" charset="0"/>
              </a:rPr>
              <a:t>. </a:t>
            </a:r>
          </a:p>
          <a:p>
            <a:pPr marL="0" lvl="0" indent="0" algn="just">
              <a:spcBef>
                <a:spcPts val="600"/>
              </a:spcBef>
              <a:buClrTx/>
              <a:buSzTx/>
              <a:buNone/>
            </a:pPr>
            <a:r>
              <a:rPr lang="ru-RU" altLang="en-US" sz="2000" b="1" dirty="0">
                <a:latin typeface="Times New Roman" panose="02020603050405020304" pitchFamily="18" charset="0"/>
                <a:cs typeface="Times New Roman" panose="02020603050405020304" pitchFamily="18" charset="0"/>
              </a:rPr>
              <a:t>Команда RET се </a:t>
            </a:r>
            <a:r>
              <a:rPr lang="ru-RU" altLang="en-US" sz="2000" b="1" dirty="0" err="1">
                <a:latin typeface="Times New Roman" panose="02020603050405020304" pitchFamily="18" charset="0"/>
                <a:cs typeface="Times New Roman" panose="02020603050405020304" pitchFamily="18" charset="0"/>
              </a:rPr>
              <a:t>определя</a:t>
            </a:r>
            <a:r>
              <a:rPr lang="ru-RU" altLang="en-US" sz="2000" b="1" dirty="0">
                <a:latin typeface="Times New Roman" panose="02020603050405020304" pitchFamily="18" charset="0"/>
                <a:cs typeface="Times New Roman" panose="02020603050405020304" pitchFamily="18" charset="0"/>
              </a:rPr>
              <a:t> като </a:t>
            </a:r>
            <a:r>
              <a:rPr lang="ru-RU" altLang="en-US" sz="2000" b="1" dirty="0" err="1">
                <a:latin typeface="Times New Roman" panose="02020603050405020304" pitchFamily="18" charset="0"/>
                <a:cs typeface="Times New Roman" panose="02020603050405020304" pitchFamily="18" charset="0"/>
              </a:rPr>
              <a:t>безадресна</a:t>
            </a:r>
            <a:r>
              <a:rPr lang="ru-RU" altLang="en-US" sz="2000" b="1" dirty="0">
                <a:latin typeface="Times New Roman" panose="02020603050405020304" pitchFamily="18" charset="0"/>
                <a:cs typeface="Times New Roman" panose="02020603050405020304" pitchFamily="18" charset="0"/>
              </a:rPr>
              <a:t>, тъй като </a:t>
            </a:r>
            <a:r>
              <a:rPr lang="ru-RU" altLang="en-US" sz="2000" b="1" dirty="0" err="1">
                <a:latin typeface="Times New Roman" panose="02020603050405020304" pitchFamily="18" charset="0"/>
                <a:cs typeface="Times New Roman" panose="02020603050405020304" pitchFamily="18" charset="0"/>
              </a:rPr>
              <a:t>според</a:t>
            </a:r>
            <a:r>
              <a:rPr lang="ru-RU" altLang="en-US" sz="2000" b="1" dirty="0">
                <a:latin typeface="Times New Roman" panose="02020603050405020304" pitchFamily="18" charset="0"/>
                <a:cs typeface="Times New Roman" panose="02020603050405020304" pitchFamily="18" charset="0"/>
              </a:rPr>
              <a:t> </a:t>
            </a:r>
            <a:r>
              <a:rPr lang="ru-RU" altLang="en-US" sz="2000" b="1" dirty="0" err="1">
                <a:latin typeface="Times New Roman" panose="02020603050405020304" pitchFamily="18" charset="0"/>
                <a:cs typeface="Times New Roman" panose="02020603050405020304" pitchFamily="18" charset="0"/>
              </a:rPr>
              <a:t>нейния</a:t>
            </a:r>
            <a:r>
              <a:rPr lang="ru-RU" altLang="en-US" sz="2000" b="1" dirty="0">
                <a:latin typeface="Times New Roman" panose="02020603050405020304" pitchFamily="18" charset="0"/>
                <a:cs typeface="Times New Roman" panose="02020603050405020304" pitchFamily="18" charset="0"/>
              </a:rPr>
              <a:t> </a:t>
            </a:r>
            <a:r>
              <a:rPr lang="ru-RU" altLang="en-US" sz="2000" b="1" dirty="0" err="1">
                <a:latin typeface="Times New Roman" panose="02020603050405020304" pitchFamily="18" charset="0"/>
                <a:cs typeface="Times New Roman" panose="02020603050405020304" pitchFamily="18" charset="0"/>
              </a:rPr>
              <a:t>механизъм</a:t>
            </a:r>
            <a:r>
              <a:rPr lang="ru-RU" altLang="en-US" sz="2000" b="1" dirty="0">
                <a:latin typeface="Times New Roman" panose="02020603050405020304" pitchFamily="18" charset="0"/>
                <a:cs typeface="Times New Roman" panose="02020603050405020304" pitchFamily="18" charset="0"/>
              </a:rPr>
              <a:t>, </a:t>
            </a:r>
            <a:r>
              <a:rPr lang="ru-RU" altLang="en-US" sz="2000" b="1" dirty="0" err="1">
                <a:latin typeface="Times New Roman" panose="02020603050405020304" pitchFamily="18" charset="0"/>
                <a:cs typeface="Times New Roman" panose="02020603050405020304" pitchFamily="18" charset="0"/>
              </a:rPr>
              <a:t>тя</a:t>
            </a:r>
            <a:r>
              <a:rPr lang="ru-RU" altLang="en-US" sz="2000" b="1" dirty="0">
                <a:latin typeface="Times New Roman" panose="02020603050405020304" pitchFamily="18" charset="0"/>
                <a:cs typeface="Times New Roman" panose="02020603050405020304" pitchFamily="18" charset="0"/>
              </a:rPr>
              <a:t> </a:t>
            </a:r>
            <a:r>
              <a:rPr lang="ru-RU" altLang="en-US" sz="2000" b="1" dirty="0" err="1">
                <a:latin typeface="Times New Roman" panose="02020603050405020304" pitchFamily="18" charset="0"/>
                <a:cs typeface="Times New Roman" panose="02020603050405020304" pitchFamily="18" charset="0"/>
              </a:rPr>
              <a:t>взема</a:t>
            </a:r>
            <a:r>
              <a:rPr lang="ru-RU" altLang="en-US" sz="2000" b="1" dirty="0">
                <a:latin typeface="Times New Roman" panose="02020603050405020304" pitchFamily="18" charset="0"/>
                <a:cs typeface="Times New Roman" panose="02020603050405020304" pitchFamily="18" charset="0"/>
              </a:rPr>
              <a:t> адреса за </a:t>
            </a:r>
            <a:r>
              <a:rPr lang="ru-RU" altLang="en-US" sz="2000" b="1" dirty="0" err="1">
                <a:latin typeface="Times New Roman" panose="02020603050405020304" pitchFamily="18" charset="0"/>
                <a:cs typeface="Times New Roman" panose="02020603050405020304" pitchFamily="18" charset="0"/>
              </a:rPr>
              <a:t>преход</a:t>
            </a:r>
            <a:r>
              <a:rPr lang="ru-RU" altLang="en-US" sz="2000" b="1" dirty="0">
                <a:latin typeface="Times New Roman" panose="02020603050405020304" pitchFamily="18" charset="0"/>
                <a:cs typeface="Times New Roman" panose="02020603050405020304" pitchFamily="18" charset="0"/>
              </a:rPr>
              <a:t> от стека. </a:t>
            </a:r>
            <a:endParaRPr kumimoji="0" lang="bg-BG"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077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83568" y="485800"/>
            <a:ext cx="8085584" cy="638944"/>
          </a:xfrm>
        </p:spPr>
        <p:txBody>
          <a:bodyPr>
            <a:noAutofit/>
          </a:bodyPr>
          <a:lstStyle/>
          <a:p>
            <a:r>
              <a:rPr lang="ru-RU" sz="54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Обръщение</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към</a:t>
            </a:r>
            <a:r>
              <a:rPr lang="ru-RU" sz="3200" b="1" dirty="0">
                <a:latin typeface="Times New Roman" panose="02020603050405020304" pitchFamily="18" charset="0"/>
                <a:cs typeface="Times New Roman" panose="02020603050405020304" pitchFamily="18" charset="0"/>
              </a:rPr>
              <a:t> процедура и </a:t>
            </a:r>
            <a:r>
              <a:rPr lang="ru-RU" sz="3200" b="1" dirty="0" err="1">
                <a:latin typeface="Times New Roman" panose="02020603050405020304" pitchFamily="18" charset="0"/>
                <a:cs typeface="Times New Roman" panose="02020603050405020304" pitchFamily="18" charset="0"/>
              </a:rPr>
              <a:t>връщане</a:t>
            </a:r>
            <a:r>
              <a:rPr lang="ru-RU" sz="3200" b="1" dirty="0">
                <a:latin typeface="Times New Roman" panose="02020603050405020304" pitchFamily="18" charset="0"/>
                <a:cs typeface="Times New Roman" panose="02020603050405020304" pitchFamily="18" charset="0"/>
              </a:rPr>
              <a:t> от процедура </a:t>
            </a:r>
            <a:endParaRPr lang="bg-BG" sz="3200" b="1" dirty="0">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idx="1"/>
          </p:nvPr>
        </p:nvSpPr>
        <p:spPr bwMode="auto">
          <a:xfrm>
            <a:off x="251520" y="1124744"/>
            <a:ext cx="8751044" cy="5663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ClrTx/>
              <a:buSzTx/>
              <a:buNone/>
            </a:pPr>
            <a:r>
              <a:rPr lang="ru-RU" altLang="en-US" sz="2000" dirty="0">
                <a:latin typeface="Times New Roman" panose="02020603050405020304" pitchFamily="18" charset="0"/>
                <a:cs typeface="Times New Roman" panose="02020603050405020304" pitchFamily="18" charset="0"/>
              </a:rPr>
              <a:t> </a:t>
            </a:r>
            <a:r>
              <a:rPr lang="bg-BG" altLang="en-US" sz="1800" dirty="0">
                <a:latin typeface="Times New Roman" panose="02020603050405020304" pitchFamily="18" charset="0"/>
                <a:cs typeface="Times New Roman" panose="02020603050405020304" pitchFamily="18" charset="0"/>
              </a:rPr>
              <a:t>Адресът за преход в х86 процесор се формира от регистровата двойка </a:t>
            </a:r>
            <a:r>
              <a:rPr lang="en-US" altLang="en-US" sz="1800" b="1" dirty="0">
                <a:latin typeface="Times New Roman" panose="02020603050405020304" pitchFamily="18" charset="0"/>
                <a:cs typeface="Times New Roman" panose="02020603050405020304" pitchFamily="18" charset="0"/>
              </a:rPr>
              <a:t>CS(</a:t>
            </a:r>
            <a:r>
              <a:rPr lang="en-US" sz="1800" b="1" dirty="0">
                <a:latin typeface="Times New Roman" panose="02020603050405020304" pitchFamily="18" charset="0"/>
                <a:cs typeface="Times New Roman" panose="02020603050405020304" pitchFamily="18" charset="0"/>
              </a:rPr>
              <a:t>Code segment</a:t>
            </a:r>
            <a:r>
              <a:rPr lang="en-US" altLang="en-US" sz="1800" b="1" dirty="0">
                <a:latin typeface="Times New Roman" panose="02020603050405020304" pitchFamily="18" charset="0"/>
                <a:cs typeface="Times New Roman" panose="02020603050405020304" pitchFamily="18" charset="0"/>
              </a:rPr>
              <a:t>):IP(I</a:t>
            </a:r>
            <a:r>
              <a:rPr lang="en-US" sz="1800" b="1" dirty="0">
                <a:latin typeface="Times New Roman" panose="02020603050405020304" pitchFamily="18" charset="0"/>
                <a:cs typeface="Times New Roman" panose="02020603050405020304" pitchFamily="18" charset="0"/>
              </a:rPr>
              <a:t>nstruction pointer).</a:t>
            </a:r>
            <a:r>
              <a:rPr lang="en-US" sz="1800" dirty="0">
                <a:latin typeface="Times New Roman" panose="02020603050405020304" pitchFamily="18" charset="0"/>
                <a:cs typeface="Times New Roman" panose="02020603050405020304" pitchFamily="18" charset="0"/>
              </a:rPr>
              <a:t> </a:t>
            </a:r>
            <a:r>
              <a:rPr lang="bg-BG" altLang="en-US" sz="1800" dirty="0">
                <a:latin typeface="Times New Roman" panose="02020603050405020304" pitchFamily="18" charset="0"/>
                <a:cs typeface="Times New Roman" panose="02020603050405020304" pitchFamily="18" charset="0"/>
              </a:rPr>
              <a:t>Ако описанието на процедурата се намира в същия команден сегмент, в който се намира и викащата програма, тогава преходът към нея и връщането са къси преходи, т.е. преходи към адреси, които имат една и съща база CS. Ако  процедурата е</a:t>
            </a:r>
            <a:r>
              <a:rPr lang="en-US" altLang="en-US" sz="1800" dirty="0">
                <a:latin typeface="Times New Roman" panose="02020603050405020304" pitchFamily="18" charset="0"/>
                <a:cs typeface="Times New Roman" panose="02020603050405020304" pitchFamily="18" charset="0"/>
              </a:rPr>
              <a:t> </a:t>
            </a:r>
            <a:r>
              <a:rPr lang="bg-BG" altLang="en-US" sz="1800" dirty="0">
                <a:latin typeface="Times New Roman" panose="02020603050405020304" pitchFamily="18" charset="0"/>
                <a:cs typeface="Times New Roman" panose="02020603050405020304" pitchFamily="18" charset="0"/>
              </a:rPr>
              <a:t>в друг сегмент, тогава преходът към нея и връщането са дълги преходи, т.е. с промяна на съдържанието и на двата регистъра в адресната </a:t>
            </a:r>
            <a:r>
              <a:rPr lang="ru-RU" altLang="en-US" sz="1800" dirty="0">
                <a:latin typeface="Times New Roman" panose="02020603050405020304" pitchFamily="18" charset="0"/>
                <a:cs typeface="Times New Roman" panose="02020603050405020304" pitchFamily="18" charset="0"/>
              </a:rPr>
              <a:t>двойка. </a:t>
            </a:r>
            <a:r>
              <a:rPr lang="en-US" altLang="en-US" sz="1800" dirty="0">
                <a:latin typeface="Times New Roman" panose="02020603050405020304" pitchFamily="18" charset="0"/>
                <a:cs typeface="Times New Roman" panose="02020603050405020304" pitchFamily="18" charset="0"/>
              </a:rPr>
              <a:t>T</a:t>
            </a:r>
            <a:r>
              <a:rPr lang="ru-RU" altLang="en-US" sz="1800" dirty="0" err="1">
                <a:latin typeface="Times New Roman" panose="02020603050405020304" pitchFamily="18" charset="0"/>
                <a:cs typeface="Times New Roman" panose="02020603050405020304" pitchFamily="18" charset="0"/>
              </a:rPr>
              <a:t>ези</a:t>
            </a:r>
            <a:r>
              <a:rPr lang="ru-RU" altLang="en-US" sz="1800" dirty="0">
                <a:latin typeface="Times New Roman" panose="02020603050405020304" pitchFamily="18" charset="0"/>
                <a:cs typeface="Times New Roman" panose="02020603050405020304" pitchFamily="18" charset="0"/>
              </a:rPr>
              <a:t> </a:t>
            </a:r>
            <a:r>
              <a:rPr lang="ru-RU" altLang="en-US" sz="1800" dirty="0" err="1">
                <a:latin typeface="Times New Roman" panose="02020603050405020304" pitchFamily="18" charset="0"/>
                <a:cs typeface="Times New Roman" panose="02020603050405020304" pitchFamily="18" charset="0"/>
              </a:rPr>
              <a:t>възможности</a:t>
            </a:r>
            <a:r>
              <a:rPr lang="ru-RU" altLang="en-US" sz="1800" dirty="0">
                <a:latin typeface="Times New Roman" panose="02020603050405020304" pitchFamily="18" charset="0"/>
                <a:cs typeface="Times New Roman" panose="02020603050405020304" pitchFamily="18" charset="0"/>
              </a:rPr>
              <a:t> се </a:t>
            </a:r>
            <a:r>
              <a:rPr lang="ru-RU" altLang="en-US" sz="1800" dirty="0" err="1">
                <a:latin typeface="Times New Roman" panose="02020603050405020304" pitchFamily="18" charset="0"/>
                <a:cs typeface="Times New Roman" panose="02020603050405020304" pitchFamily="18" charset="0"/>
              </a:rPr>
              <a:t>отчитат</a:t>
            </a:r>
            <a:r>
              <a:rPr lang="ru-RU" altLang="en-US" sz="1800" dirty="0">
                <a:latin typeface="Times New Roman" panose="02020603050405020304" pitchFamily="18" charset="0"/>
                <a:cs typeface="Times New Roman" panose="02020603050405020304" pitchFamily="18" charset="0"/>
              </a:rPr>
              <a:t> чрез два варианта на </a:t>
            </a:r>
            <a:r>
              <a:rPr lang="ru-RU" altLang="en-US" sz="1800" dirty="0" err="1">
                <a:latin typeface="Times New Roman" panose="02020603050405020304" pitchFamily="18" charset="0"/>
                <a:cs typeface="Times New Roman" panose="02020603050405020304" pitchFamily="18" charset="0"/>
              </a:rPr>
              <a:t>командите</a:t>
            </a:r>
            <a:r>
              <a:rPr lang="ru-RU" altLang="en-US" sz="1800" dirty="0">
                <a:latin typeface="Times New Roman" panose="02020603050405020304" pitchFamily="18" charset="0"/>
                <a:cs typeface="Times New Roman" panose="02020603050405020304" pitchFamily="18" charset="0"/>
              </a:rPr>
              <a:t> CALL и RET.</a:t>
            </a:r>
          </a:p>
          <a:p>
            <a:pPr marL="0" lvl="0" indent="0" algn="just">
              <a:buClrTx/>
              <a:buSzTx/>
              <a:buNone/>
            </a:pPr>
            <a:r>
              <a:rPr lang="en-US" altLang="en-US" sz="1800" dirty="0">
                <a:latin typeface="Times New Roman" panose="02020603050405020304" pitchFamily="18" charset="0"/>
                <a:cs typeface="Times New Roman" panose="02020603050405020304" pitchFamily="18" charset="0"/>
              </a:rPr>
              <a:t>	</a:t>
            </a:r>
            <a:r>
              <a:rPr lang="ru-RU" altLang="en-US" sz="1800" dirty="0">
                <a:latin typeface="Times New Roman" panose="02020603050405020304" pitchFamily="18" charset="0"/>
                <a:cs typeface="Times New Roman" panose="02020603050405020304" pitchFamily="18" charset="0"/>
              </a:rPr>
              <a:t> </a:t>
            </a:r>
            <a:r>
              <a:rPr lang="ru-RU" altLang="en-US" sz="1800" dirty="0" err="1">
                <a:latin typeface="Times New Roman" panose="02020603050405020304" pitchFamily="18" charset="0"/>
                <a:cs typeface="Times New Roman" panose="02020603050405020304" pitchFamily="18" charset="0"/>
              </a:rPr>
              <a:t>Нека</a:t>
            </a:r>
            <a:r>
              <a:rPr lang="ru-RU" altLang="en-US" sz="1800" dirty="0">
                <a:latin typeface="Times New Roman" panose="02020603050405020304" pitchFamily="18" charset="0"/>
                <a:cs typeface="Times New Roman" panose="02020603050405020304" pitchFamily="18" charset="0"/>
              </a:rPr>
              <a:t> чрез </a:t>
            </a:r>
            <a:r>
              <a:rPr lang="ru-RU" altLang="en-US" sz="1800" dirty="0" err="1">
                <a:latin typeface="Times New Roman" panose="02020603050405020304" pitchFamily="18" charset="0"/>
                <a:cs typeface="Times New Roman" panose="02020603050405020304" pitchFamily="18" charset="0"/>
              </a:rPr>
              <a:t>името</a:t>
            </a:r>
            <a:r>
              <a:rPr lang="ru-RU" altLang="en-US" sz="1800" dirty="0">
                <a:latin typeface="Times New Roman" panose="02020603050405020304" pitchFamily="18" charset="0"/>
                <a:cs typeface="Times New Roman" panose="02020603050405020304" pitchFamily="18" charset="0"/>
              </a:rPr>
              <a:t> АВ означим адреса за връщане (АВ). </a:t>
            </a:r>
          </a:p>
          <a:p>
            <a:pPr marL="0" lvl="0" indent="0" algn="just">
              <a:buClrTx/>
              <a:buSzTx/>
              <a:buNone/>
            </a:pPr>
            <a:r>
              <a:rPr lang="ru-RU" altLang="en-US" sz="1800" dirty="0" err="1">
                <a:latin typeface="Times New Roman" panose="02020603050405020304" pitchFamily="18" charset="0"/>
                <a:cs typeface="Times New Roman" panose="02020603050405020304" pitchFamily="18" charset="0"/>
              </a:rPr>
              <a:t>Ето</a:t>
            </a:r>
            <a:r>
              <a:rPr lang="ru-RU" altLang="en-US" sz="1800" dirty="0">
                <a:latin typeface="Times New Roman" panose="02020603050405020304" pitchFamily="18" charset="0"/>
                <a:cs typeface="Times New Roman" panose="02020603050405020304" pitchFamily="18" charset="0"/>
              </a:rPr>
              <a:t> </a:t>
            </a:r>
            <a:r>
              <a:rPr lang="ru-RU" altLang="en-US" sz="1800" dirty="0" err="1">
                <a:latin typeface="Times New Roman" panose="02020603050405020304" pitchFamily="18" charset="0"/>
                <a:cs typeface="Times New Roman" panose="02020603050405020304" pitchFamily="18" charset="0"/>
              </a:rPr>
              <a:t>какви</a:t>
            </a:r>
            <a:r>
              <a:rPr lang="ru-RU" altLang="en-US" sz="1800" dirty="0">
                <a:latin typeface="Times New Roman" panose="02020603050405020304" pitchFamily="18" charset="0"/>
                <a:cs typeface="Times New Roman" panose="02020603050405020304" pitchFamily="18" charset="0"/>
              </a:rPr>
              <a:t> са </a:t>
            </a:r>
            <a:r>
              <a:rPr lang="ru-RU" altLang="en-US" sz="1800" dirty="0" err="1">
                <a:latin typeface="Times New Roman" panose="02020603050405020304" pitchFamily="18" charset="0"/>
                <a:cs typeface="Times New Roman" panose="02020603050405020304" pitchFamily="18" charset="0"/>
              </a:rPr>
              <a:t>действията</a:t>
            </a:r>
            <a:r>
              <a:rPr lang="ru-RU" altLang="en-US" sz="1800" dirty="0">
                <a:latin typeface="Times New Roman" panose="02020603050405020304" pitchFamily="18" charset="0"/>
                <a:cs typeface="Times New Roman" panose="02020603050405020304" pitchFamily="18" charset="0"/>
              </a:rPr>
              <a:t> на команда CALL при </a:t>
            </a:r>
            <a:r>
              <a:rPr lang="ru-RU" altLang="en-US" sz="1800" dirty="0" err="1">
                <a:latin typeface="Times New Roman" panose="02020603050405020304" pitchFamily="18" charset="0"/>
                <a:cs typeface="Times New Roman" panose="02020603050405020304" pitchFamily="18" charset="0"/>
              </a:rPr>
              <a:t>къс</a:t>
            </a:r>
            <a:r>
              <a:rPr lang="ru-RU" altLang="en-US" sz="1800" dirty="0">
                <a:latin typeface="Times New Roman" panose="02020603050405020304" pitchFamily="18" charset="0"/>
                <a:cs typeface="Times New Roman" panose="02020603050405020304" pitchFamily="18" charset="0"/>
              </a:rPr>
              <a:t> и при </a:t>
            </a:r>
            <a:r>
              <a:rPr lang="ru-RU" altLang="en-US" sz="1800" dirty="0" err="1">
                <a:latin typeface="Times New Roman" panose="02020603050405020304" pitchFamily="18" charset="0"/>
                <a:cs typeface="Times New Roman" panose="02020603050405020304" pitchFamily="18" charset="0"/>
              </a:rPr>
              <a:t>дълъг</a:t>
            </a:r>
            <a:r>
              <a:rPr lang="ru-RU" altLang="en-US" sz="1800" dirty="0">
                <a:latin typeface="Times New Roman" panose="02020603050405020304" pitchFamily="18" charset="0"/>
                <a:cs typeface="Times New Roman" panose="02020603050405020304" pitchFamily="18" charset="0"/>
              </a:rPr>
              <a:t> </a:t>
            </a:r>
            <a:r>
              <a:rPr lang="ru-RU" altLang="en-US" sz="1800" dirty="0" err="1">
                <a:latin typeface="Times New Roman" panose="02020603050405020304" pitchFamily="18" charset="0"/>
                <a:cs typeface="Times New Roman" panose="02020603050405020304" pitchFamily="18" charset="0"/>
              </a:rPr>
              <a:t>преход</a:t>
            </a:r>
            <a:r>
              <a:rPr lang="ru-RU" altLang="en-US" sz="1800" dirty="0">
                <a:latin typeface="Times New Roman" panose="02020603050405020304" pitchFamily="18" charset="0"/>
                <a:cs typeface="Times New Roman" panose="02020603050405020304" pitchFamily="18" charset="0"/>
              </a:rPr>
              <a:t> </a:t>
            </a:r>
            <a:r>
              <a:rPr lang="ru-RU" altLang="en-US" sz="1800" dirty="0" err="1">
                <a:latin typeface="Times New Roman" panose="02020603050405020304" pitchFamily="18" charset="0"/>
                <a:cs typeface="Times New Roman" panose="02020603050405020304" pitchFamily="18" charset="0"/>
              </a:rPr>
              <a:t>към</a:t>
            </a:r>
            <a:r>
              <a:rPr lang="ru-RU" altLang="en-US" sz="1800" dirty="0">
                <a:latin typeface="Times New Roman" panose="02020603050405020304" pitchFamily="18" charset="0"/>
                <a:cs typeface="Times New Roman" panose="02020603050405020304" pitchFamily="18" charset="0"/>
              </a:rPr>
              <a:t> процедура с </a:t>
            </a:r>
            <a:r>
              <a:rPr lang="ru-RU" altLang="en-US" sz="1800" dirty="0" err="1">
                <a:latin typeface="Times New Roman" panose="02020603050405020304" pitchFamily="18" charset="0"/>
                <a:cs typeface="Times New Roman" panose="02020603050405020304" pitchFamily="18" charset="0"/>
              </a:rPr>
              <a:t>името</a:t>
            </a:r>
            <a:r>
              <a:rPr lang="ru-RU" altLang="en-US" sz="1800" dirty="0">
                <a:latin typeface="Times New Roman" panose="02020603050405020304" pitchFamily="18" charset="0"/>
                <a:cs typeface="Times New Roman" panose="02020603050405020304" pitchFamily="18" charset="0"/>
              </a:rPr>
              <a:t> PP: </a:t>
            </a:r>
          </a:p>
          <a:p>
            <a:pPr marL="0" lvl="0" indent="0" algn="just">
              <a:buClrTx/>
              <a:buSzTx/>
              <a:buNone/>
            </a:pPr>
            <a:r>
              <a:rPr lang="ru-RU" altLang="en-US" sz="1800" dirty="0" err="1">
                <a:latin typeface="Times New Roman" panose="02020603050405020304" pitchFamily="18" charset="0"/>
                <a:cs typeface="Times New Roman" panose="02020603050405020304" pitchFamily="18" charset="0"/>
              </a:rPr>
              <a:t>Близък</a:t>
            </a:r>
            <a:r>
              <a:rPr lang="ru-RU" altLang="en-US" sz="1800" dirty="0">
                <a:latin typeface="Times New Roman" panose="02020603050405020304" pitchFamily="18" charset="0"/>
                <a:cs typeface="Times New Roman" panose="02020603050405020304" pitchFamily="18" charset="0"/>
              </a:rPr>
              <a:t> </a:t>
            </a:r>
            <a:r>
              <a:rPr lang="ru-RU" altLang="en-US" sz="1800" dirty="0" err="1">
                <a:latin typeface="Times New Roman" panose="02020603050405020304" pitchFamily="18" charset="0"/>
                <a:cs typeface="Times New Roman" panose="02020603050405020304" pitchFamily="18" charset="0"/>
              </a:rPr>
              <a:t>преход</a:t>
            </a:r>
            <a:r>
              <a:rPr lang="ru-RU" altLang="en-US" sz="1800" dirty="0">
                <a:latin typeface="Times New Roman" panose="02020603050405020304" pitchFamily="18" charset="0"/>
                <a:cs typeface="Times New Roman" panose="02020603050405020304" pitchFamily="18" charset="0"/>
              </a:rPr>
              <a:t>: АВ → стек,    IP := </a:t>
            </a:r>
            <a:r>
              <a:rPr lang="ru-RU" altLang="en-US" sz="1800" dirty="0" err="1">
                <a:latin typeface="Times New Roman" panose="02020603050405020304" pitchFamily="18" charset="0"/>
                <a:cs typeface="Times New Roman" panose="02020603050405020304" pitchFamily="18" charset="0"/>
              </a:rPr>
              <a:t>offset</a:t>
            </a:r>
            <a:r>
              <a:rPr lang="ru-RU" altLang="en-US" sz="1800" dirty="0">
                <a:latin typeface="Times New Roman" panose="02020603050405020304" pitchFamily="18" charset="0"/>
                <a:cs typeface="Times New Roman" panose="02020603050405020304" pitchFamily="18" charset="0"/>
              </a:rPr>
              <a:t> PP</a:t>
            </a:r>
          </a:p>
          <a:p>
            <a:pPr marL="0" lvl="0" indent="0" algn="just">
              <a:buClrTx/>
              <a:buSzTx/>
              <a:buNone/>
            </a:pPr>
            <a:r>
              <a:rPr lang="ru-RU" altLang="en-US" sz="1800" dirty="0" err="1">
                <a:latin typeface="Times New Roman" panose="02020603050405020304" pitchFamily="18" charset="0"/>
                <a:cs typeface="Times New Roman" panose="02020603050405020304" pitchFamily="18" charset="0"/>
              </a:rPr>
              <a:t>Дълъг</a:t>
            </a:r>
            <a:r>
              <a:rPr lang="ru-RU" altLang="en-US" sz="1800" dirty="0">
                <a:latin typeface="Times New Roman" panose="02020603050405020304" pitchFamily="18" charset="0"/>
                <a:cs typeface="Times New Roman" panose="02020603050405020304" pitchFamily="18" charset="0"/>
              </a:rPr>
              <a:t> </a:t>
            </a:r>
            <a:r>
              <a:rPr lang="ru-RU" altLang="en-US" sz="1800" dirty="0" err="1">
                <a:latin typeface="Times New Roman" panose="02020603050405020304" pitchFamily="18" charset="0"/>
                <a:cs typeface="Times New Roman" panose="02020603050405020304" pitchFamily="18" charset="0"/>
              </a:rPr>
              <a:t>преход</a:t>
            </a:r>
            <a:r>
              <a:rPr lang="ru-RU" altLang="en-US" sz="1800" dirty="0">
                <a:latin typeface="Times New Roman" panose="02020603050405020304" pitchFamily="18" charset="0"/>
                <a:cs typeface="Times New Roman" panose="02020603050405020304" pitchFamily="18" charset="0"/>
              </a:rPr>
              <a:t>:   (CS) → стек,  АВ → стек,  CS := </a:t>
            </a:r>
            <a:r>
              <a:rPr lang="ru-RU" altLang="en-US" sz="1800" dirty="0" err="1">
                <a:latin typeface="Times New Roman" panose="02020603050405020304" pitchFamily="18" charset="0"/>
                <a:cs typeface="Times New Roman" panose="02020603050405020304" pitchFamily="18" charset="0"/>
              </a:rPr>
              <a:t>seg</a:t>
            </a:r>
            <a:r>
              <a:rPr lang="ru-RU" altLang="en-US" sz="1800" dirty="0">
                <a:latin typeface="Times New Roman" panose="02020603050405020304" pitchFamily="18" charset="0"/>
                <a:cs typeface="Times New Roman" panose="02020603050405020304" pitchFamily="18" charset="0"/>
              </a:rPr>
              <a:t> PP,  IP := </a:t>
            </a:r>
            <a:r>
              <a:rPr lang="ru-RU" altLang="en-US" sz="1800" dirty="0" err="1">
                <a:latin typeface="Times New Roman" panose="02020603050405020304" pitchFamily="18" charset="0"/>
                <a:cs typeface="Times New Roman" panose="02020603050405020304" pitchFamily="18" charset="0"/>
              </a:rPr>
              <a:t>offset</a:t>
            </a:r>
            <a:r>
              <a:rPr lang="ru-RU" altLang="en-US" sz="1800" dirty="0">
                <a:latin typeface="Times New Roman" panose="02020603050405020304" pitchFamily="18" charset="0"/>
                <a:cs typeface="Times New Roman" panose="02020603050405020304" pitchFamily="18" charset="0"/>
              </a:rPr>
              <a:t> PP  </a:t>
            </a:r>
          </a:p>
          <a:p>
            <a:pPr marL="0" lvl="0" indent="0" algn="just">
              <a:buClrTx/>
              <a:buSzTx/>
              <a:buNone/>
            </a:pPr>
            <a:r>
              <a:rPr lang="ru-RU" altLang="en-US" sz="1800" dirty="0">
                <a:latin typeface="Times New Roman" panose="02020603050405020304" pitchFamily="18" charset="0"/>
                <a:cs typeface="Times New Roman" panose="02020603050405020304" pitchFamily="18" charset="0"/>
              </a:rPr>
              <a:t>При връщане от процедура, </a:t>
            </a:r>
            <a:r>
              <a:rPr lang="ru-RU" altLang="en-US" sz="1800" dirty="0" err="1">
                <a:latin typeface="Times New Roman" panose="02020603050405020304" pitchFamily="18" charset="0"/>
                <a:cs typeface="Times New Roman" panose="02020603050405020304" pitchFamily="18" charset="0"/>
              </a:rPr>
              <a:t>действията</a:t>
            </a:r>
            <a:r>
              <a:rPr lang="ru-RU" altLang="en-US" sz="1800" dirty="0">
                <a:latin typeface="Times New Roman" panose="02020603050405020304" pitchFamily="18" charset="0"/>
                <a:cs typeface="Times New Roman" panose="02020603050405020304" pitchFamily="18" charset="0"/>
              </a:rPr>
              <a:t> на команда RET са:</a:t>
            </a:r>
          </a:p>
          <a:p>
            <a:pPr marL="0" lvl="0" indent="0" algn="just">
              <a:buClrTx/>
              <a:buSzTx/>
              <a:buNone/>
            </a:pPr>
            <a:r>
              <a:rPr lang="ru-RU" altLang="en-US" sz="1800" dirty="0">
                <a:latin typeface="Times New Roman" panose="02020603050405020304" pitchFamily="18" charset="0"/>
                <a:cs typeface="Times New Roman" panose="02020603050405020304" pitchFamily="18" charset="0"/>
              </a:rPr>
              <a:t>Връщане от </a:t>
            </a:r>
            <a:r>
              <a:rPr lang="ru-RU" altLang="en-US" sz="1800" dirty="0" err="1">
                <a:latin typeface="Times New Roman" panose="02020603050405020304" pitchFamily="18" charset="0"/>
                <a:cs typeface="Times New Roman" panose="02020603050405020304" pitchFamily="18" charset="0"/>
              </a:rPr>
              <a:t>близо</a:t>
            </a:r>
            <a:r>
              <a:rPr lang="ru-RU" altLang="en-US" sz="1800" dirty="0">
                <a:latin typeface="Times New Roman" panose="02020603050405020304" pitchFamily="18" charset="0"/>
                <a:cs typeface="Times New Roman" panose="02020603050405020304" pitchFamily="18" charset="0"/>
              </a:rPr>
              <a:t>:      стек → IP </a:t>
            </a:r>
          </a:p>
          <a:p>
            <a:pPr marL="0" lvl="0" indent="0" algn="just">
              <a:buClrTx/>
              <a:buSzTx/>
              <a:buNone/>
            </a:pPr>
            <a:r>
              <a:rPr lang="ru-RU" altLang="en-US" sz="1800" dirty="0">
                <a:latin typeface="Times New Roman" panose="02020603050405020304" pitchFamily="18" charset="0"/>
                <a:cs typeface="Times New Roman" panose="02020603050405020304" pitchFamily="18" charset="0"/>
              </a:rPr>
              <a:t>Връщане от далече:    стек → IP ,   стек → CS  </a:t>
            </a:r>
          </a:p>
          <a:p>
            <a:pPr marL="0" lvl="0" indent="0" algn="just">
              <a:buClrTx/>
              <a:buSzTx/>
              <a:buNone/>
            </a:pPr>
            <a:r>
              <a:rPr lang="ru-RU" altLang="en-US" sz="1800" dirty="0">
                <a:latin typeface="Times New Roman" panose="02020603050405020304" pitchFamily="18" charset="0"/>
                <a:cs typeface="Times New Roman" panose="02020603050405020304" pitchFamily="18" charset="0"/>
              </a:rPr>
              <a:t> </a:t>
            </a:r>
            <a:r>
              <a:rPr lang="ru-RU" altLang="en-US" sz="1800" dirty="0" err="1">
                <a:latin typeface="Times New Roman" panose="02020603050405020304" pitchFamily="18" charset="0"/>
                <a:cs typeface="Times New Roman" panose="02020603050405020304" pitchFamily="18" charset="0"/>
              </a:rPr>
              <a:t>Различаването</a:t>
            </a:r>
            <a:r>
              <a:rPr lang="ru-RU" altLang="en-US" sz="1800" dirty="0">
                <a:latin typeface="Times New Roman" panose="02020603050405020304" pitchFamily="18" charset="0"/>
                <a:cs typeface="Times New Roman" panose="02020603050405020304" pitchFamily="18" charset="0"/>
              </a:rPr>
              <a:t> на </a:t>
            </a:r>
            <a:r>
              <a:rPr lang="ru-RU" altLang="en-US" sz="1800" dirty="0" err="1">
                <a:latin typeface="Times New Roman" panose="02020603050405020304" pitchFamily="18" charset="0"/>
                <a:cs typeface="Times New Roman" panose="02020603050405020304" pitchFamily="18" charset="0"/>
              </a:rPr>
              <a:t>двата</a:t>
            </a:r>
            <a:r>
              <a:rPr lang="ru-RU" altLang="en-US" sz="1800" dirty="0">
                <a:latin typeface="Times New Roman" panose="02020603050405020304" pitchFamily="18" charset="0"/>
                <a:cs typeface="Times New Roman" panose="02020603050405020304" pitchFamily="18" charset="0"/>
              </a:rPr>
              <a:t> вида </a:t>
            </a:r>
            <a:r>
              <a:rPr lang="ru-RU" altLang="en-US" sz="1800" dirty="0" err="1">
                <a:latin typeface="Times New Roman" panose="02020603050405020304" pitchFamily="18" charset="0"/>
                <a:cs typeface="Times New Roman" panose="02020603050405020304" pitchFamily="18" charset="0"/>
              </a:rPr>
              <a:t>преходи</a:t>
            </a:r>
            <a:r>
              <a:rPr lang="ru-RU" altLang="en-US" sz="1800" dirty="0">
                <a:latin typeface="Times New Roman" panose="02020603050405020304" pitchFamily="18" charset="0"/>
                <a:cs typeface="Times New Roman" panose="02020603050405020304" pitchFamily="18" charset="0"/>
              </a:rPr>
              <a:t> </a:t>
            </a:r>
            <a:r>
              <a:rPr lang="bg-BG" altLang="en-US" sz="1800" dirty="0">
                <a:latin typeface="Times New Roman" panose="02020603050405020304" pitchFamily="18" charset="0"/>
                <a:cs typeface="Times New Roman" panose="02020603050405020304" pitchFamily="18" charset="0"/>
              </a:rPr>
              <a:t>се </a:t>
            </a:r>
            <a:r>
              <a:rPr lang="ru-RU" altLang="en-US" sz="1800" dirty="0" err="1">
                <a:latin typeface="Times New Roman" panose="02020603050405020304" pitchFamily="18" charset="0"/>
                <a:cs typeface="Times New Roman" panose="02020603050405020304" pitchFamily="18" charset="0"/>
              </a:rPr>
              <a:t>осъществява</a:t>
            </a:r>
            <a:r>
              <a:rPr lang="ru-RU" altLang="en-US" sz="1800" dirty="0">
                <a:latin typeface="Times New Roman" panose="02020603050405020304" pitchFamily="18" charset="0"/>
                <a:cs typeface="Times New Roman" panose="02020603050405020304" pitchFamily="18" charset="0"/>
              </a:rPr>
              <a:t> по </a:t>
            </a:r>
            <a:r>
              <a:rPr lang="ru-RU" altLang="en-US" sz="1800" dirty="0" err="1">
                <a:latin typeface="Times New Roman" panose="02020603050405020304" pitchFamily="18" charset="0"/>
                <a:cs typeface="Times New Roman" panose="02020603050405020304" pitchFamily="18" charset="0"/>
              </a:rPr>
              <a:t>описанието</a:t>
            </a:r>
            <a:r>
              <a:rPr lang="ru-RU" altLang="en-US" sz="1800" dirty="0">
                <a:latin typeface="Times New Roman" panose="02020603050405020304" pitchFamily="18" charset="0"/>
                <a:cs typeface="Times New Roman" panose="02020603050405020304" pitchFamily="18" charset="0"/>
              </a:rPr>
              <a:t> на </a:t>
            </a:r>
            <a:r>
              <a:rPr lang="ru-RU" altLang="en-US" sz="1800" dirty="0" err="1">
                <a:latin typeface="Times New Roman" panose="02020603050405020304" pitchFamily="18" charset="0"/>
                <a:cs typeface="Times New Roman" panose="02020603050405020304" pitchFamily="18" charset="0"/>
              </a:rPr>
              <a:t>процедурата</a:t>
            </a:r>
            <a:r>
              <a:rPr lang="ru-RU" altLang="en-US" sz="1800" dirty="0">
                <a:latin typeface="Times New Roman" panose="02020603050405020304" pitchFamily="18" charset="0"/>
                <a:cs typeface="Times New Roman" panose="02020603050405020304" pitchFamily="18" charset="0"/>
              </a:rPr>
              <a:t>. Ако то </a:t>
            </a:r>
            <a:r>
              <a:rPr lang="ru-RU" altLang="en-US" sz="1800" dirty="0" err="1">
                <a:latin typeface="Times New Roman" panose="02020603050405020304" pitchFamily="18" charset="0"/>
                <a:cs typeface="Times New Roman" panose="02020603050405020304" pitchFamily="18" charset="0"/>
              </a:rPr>
              <a:t>съдържа</a:t>
            </a:r>
            <a:r>
              <a:rPr lang="ru-RU" altLang="en-US" sz="1800" dirty="0">
                <a:latin typeface="Times New Roman" panose="02020603050405020304" pitchFamily="18" charset="0"/>
                <a:cs typeface="Times New Roman" panose="02020603050405020304" pitchFamily="18" charset="0"/>
              </a:rPr>
              <a:t> само </a:t>
            </a:r>
            <a:r>
              <a:rPr lang="ru-RU" altLang="en-US" sz="1800" dirty="0" err="1">
                <a:latin typeface="Times New Roman" panose="02020603050405020304" pitchFamily="18" charset="0"/>
                <a:cs typeface="Times New Roman" panose="02020603050405020304" pitchFamily="18" charset="0"/>
              </a:rPr>
              <a:t>име</a:t>
            </a:r>
            <a:r>
              <a:rPr lang="ru-RU" altLang="en-US" sz="1800" dirty="0">
                <a:latin typeface="Times New Roman" panose="02020603050405020304" pitchFamily="18" charset="0"/>
                <a:cs typeface="Times New Roman" panose="02020603050405020304" pitchFamily="18" charset="0"/>
              </a:rPr>
              <a:t>, </a:t>
            </a:r>
            <a:r>
              <a:rPr lang="ru-RU" altLang="en-US" sz="1800" dirty="0" err="1">
                <a:latin typeface="Times New Roman" panose="02020603050405020304" pitchFamily="18" charset="0"/>
                <a:cs typeface="Times New Roman" panose="02020603050405020304" pitchFamily="18" charset="0"/>
              </a:rPr>
              <a:t>преходите</a:t>
            </a:r>
            <a:r>
              <a:rPr lang="ru-RU" altLang="en-US" sz="1800" dirty="0">
                <a:latin typeface="Times New Roman" panose="02020603050405020304" pitchFamily="18" charset="0"/>
                <a:cs typeface="Times New Roman" panose="02020603050405020304" pitchFamily="18" charset="0"/>
              </a:rPr>
              <a:t> са </a:t>
            </a:r>
            <a:r>
              <a:rPr lang="ru-RU" altLang="en-US" sz="1800" dirty="0" err="1">
                <a:latin typeface="Times New Roman" panose="02020603050405020304" pitchFamily="18" charset="0"/>
                <a:cs typeface="Times New Roman" panose="02020603050405020304" pitchFamily="18" charset="0"/>
              </a:rPr>
              <a:t>къси</a:t>
            </a:r>
            <a:r>
              <a:rPr lang="ru-RU" altLang="en-US" sz="1800" dirty="0">
                <a:latin typeface="Times New Roman" panose="02020603050405020304" pitchFamily="18" charset="0"/>
                <a:cs typeface="Times New Roman" panose="02020603050405020304" pitchFamily="18" charset="0"/>
              </a:rPr>
              <a:t>. Ако </a:t>
            </a:r>
            <a:r>
              <a:rPr lang="ru-RU" altLang="en-US" sz="1800" dirty="0" err="1">
                <a:latin typeface="Times New Roman" panose="02020603050405020304" pitchFamily="18" charset="0"/>
                <a:cs typeface="Times New Roman" panose="02020603050405020304" pitchFamily="18" charset="0"/>
              </a:rPr>
              <a:t>името</a:t>
            </a:r>
            <a:r>
              <a:rPr lang="ru-RU" altLang="en-US" sz="1800" dirty="0">
                <a:latin typeface="Times New Roman" panose="02020603050405020304" pitchFamily="18" charset="0"/>
                <a:cs typeface="Times New Roman" panose="02020603050405020304" pitchFamily="18" charset="0"/>
              </a:rPr>
              <a:t> е </a:t>
            </a:r>
            <a:r>
              <a:rPr lang="ru-RU" altLang="en-US" sz="1800" dirty="0" err="1">
                <a:latin typeface="Times New Roman" panose="02020603050405020304" pitchFamily="18" charset="0"/>
                <a:cs typeface="Times New Roman" panose="02020603050405020304" pitchFamily="18" charset="0"/>
              </a:rPr>
              <a:t>обявено</a:t>
            </a:r>
            <a:r>
              <a:rPr lang="ru-RU" altLang="en-US" sz="1800" dirty="0">
                <a:latin typeface="Times New Roman" panose="02020603050405020304" pitchFamily="18" charset="0"/>
                <a:cs typeface="Times New Roman" panose="02020603050405020304" pitchFamily="18" charset="0"/>
              </a:rPr>
              <a:t> с оператор PTR – </a:t>
            </a:r>
            <a:r>
              <a:rPr lang="ru-RU" altLang="en-US" sz="1800" dirty="0" err="1">
                <a:latin typeface="Times New Roman" panose="02020603050405020304" pitchFamily="18" charset="0"/>
                <a:cs typeface="Times New Roman" panose="02020603050405020304" pitchFamily="18" charset="0"/>
              </a:rPr>
              <a:t>дълги</a:t>
            </a:r>
            <a:r>
              <a:rPr lang="ru-RU" altLang="en-US" sz="1800" dirty="0">
                <a:latin typeface="Times New Roman" panose="02020603050405020304" pitchFamily="18" charset="0"/>
                <a:cs typeface="Times New Roman" panose="02020603050405020304" pitchFamily="18" charset="0"/>
              </a:rPr>
              <a:t>. Така, ако </a:t>
            </a:r>
            <a:r>
              <a:rPr lang="ru-RU" altLang="en-US" sz="1800" dirty="0" err="1">
                <a:latin typeface="Times New Roman" panose="02020603050405020304" pitchFamily="18" charset="0"/>
                <a:cs typeface="Times New Roman" panose="02020603050405020304" pitchFamily="18" charset="0"/>
              </a:rPr>
              <a:t>процедурата</a:t>
            </a:r>
            <a:r>
              <a:rPr lang="ru-RU" altLang="en-US" sz="1800" dirty="0">
                <a:latin typeface="Times New Roman" panose="02020603050405020304" pitchFamily="18" charset="0"/>
                <a:cs typeface="Times New Roman" panose="02020603050405020304" pitchFamily="18" charset="0"/>
              </a:rPr>
              <a:t> РР е близка, </a:t>
            </a:r>
            <a:r>
              <a:rPr lang="ru-RU" altLang="en-US" sz="1800" dirty="0" err="1">
                <a:latin typeface="Times New Roman" panose="02020603050405020304" pitchFamily="18" charset="0"/>
                <a:cs typeface="Times New Roman" panose="02020603050405020304" pitchFamily="18" charset="0"/>
              </a:rPr>
              <a:t>тя</a:t>
            </a:r>
            <a:r>
              <a:rPr lang="ru-RU" altLang="en-US" sz="1800" dirty="0">
                <a:latin typeface="Times New Roman" panose="02020603050405020304" pitchFamily="18" charset="0"/>
                <a:cs typeface="Times New Roman" panose="02020603050405020304" pitchFamily="18" charset="0"/>
              </a:rPr>
              <a:t> се </a:t>
            </a:r>
            <a:r>
              <a:rPr lang="ru-RU" altLang="en-US" sz="1800" dirty="0" err="1">
                <a:latin typeface="Times New Roman" panose="02020603050405020304" pitchFamily="18" charset="0"/>
                <a:cs typeface="Times New Roman" panose="02020603050405020304" pitchFamily="18" charset="0"/>
              </a:rPr>
              <a:t>извиква</a:t>
            </a:r>
            <a:r>
              <a:rPr lang="ru-RU" altLang="en-US" sz="1800" dirty="0">
                <a:latin typeface="Times New Roman" panose="02020603050405020304" pitchFamily="18" charset="0"/>
                <a:cs typeface="Times New Roman" panose="02020603050405020304" pitchFamily="18" charset="0"/>
              </a:rPr>
              <a:t> с </a:t>
            </a:r>
            <a:r>
              <a:rPr lang="ru-RU" altLang="en-US" sz="1800" dirty="0" err="1">
                <a:latin typeface="Times New Roman" panose="02020603050405020304" pitchFamily="18" charset="0"/>
                <a:cs typeface="Times New Roman" panose="02020603050405020304" pitchFamily="18" charset="0"/>
              </a:rPr>
              <a:t>командата</a:t>
            </a:r>
            <a:r>
              <a:rPr lang="ru-RU" altLang="en-US" sz="1800" dirty="0">
                <a:latin typeface="Times New Roman" panose="02020603050405020304" pitchFamily="18" charset="0"/>
                <a:cs typeface="Times New Roman" panose="02020603050405020304" pitchFamily="18" charset="0"/>
              </a:rPr>
              <a:t>:   CALL   PP , а ако </a:t>
            </a:r>
            <a:r>
              <a:rPr lang="ru-RU" altLang="en-US" sz="1800" dirty="0" err="1">
                <a:latin typeface="Times New Roman" panose="02020603050405020304" pitchFamily="18" charset="0"/>
                <a:cs typeface="Times New Roman" panose="02020603050405020304" pitchFamily="18" charset="0"/>
              </a:rPr>
              <a:t>процедурата</a:t>
            </a:r>
            <a:r>
              <a:rPr lang="ru-RU" altLang="en-US" sz="1800" dirty="0">
                <a:latin typeface="Times New Roman" panose="02020603050405020304" pitchFamily="18" charset="0"/>
                <a:cs typeface="Times New Roman" panose="02020603050405020304" pitchFamily="18" charset="0"/>
              </a:rPr>
              <a:t> е </a:t>
            </a:r>
            <a:r>
              <a:rPr lang="ru-RU" altLang="en-US" sz="1800" dirty="0" err="1">
                <a:latin typeface="Times New Roman" panose="02020603050405020304" pitchFamily="18" charset="0"/>
                <a:cs typeface="Times New Roman" panose="02020603050405020304" pitchFamily="18" charset="0"/>
              </a:rPr>
              <a:t>далечна</a:t>
            </a:r>
            <a:r>
              <a:rPr lang="ru-RU" altLang="en-US" sz="1800" dirty="0">
                <a:latin typeface="Times New Roman" panose="02020603050405020304" pitchFamily="18" charset="0"/>
                <a:cs typeface="Times New Roman" panose="02020603050405020304" pitchFamily="18" charset="0"/>
              </a:rPr>
              <a:t>, </a:t>
            </a:r>
            <a:r>
              <a:rPr lang="ru-RU" altLang="en-US" sz="1800" dirty="0" err="1">
                <a:latin typeface="Times New Roman" panose="02020603050405020304" pitchFamily="18" charset="0"/>
                <a:cs typeface="Times New Roman" panose="02020603050405020304" pitchFamily="18" charset="0"/>
              </a:rPr>
              <a:t>тя</a:t>
            </a:r>
            <a:r>
              <a:rPr lang="ru-RU" altLang="en-US" sz="1800" dirty="0">
                <a:latin typeface="Times New Roman" panose="02020603050405020304" pitchFamily="18" charset="0"/>
                <a:cs typeface="Times New Roman" panose="02020603050405020304" pitchFamily="18" charset="0"/>
              </a:rPr>
              <a:t> се </a:t>
            </a:r>
            <a:r>
              <a:rPr lang="ru-RU" altLang="en-US" sz="1800" dirty="0" err="1">
                <a:latin typeface="Times New Roman" panose="02020603050405020304" pitchFamily="18" charset="0"/>
                <a:cs typeface="Times New Roman" panose="02020603050405020304" pitchFamily="18" charset="0"/>
              </a:rPr>
              <a:t>извиква</a:t>
            </a:r>
            <a:r>
              <a:rPr lang="ru-RU" altLang="en-US" sz="1800" dirty="0">
                <a:latin typeface="Times New Roman" panose="02020603050405020304" pitchFamily="18" charset="0"/>
                <a:cs typeface="Times New Roman" panose="02020603050405020304" pitchFamily="18" charset="0"/>
              </a:rPr>
              <a:t> с </a:t>
            </a:r>
            <a:r>
              <a:rPr lang="ru-RU" altLang="en-US" sz="1800" dirty="0" err="1">
                <a:latin typeface="Times New Roman" panose="02020603050405020304" pitchFamily="18" charset="0"/>
                <a:cs typeface="Times New Roman" panose="02020603050405020304" pitchFamily="18" charset="0"/>
              </a:rPr>
              <a:t>командата</a:t>
            </a:r>
            <a:r>
              <a:rPr lang="ru-RU" altLang="en-US" sz="1800" dirty="0">
                <a:latin typeface="Times New Roman" panose="02020603050405020304" pitchFamily="18" charset="0"/>
                <a:cs typeface="Times New Roman" panose="02020603050405020304" pitchFamily="18" charset="0"/>
              </a:rPr>
              <a:t>:   CALL   FAR  PTR  PP.</a:t>
            </a:r>
          </a:p>
          <a:p>
            <a:pPr marL="0" lvl="0" indent="0" algn="just">
              <a:buClrTx/>
              <a:buSzTx/>
              <a:buNone/>
            </a:pPr>
            <a:endParaRPr kumimoji="0" lang="bg-BG"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7482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95536" y="260648"/>
            <a:ext cx="8229600" cy="638944"/>
          </a:xfrm>
        </p:spPr>
        <p:txBody>
          <a:bodyPr>
            <a:noAutofit/>
          </a:bodyPr>
          <a:lstStyle/>
          <a:p>
            <a:r>
              <a:rPr lang="ru-RU" sz="3000" b="1" dirty="0" err="1">
                <a:latin typeface="Times New Roman" panose="02020603050405020304" pitchFamily="18" charset="0"/>
                <a:cs typeface="Times New Roman" panose="02020603050405020304" pitchFamily="18" charset="0"/>
              </a:rPr>
              <a:t>Обръщение</a:t>
            </a:r>
            <a:r>
              <a:rPr lang="ru-RU" sz="3000" b="1" dirty="0">
                <a:latin typeface="Times New Roman" panose="02020603050405020304" pitchFamily="18" charset="0"/>
                <a:cs typeface="Times New Roman" panose="02020603050405020304" pitchFamily="18" charset="0"/>
              </a:rPr>
              <a:t> </a:t>
            </a:r>
            <a:r>
              <a:rPr lang="ru-RU" sz="3000" b="1" dirty="0" err="1">
                <a:latin typeface="Times New Roman" panose="02020603050405020304" pitchFamily="18" charset="0"/>
                <a:cs typeface="Times New Roman" panose="02020603050405020304" pitchFamily="18" charset="0"/>
              </a:rPr>
              <a:t>към</a:t>
            </a:r>
            <a:r>
              <a:rPr lang="ru-RU" sz="3000" b="1" dirty="0">
                <a:latin typeface="Times New Roman" panose="02020603050405020304" pitchFamily="18" charset="0"/>
                <a:cs typeface="Times New Roman" panose="02020603050405020304" pitchFamily="18" charset="0"/>
              </a:rPr>
              <a:t> процедура и </a:t>
            </a:r>
            <a:r>
              <a:rPr lang="ru-RU" sz="3000" b="1" dirty="0" err="1">
                <a:latin typeface="Times New Roman" panose="02020603050405020304" pitchFamily="18" charset="0"/>
                <a:cs typeface="Times New Roman" panose="02020603050405020304" pitchFamily="18" charset="0"/>
              </a:rPr>
              <a:t>връщане</a:t>
            </a:r>
            <a:r>
              <a:rPr lang="ru-RU" sz="3000" b="1" dirty="0">
                <a:latin typeface="Times New Roman" panose="02020603050405020304" pitchFamily="18" charset="0"/>
                <a:cs typeface="Times New Roman" panose="02020603050405020304" pitchFamily="18" charset="0"/>
              </a:rPr>
              <a:t> от процедура</a:t>
            </a:r>
            <a:endParaRPr lang="bg-BG" sz="3000" b="1" dirty="0">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idx="1"/>
          </p:nvPr>
        </p:nvSpPr>
        <p:spPr bwMode="auto">
          <a:xfrm>
            <a:off x="196478" y="3597572"/>
            <a:ext cx="87510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ClrTx/>
              <a:buSzTx/>
              <a:buNone/>
            </a:pPr>
            <a:r>
              <a:rPr lang="ru-RU" altLang="en-US" sz="2000" dirty="0">
                <a:latin typeface="Times New Roman" panose="02020603050405020304" pitchFamily="18" charset="0"/>
                <a:cs typeface="Times New Roman" panose="02020603050405020304" pitchFamily="18" charset="0"/>
              </a:rPr>
              <a:t> </a:t>
            </a:r>
            <a:endParaRPr kumimoji="0" lang="bg-BG"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426F50B-9DCA-4FC6-9DE8-CB4F9D472582}"/>
              </a:ext>
            </a:extLst>
          </p:cNvPr>
          <p:cNvSpPr/>
          <p:nvPr/>
        </p:nvSpPr>
        <p:spPr>
          <a:xfrm>
            <a:off x="413230" y="899592"/>
            <a:ext cx="3510698" cy="5847755"/>
          </a:xfrm>
          <a:prstGeom prst="rect">
            <a:avLst/>
          </a:prstGeom>
        </p:spPr>
        <p:txBody>
          <a:bodyPr wrap="square">
            <a:spAutoFit/>
          </a:bodyPr>
          <a:lstStyle/>
          <a:p>
            <a:r>
              <a:rPr lang="bg-BG" sz="1700" dirty="0">
                <a:latin typeface="Times New Roman" panose="02020603050405020304" pitchFamily="18" charset="0"/>
                <a:cs typeface="Times New Roman" panose="02020603050405020304" pitchFamily="18" charset="0"/>
              </a:rPr>
              <a:t>Използване на инструкция </a:t>
            </a:r>
            <a:r>
              <a:rPr lang="en-US" sz="1700" dirty="0">
                <a:latin typeface="Times New Roman" panose="02020603050405020304" pitchFamily="18" charset="0"/>
                <a:cs typeface="Times New Roman" panose="02020603050405020304" pitchFamily="18" charset="0"/>
              </a:rPr>
              <a:t>CALL</a:t>
            </a:r>
          </a:p>
          <a:p>
            <a:r>
              <a:rPr lang="en-US" sz="1700" dirty="0">
                <a:latin typeface="Times New Roman" panose="02020603050405020304" pitchFamily="18" charset="0"/>
                <a:cs typeface="Times New Roman" panose="02020603050405020304" pitchFamily="18" charset="0"/>
              </a:rPr>
              <a:t>NA DW P</a:t>
            </a:r>
          </a:p>
          <a:p>
            <a:r>
              <a:rPr lang="en-US" sz="1700" dirty="0">
                <a:latin typeface="Times New Roman" panose="02020603050405020304" pitchFamily="18" charset="0"/>
                <a:cs typeface="Times New Roman" panose="02020603050405020304" pitchFamily="18" charset="0"/>
              </a:rPr>
              <a:t>FA DD Q</a:t>
            </a:r>
          </a:p>
          <a:p>
            <a:r>
              <a:rPr lang="en-US" sz="1700" dirty="0">
                <a:latin typeface="Times New Roman" panose="02020603050405020304" pitchFamily="18" charset="0"/>
                <a:cs typeface="Times New Roman" panose="02020603050405020304" pitchFamily="18" charset="0"/>
              </a:rPr>
              <a:t>… … …</a:t>
            </a:r>
          </a:p>
          <a:p>
            <a:r>
              <a:rPr lang="en-US" sz="1700" dirty="0">
                <a:latin typeface="Times New Roman" panose="02020603050405020304" pitchFamily="18" charset="0"/>
                <a:cs typeface="Times New Roman" panose="02020603050405020304" pitchFamily="18" charset="0"/>
              </a:rPr>
              <a:t>P PROC</a:t>
            </a:r>
          </a:p>
          <a:p>
            <a:r>
              <a:rPr lang="en-US" sz="1700" dirty="0">
                <a:latin typeface="Times New Roman" panose="02020603050405020304" pitchFamily="18" charset="0"/>
                <a:cs typeface="Times New Roman" panose="02020603050405020304" pitchFamily="18" charset="0"/>
              </a:rPr>
              <a:t>···· ···· ···· ····</a:t>
            </a:r>
          </a:p>
          <a:p>
            <a:r>
              <a:rPr lang="en-US" sz="1700" dirty="0">
                <a:latin typeface="Times New Roman" panose="02020603050405020304" pitchFamily="18" charset="0"/>
                <a:cs typeface="Times New Roman" panose="02020603050405020304" pitchFamily="18" charset="0"/>
              </a:rPr>
              <a:t>P1: ···· ···· ···· ····</a:t>
            </a:r>
          </a:p>
          <a:p>
            <a:r>
              <a:rPr lang="en-US" sz="1700" dirty="0">
                <a:latin typeface="Times New Roman" panose="02020603050405020304" pitchFamily="18" charset="0"/>
                <a:cs typeface="Times New Roman" panose="02020603050405020304" pitchFamily="18" charset="0"/>
              </a:rPr>
              <a:t>···· ···· ···· ····</a:t>
            </a:r>
          </a:p>
          <a:p>
            <a:r>
              <a:rPr lang="en-US" sz="1700" dirty="0">
                <a:latin typeface="Times New Roman" panose="02020603050405020304" pitchFamily="18" charset="0"/>
                <a:cs typeface="Times New Roman" panose="02020603050405020304" pitchFamily="18" charset="0"/>
              </a:rPr>
              <a:t>P ENDP</a:t>
            </a:r>
          </a:p>
          <a:p>
            <a:r>
              <a:rPr lang="en-US" sz="1700" dirty="0">
                <a:latin typeface="Times New Roman" panose="02020603050405020304" pitchFamily="18" charset="0"/>
                <a:cs typeface="Times New Roman" panose="02020603050405020304" pitchFamily="18" charset="0"/>
              </a:rPr>
              <a:t>Q PROC FAR</a:t>
            </a:r>
          </a:p>
          <a:p>
            <a:r>
              <a:rPr lang="en-US" sz="1700" dirty="0">
                <a:latin typeface="Times New Roman" panose="02020603050405020304" pitchFamily="18" charset="0"/>
                <a:cs typeface="Times New Roman" panose="02020603050405020304" pitchFamily="18" charset="0"/>
              </a:rPr>
              <a:t>···· ···· ···· ····</a:t>
            </a:r>
          </a:p>
          <a:p>
            <a:r>
              <a:rPr lang="en-US" sz="1700" dirty="0">
                <a:latin typeface="Times New Roman" panose="02020603050405020304" pitchFamily="18" charset="0"/>
                <a:cs typeface="Times New Roman" panose="02020603050405020304" pitchFamily="18" charset="0"/>
              </a:rPr>
              <a:t>Q1: ···· ···· ···· ····</a:t>
            </a:r>
          </a:p>
          <a:p>
            <a:r>
              <a:rPr lang="en-US" sz="1700" dirty="0">
                <a:latin typeface="Times New Roman" panose="02020603050405020304" pitchFamily="18" charset="0"/>
                <a:cs typeface="Times New Roman" panose="02020603050405020304" pitchFamily="18" charset="0"/>
              </a:rPr>
              <a:t>···· ···· ···· ····</a:t>
            </a:r>
          </a:p>
          <a:p>
            <a:r>
              <a:rPr lang="en-US" sz="1700" dirty="0">
                <a:latin typeface="Times New Roman" panose="02020603050405020304" pitchFamily="18" charset="0"/>
                <a:cs typeface="Times New Roman" panose="02020603050405020304" pitchFamily="18" charset="0"/>
              </a:rPr>
              <a:t>Q ENDQ</a:t>
            </a:r>
          </a:p>
          <a:p>
            <a:r>
              <a:rPr lang="en-US" sz="1700" dirty="0">
                <a:latin typeface="Times New Roman" panose="02020603050405020304" pitchFamily="18" charset="0"/>
                <a:cs typeface="Times New Roman" panose="02020603050405020304" pitchFamily="18" charset="0"/>
              </a:rPr>
              <a:t>···· ···· ···· ····</a:t>
            </a:r>
          </a:p>
          <a:p>
            <a:r>
              <a:rPr lang="en-US" sz="1700" dirty="0">
                <a:latin typeface="Times New Roman" panose="02020603050405020304" pitchFamily="18" charset="0"/>
                <a:cs typeface="Times New Roman" panose="02020603050405020304" pitchFamily="18" charset="0"/>
              </a:rPr>
              <a:t>CALL P1 ;    '1  %</a:t>
            </a:r>
          </a:p>
          <a:p>
            <a:r>
              <a:rPr lang="en-US" sz="1700" dirty="0">
                <a:latin typeface="Times New Roman" panose="02020603050405020304" pitchFamily="18" charset="0"/>
                <a:cs typeface="Times New Roman" panose="02020603050405020304" pitchFamily="18" charset="0"/>
              </a:rPr>
              <a:t>CALL FAR PTR Q1 ;    Q1  %</a:t>
            </a:r>
          </a:p>
          <a:p>
            <a:r>
              <a:rPr lang="en-US" sz="1700" dirty="0">
                <a:latin typeface="Times New Roman" panose="02020603050405020304" pitchFamily="18" charset="0"/>
                <a:cs typeface="Times New Roman" panose="02020603050405020304" pitchFamily="18" charset="0"/>
              </a:rPr>
              <a:t>CALL Q1 ;  (!)   Q1  %</a:t>
            </a:r>
          </a:p>
          <a:p>
            <a:r>
              <a:rPr lang="en-US" sz="1700" dirty="0">
                <a:latin typeface="Times New Roman" panose="02020603050405020304" pitchFamily="18" charset="0"/>
                <a:cs typeface="Times New Roman" panose="02020603050405020304" pitchFamily="18" charset="0"/>
              </a:rPr>
              <a:t>CALL NA ;    '</a:t>
            </a:r>
          </a:p>
          <a:p>
            <a:r>
              <a:rPr lang="en-US" sz="1700" dirty="0">
                <a:latin typeface="Times New Roman" panose="02020603050405020304" pitchFamily="18" charset="0"/>
                <a:cs typeface="Times New Roman" panose="02020603050405020304" pitchFamily="18" charset="0"/>
              </a:rPr>
              <a:t>CALL FA ;    FA</a:t>
            </a:r>
          </a:p>
          <a:p>
            <a:r>
              <a:rPr lang="en-US" sz="1700" dirty="0">
                <a:latin typeface="Times New Roman" panose="02020603050405020304" pitchFamily="18" charset="0"/>
                <a:cs typeface="Times New Roman" panose="02020603050405020304" pitchFamily="18" charset="0"/>
              </a:rPr>
              <a:t>LEA BX, Q ; BX := Q –    Q</a:t>
            </a:r>
          </a:p>
          <a:p>
            <a:r>
              <a:rPr lang="en-US" sz="1700" dirty="0">
                <a:latin typeface="Times New Roman" panose="02020603050405020304" pitchFamily="18" charset="0"/>
                <a:cs typeface="Times New Roman" panose="02020603050405020304" pitchFamily="18" charset="0"/>
              </a:rPr>
              <a:t>CALL [BX] ;  (!)    Q1  %</a:t>
            </a:r>
            <a:endParaRPr lang="bg-BG" sz="1700" dirty="0">
              <a:latin typeface="Times New Roman" panose="02020603050405020304" pitchFamily="18" charset="0"/>
              <a:cs typeface="Times New Roman" panose="02020603050405020304" pitchFamily="18" charset="0"/>
            </a:endParaRPr>
          </a:p>
        </p:txBody>
      </p:sp>
      <p:pic>
        <p:nvPicPr>
          <p:cNvPr id="2" name="Картина 1"/>
          <p:cNvPicPr>
            <a:picLocks noChangeAspect="1"/>
          </p:cNvPicPr>
          <p:nvPr/>
        </p:nvPicPr>
        <p:blipFill>
          <a:blip r:embed="rId2"/>
          <a:stretch>
            <a:fillRect/>
          </a:stretch>
        </p:blipFill>
        <p:spPr>
          <a:xfrm>
            <a:off x="4097954" y="953596"/>
            <a:ext cx="5023594" cy="5688061"/>
          </a:xfrm>
          <a:prstGeom prst="rect">
            <a:avLst/>
          </a:prstGeom>
        </p:spPr>
      </p:pic>
    </p:spTree>
    <p:extLst>
      <p:ext uri="{BB962C8B-B14F-4D97-AF65-F5344CB8AC3E}">
        <p14:creationId xmlns:p14="http://schemas.microsoft.com/office/powerpoint/2010/main" val="904125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9552" y="504418"/>
            <a:ext cx="8229600" cy="638944"/>
          </a:xfrm>
        </p:spPr>
        <p:txBody>
          <a:bodyPr>
            <a:noAutofit/>
          </a:bodyPr>
          <a:lstStyle/>
          <a:p>
            <a:r>
              <a:rPr lang="bg-BG" sz="4400" b="1" dirty="0">
                <a:latin typeface="Times New Roman" panose="02020603050405020304" pitchFamily="18" charset="0"/>
                <a:cs typeface="Times New Roman" panose="02020603050405020304" pitchFamily="18" charset="0"/>
              </a:rPr>
              <a:t>Предаване на параметрите</a:t>
            </a:r>
            <a:r>
              <a:rPr lang="bg-BG" sz="4400" dirty="0">
                <a:solidFill>
                  <a:schemeClr val="tx1"/>
                </a:solidFill>
                <a:latin typeface="Times New Roman" pitchFamily="18" charset="0"/>
                <a:cs typeface="Times New Roman" pitchFamily="18" charset="0"/>
              </a:rPr>
              <a:t>.</a:t>
            </a:r>
            <a:endParaRPr lang="bg-BG" sz="4400" b="1" dirty="0">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idx="1"/>
          </p:nvPr>
        </p:nvSpPr>
        <p:spPr bwMode="auto">
          <a:xfrm>
            <a:off x="196478" y="3597572"/>
            <a:ext cx="87510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ClrTx/>
              <a:buSzTx/>
              <a:buNone/>
            </a:pPr>
            <a:r>
              <a:rPr lang="ru-RU" altLang="en-US" sz="2000" dirty="0">
                <a:latin typeface="Times New Roman" panose="02020603050405020304" pitchFamily="18" charset="0"/>
                <a:cs typeface="Times New Roman" panose="02020603050405020304" pitchFamily="18" charset="0"/>
              </a:rPr>
              <a:t> </a:t>
            </a:r>
            <a:endParaRPr kumimoji="0" lang="bg-BG"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426F50B-9DCA-4FC6-9DE8-CB4F9D472582}"/>
              </a:ext>
            </a:extLst>
          </p:cNvPr>
          <p:cNvSpPr/>
          <p:nvPr/>
        </p:nvSpPr>
        <p:spPr>
          <a:xfrm>
            <a:off x="306351" y="1273859"/>
            <a:ext cx="8696002" cy="4370427"/>
          </a:xfrm>
          <a:prstGeom prst="rect">
            <a:avLst/>
          </a:prstGeom>
        </p:spPr>
        <p:txBody>
          <a:bodyPr wrap="square">
            <a:spAutoFit/>
          </a:bodyPr>
          <a:lstStyle/>
          <a:p>
            <a:pPr>
              <a:spcBef>
                <a:spcPct val="0"/>
              </a:spcBef>
            </a:pPr>
            <a:r>
              <a:rPr lang="bg-BG" b="1" dirty="0">
                <a:latin typeface="Times New Roman" panose="02020603050405020304" pitchFamily="18" charset="0"/>
                <a:cs typeface="Times New Roman" panose="02020603050405020304" pitchFamily="18" charset="0"/>
              </a:rPr>
              <a:t>Предаване на параметри чрез регистрите</a:t>
            </a:r>
            <a:endParaRPr lang="en-US" sz="4400" b="1" dirty="0">
              <a:solidFill>
                <a:schemeClr val="tx2"/>
              </a:solidFill>
              <a:latin typeface="Times New Roman" panose="02020603050405020304" pitchFamily="18" charset="0"/>
              <a:ea typeface="+mj-ea"/>
              <a:cs typeface="Times New Roman" panose="02020603050405020304" pitchFamily="18" charset="0"/>
            </a:endParaRPr>
          </a:p>
          <a:p>
            <a:pPr algn="just"/>
            <a:endParaRPr lang="bg-BG" sz="800" dirty="0">
              <a:latin typeface="Times New Roman" panose="02020603050405020304" pitchFamily="18" charset="0"/>
              <a:cs typeface="Times New Roman" panose="02020603050405020304" pitchFamily="18" charset="0"/>
            </a:endParaRPr>
          </a:p>
          <a:p>
            <a:pPr algn="just"/>
            <a:r>
              <a:rPr lang="bg-BG" dirty="0">
                <a:latin typeface="Times New Roman" panose="02020603050405020304" pitchFamily="18" charset="0"/>
                <a:cs typeface="Times New Roman" panose="02020603050405020304" pitchFamily="18" charset="0"/>
              </a:rPr>
              <a:t>Параметрите на процедурите се изписват във вид на списък след името й. Те са</a:t>
            </a:r>
            <a:br>
              <a:rPr lang="bg-BG" dirty="0">
                <a:latin typeface="Times New Roman" panose="02020603050405020304" pitchFamily="18" charset="0"/>
                <a:cs typeface="Times New Roman" panose="02020603050405020304" pitchFamily="18" charset="0"/>
              </a:rPr>
            </a:br>
            <a:r>
              <a:rPr lang="bg-BG" dirty="0">
                <a:latin typeface="Times New Roman" panose="02020603050405020304" pitchFamily="18" charset="0"/>
                <a:cs typeface="Times New Roman" panose="02020603050405020304" pitchFamily="18" charset="0"/>
              </a:rPr>
              <a:t>формални по отношение на нейния текст и стават действителни, когато</a:t>
            </a:r>
            <a:br>
              <a:rPr lang="bg-BG" dirty="0">
                <a:latin typeface="Times New Roman" panose="02020603050405020304" pitchFamily="18" charset="0"/>
                <a:cs typeface="Times New Roman" panose="02020603050405020304" pitchFamily="18" charset="0"/>
              </a:rPr>
            </a:br>
            <a:r>
              <a:rPr lang="bg-BG" dirty="0">
                <a:latin typeface="Times New Roman" panose="02020603050405020304" pitchFamily="18" charset="0"/>
                <a:cs typeface="Times New Roman" panose="02020603050405020304" pitchFamily="18" charset="0"/>
              </a:rPr>
              <a:t>се запише обръщение към процедурата, тъй като тогава в записа</a:t>
            </a:r>
            <a:br>
              <a:rPr lang="bg-BG" dirty="0">
                <a:latin typeface="Times New Roman" panose="02020603050405020304" pitchFamily="18" charset="0"/>
                <a:cs typeface="Times New Roman" panose="02020603050405020304" pitchFamily="18" charset="0"/>
              </a:rPr>
            </a:br>
            <a:r>
              <a:rPr lang="bg-BG" dirty="0">
                <a:latin typeface="Times New Roman" panose="02020603050405020304" pitchFamily="18" charset="0"/>
                <a:cs typeface="Times New Roman" panose="02020603050405020304" pitchFamily="18" charset="0"/>
              </a:rPr>
              <a:t>програмистът поставя в съответствие с всеки формален параметър,</a:t>
            </a:r>
            <a:br>
              <a:rPr lang="bg-BG" dirty="0">
                <a:latin typeface="Times New Roman" panose="02020603050405020304" pitchFamily="18" charset="0"/>
                <a:cs typeface="Times New Roman" panose="02020603050405020304" pitchFamily="18" charset="0"/>
              </a:rPr>
            </a:br>
            <a:r>
              <a:rPr lang="bg-BG" dirty="0">
                <a:latin typeface="Times New Roman" panose="02020603050405020304" pitchFamily="18" charset="0"/>
                <a:cs typeface="Times New Roman" panose="02020603050405020304" pitchFamily="18" charset="0"/>
              </a:rPr>
              <a:t>действителен такъв. </a:t>
            </a:r>
            <a:endParaRPr lang="en-US" dirty="0">
              <a:latin typeface="Times New Roman" panose="02020603050405020304" pitchFamily="18" charset="0"/>
              <a:cs typeface="Times New Roman" panose="02020603050405020304" pitchFamily="18" charset="0"/>
            </a:endParaRPr>
          </a:p>
          <a:p>
            <a:pPr algn="just"/>
            <a:r>
              <a:rPr lang="bg-BG" dirty="0">
                <a:latin typeface="Times New Roman" panose="02020603050405020304" pitchFamily="18" charset="0"/>
                <a:cs typeface="Times New Roman" panose="02020603050405020304" pitchFamily="18" charset="0"/>
              </a:rPr>
              <a:t>Съответствието между реалните данни, обявени за съответни на формалните променливи в процедурите се осъществява фактически от компилаторите. </a:t>
            </a:r>
            <a:endParaRPr lang="en-US" dirty="0">
              <a:latin typeface="Times New Roman" panose="02020603050405020304" pitchFamily="18" charset="0"/>
              <a:cs typeface="Times New Roman" panose="02020603050405020304" pitchFamily="18" charset="0"/>
            </a:endParaRPr>
          </a:p>
          <a:p>
            <a:pPr algn="just"/>
            <a:r>
              <a:rPr lang="bg-BG" dirty="0">
                <a:latin typeface="Times New Roman" panose="02020603050405020304" pitchFamily="18" charset="0"/>
                <a:cs typeface="Times New Roman" panose="02020603050405020304" pitchFamily="18" charset="0"/>
              </a:rPr>
              <a:t>При малко на брой параметри, между процедурата и главната програма</a:t>
            </a:r>
            <a:br>
              <a:rPr lang="bg-BG" dirty="0">
                <a:latin typeface="Times New Roman" panose="02020603050405020304" pitchFamily="18" charset="0"/>
                <a:cs typeface="Times New Roman" panose="02020603050405020304" pitchFamily="18" charset="0"/>
              </a:rPr>
            </a:br>
            <a:r>
              <a:rPr lang="bg-BG" dirty="0">
                <a:latin typeface="Times New Roman" panose="02020603050405020304" pitchFamily="18" charset="0"/>
                <a:cs typeface="Times New Roman" panose="02020603050405020304" pitchFamily="18" charset="0"/>
              </a:rPr>
              <a:t>обикновено се уговаря използването на част от регистрите.</a:t>
            </a:r>
            <a:br>
              <a:rPr lang="bg-BG" dirty="0">
                <a:latin typeface="Times New Roman" panose="02020603050405020304" pitchFamily="18" charset="0"/>
                <a:cs typeface="Times New Roman" panose="02020603050405020304" pitchFamily="18" charset="0"/>
              </a:rPr>
            </a:br>
            <a:r>
              <a:rPr lang="bg-BG" dirty="0">
                <a:latin typeface="Times New Roman" panose="02020603050405020304" pitchFamily="18" charset="0"/>
                <a:cs typeface="Times New Roman" panose="02020603050405020304" pitchFamily="18" charset="0"/>
              </a:rPr>
              <a:t>Регистровата памет играе ролята на пощенска кутия, от която</a:t>
            </a:r>
            <a:br>
              <a:rPr lang="bg-BG" dirty="0">
                <a:latin typeface="Times New Roman" panose="02020603050405020304" pitchFamily="18" charset="0"/>
                <a:cs typeface="Times New Roman" panose="02020603050405020304" pitchFamily="18" charset="0"/>
              </a:rPr>
            </a:br>
            <a:r>
              <a:rPr lang="bg-BG" dirty="0">
                <a:latin typeface="Times New Roman" panose="02020603050405020304" pitchFamily="18" charset="0"/>
                <a:cs typeface="Times New Roman" panose="02020603050405020304" pitchFamily="18" charset="0"/>
              </a:rPr>
              <a:t>процедурата взема необходимите й данни, и в последствие</a:t>
            </a:r>
            <a:br>
              <a:rPr lang="bg-BG" dirty="0">
                <a:latin typeface="Times New Roman" panose="02020603050405020304" pitchFamily="18" charset="0"/>
                <a:cs typeface="Times New Roman" panose="02020603050405020304" pitchFamily="18" charset="0"/>
              </a:rPr>
            </a:br>
            <a:r>
              <a:rPr lang="bg-BG" dirty="0">
                <a:latin typeface="Times New Roman" panose="02020603050405020304" pitchFamily="18" charset="0"/>
                <a:cs typeface="Times New Roman" panose="02020603050405020304" pitchFamily="18" charset="0"/>
              </a:rPr>
              <a:t>поставя получените резултати. Главната програма знае</a:t>
            </a:r>
            <a:br>
              <a:rPr lang="bg-BG" dirty="0">
                <a:latin typeface="Times New Roman" panose="02020603050405020304" pitchFamily="18" charset="0"/>
                <a:cs typeface="Times New Roman" panose="02020603050405020304" pitchFamily="18" charset="0"/>
              </a:rPr>
            </a:br>
            <a:r>
              <a:rPr lang="bg-BG" dirty="0">
                <a:latin typeface="Times New Roman" panose="02020603050405020304" pitchFamily="18" charset="0"/>
                <a:cs typeface="Times New Roman" panose="02020603050405020304" pitchFamily="18" charset="0"/>
              </a:rPr>
              <a:t>за това и очаква необходимите й резултати именно в тези регистри.</a:t>
            </a:r>
            <a:br>
              <a:rPr lang="bg-BG" dirty="0">
                <a:latin typeface="Times New Roman" panose="02020603050405020304" pitchFamily="18" charset="0"/>
                <a:cs typeface="Times New Roman" panose="02020603050405020304" pitchFamily="18" charset="0"/>
              </a:rPr>
            </a:br>
            <a:r>
              <a:rPr lang="bg-BG" dirty="0">
                <a:latin typeface="Times New Roman" panose="02020603050405020304" pitchFamily="18" charset="0"/>
                <a:cs typeface="Times New Roman" panose="02020603050405020304" pitchFamily="18" charset="0"/>
              </a:rPr>
              <a:t>Изборът на регистрите е право на програмиста.</a:t>
            </a:r>
          </a:p>
        </p:txBody>
      </p:sp>
    </p:spTree>
    <p:extLst>
      <p:ext uri="{BB962C8B-B14F-4D97-AF65-F5344CB8AC3E}">
        <p14:creationId xmlns:p14="http://schemas.microsoft.com/office/powerpoint/2010/main" val="2159272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9552" y="504418"/>
            <a:ext cx="8229600" cy="638944"/>
          </a:xfrm>
        </p:spPr>
        <p:txBody>
          <a:bodyPr>
            <a:noAutofit/>
          </a:bodyPr>
          <a:lstStyle/>
          <a:p>
            <a:r>
              <a:rPr lang="bg-BG" sz="4400" b="1" dirty="0">
                <a:latin typeface="Times New Roman" panose="02020603050405020304" pitchFamily="18" charset="0"/>
                <a:cs typeface="Times New Roman" panose="02020603050405020304" pitchFamily="18" charset="0"/>
              </a:rPr>
              <a:t>Предаване на параметрите</a:t>
            </a:r>
            <a:r>
              <a:rPr lang="bg-BG" sz="4400" dirty="0">
                <a:solidFill>
                  <a:schemeClr val="tx1"/>
                </a:solidFill>
                <a:latin typeface="Times New Roman" pitchFamily="18" charset="0"/>
                <a:cs typeface="Times New Roman" pitchFamily="18" charset="0"/>
              </a:rPr>
              <a:t>.</a:t>
            </a:r>
            <a:endParaRPr lang="bg-BG" sz="4400" b="1" dirty="0">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idx="1"/>
          </p:nvPr>
        </p:nvSpPr>
        <p:spPr bwMode="auto">
          <a:xfrm>
            <a:off x="196478" y="3597572"/>
            <a:ext cx="87510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ClrTx/>
              <a:buSzTx/>
              <a:buNone/>
            </a:pPr>
            <a:r>
              <a:rPr lang="ru-RU" altLang="en-US" sz="2000" dirty="0">
                <a:latin typeface="Times New Roman" panose="02020603050405020304" pitchFamily="18" charset="0"/>
                <a:cs typeface="Times New Roman" panose="02020603050405020304" pitchFamily="18" charset="0"/>
              </a:rPr>
              <a:t> </a:t>
            </a:r>
            <a:endParaRPr kumimoji="0" lang="bg-BG"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426F50B-9DCA-4FC6-9DE8-CB4F9D472582}"/>
              </a:ext>
            </a:extLst>
          </p:cNvPr>
          <p:cNvSpPr/>
          <p:nvPr/>
        </p:nvSpPr>
        <p:spPr>
          <a:xfrm>
            <a:off x="306351" y="1273859"/>
            <a:ext cx="8696002" cy="5016758"/>
          </a:xfrm>
          <a:prstGeom prst="rect">
            <a:avLst/>
          </a:prstGeom>
        </p:spPr>
        <p:txBody>
          <a:bodyPr wrap="square">
            <a:spAutoFit/>
          </a:bodyPr>
          <a:lstStyle/>
          <a:p>
            <a:pPr algn="just">
              <a:spcBef>
                <a:spcPct val="0"/>
              </a:spcBef>
            </a:pPr>
            <a:r>
              <a:rPr lang="bg-BG" sz="2000" b="1" dirty="0">
                <a:latin typeface="Times New Roman" panose="02020603050405020304" pitchFamily="18" charset="0"/>
                <a:cs typeface="Times New Roman" panose="02020603050405020304" pitchFamily="18" charset="0"/>
              </a:rPr>
              <a:t>Предаване на параметри чрез регистрите</a:t>
            </a:r>
            <a:endParaRPr lang="en-US" sz="2000" b="1" dirty="0">
              <a:solidFill>
                <a:schemeClr val="tx2"/>
              </a:solidFill>
              <a:latin typeface="Times New Roman" panose="02020603050405020304" pitchFamily="18" charset="0"/>
              <a:ea typeface="+mj-ea"/>
              <a:cs typeface="Times New Roman" panose="02020603050405020304" pitchFamily="18" charset="0"/>
            </a:endParaRPr>
          </a:p>
          <a:p>
            <a:pPr algn="just"/>
            <a:endParaRPr lang="bg-BG" sz="2000" dirty="0">
              <a:latin typeface="Times New Roman" panose="02020603050405020304" pitchFamily="18" charset="0"/>
              <a:cs typeface="Times New Roman" panose="02020603050405020304" pitchFamily="18" charset="0"/>
            </a:endParaRPr>
          </a:p>
          <a:p>
            <a:pPr algn="just"/>
            <a:r>
              <a:rPr lang="bg-BG" sz="2000" dirty="0">
                <a:latin typeface="Times New Roman" panose="02020603050405020304" pitchFamily="18" charset="0"/>
                <a:cs typeface="Times New Roman" panose="02020603050405020304" pitchFamily="18" charset="0"/>
              </a:rPr>
              <a:t>Параметрите на процедурите се изписват във вид на списък след името й. Те са формални по отношение на нейния текст и стават действителни, когато</a:t>
            </a:r>
            <a:br>
              <a:rPr lang="bg-BG" sz="2000" dirty="0">
                <a:latin typeface="Times New Roman" panose="02020603050405020304" pitchFamily="18" charset="0"/>
                <a:cs typeface="Times New Roman" panose="02020603050405020304" pitchFamily="18" charset="0"/>
              </a:rPr>
            </a:br>
            <a:r>
              <a:rPr lang="bg-BG" sz="2000" dirty="0">
                <a:latin typeface="Times New Roman" panose="02020603050405020304" pitchFamily="18" charset="0"/>
                <a:cs typeface="Times New Roman" panose="02020603050405020304" pitchFamily="18" charset="0"/>
              </a:rPr>
              <a:t>се запише обръщение към процедурата, тъй като тогава в записа</a:t>
            </a:r>
            <a:br>
              <a:rPr lang="bg-BG" sz="2000" dirty="0">
                <a:latin typeface="Times New Roman" panose="02020603050405020304" pitchFamily="18" charset="0"/>
                <a:cs typeface="Times New Roman" panose="02020603050405020304" pitchFamily="18" charset="0"/>
              </a:rPr>
            </a:br>
            <a:r>
              <a:rPr lang="bg-BG" sz="2000" dirty="0">
                <a:latin typeface="Times New Roman" panose="02020603050405020304" pitchFamily="18" charset="0"/>
                <a:cs typeface="Times New Roman" panose="02020603050405020304" pitchFamily="18" charset="0"/>
              </a:rPr>
              <a:t>програмистът поставя в съответствие с всеки формален параметър,</a:t>
            </a:r>
            <a:br>
              <a:rPr lang="bg-BG" sz="2000" dirty="0">
                <a:latin typeface="Times New Roman" panose="02020603050405020304" pitchFamily="18" charset="0"/>
                <a:cs typeface="Times New Roman" panose="02020603050405020304" pitchFamily="18" charset="0"/>
              </a:rPr>
            </a:br>
            <a:r>
              <a:rPr lang="bg-BG" sz="2000" dirty="0">
                <a:latin typeface="Times New Roman" panose="02020603050405020304" pitchFamily="18" charset="0"/>
                <a:cs typeface="Times New Roman" panose="02020603050405020304" pitchFamily="18" charset="0"/>
              </a:rPr>
              <a:t>действителен такъв. </a:t>
            </a:r>
            <a:endParaRPr lang="en-US" sz="2000" dirty="0">
              <a:latin typeface="Times New Roman" panose="02020603050405020304" pitchFamily="18" charset="0"/>
              <a:cs typeface="Times New Roman" panose="02020603050405020304" pitchFamily="18" charset="0"/>
            </a:endParaRPr>
          </a:p>
          <a:p>
            <a:pPr algn="just"/>
            <a:r>
              <a:rPr lang="bg-BG" sz="2000" dirty="0">
                <a:latin typeface="Times New Roman" panose="02020603050405020304" pitchFamily="18" charset="0"/>
                <a:cs typeface="Times New Roman" panose="02020603050405020304" pitchFamily="18" charset="0"/>
              </a:rPr>
              <a:t>Съответствието между реалните данни, обявени за съответни на формалните променливи в процедурите се осъществява фактически от компилаторите. </a:t>
            </a:r>
            <a:endParaRPr lang="en-US" sz="2000" dirty="0">
              <a:latin typeface="Times New Roman" panose="02020603050405020304" pitchFamily="18" charset="0"/>
              <a:cs typeface="Times New Roman" panose="02020603050405020304" pitchFamily="18" charset="0"/>
            </a:endParaRPr>
          </a:p>
          <a:p>
            <a:pPr algn="just"/>
            <a:r>
              <a:rPr lang="bg-BG" sz="2000" dirty="0">
                <a:latin typeface="Times New Roman" panose="02020603050405020304" pitchFamily="18" charset="0"/>
                <a:cs typeface="Times New Roman" panose="02020603050405020304" pitchFamily="18" charset="0"/>
              </a:rPr>
              <a:t>При малко на брой параметри, между процедурата и главната програма</a:t>
            </a:r>
            <a:br>
              <a:rPr lang="bg-BG" sz="2000" dirty="0">
                <a:latin typeface="Times New Roman" panose="02020603050405020304" pitchFamily="18" charset="0"/>
                <a:cs typeface="Times New Roman" panose="02020603050405020304" pitchFamily="18" charset="0"/>
              </a:rPr>
            </a:br>
            <a:r>
              <a:rPr lang="bg-BG" sz="2000" dirty="0">
                <a:latin typeface="Times New Roman" panose="02020603050405020304" pitchFamily="18" charset="0"/>
                <a:cs typeface="Times New Roman" panose="02020603050405020304" pitchFamily="18" charset="0"/>
              </a:rPr>
              <a:t>обикновено се уговаря използването на част от регистрите.</a:t>
            </a:r>
            <a:br>
              <a:rPr lang="bg-BG" sz="2000" dirty="0">
                <a:latin typeface="Times New Roman" panose="02020603050405020304" pitchFamily="18" charset="0"/>
                <a:cs typeface="Times New Roman" panose="02020603050405020304" pitchFamily="18" charset="0"/>
              </a:rPr>
            </a:br>
            <a:r>
              <a:rPr lang="bg-BG" sz="2000" dirty="0">
                <a:latin typeface="Times New Roman" panose="02020603050405020304" pitchFamily="18" charset="0"/>
                <a:cs typeface="Times New Roman" panose="02020603050405020304" pitchFamily="18" charset="0"/>
              </a:rPr>
              <a:t>Регистровата памет играе ролята на пощенска кутия, от която</a:t>
            </a:r>
            <a:br>
              <a:rPr lang="bg-BG" sz="2000" dirty="0">
                <a:latin typeface="Times New Roman" panose="02020603050405020304" pitchFamily="18" charset="0"/>
                <a:cs typeface="Times New Roman" panose="02020603050405020304" pitchFamily="18" charset="0"/>
              </a:rPr>
            </a:br>
            <a:r>
              <a:rPr lang="bg-BG" sz="2000" dirty="0">
                <a:latin typeface="Times New Roman" panose="02020603050405020304" pitchFamily="18" charset="0"/>
                <a:cs typeface="Times New Roman" panose="02020603050405020304" pitchFamily="18" charset="0"/>
              </a:rPr>
              <a:t>процедурата взема необходимите й данни, и в последствие</a:t>
            </a:r>
            <a:br>
              <a:rPr lang="bg-BG" sz="2000" dirty="0">
                <a:latin typeface="Times New Roman" panose="02020603050405020304" pitchFamily="18" charset="0"/>
                <a:cs typeface="Times New Roman" panose="02020603050405020304" pitchFamily="18" charset="0"/>
              </a:rPr>
            </a:br>
            <a:r>
              <a:rPr lang="bg-BG" sz="2000" dirty="0">
                <a:latin typeface="Times New Roman" panose="02020603050405020304" pitchFamily="18" charset="0"/>
                <a:cs typeface="Times New Roman" panose="02020603050405020304" pitchFamily="18" charset="0"/>
              </a:rPr>
              <a:t>поставя получените резултати. Главната програма знае</a:t>
            </a:r>
            <a:br>
              <a:rPr lang="bg-BG" sz="2000" dirty="0">
                <a:latin typeface="Times New Roman" panose="02020603050405020304" pitchFamily="18" charset="0"/>
                <a:cs typeface="Times New Roman" panose="02020603050405020304" pitchFamily="18" charset="0"/>
              </a:rPr>
            </a:br>
            <a:r>
              <a:rPr lang="bg-BG" sz="2000" dirty="0">
                <a:latin typeface="Times New Roman" panose="02020603050405020304" pitchFamily="18" charset="0"/>
                <a:cs typeface="Times New Roman" panose="02020603050405020304" pitchFamily="18" charset="0"/>
              </a:rPr>
              <a:t>за това и очаква необходимите й резултати именно в тези регистри.</a:t>
            </a:r>
            <a:br>
              <a:rPr lang="bg-BG" sz="2000" dirty="0">
                <a:latin typeface="Times New Roman" panose="02020603050405020304" pitchFamily="18" charset="0"/>
                <a:cs typeface="Times New Roman" panose="02020603050405020304" pitchFamily="18" charset="0"/>
              </a:rPr>
            </a:br>
            <a:r>
              <a:rPr lang="bg-BG" sz="2000" dirty="0">
                <a:latin typeface="Times New Roman" panose="02020603050405020304" pitchFamily="18" charset="0"/>
                <a:cs typeface="Times New Roman" panose="02020603050405020304" pitchFamily="18" charset="0"/>
              </a:rPr>
              <a:t>Изборът на регистрите е право на програмиста.</a:t>
            </a:r>
          </a:p>
        </p:txBody>
      </p:sp>
    </p:spTree>
    <p:extLst>
      <p:ext uri="{BB962C8B-B14F-4D97-AF65-F5344CB8AC3E}">
        <p14:creationId xmlns:p14="http://schemas.microsoft.com/office/powerpoint/2010/main" val="1464695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6810401-976C-468E-A509-B468F8785CD9}"/>
              </a:ext>
            </a:extLst>
          </p:cNvPr>
          <p:cNvSpPr>
            <a:spLocks noGrp="1"/>
          </p:cNvSpPr>
          <p:nvPr>
            <p:ph type="title"/>
          </p:nvPr>
        </p:nvSpPr>
        <p:spPr>
          <a:xfrm>
            <a:off x="628818" y="404664"/>
            <a:ext cx="7111534" cy="638944"/>
          </a:xfrm>
        </p:spPr>
        <p:txBody>
          <a:bodyPr>
            <a:noAutofit/>
          </a:bodyPr>
          <a:lstStyle/>
          <a:p>
            <a:r>
              <a:rPr lang="bg-BG" sz="4400" b="1" dirty="0">
                <a:latin typeface="Times New Roman" panose="02020603050405020304" pitchFamily="18" charset="0"/>
                <a:cs typeface="Times New Roman" panose="02020603050405020304" pitchFamily="18" charset="0"/>
              </a:rPr>
              <a:t>Предаване на параметрите</a:t>
            </a:r>
            <a:r>
              <a:rPr lang="bg-BG" sz="4400" dirty="0">
                <a:solidFill>
                  <a:schemeClr val="tx1"/>
                </a:solidFill>
                <a:latin typeface="Times New Roman" pitchFamily="18" charset="0"/>
                <a:cs typeface="Times New Roman" pitchFamily="18" charset="0"/>
              </a:rPr>
              <a:t>.</a:t>
            </a:r>
            <a:endParaRPr lang="bg-BG" sz="44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D80B2D7-C3AE-4B7D-8F8A-ABA27686E904}"/>
              </a:ext>
            </a:extLst>
          </p:cNvPr>
          <p:cNvSpPr/>
          <p:nvPr/>
        </p:nvSpPr>
        <p:spPr>
          <a:xfrm>
            <a:off x="611560" y="1124744"/>
            <a:ext cx="7688052" cy="4093428"/>
          </a:xfrm>
          <a:prstGeom prst="rect">
            <a:avLst/>
          </a:prstGeom>
        </p:spPr>
        <p:txBody>
          <a:bodyPr wrap="square">
            <a:spAutoFit/>
          </a:bodyPr>
          <a:lstStyle/>
          <a:p>
            <a:r>
              <a:rPr lang="bg-BG" sz="2000" b="1" dirty="0">
                <a:latin typeface="Times New Roman" panose="02020603050405020304" pitchFamily="18" charset="0"/>
                <a:cs typeface="Times New Roman" panose="02020603050405020304" pitchFamily="18" charset="0"/>
              </a:rPr>
              <a:t>Предаване на стойности</a:t>
            </a:r>
          </a:p>
          <a:p>
            <a:pPr algn="just"/>
            <a:r>
              <a:rPr lang="bg-BG" sz="2000" b="1" i="1" dirty="0">
                <a:latin typeface="Times New Roman" panose="02020603050405020304" pitchFamily="18" charset="0"/>
                <a:cs typeface="Times New Roman" panose="02020603050405020304" pitchFamily="18" charset="0"/>
              </a:rPr>
              <a:t>Пример:</a:t>
            </a:r>
            <a:r>
              <a:rPr lang="bg-BG" sz="2000" dirty="0">
                <a:latin typeface="Times New Roman" panose="02020603050405020304" pitchFamily="18" charset="0"/>
                <a:cs typeface="Times New Roman" panose="02020603050405020304" pitchFamily="18" charset="0"/>
              </a:rPr>
              <a:t> Изчисление на стойността на израза: c=</a:t>
            </a:r>
            <a:r>
              <a:rPr lang="bg-BG" sz="2000" dirty="0" err="1">
                <a:latin typeface="Times New Roman" panose="02020603050405020304" pitchFamily="18" charset="0"/>
                <a:cs typeface="Times New Roman" panose="02020603050405020304" pitchFamily="18" charset="0"/>
              </a:rPr>
              <a:t>max</a:t>
            </a:r>
            <a:r>
              <a:rPr lang="bg-BG" sz="2000" dirty="0">
                <a:latin typeface="Times New Roman" panose="02020603050405020304" pitchFamily="18" charset="0"/>
                <a:cs typeface="Times New Roman" panose="02020603050405020304" pitchFamily="18" charset="0"/>
              </a:rPr>
              <a:t>(</a:t>
            </a:r>
            <a:r>
              <a:rPr lang="bg-BG" sz="2000" dirty="0" err="1">
                <a:latin typeface="Times New Roman" panose="02020603050405020304" pitchFamily="18" charset="0"/>
                <a:cs typeface="Times New Roman" panose="02020603050405020304" pitchFamily="18" charset="0"/>
              </a:rPr>
              <a:t>a,b</a:t>
            </a:r>
            <a:r>
              <a:rPr lang="bg-BG" sz="2000" dirty="0">
                <a:latin typeface="Times New Roman" panose="02020603050405020304" pitchFamily="18" charset="0"/>
                <a:cs typeface="Times New Roman" panose="02020603050405020304" pitchFamily="18" charset="0"/>
              </a:rPr>
              <a:t>)+</a:t>
            </a:r>
            <a:r>
              <a:rPr lang="bg-BG" sz="2000" dirty="0" err="1">
                <a:latin typeface="Times New Roman" panose="02020603050405020304" pitchFamily="18" charset="0"/>
                <a:cs typeface="Times New Roman" panose="02020603050405020304" pitchFamily="18" charset="0"/>
              </a:rPr>
              <a:t>max</a:t>
            </a:r>
            <a:r>
              <a:rPr lang="bg-BG" sz="2000" dirty="0">
                <a:latin typeface="Times New Roman" panose="02020603050405020304" pitchFamily="18" charset="0"/>
                <a:cs typeface="Times New Roman" panose="02020603050405020304" pitchFamily="18" charset="0"/>
              </a:rPr>
              <a:t>(5,a-1), където всички числа са със знак и имат формат дума. Предлага се изчислението на функцията </a:t>
            </a:r>
            <a:r>
              <a:rPr lang="bg-BG" sz="2000" dirty="0" err="1">
                <a:latin typeface="Times New Roman" panose="02020603050405020304" pitchFamily="18" charset="0"/>
                <a:cs typeface="Times New Roman" panose="02020603050405020304" pitchFamily="18" charset="0"/>
              </a:rPr>
              <a:t>max</a:t>
            </a:r>
            <a:r>
              <a:rPr lang="bg-BG" sz="2000" dirty="0">
                <a:latin typeface="Times New Roman" panose="02020603050405020304" pitchFamily="18" charset="0"/>
                <a:cs typeface="Times New Roman" panose="02020603050405020304" pitchFamily="18" charset="0"/>
              </a:rPr>
              <a:t> да се за програмира отделно, във вид на програмен инструмент, който да се използва при необходимост. Задачата се структурира в две програмни единици:</a:t>
            </a:r>
          </a:p>
          <a:p>
            <a:pPr algn="just">
              <a:spcBef>
                <a:spcPts val="1200"/>
              </a:spcBef>
            </a:pPr>
            <a:r>
              <a:rPr lang="bg-BG" sz="2000" dirty="0">
                <a:latin typeface="Times New Roman" panose="02020603050405020304" pitchFamily="18" charset="0"/>
                <a:cs typeface="Times New Roman" panose="02020603050405020304" pitchFamily="18" charset="0"/>
              </a:rPr>
              <a:t>• Процедура, именувана </a:t>
            </a:r>
            <a:r>
              <a:rPr lang="bg-BG" sz="2000" dirty="0" err="1">
                <a:latin typeface="Times New Roman" panose="02020603050405020304" pitchFamily="18" charset="0"/>
                <a:cs typeface="Times New Roman" panose="02020603050405020304" pitchFamily="18" charset="0"/>
              </a:rPr>
              <a:t>max</a:t>
            </a:r>
            <a:r>
              <a:rPr lang="bg-BG" sz="2000" dirty="0">
                <a:latin typeface="Times New Roman" panose="02020603050405020304" pitchFamily="18" charset="0"/>
                <a:cs typeface="Times New Roman" panose="02020603050405020304" pitchFamily="18" charset="0"/>
              </a:rPr>
              <a:t> , за определяне на по-голямото от две дадени числа x и y − </a:t>
            </a:r>
            <a:r>
              <a:rPr lang="bg-BG" sz="2000" dirty="0" err="1">
                <a:latin typeface="Times New Roman" panose="02020603050405020304" pitchFamily="18" charset="0"/>
                <a:cs typeface="Times New Roman" panose="02020603050405020304" pitchFamily="18" charset="0"/>
              </a:rPr>
              <a:t>max</a:t>
            </a:r>
            <a:r>
              <a:rPr lang="bg-BG" sz="2000" dirty="0">
                <a:latin typeface="Times New Roman" panose="02020603050405020304" pitchFamily="18" charset="0"/>
                <a:cs typeface="Times New Roman" panose="02020603050405020304" pitchFamily="18" charset="0"/>
              </a:rPr>
              <a:t>(</a:t>
            </a:r>
            <a:r>
              <a:rPr lang="bg-BG" sz="2000" dirty="0" err="1">
                <a:latin typeface="Times New Roman" panose="02020603050405020304" pitchFamily="18" charset="0"/>
                <a:cs typeface="Times New Roman" panose="02020603050405020304" pitchFamily="18" charset="0"/>
              </a:rPr>
              <a:t>x,y</a:t>
            </a:r>
            <a:r>
              <a:rPr lang="bg-BG" sz="2000" dirty="0">
                <a:latin typeface="Times New Roman" panose="02020603050405020304" pitchFamily="18" charset="0"/>
                <a:cs typeface="Times New Roman" panose="02020603050405020304" pitchFamily="18" charset="0"/>
              </a:rPr>
              <a:t>) ;</a:t>
            </a:r>
          </a:p>
          <a:p>
            <a:pPr algn="just">
              <a:spcBef>
                <a:spcPts val="1200"/>
              </a:spcBef>
            </a:pPr>
            <a:r>
              <a:rPr lang="bg-BG" sz="2000" dirty="0">
                <a:latin typeface="Times New Roman" panose="02020603050405020304" pitchFamily="18" charset="0"/>
                <a:cs typeface="Times New Roman" panose="02020603050405020304" pitchFamily="18" charset="0"/>
              </a:rPr>
              <a:t>• Главна програма за изчисляване на стойността на израза, в която на два пъти ще се обръщаме към процедурата,  но с различни аргументи:</a:t>
            </a:r>
          </a:p>
          <a:p>
            <a:pPr algn="ctr"/>
            <a:r>
              <a:rPr lang="bg-BG" sz="2000" dirty="0" err="1">
                <a:latin typeface="Times New Roman" panose="02020603050405020304" pitchFamily="18" charset="0"/>
                <a:cs typeface="Times New Roman" panose="02020603050405020304" pitchFamily="18" charset="0"/>
              </a:rPr>
              <a:t>max</a:t>
            </a:r>
            <a:r>
              <a:rPr lang="bg-BG" sz="2000" dirty="0">
                <a:latin typeface="Times New Roman" panose="02020603050405020304" pitchFamily="18" charset="0"/>
                <a:cs typeface="Times New Roman" panose="02020603050405020304" pitchFamily="18" charset="0"/>
              </a:rPr>
              <a:t>(</a:t>
            </a:r>
            <a:r>
              <a:rPr lang="bg-BG" sz="2000" dirty="0" err="1">
                <a:latin typeface="Times New Roman" panose="02020603050405020304" pitchFamily="18" charset="0"/>
                <a:cs typeface="Times New Roman" panose="02020603050405020304" pitchFamily="18" charset="0"/>
              </a:rPr>
              <a:t>a,b</a:t>
            </a:r>
            <a:r>
              <a:rPr lang="bg-BG" sz="2000" dirty="0">
                <a:latin typeface="Times New Roman" panose="02020603050405020304" pitchFamily="18" charset="0"/>
                <a:cs typeface="Times New Roman" panose="02020603050405020304" pitchFamily="18" charset="0"/>
              </a:rPr>
              <a:t>) и </a:t>
            </a:r>
            <a:r>
              <a:rPr lang="bg-BG" sz="2000" dirty="0" err="1">
                <a:latin typeface="Times New Roman" panose="02020603050405020304" pitchFamily="18" charset="0"/>
                <a:cs typeface="Times New Roman" panose="02020603050405020304" pitchFamily="18" charset="0"/>
              </a:rPr>
              <a:t>max</a:t>
            </a:r>
            <a:r>
              <a:rPr lang="bg-BG" sz="2000" dirty="0">
                <a:latin typeface="Times New Roman" panose="02020603050405020304" pitchFamily="18" charset="0"/>
                <a:cs typeface="Times New Roman" panose="02020603050405020304" pitchFamily="18" charset="0"/>
              </a:rPr>
              <a:t>(5,a-1) .</a:t>
            </a:r>
          </a:p>
        </p:txBody>
      </p:sp>
    </p:spTree>
    <p:extLst>
      <p:ext uri="{BB962C8B-B14F-4D97-AF65-F5344CB8AC3E}">
        <p14:creationId xmlns:p14="http://schemas.microsoft.com/office/powerpoint/2010/main" val="1871507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6810401-976C-468E-A509-B468F8785CD9}"/>
              </a:ext>
            </a:extLst>
          </p:cNvPr>
          <p:cNvSpPr>
            <a:spLocks noGrp="1"/>
          </p:cNvSpPr>
          <p:nvPr>
            <p:ph type="title"/>
          </p:nvPr>
        </p:nvSpPr>
        <p:spPr>
          <a:xfrm>
            <a:off x="745232" y="0"/>
            <a:ext cx="7571184" cy="638944"/>
          </a:xfrm>
        </p:spPr>
        <p:txBody>
          <a:bodyPr>
            <a:noAutofit/>
          </a:bodyPr>
          <a:lstStyle/>
          <a:p>
            <a:r>
              <a:rPr lang="bg-BG" sz="4400" b="1" dirty="0">
                <a:latin typeface="Times New Roman" panose="02020603050405020304" pitchFamily="18" charset="0"/>
                <a:cs typeface="Times New Roman" panose="02020603050405020304" pitchFamily="18" charset="0"/>
              </a:rPr>
              <a:t>Предаване на параметрите</a:t>
            </a:r>
            <a:r>
              <a:rPr lang="bg-BG" sz="4400" dirty="0">
                <a:solidFill>
                  <a:schemeClr val="tx1"/>
                </a:solidFill>
                <a:latin typeface="Times New Roman" pitchFamily="18" charset="0"/>
                <a:cs typeface="Times New Roman" pitchFamily="18" charset="0"/>
              </a:rPr>
              <a:t>.</a:t>
            </a:r>
            <a:endParaRPr lang="bg-BG" sz="44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D80B2D7-C3AE-4B7D-8F8A-ABA27686E904}"/>
              </a:ext>
            </a:extLst>
          </p:cNvPr>
          <p:cNvSpPr/>
          <p:nvPr/>
        </p:nvSpPr>
        <p:spPr>
          <a:xfrm>
            <a:off x="251520" y="608656"/>
            <a:ext cx="8784976" cy="6478697"/>
          </a:xfrm>
          <a:prstGeom prst="rect">
            <a:avLst/>
          </a:prstGeom>
        </p:spPr>
        <p:txBody>
          <a:bodyPr wrap="square">
            <a:spAutoFit/>
          </a:bodyPr>
          <a:lstStyle/>
          <a:p>
            <a:r>
              <a:rPr lang="bg-BG" b="1" dirty="0">
                <a:latin typeface="Times New Roman" panose="02020603050405020304" pitchFamily="18" charset="0"/>
                <a:cs typeface="Times New Roman" panose="02020603050405020304" pitchFamily="18" charset="0"/>
              </a:rPr>
              <a:t>Предаване на стойности</a:t>
            </a:r>
          </a:p>
          <a:p>
            <a:pPr algn="just"/>
            <a:r>
              <a:rPr lang="bg-BG" dirty="0">
                <a:latin typeface="Times New Roman" panose="02020603050405020304" pitchFamily="18" charset="0"/>
                <a:cs typeface="Times New Roman" panose="02020603050405020304" pitchFamily="18" charset="0"/>
              </a:rPr>
              <a:t>Първият параметър  от викащата програма ще предава чрез регистър AX, вторият параметър – чрез регистър BX, и ще очаква да получи резултата в регистър AX. Това тя ще прави с ясното “съзнание”, че стойността на първия параметър ще бъде загубена, тъй като на негово място, след изпълнението на процедурата, ще се окаже резултатът. За процедурите от тип функции обикновено съществува разбирането, че името им “връща” резултата. Фактически обаче името на процедурата има смисъла на адрес (начален адрес, адрес за </a:t>
            </a:r>
            <a:r>
              <a:rPr lang="ru-RU" dirty="0">
                <a:latin typeface="Times New Roman" panose="02020603050405020304" pitchFamily="18" charset="0"/>
                <a:cs typeface="Times New Roman" panose="02020603050405020304" pitchFamily="18" charset="0"/>
              </a:rPr>
              <a:t>обръщение).</a:t>
            </a:r>
            <a:endParaRPr lang="bg-BG" dirty="0">
              <a:latin typeface="Times New Roman" panose="02020603050405020304" pitchFamily="18" charset="0"/>
              <a:cs typeface="Times New Roman" panose="02020603050405020304" pitchFamily="18" charset="0"/>
            </a:endParaRPr>
          </a:p>
          <a:p>
            <a:pPr algn="ctr"/>
            <a:endParaRPr lang="bg-BG" sz="500" dirty="0">
              <a:latin typeface="Times New Roman" panose="02020603050405020304" pitchFamily="18" charset="0"/>
              <a:cs typeface="Times New Roman" panose="02020603050405020304" pitchFamily="18" charset="0"/>
            </a:endParaRPr>
          </a:p>
          <a:p>
            <a:pPr indent="969963"/>
            <a:r>
              <a:rPr lang="bg-BG" sz="1400" b="1" i="1" dirty="0">
                <a:latin typeface="Times New Roman" panose="02020603050405020304" pitchFamily="18" charset="0"/>
                <a:cs typeface="Times New Roman" panose="02020603050405020304" pitchFamily="18" charset="0"/>
              </a:rPr>
              <a:t>Пример: Процедура </a:t>
            </a:r>
            <a:r>
              <a:rPr lang="en-US" sz="1400" b="1" i="1" dirty="0">
                <a:latin typeface="Times New Roman" panose="02020603050405020304" pitchFamily="18" charset="0"/>
                <a:cs typeface="Times New Roman" panose="02020603050405020304" pitchFamily="18" charset="0"/>
              </a:rPr>
              <a:t>AX=max([AX], [BX])</a:t>
            </a:r>
          </a:p>
          <a:p>
            <a:pPr indent="969963"/>
            <a:r>
              <a:rPr lang="en-US" sz="1300" b="1" i="1" dirty="0">
                <a:latin typeface="Times New Roman" panose="02020603050405020304" pitchFamily="18" charset="0"/>
                <a:cs typeface="Times New Roman" panose="02020603050405020304" pitchFamily="18" charset="0"/>
              </a:rPr>
              <a:t>MAX PROC FAR</a:t>
            </a:r>
          </a:p>
          <a:p>
            <a:pPr indent="969963"/>
            <a:r>
              <a:rPr lang="en-US" sz="1300" b="1" i="1" dirty="0">
                <a:latin typeface="Times New Roman" panose="02020603050405020304" pitchFamily="18" charset="0"/>
                <a:cs typeface="Times New Roman" panose="02020603050405020304" pitchFamily="18" charset="0"/>
              </a:rPr>
              <a:t>CMP AX, BX</a:t>
            </a:r>
          </a:p>
          <a:p>
            <a:pPr indent="969963"/>
            <a:r>
              <a:rPr lang="en-US" sz="1300" b="1" i="1" dirty="0">
                <a:latin typeface="Times New Roman" panose="02020603050405020304" pitchFamily="18" charset="0"/>
                <a:cs typeface="Times New Roman" panose="02020603050405020304" pitchFamily="18" charset="0"/>
              </a:rPr>
              <a:t>JGE MAX1</a:t>
            </a:r>
          </a:p>
          <a:p>
            <a:pPr indent="969963"/>
            <a:r>
              <a:rPr lang="en-US" sz="1300" b="1" i="1" dirty="0">
                <a:latin typeface="Times New Roman" panose="02020603050405020304" pitchFamily="18" charset="0"/>
                <a:cs typeface="Times New Roman" panose="02020603050405020304" pitchFamily="18" charset="0"/>
              </a:rPr>
              <a:t>MOV AX, BX</a:t>
            </a:r>
          </a:p>
          <a:p>
            <a:pPr indent="969963"/>
            <a:r>
              <a:rPr lang="en-US" sz="1300" b="1" i="1" dirty="0">
                <a:latin typeface="Times New Roman" panose="02020603050405020304" pitchFamily="18" charset="0"/>
                <a:cs typeface="Times New Roman" panose="02020603050405020304" pitchFamily="18" charset="0"/>
              </a:rPr>
              <a:t>MAX1: RET</a:t>
            </a:r>
          </a:p>
          <a:p>
            <a:pPr indent="969963"/>
            <a:r>
              <a:rPr lang="en-US" sz="1300" b="1" i="1" dirty="0">
                <a:latin typeface="Times New Roman" panose="02020603050405020304" pitchFamily="18" charset="0"/>
                <a:cs typeface="Times New Roman" panose="02020603050405020304" pitchFamily="18" charset="0"/>
              </a:rPr>
              <a:t>MAX ENDP</a:t>
            </a:r>
          </a:p>
          <a:p>
            <a:pPr indent="969963"/>
            <a:r>
              <a:rPr lang="en-US" sz="1300" b="1" i="1" dirty="0">
                <a:latin typeface="Times New Roman" panose="02020603050405020304" pitchFamily="18" charset="0"/>
                <a:cs typeface="Times New Roman" panose="02020603050405020304" pitchFamily="18" charset="0"/>
              </a:rPr>
              <a:t>; </a:t>
            </a:r>
            <a:r>
              <a:rPr lang="bg-BG" sz="1300" b="1" i="1" dirty="0">
                <a:latin typeface="Times New Roman" panose="02020603050405020304" pitchFamily="18" charset="0"/>
                <a:cs typeface="Times New Roman" panose="02020603050405020304" pitchFamily="18" charset="0"/>
              </a:rPr>
              <a:t>Главна програма</a:t>
            </a:r>
          </a:p>
          <a:p>
            <a:pPr indent="969963"/>
            <a:r>
              <a:rPr lang="bg-BG" sz="1300" b="1" i="1" dirty="0">
                <a:latin typeface="Times New Roman" panose="02020603050405020304" pitchFamily="18" charset="0"/>
                <a:cs typeface="Times New Roman" panose="02020603050405020304" pitchFamily="18" charset="0"/>
              </a:rPr>
              <a:t>···· ···· ···· ····</a:t>
            </a:r>
          </a:p>
          <a:p>
            <a:pPr indent="969963"/>
            <a:r>
              <a:rPr lang="en-US" sz="1300" b="1" i="1" dirty="0">
                <a:latin typeface="Times New Roman" panose="02020603050405020304" pitchFamily="18" charset="0"/>
                <a:cs typeface="Times New Roman" panose="02020603050405020304" pitchFamily="18" charset="0"/>
              </a:rPr>
              <a:t>MOV AX, A</a:t>
            </a:r>
            <a:endParaRPr lang="bg-BG" sz="1300" b="1" i="1" dirty="0">
              <a:latin typeface="Times New Roman" panose="02020603050405020304" pitchFamily="18" charset="0"/>
              <a:cs typeface="Times New Roman" panose="02020603050405020304" pitchFamily="18" charset="0"/>
            </a:endParaRPr>
          </a:p>
          <a:p>
            <a:pPr indent="969963"/>
            <a:r>
              <a:rPr lang="en-US" sz="1300" b="1" i="1" dirty="0">
                <a:latin typeface="Times New Roman" panose="02020603050405020304" pitchFamily="18" charset="0"/>
                <a:cs typeface="Times New Roman" panose="02020603050405020304" pitchFamily="18" charset="0"/>
              </a:rPr>
              <a:t>MOV BX, B</a:t>
            </a:r>
          </a:p>
          <a:p>
            <a:pPr indent="969963"/>
            <a:r>
              <a:rPr lang="en-US" sz="1300" b="1" i="1" dirty="0">
                <a:latin typeface="Times New Roman" panose="02020603050405020304" pitchFamily="18" charset="0"/>
                <a:cs typeface="Times New Roman" panose="02020603050405020304" pitchFamily="18" charset="0"/>
              </a:rPr>
              <a:t>CALL MAX</a:t>
            </a:r>
          </a:p>
          <a:p>
            <a:pPr indent="969963"/>
            <a:r>
              <a:rPr lang="en-US" sz="1300" b="1" i="1" dirty="0">
                <a:latin typeface="Times New Roman" panose="02020603050405020304" pitchFamily="18" charset="0"/>
                <a:cs typeface="Times New Roman" panose="02020603050405020304" pitchFamily="18" charset="0"/>
              </a:rPr>
              <a:t>MOV C, AX ; C := (AX)=max(</a:t>
            </a:r>
            <a:r>
              <a:rPr lang="en-US" sz="1300" b="1" i="1" dirty="0" err="1">
                <a:latin typeface="Times New Roman" panose="02020603050405020304" pitchFamily="18" charset="0"/>
                <a:cs typeface="Times New Roman" panose="02020603050405020304" pitchFamily="18" charset="0"/>
              </a:rPr>
              <a:t>a,b</a:t>
            </a:r>
            <a:r>
              <a:rPr lang="en-US" sz="1300" b="1" i="1" dirty="0">
                <a:latin typeface="Times New Roman" panose="02020603050405020304" pitchFamily="18" charset="0"/>
                <a:cs typeface="Times New Roman" panose="02020603050405020304" pitchFamily="18" charset="0"/>
              </a:rPr>
              <a:t>)</a:t>
            </a:r>
          </a:p>
          <a:p>
            <a:pPr indent="969963"/>
            <a:r>
              <a:rPr lang="en-US" sz="1300" b="1" i="1" dirty="0">
                <a:latin typeface="Times New Roman" panose="02020603050405020304" pitchFamily="18" charset="0"/>
                <a:cs typeface="Times New Roman" panose="02020603050405020304" pitchFamily="18" charset="0"/>
              </a:rPr>
              <a:t>MOV AX, 5</a:t>
            </a:r>
          </a:p>
          <a:p>
            <a:pPr indent="969963"/>
            <a:r>
              <a:rPr lang="en-US" sz="1300" b="1" i="1" dirty="0">
                <a:latin typeface="Times New Roman" panose="02020603050405020304" pitchFamily="18" charset="0"/>
                <a:cs typeface="Times New Roman" panose="02020603050405020304" pitchFamily="18" charset="0"/>
              </a:rPr>
              <a:t>MOV BX, A</a:t>
            </a:r>
          </a:p>
          <a:p>
            <a:pPr indent="969963"/>
            <a:r>
              <a:rPr lang="en-US" sz="1300" b="1" i="1" dirty="0">
                <a:latin typeface="Times New Roman" panose="02020603050405020304" pitchFamily="18" charset="0"/>
                <a:cs typeface="Times New Roman" panose="02020603050405020304" pitchFamily="18" charset="0"/>
              </a:rPr>
              <a:t>DEC BX</a:t>
            </a:r>
          </a:p>
          <a:p>
            <a:pPr indent="969963"/>
            <a:r>
              <a:rPr lang="en-US" sz="1300" b="1" i="1" dirty="0">
                <a:latin typeface="Times New Roman" panose="02020603050405020304" pitchFamily="18" charset="0"/>
                <a:cs typeface="Times New Roman" panose="02020603050405020304" pitchFamily="18" charset="0"/>
              </a:rPr>
              <a:t>CALL MAX</a:t>
            </a:r>
          </a:p>
          <a:p>
            <a:pPr indent="969963"/>
            <a:r>
              <a:rPr lang="en-US" sz="1300" b="1" i="1" dirty="0">
                <a:latin typeface="Times New Roman" panose="02020603050405020304" pitchFamily="18" charset="0"/>
                <a:cs typeface="Times New Roman" panose="02020603050405020304" pitchFamily="18" charset="0"/>
              </a:rPr>
              <a:t>ADD C, AX ; C := (C)+(AX), (AX)=max(5,a-1)</a:t>
            </a:r>
          </a:p>
          <a:p>
            <a:pPr indent="969963"/>
            <a:r>
              <a:rPr lang="en-US" sz="1300" b="1" i="1" dirty="0">
                <a:latin typeface="Times New Roman" panose="02020603050405020304" pitchFamily="18" charset="0"/>
                <a:cs typeface="Times New Roman" panose="02020603050405020304" pitchFamily="18" charset="0"/>
              </a:rPr>
              <a:t>···· ···· ···· ····</a:t>
            </a:r>
          </a:p>
          <a:p>
            <a:pPr algn="just"/>
            <a:endParaRPr lang="bg-B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342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6810401-976C-468E-A509-B468F8785CD9}"/>
              </a:ext>
            </a:extLst>
          </p:cNvPr>
          <p:cNvSpPr>
            <a:spLocks noGrp="1"/>
          </p:cNvSpPr>
          <p:nvPr>
            <p:ph type="title"/>
          </p:nvPr>
        </p:nvSpPr>
        <p:spPr>
          <a:xfrm>
            <a:off x="930424" y="692696"/>
            <a:ext cx="7283152" cy="638944"/>
          </a:xfrm>
        </p:spPr>
        <p:txBody>
          <a:bodyPr>
            <a:noAutofit/>
          </a:bodyPr>
          <a:lstStyle/>
          <a:p>
            <a:r>
              <a:rPr lang="bg-BG" sz="4400" b="1" dirty="0">
                <a:latin typeface="Times New Roman" panose="02020603050405020304" pitchFamily="18" charset="0"/>
                <a:cs typeface="Times New Roman" panose="02020603050405020304" pitchFamily="18" charset="0"/>
              </a:rPr>
              <a:t>Предаване на параметрите</a:t>
            </a:r>
            <a:r>
              <a:rPr lang="bg-BG" sz="4400" dirty="0">
                <a:solidFill>
                  <a:schemeClr val="tx1"/>
                </a:solidFill>
                <a:latin typeface="Times New Roman" pitchFamily="18" charset="0"/>
                <a:cs typeface="Times New Roman" pitchFamily="18" charset="0"/>
              </a:rPr>
              <a:t>.</a:t>
            </a:r>
            <a:endParaRPr lang="bg-BG" sz="44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D80B2D7-C3AE-4B7D-8F8A-ABA27686E904}"/>
              </a:ext>
            </a:extLst>
          </p:cNvPr>
          <p:cNvSpPr/>
          <p:nvPr/>
        </p:nvSpPr>
        <p:spPr>
          <a:xfrm>
            <a:off x="179512" y="1484784"/>
            <a:ext cx="8784976" cy="4708981"/>
          </a:xfrm>
          <a:prstGeom prst="rect">
            <a:avLst/>
          </a:prstGeom>
        </p:spPr>
        <p:txBody>
          <a:bodyPr wrap="square">
            <a:spAutoFit/>
          </a:bodyPr>
          <a:lstStyle/>
          <a:p>
            <a:pPr algn="just"/>
            <a:r>
              <a:rPr lang="bg-BG" sz="2000" b="1" dirty="0">
                <a:latin typeface="Times New Roman" panose="02020603050405020304" pitchFamily="18" charset="0"/>
                <a:cs typeface="Times New Roman" panose="02020603050405020304" pitchFamily="18" charset="0"/>
              </a:rPr>
              <a:t>Предаване на указатели</a:t>
            </a:r>
          </a:p>
          <a:p>
            <a:pPr algn="just"/>
            <a:r>
              <a:rPr lang="bg-BG" sz="2000" dirty="0">
                <a:latin typeface="Times New Roman" panose="02020603050405020304" pitchFamily="18" charset="0"/>
                <a:cs typeface="Times New Roman" panose="02020603050405020304" pitchFamily="18" charset="0"/>
              </a:rPr>
              <a:t>Записът D(A) или D(B) изисква да се изпълни процедура D с аргумент А или с аргумент В. Задачата на процедурата е да замести изчисления резултат на мястото на аргумента. Имената на аргументите следва да се подменят от техните стойности, но в Асемблер имената представляват адреси. Т.е. процедурата D за да изпълни своето изчисление, тя трябва да получи адреса на аргумента, за да прочете от паметта стойността. Предаването на адреса на параметър може да се реализира чрез регистър. Регистър-модификатор, който да модифицира адреса може да бъде – BX, BP, SI или DI. За процедурата D да е избран регистър ВХ. В този регистър викащата програма следва да постави предварително адреса на параметъра А или В. Обръщението към съдържанието на адреса, става косвено, т.е. чрез конструкцията [BX].</a:t>
            </a:r>
            <a:r>
              <a:rPr lang="ru-RU" sz="2000" dirty="0">
                <a:latin typeface="Times New Roman" panose="02020603050405020304" pitchFamily="18" charset="0"/>
                <a:cs typeface="Times New Roman" panose="02020603050405020304" pitchFamily="18" charset="0"/>
              </a:rPr>
              <a:t> </a:t>
            </a:r>
            <a:r>
              <a:rPr lang="bg-BG" sz="2000" dirty="0">
                <a:latin typeface="Times New Roman" panose="02020603050405020304" pitchFamily="18" charset="0"/>
                <a:cs typeface="Times New Roman" panose="02020603050405020304" pitchFamily="18" charset="0"/>
              </a:rPr>
              <a:t>Командата за изместване използва регистър CL. За да не разруши викащата програма, тя предварително записва CX </a:t>
            </a:r>
            <a:r>
              <a:rPr lang="ru-RU" sz="2000" dirty="0">
                <a:latin typeface="Times New Roman" panose="02020603050405020304" pitchFamily="18" charset="0"/>
                <a:cs typeface="Times New Roman" panose="02020603050405020304" pitchFamily="18" charset="0"/>
              </a:rPr>
              <a:t>в стека, а след </a:t>
            </a:r>
            <a:r>
              <a:rPr lang="bg-BG" sz="2000" dirty="0">
                <a:latin typeface="Times New Roman" panose="02020603050405020304" pitchFamily="18" charset="0"/>
                <a:cs typeface="Times New Roman" panose="02020603050405020304" pitchFamily="18" charset="0"/>
              </a:rPr>
              <a:t>това го възстановява</a:t>
            </a:r>
            <a:r>
              <a:rPr lang="ru-RU" sz="2000" dirty="0">
                <a:latin typeface="Times New Roman" panose="02020603050405020304" pitchFamily="18" charset="0"/>
                <a:cs typeface="Times New Roman" panose="02020603050405020304" pitchFamily="18" charset="0"/>
              </a:rPr>
              <a:t>. </a:t>
            </a:r>
            <a:r>
              <a:rPr lang="bg-BG" sz="2000" dirty="0">
                <a:latin typeface="Times New Roman" panose="02020603050405020304" pitchFamily="18" charset="0"/>
                <a:cs typeface="Times New Roman" panose="02020603050405020304" pitchFamily="18" charset="0"/>
              </a:rPr>
              <a:t>Аргументът</a:t>
            </a:r>
            <a:r>
              <a:rPr lang="ru-RU" sz="2000" dirty="0">
                <a:latin typeface="Times New Roman" panose="02020603050405020304" pitchFamily="18" charset="0"/>
                <a:cs typeface="Times New Roman" panose="02020603050405020304" pitchFamily="18" charset="0"/>
              </a:rPr>
              <a:t> е с формат дума и е указан с </a:t>
            </a:r>
            <a:r>
              <a:rPr lang="ru-RU" sz="2000" dirty="0" err="1">
                <a:latin typeface="Times New Roman" panose="02020603050405020304" pitchFamily="18" charset="0"/>
                <a:cs typeface="Times New Roman" panose="02020603050405020304" pitchFamily="18" charset="0"/>
              </a:rPr>
              <a:t>конструкцията</a:t>
            </a:r>
            <a:r>
              <a:rPr lang="ru-RU" sz="2000" dirty="0">
                <a:latin typeface="Times New Roman" panose="02020603050405020304" pitchFamily="18" charset="0"/>
                <a:cs typeface="Times New Roman" panose="02020603050405020304" pitchFamily="18" charset="0"/>
              </a:rPr>
              <a:t> WORD PTR [BX].</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3072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6810401-976C-468E-A509-B468F8785CD9}"/>
              </a:ext>
            </a:extLst>
          </p:cNvPr>
          <p:cNvSpPr>
            <a:spLocks noGrp="1"/>
          </p:cNvSpPr>
          <p:nvPr>
            <p:ph type="title"/>
          </p:nvPr>
        </p:nvSpPr>
        <p:spPr>
          <a:xfrm>
            <a:off x="611560" y="260648"/>
            <a:ext cx="7283152" cy="638944"/>
          </a:xfrm>
        </p:spPr>
        <p:txBody>
          <a:bodyPr>
            <a:noAutofit/>
          </a:bodyPr>
          <a:lstStyle/>
          <a:p>
            <a:r>
              <a:rPr lang="bg-BG" sz="4400" b="1" dirty="0">
                <a:latin typeface="Times New Roman" panose="02020603050405020304" pitchFamily="18" charset="0"/>
                <a:cs typeface="Times New Roman" panose="02020603050405020304" pitchFamily="18" charset="0"/>
              </a:rPr>
              <a:t>Предаване на параметрите</a:t>
            </a:r>
            <a:r>
              <a:rPr lang="bg-BG" sz="4400" dirty="0">
                <a:solidFill>
                  <a:schemeClr val="tx1"/>
                </a:solidFill>
                <a:latin typeface="Times New Roman" pitchFamily="18" charset="0"/>
                <a:cs typeface="Times New Roman" pitchFamily="18" charset="0"/>
              </a:rPr>
              <a:t>.</a:t>
            </a:r>
            <a:endParaRPr lang="bg-BG" sz="44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D80B2D7-C3AE-4B7D-8F8A-ABA27686E904}"/>
              </a:ext>
            </a:extLst>
          </p:cNvPr>
          <p:cNvSpPr/>
          <p:nvPr/>
        </p:nvSpPr>
        <p:spPr>
          <a:xfrm>
            <a:off x="179512" y="1268760"/>
            <a:ext cx="8784976" cy="5324535"/>
          </a:xfrm>
          <a:prstGeom prst="rect">
            <a:avLst/>
          </a:prstGeom>
        </p:spPr>
        <p:txBody>
          <a:bodyPr wrap="square">
            <a:spAutoFit/>
          </a:bodyPr>
          <a:lstStyle/>
          <a:p>
            <a:pPr algn="just"/>
            <a:r>
              <a:rPr lang="bg-BG" sz="2000" b="1" dirty="0">
                <a:latin typeface="Times New Roman" panose="02020603050405020304" pitchFamily="18" charset="0"/>
                <a:cs typeface="Times New Roman" panose="02020603050405020304" pitchFamily="18" charset="0"/>
              </a:rPr>
              <a:t>Предаване на указатели</a:t>
            </a:r>
          </a:p>
          <a:p>
            <a:pPr indent="914400" algn="just"/>
            <a:r>
              <a:rPr lang="bg-BG" sz="2000" b="1" dirty="0">
                <a:latin typeface="Times New Roman" panose="02020603050405020304" pitchFamily="18" charset="0"/>
                <a:cs typeface="Times New Roman" panose="02020603050405020304" pitchFamily="18" charset="0"/>
              </a:rPr>
              <a:t>; Главна програма</a:t>
            </a:r>
          </a:p>
          <a:p>
            <a:pPr indent="914400" algn="just"/>
            <a:r>
              <a:rPr lang="bg-BG" sz="2000" b="1" dirty="0">
                <a:latin typeface="Times New Roman" panose="02020603050405020304" pitchFamily="18" charset="0"/>
                <a:cs typeface="Times New Roman" panose="02020603050405020304" pitchFamily="18" charset="0"/>
              </a:rPr>
              <a:t>···· ···· ···· ····</a:t>
            </a:r>
          </a:p>
          <a:p>
            <a:pPr indent="914400" algn="just"/>
            <a:r>
              <a:rPr lang="en-US" sz="2000" b="1" dirty="0">
                <a:latin typeface="Times New Roman" panose="02020603050405020304" pitchFamily="18" charset="0"/>
                <a:cs typeface="Times New Roman" panose="02020603050405020304" pitchFamily="18" charset="0"/>
              </a:rPr>
              <a:t>LEA BX, A</a:t>
            </a:r>
          </a:p>
          <a:p>
            <a:pPr indent="914400" algn="just"/>
            <a:r>
              <a:rPr lang="en-US" sz="2000" b="1" dirty="0">
                <a:latin typeface="Times New Roman" panose="02020603050405020304" pitchFamily="18" charset="0"/>
                <a:cs typeface="Times New Roman" panose="02020603050405020304" pitchFamily="18" charset="0"/>
              </a:rPr>
              <a:t>CALL D</a:t>
            </a:r>
          </a:p>
          <a:p>
            <a:pPr indent="914400" algn="just"/>
            <a:r>
              <a:rPr lang="en-US" sz="2000" b="1" dirty="0">
                <a:latin typeface="Times New Roman" panose="02020603050405020304" pitchFamily="18" charset="0"/>
                <a:cs typeface="Times New Roman" panose="02020603050405020304" pitchFamily="18" charset="0"/>
              </a:rPr>
              <a:t>LEA BX, B</a:t>
            </a:r>
          </a:p>
          <a:p>
            <a:pPr indent="914400" algn="just"/>
            <a:r>
              <a:rPr lang="en-US" sz="2000" b="1" dirty="0">
                <a:latin typeface="Times New Roman" panose="02020603050405020304" pitchFamily="18" charset="0"/>
                <a:cs typeface="Times New Roman" panose="02020603050405020304" pitchFamily="18" charset="0"/>
              </a:rPr>
              <a:t>CALL D</a:t>
            </a:r>
          </a:p>
          <a:p>
            <a:pPr indent="914400" algn="just"/>
            <a:r>
              <a:rPr lang="en-US" sz="2000" b="1" dirty="0">
                <a:latin typeface="Times New Roman" panose="02020603050405020304" pitchFamily="18" charset="0"/>
                <a:cs typeface="Times New Roman" panose="02020603050405020304" pitchFamily="18" charset="0"/>
              </a:rPr>
              <a:t>···· ···· ···· ····</a:t>
            </a:r>
          </a:p>
          <a:p>
            <a:pPr indent="914400" algn="just"/>
            <a:r>
              <a:rPr lang="en-US" sz="2000" b="1" dirty="0">
                <a:latin typeface="Times New Roman" panose="02020603050405020304" pitchFamily="18" charset="0"/>
                <a:cs typeface="Times New Roman" panose="02020603050405020304" pitchFamily="18" charset="0"/>
              </a:rPr>
              <a:t>; </a:t>
            </a:r>
            <a:r>
              <a:rPr lang="bg-BG" sz="2000" b="1" dirty="0">
                <a:latin typeface="Times New Roman" panose="02020603050405020304" pitchFamily="18" charset="0"/>
                <a:cs typeface="Times New Roman" panose="02020603050405020304" pitchFamily="18" charset="0"/>
              </a:rPr>
              <a:t>Процедура: ВХ=адрес на Х, Х := (Х) / 16</a:t>
            </a:r>
          </a:p>
          <a:p>
            <a:pPr indent="914400" algn="just"/>
            <a:r>
              <a:rPr lang="en-US" sz="2000" b="1" dirty="0">
                <a:latin typeface="Times New Roman" panose="02020603050405020304" pitchFamily="18" charset="0"/>
                <a:cs typeface="Times New Roman" panose="02020603050405020304" pitchFamily="18" charset="0"/>
              </a:rPr>
              <a:t>D PROC</a:t>
            </a:r>
          </a:p>
          <a:p>
            <a:pPr indent="914400" algn="just"/>
            <a:r>
              <a:rPr lang="en-US" sz="2000" b="1" dirty="0">
                <a:latin typeface="Times New Roman" panose="02020603050405020304" pitchFamily="18" charset="0"/>
                <a:cs typeface="Times New Roman" panose="02020603050405020304" pitchFamily="18" charset="0"/>
              </a:rPr>
              <a:t>PUSH CX</a:t>
            </a:r>
          </a:p>
          <a:p>
            <a:pPr indent="914400" algn="just"/>
            <a:r>
              <a:rPr lang="en-US" sz="2000" b="1" dirty="0">
                <a:latin typeface="Times New Roman" panose="02020603050405020304" pitchFamily="18" charset="0"/>
                <a:cs typeface="Times New Roman" panose="02020603050405020304" pitchFamily="18" charset="0"/>
              </a:rPr>
              <a:t>MOV CL, 4</a:t>
            </a:r>
          </a:p>
          <a:p>
            <a:pPr indent="914400" algn="just"/>
            <a:r>
              <a:rPr lang="en-US" sz="2000" b="1" dirty="0">
                <a:latin typeface="Times New Roman" panose="02020603050405020304" pitchFamily="18" charset="0"/>
                <a:cs typeface="Times New Roman" panose="02020603050405020304" pitchFamily="18" charset="0"/>
              </a:rPr>
              <a:t>SHR WORD PTR [BX], CL</a:t>
            </a:r>
          </a:p>
          <a:p>
            <a:pPr indent="914400" algn="just"/>
            <a:r>
              <a:rPr lang="en-US" sz="2000" b="1" dirty="0">
                <a:latin typeface="Times New Roman" panose="02020603050405020304" pitchFamily="18" charset="0"/>
                <a:cs typeface="Times New Roman" panose="02020603050405020304" pitchFamily="18" charset="0"/>
              </a:rPr>
              <a:t>POP CX</a:t>
            </a:r>
          </a:p>
          <a:p>
            <a:pPr indent="914400" algn="just"/>
            <a:r>
              <a:rPr lang="en-US" sz="2000" b="1" dirty="0">
                <a:latin typeface="Times New Roman" panose="02020603050405020304" pitchFamily="18" charset="0"/>
                <a:cs typeface="Times New Roman" panose="02020603050405020304" pitchFamily="18" charset="0"/>
              </a:rPr>
              <a:t>RET</a:t>
            </a:r>
          </a:p>
          <a:p>
            <a:pPr indent="914400" algn="just"/>
            <a:r>
              <a:rPr lang="en-US" sz="2000" b="1" dirty="0">
                <a:latin typeface="Times New Roman" panose="02020603050405020304" pitchFamily="18" charset="0"/>
                <a:cs typeface="Times New Roman" panose="02020603050405020304" pitchFamily="18" charset="0"/>
              </a:rPr>
              <a:t>D ENDP</a:t>
            </a:r>
            <a:endParaRPr lang="bg-BG" sz="2000" b="1" dirty="0">
              <a:latin typeface="Times New Roman" panose="02020603050405020304" pitchFamily="18" charset="0"/>
              <a:cs typeface="Times New Roman" panose="02020603050405020304" pitchFamily="18" charset="0"/>
            </a:endParaRPr>
          </a:p>
          <a:p>
            <a:pPr indent="969963"/>
            <a:r>
              <a:rPr lang="en-US" sz="2000" b="1" i="1" dirty="0">
                <a:latin typeface="Times New Roman" panose="02020603050405020304" pitchFamily="18" charset="0"/>
                <a:cs typeface="Times New Roman" panose="02020603050405020304" pitchFamily="18" charset="0"/>
              </a:rPr>
              <a:t>···· ···· ···· ····</a:t>
            </a:r>
          </a:p>
        </p:txBody>
      </p:sp>
    </p:spTree>
    <p:extLst>
      <p:ext uri="{BB962C8B-B14F-4D97-AF65-F5344CB8AC3E}">
        <p14:creationId xmlns:p14="http://schemas.microsoft.com/office/powerpoint/2010/main" val="3569946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89466" y="125760"/>
            <a:ext cx="8229600" cy="710952"/>
          </a:xfrm>
        </p:spPr>
        <p:txBody>
          <a:bodyPr>
            <a:noAutofit/>
          </a:bodyPr>
          <a:lstStyle/>
          <a:p>
            <a:r>
              <a:rPr lang="bg-BG" sz="4400" b="1" dirty="0">
                <a:latin typeface="Times New Roman" panose="02020603050405020304" pitchFamily="18" charset="0"/>
                <a:cs typeface="Times New Roman" panose="02020603050405020304" pitchFamily="18" charset="0"/>
              </a:rPr>
              <a:t>Стек и работа със стека.</a:t>
            </a:r>
          </a:p>
        </p:txBody>
      </p:sp>
      <p:sp>
        <p:nvSpPr>
          <p:cNvPr id="6" name="Rectangle 2"/>
          <p:cNvSpPr>
            <a:spLocks noGrp="1" noChangeArrowheads="1"/>
          </p:cNvSpPr>
          <p:nvPr>
            <p:ph idx="1"/>
          </p:nvPr>
        </p:nvSpPr>
        <p:spPr bwMode="auto">
          <a:xfrm>
            <a:off x="204664" y="1169022"/>
            <a:ext cx="4824536"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ClrTx/>
              <a:buSzTx/>
              <a:buNone/>
            </a:pPr>
            <a:r>
              <a:rPr lang="bg-BG" altLang="en-US" sz="2000" dirty="0">
                <a:latin typeface="Times New Roman" panose="02020603050405020304" pitchFamily="18" charset="0"/>
                <a:cs typeface="Times New Roman" panose="02020603050405020304" pitchFamily="18" charset="0"/>
              </a:rPr>
              <a:t>Стекът е запомнящо устройство базирано на принципа LIFO-„последен влязъл пръв излязъл“. Реализира се в адресното пространство на оперативната памет. За работа със стека се използват регистрите SS, ESP и EBP, фиг. 1. Съдържанието на SS е основата на стека. ESP съхранява отместването на върха на стека. </a:t>
            </a:r>
          </a:p>
          <a:p>
            <a:pPr marL="0" lvl="0" indent="0" algn="just">
              <a:buClrTx/>
              <a:buSzTx/>
              <a:buNone/>
            </a:pPr>
            <a:r>
              <a:rPr lang="bg-BG" altLang="en-US" sz="2000" dirty="0">
                <a:latin typeface="Times New Roman" panose="02020603050405020304" pitchFamily="18" charset="0"/>
                <a:cs typeface="Times New Roman" panose="02020603050405020304" pitchFamily="18" charset="0"/>
              </a:rPr>
              <a:t>ESP първоначално се инициализира до най-голямото отместване, което стекът може да достигне, модифицирано чрез операции на POP и PUSH. EBP регистърът обикновено се използва за достъп до </a:t>
            </a:r>
            <a:r>
              <a:rPr lang="bg-BG" altLang="en-US" sz="2000" dirty="0" err="1">
                <a:latin typeface="Times New Roman" panose="02020603050405020304" pitchFamily="18" charset="0"/>
                <a:cs typeface="Times New Roman" panose="02020603050405020304" pitchFamily="18" charset="0"/>
              </a:rPr>
              <a:t>стекови</a:t>
            </a:r>
            <a:r>
              <a:rPr lang="bg-BG" altLang="en-US" sz="2000" dirty="0">
                <a:latin typeface="Times New Roman" panose="02020603050405020304" pitchFamily="18" charset="0"/>
                <a:cs typeface="Times New Roman" panose="02020603050405020304" pitchFamily="18" charset="0"/>
              </a:rPr>
              <a:t> елементи. Началният адрес (сегментният адрес) се съхранява постоянно в регистър SS, а за адресиране на клетките в стека се използва </a:t>
            </a:r>
            <a:r>
              <a:rPr lang="bg-BG" altLang="en-US" sz="2000" dirty="0" err="1">
                <a:latin typeface="Times New Roman" panose="02020603050405020304" pitchFamily="18" charset="0"/>
                <a:cs typeface="Times New Roman" panose="02020603050405020304" pitchFamily="18" charset="0"/>
              </a:rPr>
              <a:t>стековият</a:t>
            </a:r>
            <a:r>
              <a:rPr lang="bg-BG" altLang="en-US" sz="2000" dirty="0">
                <a:latin typeface="Times New Roman" panose="02020603050405020304" pitchFamily="18" charset="0"/>
                <a:cs typeface="Times New Roman" panose="02020603050405020304" pitchFamily="18" charset="0"/>
              </a:rPr>
              <a:t> указател – регистър SP. </a:t>
            </a:r>
          </a:p>
        </p:txBody>
      </p:sp>
      <p:pic>
        <p:nvPicPr>
          <p:cNvPr id="5" name="Picture 4">
            <a:extLst>
              <a:ext uri="{FF2B5EF4-FFF2-40B4-BE49-F238E27FC236}">
                <a16:creationId xmlns:a16="http://schemas.microsoft.com/office/drawing/2014/main" id="{1E194B2B-1F79-45BD-8987-040F7C8CA8FF}"/>
              </a:ext>
            </a:extLst>
          </p:cNvPr>
          <p:cNvPicPr>
            <a:picLocks noChangeAspect="1"/>
          </p:cNvPicPr>
          <p:nvPr/>
        </p:nvPicPr>
        <p:blipFill>
          <a:blip r:embed="rId2"/>
          <a:stretch>
            <a:fillRect/>
          </a:stretch>
        </p:blipFill>
        <p:spPr>
          <a:xfrm>
            <a:off x="5033862" y="836712"/>
            <a:ext cx="3911655" cy="5683246"/>
          </a:xfrm>
          <a:prstGeom prst="rect">
            <a:avLst/>
          </a:prstGeom>
        </p:spPr>
      </p:pic>
      <p:sp>
        <p:nvSpPr>
          <p:cNvPr id="2" name="Rectangle 1">
            <a:extLst>
              <a:ext uri="{FF2B5EF4-FFF2-40B4-BE49-F238E27FC236}">
                <a16:creationId xmlns:a16="http://schemas.microsoft.com/office/drawing/2014/main" id="{B83C8673-6CE8-41AF-AFC4-50111D16D6FC}"/>
              </a:ext>
            </a:extLst>
          </p:cNvPr>
          <p:cNvSpPr/>
          <p:nvPr/>
        </p:nvSpPr>
        <p:spPr>
          <a:xfrm>
            <a:off x="7847096" y="5294927"/>
            <a:ext cx="871970" cy="369332"/>
          </a:xfrm>
          <a:prstGeom prst="rect">
            <a:avLst/>
          </a:prstGeom>
        </p:spPr>
        <p:txBody>
          <a:bodyPr wrap="none">
            <a:spAutoFit/>
          </a:bodyPr>
          <a:lstStyle/>
          <a:p>
            <a:r>
              <a:rPr lang="bg-BG" altLang="en-US" dirty="0">
                <a:latin typeface="Times New Roman" panose="02020603050405020304" pitchFamily="18" charset="0"/>
                <a:cs typeface="Times New Roman" panose="02020603050405020304" pitchFamily="18" charset="0"/>
              </a:rPr>
              <a:t>фиг. 1. </a:t>
            </a:r>
            <a:endParaRPr lang="en-US" dirty="0"/>
          </a:p>
        </p:txBody>
      </p:sp>
    </p:spTree>
    <p:extLst>
      <p:ext uri="{BB962C8B-B14F-4D97-AF65-F5344CB8AC3E}">
        <p14:creationId xmlns:p14="http://schemas.microsoft.com/office/powerpoint/2010/main" val="1563610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67544" y="44624"/>
            <a:ext cx="8229600" cy="596553"/>
          </a:xfrm>
        </p:spPr>
        <p:txBody>
          <a:bodyPr>
            <a:noAutofit/>
          </a:bodyPr>
          <a:lstStyle/>
          <a:p>
            <a:r>
              <a:rPr lang="bg-BG" sz="4400" b="1" dirty="0">
                <a:latin typeface="Times New Roman" panose="02020603050405020304" pitchFamily="18" charset="0"/>
                <a:cs typeface="Times New Roman" panose="02020603050405020304" pitchFamily="18" charset="0"/>
              </a:rPr>
              <a:t>Стек и работа със стека.</a:t>
            </a:r>
          </a:p>
        </p:txBody>
      </p:sp>
      <p:sp>
        <p:nvSpPr>
          <p:cNvPr id="6" name="Rectangle 2"/>
          <p:cNvSpPr>
            <a:spLocks noGrp="1" noChangeArrowheads="1"/>
          </p:cNvSpPr>
          <p:nvPr>
            <p:ph idx="1"/>
          </p:nvPr>
        </p:nvSpPr>
        <p:spPr bwMode="auto">
          <a:xfrm>
            <a:off x="107504" y="764024"/>
            <a:ext cx="8784976"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ClrTx/>
              <a:buSzTx/>
              <a:buNone/>
            </a:pPr>
            <a:r>
              <a:rPr lang="bg-BG" altLang="en-US" sz="2000" dirty="0">
                <a:latin typeface="Times New Roman" panose="02020603050405020304" pitchFamily="18" charset="0"/>
                <a:cs typeface="Times New Roman" panose="02020603050405020304" pitchFamily="18" charset="0"/>
              </a:rPr>
              <a:t>Стекът е от тип “винаги готов за четене”. За правилна работа на програмата адресните регистри SS и SP трябва да бъдат първоначално инициализирани, чрез изписване на параметъра STACK. При стартиране на програмата съдържанието на регистър SP ще бъде нула, а на регистър SS – определеният от ОС начален (сегментен) адрес. </a:t>
            </a:r>
            <a:endParaRPr lang="en-US" altLang="en-US" sz="2000" dirty="0">
              <a:latin typeface="Times New Roman" panose="02020603050405020304" pitchFamily="18" charset="0"/>
              <a:cs typeface="Times New Roman" panose="02020603050405020304" pitchFamily="18" charset="0"/>
            </a:endParaRPr>
          </a:p>
          <a:p>
            <a:pPr marL="0" lvl="0" indent="0" algn="just">
              <a:buClrTx/>
              <a:buSzTx/>
              <a:buNone/>
            </a:pPr>
            <a:r>
              <a:rPr lang="bg-BG" altLang="en-US" sz="2000" dirty="0">
                <a:latin typeface="Times New Roman" panose="02020603050405020304" pitchFamily="18" charset="0"/>
                <a:cs typeface="Times New Roman" panose="02020603050405020304" pitchFamily="18" charset="0"/>
              </a:rPr>
              <a:t>Стекът се реализира се в адресното пространство на оперативната памет. За работа със стека се използват регистрите SS, ESP и EBP. Съдържанието на SS е основата на стека. ESP съхранява отместването на върха на стека. </a:t>
            </a:r>
            <a:endParaRPr lang="en-US" altLang="en-US" sz="2000" dirty="0">
              <a:latin typeface="Times New Roman" panose="02020603050405020304" pitchFamily="18" charset="0"/>
              <a:cs typeface="Times New Roman" panose="02020603050405020304" pitchFamily="18" charset="0"/>
            </a:endParaRPr>
          </a:p>
          <a:p>
            <a:pPr marL="0" indent="0" algn="just">
              <a:buClrTx/>
              <a:buSzTx/>
              <a:buNone/>
            </a:pPr>
            <a:r>
              <a:rPr lang="bg-BG" altLang="en-US" sz="2000" dirty="0">
                <a:latin typeface="Times New Roman" panose="02020603050405020304" pitchFamily="18" charset="0"/>
                <a:cs typeface="Times New Roman" panose="02020603050405020304" pitchFamily="18" charset="0"/>
              </a:rPr>
              <a:t>За правилна работа на програмата адресните регистри SS и SP трябва да бъдат първоначално инициализирани, чрез изписване на параметъра STACK. При стартиране на програмата съдържанието на регистър SP ще бъде нула, а на регистър SS – определеният от ОС начален (сегментен) адрес</a:t>
            </a:r>
            <a:r>
              <a:rPr lang="bg-BG" altLang="en-US" sz="1800" dirty="0">
                <a:latin typeface="Times New Roman" panose="02020603050405020304" pitchFamily="18" charset="0"/>
                <a:cs typeface="Times New Roman" panose="02020603050405020304" pitchFamily="18" charset="0"/>
              </a:rPr>
              <a:t>. </a:t>
            </a:r>
          </a:p>
          <a:p>
            <a:pPr marL="0" lvl="0" indent="0" algn="just">
              <a:buClrTx/>
              <a:buSzTx/>
              <a:buNone/>
            </a:pPr>
            <a:r>
              <a:rPr lang="bg-BG" altLang="en-US" sz="2000" dirty="0">
                <a:latin typeface="Times New Roman" panose="02020603050405020304" pitchFamily="18" charset="0"/>
                <a:cs typeface="Times New Roman" panose="02020603050405020304" pitchFamily="18" charset="0"/>
              </a:rPr>
              <a:t> Стекът се създава например, чрез описанието:   </a:t>
            </a:r>
          </a:p>
          <a:p>
            <a:pPr marL="0" lvl="0" indent="0" algn="just">
              <a:buClrTx/>
              <a:buSzTx/>
              <a:buNone/>
            </a:pPr>
            <a:r>
              <a:rPr lang="en-US" altLang="en-US" sz="2000" dirty="0">
                <a:latin typeface="Times New Roman" panose="02020603050405020304" pitchFamily="18" charset="0"/>
                <a:cs typeface="Times New Roman" panose="02020603050405020304" pitchFamily="18" charset="0"/>
              </a:rPr>
              <a:t>          </a:t>
            </a:r>
            <a:r>
              <a:rPr lang="bg-BG" altLang="en-US" sz="2000" b="1" dirty="0">
                <a:latin typeface="Times New Roman" panose="02020603050405020304" pitchFamily="18" charset="0"/>
                <a:cs typeface="Times New Roman" panose="02020603050405020304" pitchFamily="18" charset="0"/>
              </a:rPr>
              <a:t> S  SEGMENT  STACK       DB   k  DUP(?)  </a:t>
            </a:r>
          </a:p>
          <a:p>
            <a:pPr marL="0" lvl="0" indent="0" algn="just">
              <a:buClrTx/>
              <a:buSzTx/>
              <a:buNone/>
            </a:pPr>
            <a:r>
              <a:rPr lang="bg-BG" altLang="en-US" sz="2000" b="1"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    </a:t>
            </a:r>
            <a:r>
              <a:rPr lang="bg-BG" altLang="en-US" sz="2000" b="1"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                        </a:t>
            </a:r>
            <a:r>
              <a:rPr lang="bg-BG" altLang="en-US" sz="2000" b="1" dirty="0">
                <a:latin typeface="Times New Roman" panose="02020603050405020304" pitchFamily="18" charset="0"/>
                <a:cs typeface="Times New Roman" panose="02020603050405020304" pitchFamily="18" charset="0"/>
              </a:rPr>
              <a:t>S  ENDS  </a:t>
            </a:r>
          </a:p>
          <a:p>
            <a:pPr marL="0" lvl="0" indent="0" algn="just">
              <a:buClrTx/>
              <a:buSzTx/>
              <a:buNone/>
            </a:pPr>
            <a:r>
              <a:rPr lang="bg-BG" altLang="en-US" sz="2000" dirty="0">
                <a:latin typeface="Times New Roman" panose="02020603050405020304" pitchFamily="18" charset="0"/>
                <a:cs typeface="Times New Roman" panose="02020603050405020304" pitchFamily="18" charset="0"/>
              </a:rPr>
              <a:t>Стекът е </a:t>
            </a:r>
            <a:r>
              <a:rPr lang="bg-BG" altLang="en-US" sz="2000" dirty="0" err="1">
                <a:latin typeface="Times New Roman" panose="02020603050405020304" pitchFamily="18" charset="0"/>
                <a:cs typeface="Times New Roman" panose="02020603050405020304" pitchFamily="18" charset="0"/>
              </a:rPr>
              <a:t>безадресно</a:t>
            </a:r>
            <a:r>
              <a:rPr lang="bg-BG" altLang="en-US" sz="2000" dirty="0">
                <a:latin typeface="Times New Roman" panose="02020603050405020304" pitchFamily="18" charset="0"/>
                <a:cs typeface="Times New Roman" panose="02020603050405020304" pitchFamily="18" charset="0"/>
              </a:rPr>
              <a:t> запомнящо устройство (от гледна точка на процесора), имена на неговите клетки не се определят. Те се адресират в резултат на дисциплината LIFO чрез </a:t>
            </a:r>
            <a:r>
              <a:rPr lang="bg-BG" altLang="en-US" sz="2000" dirty="0" err="1">
                <a:latin typeface="Times New Roman" panose="02020603050405020304" pitchFamily="18" charset="0"/>
                <a:cs typeface="Times New Roman" panose="02020603050405020304" pitchFamily="18" charset="0"/>
              </a:rPr>
              <a:t>стековия</a:t>
            </a:r>
            <a:r>
              <a:rPr lang="bg-BG" altLang="en-US" sz="2000" dirty="0">
                <a:latin typeface="Times New Roman" panose="02020603050405020304" pitchFamily="18" charset="0"/>
                <a:cs typeface="Times New Roman" panose="02020603050405020304" pitchFamily="18" charset="0"/>
              </a:rPr>
              <a:t> указател SP. Обемът на стека може да се декларира и с директивите DW и DD. </a:t>
            </a:r>
          </a:p>
        </p:txBody>
      </p:sp>
    </p:spTree>
    <p:extLst>
      <p:ext uri="{BB962C8B-B14F-4D97-AF65-F5344CB8AC3E}">
        <p14:creationId xmlns:p14="http://schemas.microsoft.com/office/powerpoint/2010/main" val="2683260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EC32B5C-101F-4473-A08B-C9C6D2CE1DA1}"/>
              </a:ext>
            </a:extLst>
          </p:cNvPr>
          <p:cNvSpPr/>
          <p:nvPr/>
        </p:nvSpPr>
        <p:spPr>
          <a:xfrm>
            <a:off x="317742" y="1085773"/>
            <a:ext cx="4941288" cy="5632311"/>
          </a:xfrm>
          <a:prstGeom prst="rect">
            <a:avLst/>
          </a:prstGeom>
        </p:spPr>
        <p:txBody>
          <a:bodyPr wrap="square">
            <a:spAutoFit/>
          </a:bodyPr>
          <a:lstStyle/>
          <a:p>
            <a:pPr algn="just"/>
            <a:r>
              <a:rPr lang="bg-BG" sz="2000" dirty="0">
                <a:latin typeface="Times New Roman" panose="02020603050405020304" pitchFamily="18" charset="0"/>
                <a:cs typeface="Times New Roman" panose="02020603050405020304" pitchFamily="18" charset="0"/>
              </a:rPr>
              <a:t>Запис на дума в стека: </a:t>
            </a:r>
            <a:r>
              <a:rPr lang="bg-BG" sz="2000" b="1" dirty="0">
                <a:latin typeface="Times New Roman" panose="02020603050405020304" pitchFamily="18" charset="0"/>
                <a:cs typeface="Times New Roman" panose="02020603050405020304" pitchFamily="18" charset="0"/>
              </a:rPr>
              <a:t>PUSH </a:t>
            </a:r>
            <a:r>
              <a:rPr lang="bg-BG" sz="2000" b="1" dirty="0" err="1">
                <a:latin typeface="Times New Roman" panose="02020603050405020304" pitchFamily="18" charset="0"/>
                <a:cs typeface="Times New Roman" panose="02020603050405020304" pitchFamily="18" charset="0"/>
              </a:rPr>
              <a:t>Source</a:t>
            </a:r>
            <a:endParaRPr lang="bg-BG" sz="2000" b="1" dirty="0">
              <a:latin typeface="Times New Roman" panose="02020603050405020304" pitchFamily="18" charset="0"/>
              <a:cs typeface="Times New Roman" panose="02020603050405020304" pitchFamily="18" charset="0"/>
            </a:endParaRPr>
          </a:p>
          <a:p>
            <a:pPr algn="just"/>
            <a:r>
              <a:rPr lang="bg-BG" sz="2000" dirty="0">
                <a:latin typeface="Times New Roman" panose="02020603050405020304" pitchFamily="18" charset="0"/>
                <a:cs typeface="Times New Roman" panose="02020603050405020304" pitchFamily="18" charset="0"/>
              </a:rPr>
              <a:t>Източникът може да бъде регистър, сегментен регистър или променлива. ESP се намалява с размера на източника в байтове (2 или 4) и съдържанието на източника се поставя в паметта на адрес SS:ESP.</a:t>
            </a:r>
          </a:p>
          <a:p>
            <a:pPr algn="just"/>
            <a:r>
              <a:rPr lang="bg-BG" sz="2000" dirty="0">
                <a:latin typeface="Times New Roman" panose="02020603050405020304" pitchFamily="18" charset="0"/>
                <a:cs typeface="Times New Roman" panose="02020603050405020304" pitchFamily="18" charset="0"/>
              </a:rPr>
              <a:t>Действието на командата се състои от два етапа: първоначално се модифицира </a:t>
            </a:r>
            <a:r>
              <a:rPr lang="bg-BG" sz="2000" dirty="0" err="1">
                <a:latin typeface="Times New Roman" panose="02020603050405020304" pitchFamily="18" charset="0"/>
                <a:cs typeface="Times New Roman" panose="02020603050405020304" pitchFamily="18" charset="0"/>
              </a:rPr>
              <a:t>стековият</a:t>
            </a:r>
            <a:r>
              <a:rPr lang="bg-BG" sz="2000" dirty="0">
                <a:latin typeface="Times New Roman" panose="02020603050405020304" pitchFamily="18" charset="0"/>
                <a:cs typeface="Times New Roman" panose="02020603050405020304" pitchFamily="18" charset="0"/>
              </a:rPr>
              <a:t> указател SP:=(SP)-2, като неговото съдържание се намалява с 2. След това в така указаната клетка се записва операнда (съдържание на регистър или на клетка от ОП). Командата не променя флаговете. При тази модификация на </a:t>
            </a:r>
            <a:r>
              <a:rPr lang="bg-BG" sz="2000" dirty="0" err="1">
                <a:latin typeface="Times New Roman" panose="02020603050405020304" pitchFamily="18" charset="0"/>
                <a:cs typeface="Times New Roman" panose="02020603050405020304" pitchFamily="18" charset="0"/>
              </a:rPr>
              <a:t>стековия</a:t>
            </a:r>
            <a:r>
              <a:rPr lang="bg-BG" sz="2000" dirty="0">
                <a:latin typeface="Times New Roman" panose="02020603050405020304" pitchFamily="18" charset="0"/>
                <a:cs typeface="Times New Roman" panose="02020603050405020304" pitchFamily="18" charset="0"/>
              </a:rPr>
              <a:t> указател функционирането на това запомнящо устройство се вижда на фигурата</a:t>
            </a:r>
            <a:r>
              <a:rPr lang="bg-BG" dirty="0">
                <a:latin typeface="Times New Roman" panose="02020603050405020304" pitchFamily="18" charset="0"/>
                <a:cs typeface="Times New Roman" panose="02020603050405020304" pitchFamily="18" charset="0"/>
              </a:rPr>
              <a:t>.</a:t>
            </a:r>
          </a:p>
        </p:txBody>
      </p:sp>
      <p:pic>
        <p:nvPicPr>
          <p:cNvPr id="8" name="Picture 7">
            <a:extLst>
              <a:ext uri="{FF2B5EF4-FFF2-40B4-BE49-F238E27FC236}">
                <a16:creationId xmlns:a16="http://schemas.microsoft.com/office/drawing/2014/main" id="{3A75E6E8-E2ED-491D-BF99-9333964CCA93}"/>
              </a:ext>
            </a:extLst>
          </p:cNvPr>
          <p:cNvPicPr>
            <a:picLocks noChangeAspect="1"/>
          </p:cNvPicPr>
          <p:nvPr/>
        </p:nvPicPr>
        <p:blipFill>
          <a:blip r:embed="rId2"/>
          <a:stretch>
            <a:fillRect/>
          </a:stretch>
        </p:blipFill>
        <p:spPr>
          <a:xfrm>
            <a:off x="5347252" y="982472"/>
            <a:ext cx="3796748" cy="5348138"/>
          </a:xfrm>
          <a:prstGeom prst="rect">
            <a:avLst/>
          </a:prstGeom>
        </p:spPr>
      </p:pic>
      <p:sp>
        <p:nvSpPr>
          <p:cNvPr id="10" name="Title 1">
            <a:extLst>
              <a:ext uri="{FF2B5EF4-FFF2-40B4-BE49-F238E27FC236}">
                <a16:creationId xmlns:a16="http://schemas.microsoft.com/office/drawing/2014/main" id="{75730001-080B-44E3-BBA4-205AD0C21F05}"/>
              </a:ext>
            </a:extLst>
          </p:cNvPr>
          <p:cNvSpPr txBox="1">
            <a:spLocks/>
          </p:cNvSpPr>
          <p:nvPr/>
        </p:nvSpPr>
        <p:spPr bwMode="auto">
          <a:xfrm>
            <a:off x="341936" y="504931"/>
            <a:ext cx="8547721" cy="605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lnSpcReduction="10000"/>
          </a:bodyPr>
          <a:lst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Arial" charset="0"/>
              </a:defRPr>
            </a:lvl2pPr>
            <a:lvl3pPr algn="l" rtl="0" eaLnBrk="1" fontAlgn="base" hangingPunct="1">
              <a:spcBef>
                <a:spcPct val="0"/>
              </a:spcBef>
              <a:spcAft>
                <a:spcPct val="0"/>
              </a:spcAft>
              <a:defRPr sz="4400">
                <a:solidFill>
                  <a:schemeClr val="tx1"/>
                </a:solidFill>
                <a:latin typeface="Arial" charset="0"/>
              </a:defRPr>
            </a:lvl3pPr>
            <a:lvl4pPr algn="l" rtl="0" eaLnBrk="1" fontAlgn="base" hangingPunct="1">
              <a:spcBef>
                <a:spcPct val="0"/>
              </a:spcBef>
              <a:spcAft>
                <a:spcPct val="0"/>
              </a:spcAft>
              <a:defRPr sz="4400">
                <a:solidFill>
                  <a:schemeClr val="tx1"/>
                </a:solidFill>
                <a:latin typeface="Arial" charset="0"/>
              </a:defRPr>
            </a:lvl4pPr>
            <a:lvl5pPr algn="l" rtl="0" eaLnBrk="1" fontAlgn="base" hangingPunct="1">
              <a:spcBef>
                <a:spcPct val="0"/>
              </a:spcBef>
              <a:spcAft>
                <a:spcPct val="0"/>
              </a:spcAft>
              <a:defRPr sz="4400">
                <a:solidFill>
                  <a:schemeClr val="tx1"/>
                </a:solidFill>
                <a:latin typeface="Arial" charset="0"/>
              </a:defRPr>
            </a:lvl5pPr>
            <a:lvl6pPr marL="457200" algn="l" rtl="0" eaLnBrk="1" fontAlgn="base" hangingPunct="1">
              <a:spcBef>
                <a:spcPct val="0"/>
              </a:spcBef>
              <a:spcAft>
                <a:spcPct val="0"/>
              </a:spcAft>
              <a:defRPr sz="4400">
                <a:solidFill>
                  <a:schemeClr val="tx1"/>
                </a:solidFill>
                <a:latin typeface="Arial" charset="0"/>
              </a:defRPr>
            </a:lvl6pPr>
            <a:lvl7pPr marL="914400" algn="l" rtl="0" eaLnBrk="1" fontAlgn="base" hangingPunct="1">
              <a:spcBef>
                <a:spcPct val="0"/>
              </a:spcBef>
              <a:spcAft>
                <a:spcPct val="0"/>
              </a:spcAft>
              <a:defRPr sz="4400">
                <a:solidFill>
                  <a:schemeClr val="tx1"/>
                </a:solidFill>
                <a:latin typeface="Arial" charset="0"/>
              </a:defRPr>
            </a:lvl7pPr>
            <a:lvl8pPr marL="1371600" algn="l" rtl="0" eaLnBrk="1" fontAlgn="base" hangingPunct="1">
              <a:spcBef>
                <a:spcPct val="0"/>
              </a:spcBef>
              <a:spcAft>
                <a:spcPct val="0"/>
              </a:spcAft>
              <a:defRPr sz="4400">
                <a:solidFill>
                  <a:schemeClr val="tx1"/>
                </a:solidFill>
                <a:latin typeface="Arial" charset="0"/>
              </a:defRPr>
            </a:lvl8pPr>
            <a:lvl9pPr marL="1828800" algn="l" rtl="0" eaLnBrk="1" fontAlgn="base" hangingPunct="1">
              <a:spcBef>
                <a:spcPct val="0"/>
              </a:spcBef>
              <a:spcAft>
                <a:spcPct val="0"/>
              </a:spcAft>
              <a:defRPr sz="4400">
                <a:solidFill>
                  <a:schemeClr val="tx1"/>
                </a:solidFill>
                <a:latin typeface="Arial" charset="0"/>
              </a:defRPr>
            </a:lvl9pPr>
          </a:lstStyle>
          <a:p>
            <a:r>
              <a:rPr lang="en-US" sz="3700" b="1" kern="0" dirty="0">
                <a:solidFill>
                  <a:schemeClr val="bg2"/>
                </a:solidFill>
                <a:latin typeface="Times New Roman" pitchFamily="18" charset="0"/>
                <a:cs typeface="Times New Roman" pitchFamily="18" charset="0"/>
              </a:rPr>
              <a:t> </a:t>
            </a:r>
            <a:r>
              <a:rPr lang="bg-BG" sz="3300" b="1" dirty="0">
                <a:solidFill>
                  <a:schemeClr val="tx2"/>
                </a:solidFill>
                <a:latin typeface="Times New Roman" panose="02020603050405020304" pitchFamily="18" charset="0"/>
                <a:cs typeface="Times New Roman" panose="02020603050405020304" pitchFamily="18" charset="0"/>
              </a:rPr>
              <a:t>Стек и работа със стека.</a:t>
            </a:r>
          </a:p>
        </p:txBody>
      </p:sp>
    </p:spTree>
    <p:extLst>
      <p:ext uri="{BB962C8B-B14F-4D97-AF65-F5344CB8AC3E}">
        <p14:creationId xmlns:p14="http://schemas.microsoft.com/office/powerpoint/2010/main" val="1426667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39C4032-5AAA-4B3C-98E7-00681D2A6016}"/>
              </a:ext>
            </a:extLst>
          </p:cNvPr>
          <p:cNvSpPr/>
          <p:nvPr/>
        </p:nvSpPr>
        <p:spPr>
          <a:xfrm>
            <a:off x="144585" y="1124744"/>
            <a:ext cx="8505573" cy="5324535"/>
          </a:xfrm>
          <a:prstGeom prst="rect">
            <a:avLst/>
          </a:prstGeom>
        </p:spPr>
        <p:txBody>
          <a:bodyPr wrap="square">
            <a:spAutoFit/>
          </a:bodyPr>
          <a:lstStyle/>
          <a:p>
            <a:pPr indent="457200" algn="just"/>
            <a:r>
              <a:rPr lang="bg-BG" sz="2000" dirty="0">
                <a:latin typeface="Times New Roman" panose="02020603050405020304" pitchFamily="18" charset="0"/>
                <a:cs typeface="Times New Roman" panose="02020603050405020304" pitchFamily="18" charset="0"/>
              </a:rPr>
              <a:t>При запис стековия указател SP се движи в посока към малките адреси, защото се модифицира чрез изваждане на 2, а при четене – в посока на големите адреси, защото се модифицира чрез събиране с 2. Началният адрес, който определяме като “дъно” на стека, остава постоянен в регистър SS. В стека може да бъде записано и съдържанието на самия </a:t>
            </a:r>
            <a:r>
              <a:rPr lang="bg-BG" sz="2000" dirty="0" err="1">
                <a:latin typeface="Times New Roman" panose="02020603050405020304" pitchFamily="18" charset="0"/>
                <a:cs typeface="Times New Roman" panose="02020603050405020304" pitchFamily="18" charset="0"/>
              </a:rPr>
              <a:t>стеков</a:t>
            </a:r>
            <a:r>
              <a:rPr lang="bg-BG" sz="2000" dirty="0">
                <a:latin typeface="Times New Roman" panose="02020603050405020304" pitchFamily="18" charset="0"/>
                <a:cs typeface="Times New Roman" panose="02020603050405020304" pitchFamily="18" charset="0"/>
              </a:rPr>
              <a:t> указател: (PUSH SP). Но при това в стека се записва предварително модифицираното съдържание на регистър SP (SP-2).</a:t>
            </a:r>
          </a:p>
          <a:p>
            <a:pPr algn="just"/>
            <a:r>
              <a:rPr lang="bg-BG" sz="2000" dirty="0">
                <a:latin typeface="Times New Roman" panose="02020603050405020304" pitchFamily="18" charset="0"/>
                <a:cs typeface="Times New Roman" panose="02020603050405020304" pitchFamily="18" charset="0"/>
              </a:rPr>
              <a:t>Като операнд на команда PUSH може да бъде указан всеки регистър. Не трябва обаче да се използва непосредствен операнд. </a:t>
            </a:r>
          </a:p>
          <a:p>
            <a:pPr algn="just"/>
            <a:endParaRPr lang="bg-BG" sz="2000" dirty="0">
              <a:latin typeface="Times New Roman" panose="02020603050405020304" pitchFamily="18" charset="0"/>
              <a:cs typeface="Times New Roman" panose="02020603050405020304" pitchFamily="18" charset="0"/>
            </a:endParaRPr>
          </a:p>
          <a:p>
            <a:pPr algn="just"/>
            <a:r>
              <a:rPr lang="bg-BG" sz="2000" b="1" i="1" dirty="0">
                <a:latin typeface="Times New Roman" panose="02020603050405020304" pitchFamily="18" charset="0"/>
                <a:cs typeface="Times New Roman" panose="02020603050405020304" pitchFamily="18" charset="0"/>
              </a:rPr>
              <a:t>Четене на дума от стека:</a:t>
            </a:r>
          </a:p>
          <a:p>
            <a:pPr algn="just"/>
            <a:r>
              <a:rPr lang="bg-BG" sz="2000" b="1" i="1" dirty="0">
                <a:latin typeface="Times New Roman" panose="02020603050405020304" pitchFamily="18" charset="0"/>
                <a:cs typeface="Times New Roman" panose="02020603050405020304" pitchFamily="18" charset="0"/>
              </a:rPr>
              <a:t> 			POP </a:t>
            </a:r>
            <a:r>
              <a:rPr lang="en-US" sz="2000" b="1" i="1" dirty="0">
                <a:latin typeface="Times New Roman" panose="02020603050405020304" pitchFamily="18" charset="0"/>
                <a:cs typeface="Times New Roman" panose="02020603050405020304" pitchFamily="18" charset="0"/>
              </a:rPr>
              <a:t>Destination</a:t>
            </a:r>
            <a:endParaRPr lang="bg-BG" sz="2000" b="1" i="1" dirty="0">
              <a:latin typeface="Times New Roman" panose="02020603050405020304" pitchFamily="18" charset="0"/>
              <a:cs typeface="Times New Roman" panose="02020603050405020304" pitchFamily="18" charset="0"/>
            </a:endParaRPr>
          </a:p>
          <a:p>
            <a:pPr indent="457200" algn="just"/>
            <a:r>
              <a:rPr lang="bg-BG" sz="2000" dirty="0">
                <a:latin typeface="Times New Roman" panose="02020603050405020304" pitchFamily="18" charset="0"/>
                <a:cs typeface="Times New Roman" panose="02020603050405020304" pitchFamily="18" charset="0"/>
              </a:rPr>
              <a:t>Действието на командата се състои от два етапа: първоначално от указаната клетка се чете съдържанието на топ клетката и се присвоява на указания операнд. След това се модифицира стековият указател, като неговото съдържание се увеличава с 2 (SP+2). Командата променя флаговете</a:t>
            </a:r>
            <a:r>
              <a:rPr lang="ru-RU" sz="2000" dirty="0">
                <a:latin typeface="Times New Roman" panose="02020603050405020304" pitchFamily="18" charset="0"/>
                <a:cs typeface="Times New Roman" panose="02020603050405020304" pitchFamily="18" charset="0"/>
              </a:rPr>
              <a:t>.</a:t>
            </a:r>
            <a:endParaRPr lang="bg-BG" sz="2000" dirty="0">
              <a:solidFill>
                <a:schemeClr val="bg2"/>
              </a:solidFill>
            </a:endParaRPr>
          </a:p>
        </p:txBody>
      </p:sp>
      <p:sp>
        <p:nvSpPr>
          <p:cNvPr id="9" name="Title 1">
            <a:extLst>
              <a:ext uri="{FF2B5EF4-FFF2-40B4-BE49-F238E27FC236}">
                <a16:creationId xmlns:a16="http://schemas.microsoft.com/office/drawing/2014/main" id="{968CA029-AA4B-4918-BA2F-35B05F61FCF7}"/>
              </a:ext>
            </a:extLst>
          </p:cNvPr>
          <p:cNvSpPr txBox="1">
            <a:spLocks/>
          </p:cNvSpPr>
          <p:nvPr/>
        </p:nvSpPr>
        <p:spPr bwMode="auto">
          <a:xfrm>
            <a:off x="334311" y="485236"/>
            <a:ext cx="8126120" cy="605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lnSpcReduction="10000"/>
          </a:bodyPr>
          <a:lst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Arial" charset="0"/>
              </a:defRPr>
            </a:lvl2pPr>
            <a:lvl3pPr algn="l" rtl="0" eaLnBrk="1" fontAlgn="base" hangingPunct="1">
              <a:spcBef>
                <a:spcPct val="0"/>
              </a:spcBef>
              <a:spcAft>
                <a:spcPct val="0"/>
              </a:spcAft>
              <a:defRPr sz="4400">
                <a:solidFill>
                  <a:schemeClr val="tx1"/>
                </a:solidFill>
                <a:latin typeface="Arial" charset="0"/>
              </a:defRPr>
            </a:lvl3pPr>
            <a:lvl4pPr algn="l" rtl="0" eaLnBrk="1" fontAlgn="base" hangingPunct="1">
              <a:spcBef>
                <a:spcPct val="0"/>
              </a:spcBef>
              <a:spcAft>
                <a:spcPct val="0"/>
              </a:spcAft>
              <a:defRPr sz="4400">
                <a:solidFill>
                  <a:schemeClr val="tx1"/>
                </a:solidFill>
                <a:latin typeface="Arial" charset="0"/>
              </a:defRPr>
            </a:lvl4pPr>
            <a:lvl5pPr algn="l" rtl="0" eaLnBrk="1" fontAlgn="base" hangingPunct="1">
              <a:spcBef>
                <a:spcPct val="0"/>
              </a:spcBef>
              <a:spcAft>
                <a:spcPct val="0"/>
              </a:spcAft>
              <a:defRPr sz="4400">
                <a:solidFill>
                  <a:schemeClr val="tx1"/>
                </a:solidFill>
                <a:latin typeface="Arial" charset="0"/>
              </a:defRPr>
            </a:lvl5pPr>
            <a:lvl6pPr marL="457200" algn="l" rtl="0" eaLnBrk="1" fontAlgn="base" hangingPunct="1">
              <a:spcBef>
                <a:spcPct val="0"/>
              </a:spcBef>
              <a:spcAft>
                <a:spcPct val="0"/>
              </a:spcAft>
              <a:defRPr sz="4400">
                <a:solidFill>
                  <a:schemeClr val="tx1"/>
                </a:solidFill>
                <a:latin typeface="Arial" charset="0"/>
              </a:defRPr>
            </a:lvl6pPr>
            <a:lvl7pPr marL="914400" algn="l" rtl="0" eaLnBrk="1" fontAlgn="base" hangingPunct="1">
              <a:spcBef>
                <a:spcPct val="0"/>
              </a:spcBef>
              <a:spcAft>
                <a:spcPct val="0"/>
              </a:spcAft>
              <a:defRPr sz="4400">
                <a:solidFill>
                  <a:schemeClr val="tx1"/>
                </a:solidFill>
                <a:latin typeface="Arial" charset="0"/>
              </a:defRPr>
            </a:lvl7pPr>
            <a:lvl8pPr marL="1371600" algn="l" rtl="0" eaLnBrk="1" fontAlgn="base" hangingPunct="1">
              <a:spcBef>
                <a:spcPct val="0"/>
              </a:spcBef>
              <a:spcAft>
                <a:spcPct val="0"/>
              </a:spcAft>
              <a:defRPr sz="4400">
                <a:solidFill>
                  <a:schemeClr val="tx1"/>
                </a:solidFill>
                <a:latin typeface="Arial" charset="0"/>
              </a:defRPr>
            </a:lvl8pPr>
            <a:lvl9pPr marL="1828800" algn="l" rtl="0" eaLnBrk="1" fontAlgn="base" hangingPunct="1">
              <a:spcBef>
                <a:spcPct val="0"/>
              </a:spcBef>
              <a:spcAft>
                <a:spcPct val="0"/>
              </a:spcAft>
              <a:defRPr sz="4400">
                <a:solidFill>
                  <a:schemeClr val="tx1"/>
                </a:solidFill>
                <a:latin typeface="Arial" charset="0"/>
              </a:defRPr>
            </a:lvl9pPr>
          </a:lstStyle>
          <a:p>
            <a:r>
              <a:rPr lang="en-US" sz="3700" b="1" kern="0" dirty="0">
                <a:solidFill>
                  <a:schemeClr val="bg2"/>
                </a:solidFill>
                <a:latin typeface="Times New Roman" pitchFamily="18" charset="0"/>
                <a:cs typeface="Times New Roman" pitchFamily="18" charset="0"/>
              </a:rPr>
              <a:t> </a:t>
            </a:r>
            <a:r>
              <a:rPr lang="bg-BG" sz="3300" b="1" dirty="0">
                <a:solidFill>
                  <a:schemeClr val="tx2"/>
                </a:solidFill>
                <a:latin typeface="Times New Roman" panose="02020603050405020304" pitchFamily="18" charset="0"/>
                <a:cs typeface="Times New Roman" panose="02020603050405020304" pitchFamily="18" charset="0"/>
              </a:rPr>
              <a:t>Стек и работа със стека</a:t>
            </a:r>
            <a:r>
              <a:rPr lang="bg-BG" sz="2800" b="1" dirty="0">
                <a:latin typeface="Times New Roman" panose="02020603050405020304" pitchFamily="18" charset="0"/>
                <a:cs typeface="Times New Roman" panose="02020603050405020304" pitchFamily="18" charset="0"/>
              </a:rPr>
              <a:t>.</a:t>
            </a:r>
            <a:endParaRPr lang="bg-BG" sz="3000" b="1"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647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93204" y="188640"/>
            <a:ext cx="8229600" cy="854968"/>
          </a:xfrm>
        </p:spPr>
        <p:txBody>
          <a:bodyPr>
            <a:normAutofit/>
          </a:bodyPr>
          <a:lstStyle/>
          <a:p>
            <a:r>
              <a:rPr lang="en-US" sz="4000" dirty="0">
                <a:latin typeface="Times New Roman" pitchFamily="18" charset="0"/>
                <a:cs typeface="Times New Roman" pitchFamily="18" charset="0"/>
              </a:rPr>
              <a:t> </a:t>
            </a:r>
            <a:endParaRPr lang="bg-BG" sz="4000" b="1" dirty="0"/>
          </a:p>
        </p:txBody>
      </p:sp>
      <p:sp>
        <p:nvSpPr>
          <p:cNvPr id="6" name="Title 1">
            <a:extLst>
              <a:ext uri="{FF2B5EF4-FFF2-40B4-BE49-F238E27FC236}">
                <a16:creationId xmlns:a16="http://schemas.microsoft.com/office/drawing/2014/main" id="{DDB06234-1797-48BC-8E5C-A26955FA6792}"/>
              </a:ext>
            </a:extLst>
          </p:cNvPr>
          <p:cNvSpPr txBox="1">
            <a:spLocks/>
          </p:cNvSpPr>
          <p:nvPr/>
        </p:nvSpPr>
        <p:spPr bwMode="auto">
          <a:xfrm>
            <a:off x="899592" y="740895"/>
            <a:ext cx="6815100" cy="605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Arial" charset="0"/>
              </a:defRPr>
            </a:lvl2pPr>
            <a:lvl3pPr algn="l" rtl="0" eaLnBrk="1" fontAlgn="base" hangingPunct="1">
              <a:spcBef>
                <a:spcPct val="0"/>
              </a:spcBef>
              <a:spcAft>
                <a:spcPct val="0"/>
              </a:spcAft>
              <a:defRPr sz="4400">
                <a:solidFill>
                  <a:schemeClr val="tx1"/>
                </a:solidFill>
                <a:latin typeface="Arial" charset="0"/>
              </a:defRPr>
            </a:lvl3pPr>
            <a:lvl4pPr algn="l" rtl="0" eaLnBrk="1" fontAlgn="base" hangingPunct="1">
              <a:spcBef>
                <a:spcPct val="0"/>
              </a:spcBef>
              <a:spcAft>
                <a:spcPct val="0"/>
              </a:spcAft>
              <a:defRPr sz="4400">
                <a:solidFill>
                  <a:schemeClr val="tx1"/>
                </a:solidFill>
                <a:latin typeface="Arial" charset="0"/>
              </a:defRPr>
            </a:lvl4pPr>
            <a:lvl5pPr algn="l" rtl="0" eaLnBrk="1" fontAlgn="base" hangingPunct="1">
              <a:spcBef>
                <a:spcPct val="0"/>
              </a:spcBef>
              <a:spcAft>
                <a:spcPct val="0"/>
              </a:spcAft>
              <a:defRPr sz="4400">
                <a:solidFill>
                  <a:schemeClr val="tx1"/>
                </a:solidFill>
                <a:latin typeface="Arial" charset="0"/>
              </a:defRPr>
            </a:lvl5pPr>
            <a:lvl6pPr marL="457200" algn="l" rtl="0" eaLnBrk="1" fontAlgn="base" hangingPunct="1">
              <a:spcBef>
                <a:spcPct val="0"/>
              </a:spcBef>
              <a:spcAft>
                <a:spcPct val="0"/>
              </a:spcAft>
              <a:defRPr sz="4400">
                <a:solidFill>
                  <a:schemeClr val="tx1"/>
                </a:solidFill>
                <a:latin typeface="Arial" charset="0"/>
              </a:defRPr>
            </a:lvl6pPr>
            <a:lvl7pPr marL="914400" algn="l" rtl="0" eaLnBrk="1" fontAlgn="base" hangingPunct="1">
              <a:spcBef>
                <a:spcPct val="0"/>
              </a:spcBef>
              <a:spcAft>
                <a:spcPct val="0"/>
              </a:spcAft>
              <a:defRPr sz="4400">
                <a:solidFill>
                  <a:schemeClr val="tx1"/>
                </a:solidFill>
                <a:latin typeface="Arial" charset="0"/>
              </a:defRPr>
            </a:lvl7pPr>
            <a:lvl8pPr marL="1371600" algn="l" rtl="0" eaLnBrk="1" fontAlgn="base" hangingPunct="1">
              <a:spcBef>
                <a:spcPct val="0"/>
              </a:spcBef>
              <a:spcAft>
                <a:spcPct val="0"/>
              </a:spcAft>
              <a:defRPr sz="4400">
                <a:solidFill>
                  <a:schemeClr val="tx1"/>
                </a:solidFill>
                <a:latin typeface="Arial" charset="0"/>
              </a:defRPr>
            </a:lvl8pPr>
            <a:lvl9pPr marL="1828800" algn="l" rtl="0" eaLnBrk="1" fontAlgn="base" hangingPunct="1">
              <a:spcBef>
                <a:spcPct val="0"/>
              </a:spcBef>
              <a:spcAft>
                <a:spcPct val="0"/>
              </a:spcAft>
              <a:defRPr sz="4400">
                <a:solidFill>
                  <a:schemeClr val="tx1"/>
                </a:solidFill>
                <a:latin typeface="Arial" charset="0"/>
              </a:defRPr>
            </a:lvl9pPr>
          </a:lstStyle>
          <a:p>
            <a:pPr>
              <a:lnSpc>
                <a:spcPct val="90000"/>
              </a:lnSpc>
            </a:pPr>
            <a:r>
              <a:rPr lang="bg-BG" sz="3200" b="1" dirty="0">
                <a:solidFill>
                  <a:schemeClr val="tx2"/>
                </a:solidFill>
                <a:latin typeface="Times New Roman" panose="02020603050405020304" pitchFamily="18" charset="0"/>
                <a:cs typeface="Times New Roman" panose="02020603050405020304" pitchFamily="18" charset="0"/>
              </a:rPr>
              <a:t>Предаване на параметрите.</a:t>
            </a:r>
          </a:p>
        </p:txBody>
      </p:sp>
      <p:sp>
        <p:nvSpPr>
          <p:cNvPr id="8" name="Rectangle 7">
            <a:extLst>
              <a:ext uri="{FF2B5EF4-FFF2-40B4-BE49-F238E27FC236}">
                <a16:creationId xmlns:a16="http://schemas.microsoft.com/office/drawing/2014/main" id="{F1F04D41-9777-4095-B1F9-A97B64BB2717}"/>
              </a:ext>
            </a:extLst>
          </p:cNvPr>
          <p:cNvSpPr/>
          <p:nvPr/>
        </p:nvSpPr>
        <p:spPr>
          <a:xfrm>
            <a:off x="323528" y="1346321"/>
            <a:ext cx="8568952" cy="5078313"/>
          </a:xfrm>
          <a:prstGeom prst="rect">
            <a:avLst/>
          </a:prstGeom>
        </p:spPr>
        <p:txBody>
          <a:bodyPr wrap="square">
            <a:spAutoFit/>
          </a:bodyPr>
          <a:lstStyle/>
          <a:p>
            <a:pPr indent="457200" algn="just"/>
            <a:r>
              <a:rPr lang="bg-BG" b="1" dirty="0">
                <a:latin typeface="Times New Roman" panose="02020603050405020304" pitchFamily="18" charset="0"/>
                <a:cs typeface="Times New Roman" panose="02020603050405020304" pitchFamily="18" charset="0"/>
              </a:rPr>
              <a:t>Предаване на параметрите по указател</a:t>
            </a:r>
            <a:endParaRPr lang="en-US" b="1" dirty="0">
              <a:latin typeface="Times New Roman" panose="02020603050405020304" pitchFamily="18" charset="0"/>
              <a:cs typeface="Times New Roman" panose="02020603050405020304" pitchFamily="18" charset="0"/>
            </a:endParaRPr>
          </a:p>
          <a:p>
            <a:pPr indent="457200" algn="just"/>
            <a:r>
              <a:rPr lang="bg-BG" dirty="0">
                <a:latin typeface="Times New Roman" panose="02020603050405020304" pitchFamily="18" charset="0"/>
                <a:cs typeface="Times New Roman" panose="02020603050405020304" pitchFamily="18" charset="0"/>
              </a:rPr>
              <a:t>Предаването на параметри по указател е когато параметърът представлява данни с по-сложен тип – масив, структура и пр. Даже процедурата да не променя тези данни, на нея в същност й се предава началния адрес на съответната конструкция. При този подход типът на данните се конструира от програмиста и не е известно дали наличните в процесора регистри ще му бъдат достатъчни. Освен това подходът на началния адрес е универсален, а той осигурява достъп до всяка част от данните в конструкцията на типа.</a:t>
            </a:r>
          </a:p>
          <a:p>
            <a:pPr algn="just"/>
            <a:r>
              <a:rPr lang="bg-BG" dirty="0">
                <a:latin typeface="Times New Roman" panose="02020603050405020304" pitchFamily="18" charset="0"/>
                <a:cs typeface="Times New Roman" panose="02020603050405020304" pitchFamily="18" charset="0"/>
              </a:rPr>
              <a:t> Пример: Дадени са масивите X и Y от едно </a:t>
            </a:r>
            <a:r>
              <a:rPr lang="bg-BG" dirty="0" err="1">
                <a:latin typeface="Times New Roman" panose="02020603050405020304" pitchFamily="18" charset="0"/>
                <a:cs typeface="Times New Roman" panose="02020603050405020304" pitchFamily="18" charset="0"/>
              </a:rPr>
              <a:t>байтови</a:t>
            </a:r>
            <a:r>
              <a:rPr lang="bg-BG" dirty="0">
                <a:latin typeface="Times New Roman" panose="02020603050405020304" pitchFamily="18" charset="0"/>
                <a:cs typeface="Times New Roman" panose="02020603050405020304" pitchFamily="18" charset="0"/>
              </a:rPr>
              <a:t> числа без знак:</a:t>
            </a:r>
          </a:p>
          <a:p>
            <a:pPr indent="914400" algn="just"/>
            <a:r>
              <a:rPr lang="ru-RU" b="1" dirty="0">
                <a:latin typeface="Times New Roman" panose="02020603050405020304" pitchFamily="18" charset="0"/>
                <a:cs typeface="Times New Roman" panose="02020603050405020304" pitchFamily="18" charset="0"/>
              </a:rPr>
              <a:t>X DB 100 DUP (?)</a:t>
            </a:r>
          </a:p>
          <a:p>
            <a:pPr indent="914400" algn="just"/>
            <a:r>
              <a:rPr lang="ru-RU" b="1" dirty="0">
                <a:latin typeface="Times New Roman" panose="02020603050405020304" pitchFamily="18" charset="0"/>
                <a:cs typeface="Times New Roman" panose="02020603050405020304" pitchFamily="18" charset="0"/>
              </a:rPr>
              <a:t>Y DB 25 DUP (</a:t>
            </a:r>
            <a:r>
              <a:rPr lang="ru-RU" dirty="0">
                <a:latin typeface="Times New Roman" panose="02020603050405020304" pitchFamily="18" charset="0"/>
                <a:cs typeface="Times New Roman" panose="02020603050405020304" pitchFamily="18" charset="0"/>
              </a:rPr>
              <a:t>?)</a:t>
            </a:r>
          </a:p>
          <a:p>
            <a:pPr algn="just"/>
            <a:r>
              <a:rPr lang="bg-BG" dirty="0">
                <a:latin typeface="Times New Roman" panose="02020603050405020304" pitchFamily="18" charset="0"/>
                <a:cs typeface="Times New Roman" panose="02020603050405020304" pitchFamily="18" charset="0"/>
              </a:rPr>
              <a:t>Да се запише в регистър DL сумата от максималните елементи в двата масива: </a:t>
            </a:r>
          </a:p>
          <a:p>
            <a:pPr algn="just"/>
            <a:r>
              <a:rPr lang="bg-BG" dirty="0">
                <a:latin typeface="Times New Roman" panose="02020603050405020304" pitchFamily="18" charset="0"/>
                <a:cs typeface="Times New Roman" panose="02020603050405020304" pitchFamily="18" charset="0"/>
              </a:rPr>
              <a:t>DL := </a:t>
            </a:r>
            <a:r>
              <a:rPr lang="bg-BG" dirty="0" err="1">
                <a:latin typeface="Times New Roman" panose="02020603050405020304" pitchFamily="18" charset="0"/>
                <a:cs typeface="Times New Roman" panose="02020603050405020304" pitchFamily="18" charset="0"/>
              </a:rPr>
              <a:t>max</a:t>
            </a:r>
            <a:r>
              <a:rPr lang="bg-BG" dirty="0">
                <a:latin typeface="Times New Roman" panose="02020603050405020304" pitchFamily="18" charset="0"/>
                <a:cs typeface="Times New Roman" panose="02020603050405020304" pitchFamily="18" charset="0"/>
              </a:rPr>
              <a:t>(X[k]) + </a:t>
            </a:r>
            <a:r>
              <a:rPr lang="bg-BG" dirty="0" err="1">
                <a:latin typeface="Times New Roman" panose="02020603050405020304" pitchFamily="18" charset="0"/>
                <a:cs typeface="Times New Roman" panose="02020603050405020304" pitchFamily="18" charset="0"/>
              </a:rPr>
              <a:t>max</a:t>
            </a:r>
            <a:r>
              <a:rPr lang="bg-BG" dirty="0">
                <a:latin typeface="Times New Roman" panose="02020603050405020304" pitchFamily="18" charset="0"/>
                <a:cs typeface="Times New Roman" panose="02020603050405020304" pitchFamily="18" charset="0"/>
              </a:rPr>
              <a:t>(Y[k]). Налага се на два пъти да се определя максимален елемент, то за тази задача ще създадем процедура MAX. За да изпълни задачата, процедурата следва да получи началния адрес на  параметъра си, т.е. на масива, както и неговата дължина в брой елементи. Адресът се уговаряме да предаваме чрез регистър ВХ, а броя на елементите чрез регистър СХ. За връщане на резултата може да бъде уговорен регистър AL.</a:t>
            </a:r>
          </a:p>
        </p:txBody>
      </p:sp>
    </p:spTree>
    <p:extLst>
      <p:ext uri="{BB962C8B-B14F-4D97-AF65-F5344CB8AC3E}">
        <p14:creationId xmlns:p14="http://schemas.microsoft.com/office/powerpoint/2010/main" val="3663413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93204" y="216487"/>
            <a:ext cx="8229600" cy="854968"/>
          </a:xfrm>
        </p:spPr>
        <p:txBody>
          <a:bodyPr>
            <a:normAutofit/>
          </a:bodyPr>
          <a:lstStyle/>
          <a:p>
            <a:r>
              <a:rPr lang="en-US" sz="4000" dirty="0">
                <a:latin typeface="Times New Roman" pitchFamily="18" charset="0"/>
                <a:cs typeface="Times New Roman" pitchFamily="18" charset="0"/>
              </a:rPr>
              <a:t> </a:t>
            </a:r>
            <a:endParaRPr lang="bg-BG" sz="4000" b="1" dirty="0"/>
          </a:p>
        </p:txBody>
      </p:sp>
      <p:sp>
        <p:nvSpPr>
          <p:cNvPr id="3" name="Title 1">
            <a:extLst>
              <a:ext uri="{FF2B5EF4-FFF2-40B4-BE49-F238E27FC236}">
                <a16:creationId xmlns:a16="http://schemas.microsoft.com/office/drawing/2014/main" id="{3FE85CA4-8E06-4424-8ED5-D41BD1C8F09A}"/>
              </a:ext>
            </a:extLst>
          </p:cNvPr>
          <p:cNvSpPr txBox="1">
            <a:spLocks/>
          </p:cNvSpPr>
          <p:nvPr/>
        </p:nvSpPr>
        <p:spPr bwMode="auto">
          <a:xfrm>
            <a:off x="190296" y="-15879"/>
            <a:ext cx="7910096" cy="605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Arial" charset="0"/>
              </a:defRPr>
            </a:lvl2pPr>
            <a:lvl3pPr algn="l" rtl="0" eaLnBrk="1" fontAlgn="base" hangingPunct="1">
              <a:spcBef>
                <a:spcPct val="0"/>
              </a:spcBef>
              <a:spcAft>
                <a:spcPct val="0"/>
              </a:spcAft>
              <a:defRPr sz="4400">
                <a:solidFill>
                  <a:schemeClr val="tx1"/>
                </a:solidFill>
                <a:latin typeface="Arial" charset="0"/>
              </a:defRPr>
            </a:lvl3pPr>
            <a:lvl4pPr algn="l" rtl="0" eaLnBrk="1" fontAlgn="base" hangingPunct="1">
              <a:spcBef>
                <a:spcPct val="0"/>
              </a:spcBef>
              <a:spcAft>
                <a:spcPct val="0"/>
              </a:spcAft>
              <a:defRPr sz="4400">
                <a:solidFill>
                  <a:schemeClr val="tx1"/>
                </a:solidFill>
                <a:latin typeface="Arial" charset="0"/>
              </a:defRPr>
            </a:lvl4pPr>
            <a:lvl5pPr algn="l" rtl="0" eaLnBrk="1" fontAlgn="base" hangingPunct="1">
              <a:spcBef>
                <a:spcPct val="0"/>
              </a:spcBef>
              <a:spcAft>
                <a:spcPct val="0"/>
              </a:spcAft>
              <a:defRPr sz="4400">
                <a:solidFill>
                  <a:schemeClr val="tx1"/>
                </a:solidFill>
                <a:latin typeface="Arial" charset="0"/>
              </a:defRPr>
            </a:lvl5pPr>
            <a:lvl6pPr marL="457200" algn="l" rtl="0" eaLnBrk="1" fontAlgn="base" hangingPunct="1">
              <a:spcBef>
                <a:spcPct val="0"/>
              </a:spcBef>
              <a:spcAft>
                <a:spcPct val="0"/>
              </a:spcAft>
              <a:defRPr sz="4400">
                <a:solidFill>
                  <a:schemeClr val="tx1"/>
                </a:solidFill>
                <a:latin typeface="Arial" charset="0"/>
              </a:defRPr>
            </a:lvl6pPr>
            <a:lvl7pPr marL="914400" algn="l" rtl="0" eaLnBrk="1" fontAlgn="base" hangingPunct="1">
              <a:spcBef>
                <a:spcPct val="0"/>
              </a:spcBef>
              <a:spcAft>
                <a:spcPct val="0"/>
              </a:spcAft>
              <a:defRPr sz="4400">
                <a:solidFill>
                  <a:schemeClr val="tx1"/>
                </a:solidFill>
                <a:latin typeface="Arial" charset="0"/>
              </a:defRPr>
            </a:lvl7pPr>
            <a:lvl8pPr marL="1371600" algn="l" rtl="0" eaLnBrk="1" fontAlgn="base" hangingPunct="1">
              <a:spcBef>
                <a:spcPct val="0"/>
              </a:spcBef>
              <a:spcAft>
                <a:spcPct val="0"/>
              </a:spcAft>
              <a:defRPr sz="4400">
                <a:solidFill>
                  <a:schemeClr val="tx1"/>
                </a:solidFill>
                <a:latin typeface="Arial" charset="0"/>
              </a:defRPr>
            </a:lvl8pPr>
            <a:lvl9pPr marL="1828800" algn="l" rtl="0" eaLnBrk="1" fontAlgn="base" hangingPunct="1">
              <a:spcBef>
                <a:spcPct val="0"/>
              </a:spcBef>
              <a:spcAft>
                <a:spcPct val="0"/>
              </a:spcAft>
              <a:defRPr sz="4400">
                <a:solidFill>
                  <a:schemeClr val="tx1"/>
                </a:solidFill>
                <a:latin typeface="Arial" charset="0"/>
              </a:defRPr>
            </a:lvl9pPr>
          </a:lstStyle>
          <a:p>
            <a:pPr>
              <a:lnSpc>
                <a:spcPct val="90000"/>
              </a:lnSpc>
            </a:pPr>
            <a:r>
              <a:rPr lang="en-US" sz="3700" b="1" kern="0" dirty="0">
                <a:solidFill>
                  <a:schemeClr val="bg2"/>
                </a:solidFill>
                <a:latin typeface="Times New Roman" pitchFamily="18" charset="0"/>
                <a:cs typeface="Times New Roman" pitchFamily="18" charset="0"/>
              </a:rPr>
              <a:t> </a:t>
            </a:r>
            <a:r>
              <a:rPr lang="bg-BG" sz="2800" b="1" dirty="0">
                <a:solidFill>
                  <a:schemeClr val="tx2"/>
                </a:solidFill>
                <a:latin typeface="Times New Roman" panose="02020603050405020304" pitchFamily="18" charset="0"/>
                <a:cs typeface="Times New Roman" panose="02020603050405020304" pitchFamily="18" charset="0"/>
              </a:rPr>
              <a:t>Предаване на параметрите.</a:t>
            </a:r>
          </a:p>
        </p:txBody>
      </p:sp>
      <p:sp>
        <p:nvSpPr>
          <p:cNvPr id="2" name="Rectangle 1">
            <a:extLst>
              <a:ext uri="{FF2B5EF4-FFF2-40B4-BE49-F238E27FC236}">
                <a16:creationId xmlns:a16="http://schemas.microsoft.com/office/drawing/2014/main" id="{E61577D4-BA0E-42C1-82A0-D31C12ECDC98}"/>
              </a:ext>
            </a:extLst>
          </p:cNvPr>
          <p:cNvSpPr/>
          <p:nvPr/>
        </p:nvSpPr>
        <p:spPr>
          <a:xfrm>
            <a:off x="611560" y="727612"/>
            <a:ext cx="8208912" cy="5909310"/>
          </a:xfrm>
          <a:prstGeom prst="rect">
            <a:avLst/>
          </a:prstGeom>
        </p:spPr>
        <p:txBody>
          <a:bodyPr wrap="square">
            <a:spAutoFit/>
          </a:bodyPr>
          <a:lstStyle/>
          <a:p>
            <a:r>
              <a:rPr lang="bg-BG" b="1" dirty="0">
                <a:latin typeface="Times New Roman" panose="02020603050405020304" pitchFamily="18" charset="0"/>
                <a:cs typeface="Times New Roman" panose="02020603050405020304" pitchFamily="18" charset="0"/>
              </a:rPr>
              <a:t>Процедура </a:t>
            </a:r>
            <a:r>
              <a:rPr lang="en-US" b="1" dirty="0">
                <a:latin typeface="Times New Roman" panose="02020603050405020304" pitchFamily="18" charset="0"/>
                <a:cs typeface="Times New Roman" panose="02020603050405020304" pitchFamily="18" charset="0"/>
              </a:rPr>
              <a:t>MAX: AL := max(W[k=0,1,2,…,n-1]), (BX)=[W], (CX)=n</a:t>
            </a:r>
          </a:p>
          <a:p>
            <a:r>
              <a:rPr lang="en-US" dirty="0">
                <a:latin typeface="Times New Roman" panose="02020603050405020304" pitchFamily="18" charset="0"/>
                <a:cs typeface="Times New Roman" panose="02020603050405020304" pitchFamily="18" charset="0"/>
              </a:rPr>
              <a:t>MAX PROC</a:t>
            </a:r>
          </a:p>
          <a:p>
            <a:r>
              <a:rPr lang="en-US" dirty="0">
                <a:latin typeface="Times New Roman" panose="02020603050405020304" pitchFamily="18" charset="0"/>
                <a:cs typeface="Times New Roman" panose="02020603050405020304" pitchFamily="18" charset="0"/>
              </a:rPr>
              <a:t>MOV AL, 0</a:t>
            </a:r>
          </a:p>
          <a:p>
            <a:r>
              <a:rPr lang="en-US" dirty="0">
                <a:latin typeface="Times New Roman" panose="02020603050405020304" pitchFamily="18" charset="0"/>
                <a:cs typeface="Times New Roman" panose="02020603050405020304" pitchFamily="18" charset="0"/>
              </a:rPr>
              <a:t>MAX1: CMP [BX], AL</a:t>
            </a:r>
          </a:p>
          <a:p>
            <a:r>
              <a:rPr lang="en-US" dirty="0">
                <a:latin typeface="Times New Roman" panose="02020603050405020304" pitchFamily="18" charset="0"/>
                <a:cs typeface="Times New Roman" panose="02020603050405020304" pitchFamily="18" charset="0"/>
              </a:rPr>
              <a:t>JLE MAX2</a:t>
            </a:r>
          </a:p>
          <a:p>
            <a:r>
              <a:rPr lang="en-US" dirty="0">
                <a:latin typeface="Times New Roman" panose="02020603050405020304" pitchFamily="18" charset="0"/>
                <a:cs typeface="Times New Roman" panose="02020603050405020304" pitchFamily="18" charset="0"/>
              </a:rPr>
              <a:t>MOV AL, [BX]</a:t>
            </a:r>
          </a:p>
          <a:p>
            <a:r>
              <a:rPr lang="en-US" dirty="0">
                <a:latin typeface="Times New Roman" panose="02020603050405020304" pitchFamily="18" charset="0"/>
                <a:cs typeface="Times New Roman" panose="02020603050405020304" pitchFamily="18" charset="0"/>
              </a:rPr>
              <a:t>MAX2: INC BX</a:t>
            </a:r>
          </a:p>
          <a:p>
            <a:r>
              <a:rPr lang="en-US" dirty="0">
                <a:latin typeface="Times New Roman" panose="02020603050405020304" pitchFamily="18" charset="0"/>
                <a:cs typeface="Times New Roman" panose="02020603050405020304" pitchFamily="18" charset="0"/>
              </a:rPr>
              <a:t>LOOP MAX1</a:t>
            </a:r>
          </a:p>
          <a:p>
            <a:r>
              <a:rPr lang="en-US" dirty="0">
                <a:latin typeface="Times New Roman" panose="02020603050405020304" pitchFamily="18" charset="0"/>
                <a:cs typeface="Times New Roman" panose="02020603050405020304" pitchFamily="18" charset="0"/>
              </a:rPr>
              <a:t>RET</a:t>
            </a:r>
          </a:p>
          <a:p>
            <a:r>
              <a:rPr lang="en-US" dirty="0">
                <a:latin typeface="Times New Roman" panose="02020603050405020304" pitchFamily="18" charset="0"/>
                <a:cs typeface="Times New Roman" panose="02020603050405020304" pitchFamily="18" charset="0"/>
              </a:rPr>
              <a:t>MAX ENDP</a:t>
            </a:r>
          </a:p>
          <a:p>
            <a:r>
              <a:rPr lang="en-US" dirty="0">
                <a:latin typeface="Times New Roman" panose="02020603050405020304" pitchFamily="18" charset="0"/>
                <a:cs typeface="Times New Roman" panose="02020603050405020304" pitchFamily="18" charset="0"/>
              </a:rPr>
              <a:t>; </a:t>
            </a:r>
            <a:r>
              <a:rPr lang="bg-BG" dirty="0">
                <a:latin typeface="Times New Roman" panose="02020603050405020304" pitchFamily="18" charset="0"/>
                <a:cs typeface="Times New Roman" panose="02020603050405020304" pitchFamily="18" charset="0"/>
              </a:rPr>
              <a:t>Викаща програма</a:t>
            </a:r>
          </a:p>
          <a:p>
            <a:r>
              <a:rPr lang="bg-BG" dirty="0">
                <a:latin typeface="Times New Roman" panose="02020603050405020304" pitchFamily="18" charset="0"/>
                <a:cs typeface="Times New Roman" panose="02020603050405020304" pitchFamily="18" charset="0"/>
              </a:rPr>
              <a:t>···· ···· ···· ····</a:t>
            </a:r>
          </a:p>
          <a:p>
            <a:r>
              <a:rPr lang="en-US" dirty="0">
                <a:latin typeface="Times New Roman" panose="02020603050405020304" pitchFamily="18" charset="0"/>
                <a:cs typeface="Times New Roman" panose="02020603050405020304" pitchFamily="18" charset="0"/>
              </a:rPr>
              <a:t>LEA BX, X</a:t>
            </a:r>
          </a:p>
          <a:p>
            <a:r>
              <a:rPr lang="en-US" dirty="0">
                <a:latin typeface="Times New Roman" panose="02020603050405020304" pitchFamily="18" charset="0"/>
                <a:cs typeface="Times New Roman" panose="02020603050405020304" pitchFamily="18" charset="0"/>
              </a:rPr>
              <a:t>MOV CX, 100</a:t>
            </a:r>
          </a:p>
          <a:p>
            <a:r>
              <a:rPr lang="en-US" dirty="0">
                <a:latin typeface="Times New Roman" panose="02020603050405020304" pitchFamily="18" charset="0"/>
                <a:cs typeface="Times New Roman" panose="02020603050405020304" pitchFamily="18" charset="0"/>
              </a:rPr>
              <a:t>CALL MAX</a:t>
            </a:r>
          </a:p>
          <a:p>
            <a:r>
              <a:rPr lang="en-US" dirty="0">
                <a:latin typeface="Times New Roman" panose="02020603050405020304" pitchFamily="18" charset="0"/>
                <a:cs typeface="Times New Roman" panose="02020603050405020304" pitchFamily="18" charset="0"/>
              </a:rPr>
              <a:t>MOV DL, AL</a:t>
            </a:r>
          </a:p>
          <a:p>
            <a:r>
              <a:rPr lang="en-US" dirty="0">
                <a:latin typeface="Times New Roman" panose="02020603050405020304" pitchFamily="18" charset="0"/>
                <a:cs typeface="Times New Roman" panose="02020603050405020304" pitchFamily="18" charset="0"/>
              </a:rPr>
              <a:t>LEA BX, Y</a:t>
            </a:r>
          </a:p>
          <a:p>
            <a:r>
              <a:rPr lang="en-US" dirty="0">
                <a:latin typeface="Times New Roman" panose="02020603050405020304" pitchFamily="18" charset="0"/>
                <a:cs typeface="Times New Roman" panose="02020603050405020304" pitchFamily="18" charset="0"/>
              </a:rPr>
              <a:t>MOV CX, 25</a:t>
            </a:r>
          </a:p>
          <a:p>
            <a:r>
              <a:rPr lang="en-US" dirty="0">
                <a:latin typeface="Times New Roman" panose="02020603050405020304" pitchFamily="18" charset="0"/>
                <a:cs typeface="Times New Roman" panose="02020603050405020304" pitchFamily="18" charset="0"/>
              </a:rPr>
              <a:t>CALL MAX</a:t>
            </a:r>
          </a:p>
          <a:p>
            <a:r>
              <a:rPr lang="en-US" dirty="0">
                <a:latin typeface="Times New Roman" panose="02020603050405020304" pitchFamily="18" charset="0"/>
                <a:cs typeface="Times New Roman" panose="02020603050405020304" pitchFamily="18" charset="0"/>
              </a:rPr>
              <a:t>ADD DL, AL</a:t>
            </a:r>
          </a:p>
          <a:p>
            <a:r>
              <a:rPr lang="en-US" dirty="0">
                <a:latin typeface="Times New Roman" panose="02020603050405020304" pitchFamily="18" charset="0"/>
                <a:cs typeface="Times New Roman" panose="02020603050405020304" pitchFamily="18" charset="0"/>
              </a:rPr>
              <a:t>···· ···· ···· ····</a:t>
            </a:r>
          </a:p>
        </p:txBody>
      </p:sp>
    </p:spTree>
    <p:extLst>
      <p:ext uri="{BB962C8B-B14F-4D97-AF65-F5344CB8AC3E}">
        <p14:creationId xmlns:p14="http://schemas.microsoft.com/office/powerpoint/2010/main" val="748926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70169" y="0"/>
            <a:ext cx="8229600" cy="504056"/>
          </a:xfrm>
        </p:spPr>
        <p:txBody>
          <a:bodyPr>
            <a:normAutofit/>
          </a:bodyPr>
          <a:lstStyle/>
          <a:p>
            <a:pPr>
              <a:lnSpc>
                <a:spcPct val="90000"/>
              </a:lnSpc>
            </a:pPr>
            <a:r>
              <a:rPr lang="bg-BG" sz="2800" b="1" dirty="0">
                <a:latin typeface="Times New Roman" panose="02020603050405020304" pitchFamily="18" charset="0"/>
                <a:cs typeface="Times New Roman" panose="02020603050405020304" pitchFamily="18" charset="0"/>
              </a:rPr>
              <a:t>Предаване на параметрите.</a:t>
            </a:r>
          </a:p>
        </p:txBody>
      </p:sp>
      <p:sp>
        <p:nvSpPr>
          <p:cNvPr id="2" name="Rectangle 1">
            <a:extLst>
              <a:ext uri="{FF2B5EF4-FFF2-40B4-BE49-F238E27FC236}">
                <a16:creationId xmlns:a16="http://schemas.microsoft.com/office/drawing/2014/main" id="{1FAA82EE-ED81-4DC8-9271-5F7D0BDC21A3}"/>
              </a:ext>
            </a:extLst>
          </p:cNvPr>
          <p:cNvSpPr/>
          <p:nvPr/>
        </p:nvSpPr>
        <p:spPr>
          <a:xfrm>
            <a:off x="107504" y="597161"/>
            <a:ext cx="8640960" cy="6109365"/>
          </a:xfrm>
          <a:prstGeom prst="rect">
            <a:avLst/>
          </a:prstGeom>
        </p:spPr>
        <p:txBody>
          <a:bodyPr wrap="square">
            <a:spAutoFit/>
          </a:bodyPr>
          <a:lstStyle/>
          <a:p>
            <a:pPr indent="457200" algn="just"/>
            <a:r>
              <a:rPr lang="bg-BG" sz="1700" b="1" i="1" dirty="0">
                <a:latin typeface="Times New Roman" panose="02020603050405020304" pitchFamily="18" charset="0"/>
                <a:cs typeface="Times New Roman" panose="02020603050405020304" pitchFamily="18" charset="0"/>
              </a:rPr>
              <a:t>Предаване на параметрите чрез регистрите </a:t>
            </a:r>
            <a:r>
              <a:rPr lang="bg-BG" sz="1700" dirty="0">
                <a:latin typeface="Times New Roman" panose="02020603050405020304" pitchFamily="18" charset="0"/>
                <a:cs typeface="Times New Roman" panose="02020603050405020304" pitchFamily="18" charset="0"/>
              </a:rPr>
              <a:t>е удобно само когато параметрите са малко на брой. В противен случай регистрите са недостатъчни и се търси алтернатива. Такава алтернатива представлява стекът, като място, което е общо достъпно за всички програмни единици. Механизмът за реализация може да бъде различен. </a:t>
            </a:r>
          </a:p>
          <a:p>
            <a:pPr indent="457200" algn="just"/>
            <a:r>
              <a:rPr lang="bg-BG" sz="1700" b="1" i="1" dirty="0">
                <a:latin typeface="Times New Roman" panose="02020603050405020304" pitchFamily="18" charset="0"/>
                <a:cs typeface="Times New Roman" panose="02020603050405020304" pitchFamily="18" charset="0"/>
              </a:rPr>
              <a:t>Пример: </a:t>
            </a:r>
            <a:r>
              <a:rPr lang="bg-BG" sz="1700" dirty="0">
                <a:latin typeface="Times New Roman" panose="02020603050405020304" pitchFamily="18" charset="0"/>
                <a:cs typeface="Times New Roman" panose="02020603050405020304" pitchFamily="18" charset="0"/>
              </a:rPr>
              <a:t>Нека процедурата Р има k на брой параметъра: P(a1,a2, … ,</a:t>
            </a:r>
            <a:r>
              <a:rPr lang="bg-BG" sz="1700" dirty="0" err="1">
                <a:latin typeface="Times New Roman" panose="02020603050405020304" pitchFamily="18" charset="0"/>
                <a:cs typeface="Times New Roman" panose="02020603050405020304" pitchFamily="18" charset="0"/>
              </a:rPr>
              <a:t>ak</a:t>
            </a:r>
            <a:r>
              <a:rPr lang="bg-BG" sz="1700" dirty="0">
                <a:latin typeface="Times New Roman" panose="02020603050405020304" pitchFamily="18" charset="0"/>
                <a:cs typeface="Times New Roman" panose="02020603050405020304" pitchFamily="18" charset="0"/>
              </a:rPr>
              <a:t>). Преди обръщение към процедурата, викащата програма записва параметрите в стека. Важен е редът в който се записват параметрите. Редът се избира от програмиста. В примерът е избран редът отляво надясно, както са изписани в описанието на процедурата. Така a1 е първи, а </a:t>
            </a:r>
            <a:r>
              <a:rPr lang="bg-BG" sz="1700" dirty="0" err="1">
                <a:latin typeface="Times New Roman" panose="02020603050405020304" pitchFamily="18" charset="0"/>
                <a:cs typeface="Times New Roman" panose="02020603050405020304" pitchFamily="18" charset="0"/>
              </a:rPr>
              <a:t>ak</a:t>
            </a:r>
            <a:r>
              <a:rPr lang="bg-BG" sz="1700" dirty="0">
                <a:latin typeface="Times New Roman" panose="02020603050405020304" pitchFamily="18" charset="0"/>
                <a:cs typeface="Times New Roman" panose="02020603050405020304" pitchFamily="18" charset="0"/>
              </a:rPr>
              <a:t> е последен. За конкретност ще приемем и ограниченията: всички </a:t>
            </a:r>
            <a:r>
              <a:rPr lang="bg-BG" sz="1700" i="1" dirty="0">
                <a:latin typeface="Times New Roman" panose="02020603050405020304" pitchFamily="18" charset="0"/>
                <a:cs typeface="Times New Roman" panose="02020603050405020304" pitchFamily="18" charset="0"/>
              </a:rPr>
              <a:t>параметри са с формат дума</a:t>
            </a:r>
            <a:r>
              <a:rPr lang="bg-BG" sz="1700" dirty="0">
                <a:latin typeface="Times New Roman" panose="02020603050405020304" pitchFamily="18" charset="0"/>
                <a:cs typeface="Times New Roman" panose="02020603050405020304" pitchFamily="18" charset="0"/>
              </a:rPr>
              <a:t>. След запис на действителните стойности на параметрите в стека, при обръщение към процедурата, върху тях се записва адресът за връщане. Това се постига по следния начин: </a:t>
            </a:r>
          </a:p>
          <a:p>
            <a:pPr indent="457200" algn="just"/>
            <a:r>
              <a:rPr lang="ru-RU" sz="1700" dirty="0">
                <a:latin typeface="Times New Roman" panose="02020603050405020304" pitchFamily="18" charset="0"/>
                <a:cs typeface="Times New Roman" panose="02020603050405020304" pitchFamily="18" charset="0"/>
              </a:rPr>
              <a:t>; </a:t>
            </a:r>
            <a:r>
              <a:rPr lang="ru-RU" sz="1700" dirty="0" err="1">
                <a:latin typeface="Times New Roman" panose="02020603050405020304" pitchFamily="18" charset="0"/>
                <a:cs typeface="Times New Roman" panose="02020603050405020304" pitchFamily="18" charset="0"/>
              </a:rPr>
              <a:t>Викаща</a:t>
            </a:r>
            <a:r>
              <a:rPr lang="ru-RU" sz="1700" dirty="0">
                <a:latin typeface="Times New Roman" panose="02020603050405020304" pitchFamily="18" charset="0"/>
                <a:cs typeface="Times New Roman" panose="02020603050405020304" pitchFamily="18" charset="0"/>
              </a:rPr>
              <a:t> </a:t>
            </a:r>
            <a:r>
              <a:rPr lang="ru-RU" sz="1700" dirty="0" err="1">
                <a:latin typeface="Times New Roman" panose="02020603050405020304" pitchFamily="18" charset="0"/>
                <a:cs typeface="Times New Roman" panose="02020603050405020304" pitchFamily="18" charset="0"/>
              </a:rPr>
              <a:t>програма</a:t>
            </a:r>
            <a:endParaRPr lang="ru-RU" sz="1700" dirty="0">
              <a:latin typeface="Times New Roman" panose="02020603050405020304" pitchFamily="18" charset="0"/>
              <a:cs typeface="Times New Roman" panose="02020603050405020304" pitchFamily="18" charset="0"/>
            </a:endParaRPr>
          </a:p>
          <a:p>
            <a:pPr indent="1604963" algn="just"/>
            <a:r>
              <a:rPr lang="ru-RU" sz="1700" dirty="0">
                <a:latin typeface="Times New Roman" panose="02020603050405020304" pitchFamily="18" charset="0"/>
                <a:cs typeface="Times New Roman" panose="02020603050405020304" pitchFamily="18" charset="0"/>
              </a:rPr>
              <a:t>... ... ...</a:t>
            </a:r>
          </a:p>
          <a:p>
            <a:pPr indent="1604963" algn="just"/>
            <a:r>
              <a:rPr lang="ru-RU" sz="1700" dirty="0">
                <a:latin typeface="Times New Roman" panose="02020603050405020304" pitchFamily="18" charset="0"/>
                <a:cs typeface="Times New Roman" panose="02020603050405020304" pitchFamily="18" charset="0"/>
              </a:rPr>
              <a:t>PUSH a1</a:t>
            </a:r>
          </a:p>
          <a:p>
            <a:pPr indent="1604963" algn="just"/>
            <a:r>
              <a:rPr lang="ru-RU" sz="1700" dirty="0">
                <a:latin typeface="Times New Roman" panose="02020603050405020304" pitchFamily="18" charset="0"/>
                <a:cs typeface="Times New Roman" panose="02020603050405020304" pitchFamily="18" charset="0"/>
              </a:rPr>
              <a:t>PUSH a2</a:t>
            </a:r>
          </a:p>
          <a:p>
            <a:pPr indent="1604963" algn="just"/>
            <a:r>
              <a:rPr lang="ru-RU" sz="1700" dirty="0">
                <a:latin typeface="Times New Roman" panose="02020603050405020304" pitchFamily="18" charset="0"/>
                <a:cs typeface="Times New Roman" panose="02020603050405020304" pitchFamily="18" charset="0"/>
              </a:rPr>
              <a:t>···· ···· ···· ····</a:t>
            </a:r>
          </a:p>
          <a:p>
            <a:pPr indent="1604963" algn="just"/>
            <a:r>
              <a:rPr lang="ru-RU" sz="1700" dirty="0">
                <a:latin typeface="Times New Roman" panose="02020603050405020304" pitchFamily="18" charset="0"/>
                <a:cs typeface="Times New Roman" panose="02020603050405020304" pitchFamily="18" charset="0"/>
              </a:rPr>
              <a:t>PUSH </a:t>
            </a:r>
            <a:r>
              <a:rPr lang="ru-RU" sz="1700" dirty="0" err="1">
                <a:latin typeface="Times New Roman" panose="02020603050405020304" pitchFamily="18" charset="0"/>
                <a:cs typeface="Times New Roman" panose="02020603050405020304" pitchFamily="18" charset="0"/>
              </a:rPr>
              <a:t>ak</a:t>
            </a:r>
            <a:endParaRPr lang="ru-RU" sz="1700" dirty="0">
              <a:latin typeface="Times New Roman" panose="02020603050405020304" pitchFamily="18" charset="0"/>
              <a:cs typeface="Times New Roman" panose="02020603050405020304" pitchFamily="18" charset="0"/>
            </a:endParaRPr>
          </a:p>
          <a:p>
            <a:pPr indent="1604963" algn="just"/>
            <a:r>
              <a:rPr lang="ru-RU" sz="1700" dirty="0">
                <a:latin typeface="Times New Roman" panose="02020603050405020304" pitchFamily="18" charset="0"/>
                <a:cs typeface="Times New Roman" panose="02020603050405020304" pitchFamily="18" charset="0"/>
              </a:rPr>
              <a:t>CALL P</a:t>
            </a:r>
          </a:p>
          <a:p>
            <a:pPr indent="1604963" algn="just"/>
            <a:r>
              <a:rPr lang="ru-RU" sz="1700" dirty="0">
                <a:latin typeface="Times New Roman" panose="02020603050405020304" pitchFamily="18" charset="0"/>
                <a:cs typeface="Times New Roman" panose="02020603050405020304" pitchFamily="18" charset="0"/>
              </a:rPr>
              <a:t>···· ···· ···· ····</a:t>
            </a:r>
          </a:p>
          <a:p>
            <a:pPr algn="just"/>
            <a:r>
              <a:rPr lang="bg-BG" sz="1700" dirty="0">
                <a:latin typeface="Times New Roman" panose="02020603050405020304" pitchFamily="18" charset="0"/>
                <a:cs typeface="Times New Roman" panose="02020603050405020304" pitchFamily="18" charset="0"/>
              </a:rPr>
              <a:t>С извикването на процедурата, командата CALL записва в стека </a:t>
            </a:r>
            <a:r>
              <a:rPr lang="ru-RU" sz="1700" dirty="0">
                <a:latin typeface="Times New Roman" panose="02020603050405020304" pitchFamily="18" charset="0"/>
                <a:cs typeface="Times New Roman" panose="02020603050405020304" pitchFamily="18" charset="0"/>
              </a:rPr>
              <a:t>адреса за връщане (АВ). </a:t>
            </a:r>
            <a:r>
              <a:rPr lang="bg-BG" sz="1700" dirty="0">
                <a:latin typeface="Times New Roman" panose="02020603050405020304" pitchFamily="18" charset="0"/>
                <a:cs typeface="Times New Roman" panose="02020603050405020304" pitchFamily="18" charset="0"/>
              </a:rPr>
              <a:t>Адресът за връщане, за който вече говорихме, е съдържание на адресната двойка CS:IP, като при близко извикване, това е само (IP</a:t>
            </a:r>
            <a:r>
              <a:rPr lang="ru-RU" sz="1700" dirty="0">
                <a:latin typeface="Times New Roman" panose="02020603050405020304" pitchFamily="18" charset="0"/>
                <a:cs typeface="Times New Roman" panose="02020603050405020304" pitchFamily="18" charset="0"/>
              </a:rPr>
              <a:t>).</a:t>
            </a:r>
            <a:endParaRPr lang="bg-BG"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7473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5513A9-09A8-4DC6-BFCC-521BC0D25737}"/>
              </a:ext>
            </a:extLst>
          </p:cNvPr>
          <p:cNvSpPr/>
          <p:nvPr/>
        </p:nvSpPr>
        <p:spPr>
          <a:xfrm>
            <a:off x="215008" y="692696"/>
            <a:ext cx="8677472" cy="3416320"/>
          </a:xfrm>
          <a:prstGeom prst="rect">
            <a:avLst/>
          </a:prstGeom>
        </p:spPr>
        <p:txBody>
          <a:bodyPr wrap="square">
            <a:spAutoFit/>
          </a:bodyPr>
          <a:lstStyle/>
          <a:p>
            <a:pPr indent="512763" algn="just"/>
            <a:r>
              <a:rPr lang="bg-BG" dirty="0">
                <a:latin typeface="Times New Roman" panose="02020603050405020304" pitchFamily="18" charset="0"/>
                <a:cs typeface="Times New Roman" panose="02020603050405020304" pitchFamily="18" charset="0"/>
              </a:rPr>
              <a:t>След извикване на процедурата възниква въпросът: как да си вземат параметрите?.  Проблемът е, че четенето на параметрите от </a:t>
            </a:r>
            <a:r>
              <a:rPr lang="bg-BG" dirty="0" err="1">
                <a:latin typeface="Times New Roman" panose="02020603050405020304" pitchFamily="18" charset="0"/>
                <a:cs typeface="Times New Roman" panose="02020603050405020304" pitchFamily="18" charset="0"/>
              </a:rPr>
              <a:t>стековата</a:t>
            </a:r>
            <a:r>
              <a:rPr lang="bg-BG" dirty="0">
                <a:latin typeface="Times New Roman" panose="02020603050405020304" pitchFamily="18" charset="0"/>
                <a:cs typeface="Times New Roman" panose="02020603050405020304" pitchFamily="18" charset="0"/>
              </a:rPr>
              <a:t> област трябва да се извърши без модификация на </a:t>
            </a:r>
            <a:r>
              <a:rPr lang="bg-BG" dirty="0" err="1">
                <a:latin typeface="Times New Roman" panose="02020603050405020304" pitchFamily="18" charset="0"/>
                <a:cs typeface="Times New Roman" panose="02020603050405020304" pitchFamily="18" charset="0"/>
              </a:rPr>
              <a:t>стековия</a:t>
            </a:r>
            <a:r>
              <a:rPr lang="bg-BG" dirty="0">
                <a:latin typeface="Times New Roman" panose="02020603050405020304" pitchFamily="18" charset="0"/>
                <a:cs typeface="Times New Roman" panose="02020603050405020304" pitchFamily="18" charset="0"/>
              </a:rPr>
              <a:t> указател. За целта към стека се осигурява достъп чрез друг регистър-указател. За такъв в структурата на процесора е предназначен регистър ВР. </a:t>
            </a:r>
          </a:p>
          <a:p>
            <a:pPr indent="512763" algn="just"/>
            <a:r>
              <a:rPr lang="bg-BG" dirty="0">
                <a:latin typeface="Times New Roman" panose="02020603050405020304" pitchFamily="18" charset="0"/>
                <a:cs typeface="Times New Roman" panose="02020603050405020304" pitchFamily="18" charset="0"/>
              </a:rPr>
              <a:t>Първоначално той се инициализира като приема съдържанието на регистър SP. След това, модифицирайки съдържанието му с израза [</a:t>
            </a:r>
            <a:r>
              <a:rPr lang="bg-BG" dirty="0" err="1">
                <a:latin typeface="Times New Roman" panose="02020603050405020304" pitchFamily="18" charset="0"/>
                <a:cs typeface="Times New Roman" panose="02020603050405020304" pitchFamily="18" charset="0"/>
              </a:rPr>
              <a:t>BP+i</a:t>
            </a:r>
            <a:r>
              <a:rPr lang="bg-BG" dirty="0">
                <a:latin typeface="Times New Roman" panose="02020603050405020304" pitchFamily="18" charset="0"/>
                <a:cs typeface="Times New Roman" panose="02020603050405020304" pitchFamily="18" charset="0"/>
              </a:rPr>
              <a:t>], се получава многократен достъп до всяка дума, т.е. достъп без изхвърляне. Обаче се създава нов проблем – използвайки регистър ВР, неговото съдържание се разрушава, а то може би е необходимо на викащата програма. Преди инициализацията на този регистър, неговото съдържание също трябва да се съхрани в стека. По-долу са представени “входните” действия на процедурата и ответното съдържание на стека, фиг. 3:</a:t>
            </a:r>
          </a:p>
        </p:txBody>
      </p:sp>
      <p:sp>
        <p:nvSpPr>
          <p:cNvPr id="9" name="Rectangle 8">
            <a:extLst>
              <a:ext uri="{FF2B5EF4-FFF2-40B4-BE49-F238E27FC236}">
                <a16:creationId xmlns:a16="http://schemas.microsoft.com/office/drawing/2014/main" id="{CE21510D-1AC7-49C2-9442-D90ADE51779F}"/>
              </a:ext>
            </a:extLst>
          </p:cNvPr>
          <p:cNvSpPr/>
          <p:nvPr/>
        </p:nvSpPr>
        <p:spPr>
          <a:xfrm>
            <a:off x="247419" y="44624"/>
            <a:ext cx="6000938" cy="523220"/>
          </a:xfrm>
          <a:prstGeom prst="rect">
            <a:avLst/>
          </a:prstGeom>
        </p:spPr>
        <p:txBody>
          <a:bodyPr wrap="none">
            <a:spAutoFit/>
          </a:bodyPr>
          <a:lstStyle/>
          <a:p>
            <a:r>
              <a:rPr lang="bg-BG" sz="2800" b="1" dirty="0">
                <a:solidFill>
                  <a:schemeClr val="tx2"/>
                </a:solidFill>
                <a:latin typeface="Times New Roman" panose="02020603050405020304" pitchFamily="18" charset="0"/>
                <a:ea typeface="+mj-ea"/>
                <a:cs typeface="Times New Roman" panose="02020603050405020304" pitchFamily="18" charset="0"/>
              </a:rPr>
              <a:t>Предаване на параметри чрез стека</a:t>
            </a:r>
          </a:p>
        </p:txBody>
      </p:sp>
      <p:pic>
        <p:nvPicPr>
          <p:cNvPr id="10" name="Picture 9">
            <a:extLst>
              <a:ext uri="{FF2B5EF4-FFF2-40B4-BE49-F238E27FC236}">
                <a16:creationId xmlns:a16="http://schemas.microsoft.com/office/drawing/2014/main" id="{744B17BC-AE23-4B0E-A804-AC4825AAE57A}"/>
              </a:ext>
            </a:extLst>
          </p:cNvPr>
          <p:cNvPicPr>
            <a:picLocks noChangeAspect="1"/>
          </p:cNvPicPr>
          <p:nvPr/>
        </p:nvPicPr>
        <p:blipFill>
          <a:blip r:embed="rId2"/>
          <a:stretch>
            <a:fillRect/>
          </a:stretch>
        </p:blipFill>
        <p:spPr>
          <a:xfrm>
            <a:off x="1331640" y="4121810"/>
            <a:ext cx="5900436" cy="2332830"/>
          </a:xfrm>
          <a:prstGeom prst="rect">
            <a:avLst/>
          </a:prstGeom>
        </p:spPr>
      </p:pic>
      <p:sp>
        <p:nvSpPr>
          <p:cNvPr id="11" name="Rectangle 10">
            <a:extLst>
              <a:ext uri="{FF2B5EF4-FFF2-40B4-BE49-F238E27FC236}">
                <a16:creationId xmlns:a16="http://schemas.microsoft.com/office/drawing/2014/main" id="{A2FE6FCB-E000-46AA-932D-4E1E7C691D25}"/>
              </a:ext>
            </a:extLst>
          </p:cNvPr>
          <p:cNvSpPr/>
          <p:nvPr/>
        </p:nvSpPr>
        <p:spPr>
          <a:xfrm>
            <a:off x="4143407" y="6309320"/>
            <a:ext cx="820674" cy="369332"/>
          </a:xfrm>
          <a:prstGeom prst="rect">
            <a:avLst/>
          </a:prstGeom>
        </p:spPr>
        <p:txBody>
          <a:bodyPr wrap="none">
            <a:spAutoFit/>
          </a:bodyPr>
          <a:lstStyle/>
          <a:p>
            <a:r>
              <a:rPr lang="bg-BG" dirty="0">
                <a:latin typeface="Times New Roman" panose="02020603050405020304" pitchFamily="18" charset="0"/>
                <a:cs typeface="Times New Roman" panose="02020603050405020304" pitchFamily="18" charset="0"/>
              </a:rPr>
              <a:t>фиг. 3:</a:t>
            </a:r>
            <a:endParaRPr lang="en-US" dirty="0"/>
          </a:p>
        </p:txBody>
      </p:sp>
    </p:spTree>
    <p:extLst>
      <p:ext uri="{BB962C8B-B14F-4D97-AF65-F5344CB8AC3E}">
        <p14:creationId xmlns:p14="http://schemas.microsoft.com/office/powerpoint/2010/main" val="895438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8E0F31-BFFA-4A6B-BA05-3EB3ACD3AA69}"/>
              </a:ext>
            </a:extLst>
          </p:cNvPr>
          <p:cNvSpPr/>
          <p:nvPr/>
        </p:nvSpPr>
        <p:spPr>
          <a:xfrm>
            <a:off x="467544" y="980728"/>
            <a:ext cx="8352928" cy="5647700"/>
          </a:xfrm>
          <a:prstGeom prst="rect">
            <a:avLst/>
          </a:prstGeom>
        </p:spPr>
        <p:txBody>
          <a:bodyPr wrap="square">
            <a:spAutoFit/>
          </a:bodyPr>
          <a:lstStyle/>
          <a:p>
            <a:pPr algn="just"/>
            <a:r>
              <a:rPr lang="ru-RU" sz="1900" dirty="0">
                <a:latin typeface="Times New Roman" panose="02020603050405020304" pitchFamily="18" charset="0"/>
                <a:cs typeface="Times New Roman" panose="02020603050405020304" pitchFamily="18" charset="0"/>
              </a:rPr>
              <a:t>След записа </a:t>
            </a:r>
            <a:r>
              <a:rPr lang="bg-BG" sz="1900" dirty="0">
                <a:latin typeface="Times New Roman" panose="02020603050405020304" pitchFamily="18" charset="0"/>
                <a:cs typeface="Times New Roman" panose="02020603050405020304" pitchFamily="18" charset="0"/>
              </a:rPr>
              <a:t>на старото съдържание на регистър ВР в стека, за достъп към последния параметър (</a:t>
            </a:r>
            <a:r>
              <a:rPr lang="bg-BG" sz="1900" dirty="0" err="1">
                <a:latin typeface="Times New Roman" panose="02020603050405020304" pitchFamily="18" charset="0"/>
                <a:cs typeface="Times New Roman" panose="02020603050405020304" pitchFamily="18" charset="0"/>
              </a:rPr>
              <a:t>ak</a:t>
            </a:r>
            <a:r>
              <a:rPr lang="bg-BG" sz="1900" dirty="0">
                <a:latin typeface="Times New Roman" panose="02020603050405020304" pitchFamily="18" charset="0"/>
                <a:cs typeface="Times New Roman" panose="02020603050405020304" pitchFamily="18" charset="0"/>
              </a:rPr>
              <a:t>), трябва да се използва адресния израз [BP+4] и командата MOV AX, [BP+4]. Към следващия елемент (a(k-1)) – израза [BP+6] и т.н. След изпълнение на входните действия процедурата изпълнява действията от своето тяло. В края, преди връщане към викащата програма, процедурата следва да изпълни ответни на входните, “изходни” действия. Ответните изходни действия имат за цел да бъде възстановен стека и регистрите в състоянието, в което те са били преди нейното извикване. Най-напред се възстановява съдържанието на регистър ВР. Това следва да се извърши с командата (POP BP), която модифицирайки </a:t>
            </a:r>
            <a:r>
              <a:rPr lang="bg-BG" sz="1900" dirty="0" err="1">
                <a:latin typeface="Times New Roman" panose="02020603050405020304" pitchFamily="18" charset="0"/>
                <a:cs typeface="Times New Roman" panose="02020603050405020304" pitchFamily="18" charset="0"/>
              </a:rPr>
              <a:t>стековия</a:t>
            </a:r>
            <a:r>
              <a:rPr lang="bg-BG" sz="1900" dirty="0">
                <a:latin typeface="Times New Roman" panose="02020603050405020304" pitchFamily="18" charset="0"/>
                <a:cs typeface="Times New Roman" panose="02020603050405020304" pitchFamily="18" charset="0"/>
              </a:rPr>
              <a:t> указател SP, ще изхвърли от стека последно записаната дума. Едва тогава трябва да се изпълни командата RET, с което се възстановява действието на прекъснатата програма. Командата RET изхвърля адреса за връщане </a:t>
            </a:r>
            <a:r>
              <a:rPr lang="bg-BG" sz="1900" dirty="0"/>
              <a:t>АВ от стека</a:t>
            </a:r>
            <a:r>
              <a:rPr lang="ru-RU" sz="1900" dirty="0"/>
              <a:t>. </a:t>
            </a:r>
            <a:r>
              <a:rPr lang="bg-BG" sz="1900" dirty="0">
                <a:latin typeface="Times New Roman" panose="02020603050405020304" pitchFamily="18" charset="0"/>
                <a:cs typeface="Times New Roman" panose="02020603050405020304" pitchFamily="18" charset="0"/>
              </a:rPr>
              <a:t>На програмата, получила управлението се пада задачата да освободи стека от преди това внесените параметри. Възниква въпросът, кой трябва да изчисти стека – процедурата или викащата програма? Това ще извърши викащата програма. Изхвърлянето от стека на ненужните вече параметри се постига чрез скокообразна модификация на </a:t>
            </a:r>
            <a:r>
              <a:rPr lang="bg-BG" sz="1900" dirty="0" err="1">
                <a:latin typeface="Times New Roman" panose="02020603050405020304" pitchFamily="18" charset="0"/>
                <a:cs typeface="Times New Roman" panose="02020603050405020304" pitchFamily="18" charset="0"/>
              </a:rPr>
              <a:t>стековия</a:t>
            </a:r>
            <a:r>
              <a:rPr lang="bg-BG" sz="1900" dirty="0">
                <a:latin typeface="Times New Roman" panose="02020603050405020304" pitchFamily="18" charset="0"/>
                <a:cs typeface="Times New Roman" panose="02020603050405020304" pitchFamily="18" charset="0"/>
              </a:rPr>
              <a:t> указател,</a:t>
            </a:r>
          </a:p>
          <a:p>
            <a:pPr algn="just"/>
            <a:r>
              <a:rPr lang="bg-BG" sz="1900" b="1" dirty="0">
                <a:latin typeface="Times New Roman" panose="02020603050405020304" pitchFamily="18" charset="0"/>
                <a:cs typeface="Times New Roman" panose="02020603050405020304" pitchFamily="18" charset="0"/>
              </a:rPr>
              <a:t>Например</a:t>
            </a:r>
            <a:r>
              <a:rPr lang="bg-BG" sz="1900" dirty="0">
                <a:latin typeface="Times New Roman" panose="02020603050405020304" pitchFamily="18" charset="0"/>
                <a:cs typeface="Times New Roman" panose="02020603050405020304" pitchFamily="18" charset="0"/>
              </a:rPr>
              <a:t> с командата ADD SP, 2*k.</a:t>
            </a:r>
          </a:p>
        </p:txBody>
      </p:sp>
      <p:sp>
        <p:nvSpPr>
          <p:cNvPr id="3" name="Rectangle 2">
            <a:extLst>
              <a:ext uri="{FF2B5EF4-FFF2-40B4-BE49-F238E27FC236}">
                <a16:creationId xmlns:a16="http://schemas.microsoft.com/office/drawing/2014/main" id="{5863F63E-A5A2-4027-82E3-89D9193CF39C}"/>
              </a:ext>
            </a:extLst>
          </p:cNvPr>
          <p:cNvSpPr/>
          <p:nvPr/>
        </p:nvSpPr>
        <p:spPr>
          <a:xfrm>
            <a:off x="251520" y="188640"/>
            <a:ext cx="6000938" cy="480131"/>
          </a:xfrm>
          <a:prstGeom prst="rect">
            <a:avLst/>
          </a:prstGeom>
        </p:spPr>
        <p:txBody>
          <a:bodyPr wrap="none">
            <a:spAutoFit/>
          </a:bodyPr>
          <a:lstStyle/>
          <a:p>
            <a:pPr>
              <a:lnSpc>
                <a:spcPct val="90000"/>
              </a:lnSpc>
              <a:spcBef>
                <a:spcPct val="0"/>
              </a:spcBef>
            </a:pPr>
            <a:r>
              <a:rPr lang="bg-BG" sz="2800" b="1" dirty="0">
                <a:solidFill>
                  <a:schemeClr val="tx2"/>
                </a:solidFill>
                <a:latin typeface="Times New Roman" panose="02020603050405020304" pitchFamily="18" charset="0"/>
                <a:ea typeface="+mj-ea"/>
                <a:cs typeface="Times New Roman" panose="02020603050405020304" pitchFamily="18" charset="0"/>
              </a:rPr>
              <a:t>Предаване на параметри чрез стека</a:t>
            </a:r>
          </a:p>
        </p:txBody>
      </p:sp>
    </p:spTree>
    <p:extLst>
      <p:ext uri="{BB962C8B-B14F-4D97-AF65-F5344CB8AC3E}">
        <p14:creationId xmlns:p14="http://schemas.microsoft.com/office/powerpoint/2010/main" val="2032956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321A00A-3D2A-4F26-BF57-3699335FA0AD}"/>
              </a:ext>
            </a:extLst>
          </p:cNvPr>
          <p:cNvSpPr/>
          <p:nvPr/>
        </p:nvSpPr>
        <p:spPr>
          <a:xfrm>
            <a:off x="251520" y="764704"/>
            <a:ext cx="8640960" cy="5755422"/>
          </a:xfrm>
          <a:prstGeom prst="rect">
            <a:avLst/>
          </a:prstGeom>
        </p:spPr>
        <p:txBody>
          <a:bodyPr wrap="square">
            <a:spAutoFit/>
          </a:bodyPr>
          <a:lstStyle/>
          <a:p>
            <a:pPr algn="just"/>
            <a:r>
              <a:rPr lang="bg-BG" sz="1600" b="1" dirty="0">
                <a:latin typeface="Times New Roman" panose="02020603050405020304" pitchFamily="18" charset="0"/>
                <a:cs typeface="Times New Roman" panose="02020603050405020304" pitchFamily="18" charset="0"/>
              </a:rPr>
              <a:t>Изхвърляне на параметрите</a:t>
            </a:r>
            <a:endParaRPr lang="en-US" sz="1600" b="1" dirty="0">
              <a:latin typeface="Times New Roman" panose="02020603050405020304" pitchFamily="18" charset="0"/>
              <a:cs typeface="Times New Roman" panose="02020603050405020304" pitchFamily="18" charset="0"/>
            </a:endParaRPr>
          </a:p>
          <a:p>
            <a:pPr algn="just"/>
            <a:r>
              <a:rPr lang="bg-BG" sz="1600" dirty="0">
                <a:latin typeface="Times New Roman" panose="02020603050405020304" pitchFamily="18" charset="0"/>
                <a:cs typeface="Times New Roman" panose="02020603050405020304" pitchFamily="18" charset="0"/>
              </a:rPr>
              <a:t>Изхвърлянето на параметрите е добре да извърши процедурата. Обръщенията към процедурата могат да бъдат многократни. Общото правило ако нещо може да се направи както в процедурата, така и в основната програма, то най-добре е това нещо да бъде направено в процедурата.</a:t>
            </a:r>
          </a:p>
          <a:p>
            <a:pPr marL="285750" indent="-285750" algn="just">
              <a:buFont typeface="Arial" panose="020B0604020202020204" pitchFamily="34" charset="0"/>
              <a:buChar char="•"/>
            </a:pPr>
            <a:r>
              <a:rPr lang="bg-BG" sz="1600" dirty="0">
                <a:latin typeface="Times New Roman" panose="02020603050405020304" pitchFamily="18" charset="0"/>
                <a:cs typeface="Times New Roman" panose="02020603050405020304" pitchFamily="18" charset="0"/>
              </a:rPr>
              <a:t>Първоначално процедурата трябва да изчисти стека от параметрите и чак след това да предава управлението към викащата програма. За целта на тези действия е създадена командата: RET i16 ; </a:t>
            </a:r>
            <a:r>
              <a:rPr lang="bg-BG" sz="1600" b="1" dirty="0">
                <a:latin typeface="Times New Roman" panose="02020603050405020304" pitchFamily="18" charset="0"/>
                <a:cs typeface="Times New Roman" panose="02020603050405020304" pitchFamily="18" charset="0"/>
              </a:rPr>
              <a:t>RET &lt;непосредствен операнд&gt;</a:t>
            </a:r>
          </a:p>
          <a:p>
            <a:pPr algn="just"/>
            <a:r>
              <a:rPr lang="bg-BG" sz="1600" dirty="0">
                <a:latin typeface="Times New Roman" panose="02020603050405020304" pitchFamily="18" charset="0"/>
                <a:cs typeface="Times New Roman" panose="02020603050405020304" pitchFamily="18" charset="0"/>
              </a:rPr>
              <a:t>Разширен вариант на командата за връщане, в който непосредственият операнд (от тип дума: i16) се възприема като число без знак, с което се модифицира </a:t>
            </a:r>
            <a:r>
              <a:rPr lang="bg-BG" sz="1600" dirty="0" err="1">
                <a:latin typeface="Times New Roman" panose="02020603050405020304" pitchFamily="18" charset="0"/>
                <a:cs typeface="Times New Roman" panose="02020603050405020304" pitchFamily="18" charset="0"/>
              </a:rPr>
              <a:t>стековият</a:t>
            </a:r>
            <a:r>
              <a:rPr lang="bg-BG" sz="1600" dirty="0">
                <a:latin typeface="Times New Roman" panose="02020603050405020304" pitchFamily="18" charset="0"/>
                <a:cs typeface="Times New Roman" panose="02020603050405020304" pitchFamily="18" charset="0"/>
              </a:rPr>
              <a:t> указател. Действието на тази команда се изразява така:</a:t>
            </a:r>
          </a:p>
          <a:p>
            <a:pPr algn="just"/>
            <a:r>
              <a:rPr lang="bg-BG" sz="1600" b="1" dirty="0">
                <a:latin typeface="Times New Roman" panose="02020603050405020304" pitchFamily="18" charset="0"/>
                <a:cs typeface="Times New Roman" panose="02020603050405020304" pitchFamily="18" charset="0"/>
              </a:rPr>
              <a:t>Стек → IP, [Стек → CS] SP := (SP) + i16</a:t>
            </a:r>
          </a:p>
          <a:p>
            <a:pPr algn="just"/>
            <a:r>
              <a:rPr lang="bg-BG" sz="1600" dirty="0">
                <a:latin typeface="Times New Roman" panose="02020603050405020304" pitchFamily="18" charset="0"/>
                <a:cs typeface="Times New Roman" panose="02020603050405020304" pitchFamily="18" charset="0"/>
              </a:rPr>
              <a:t>При командата освен възстановяване на адреса за връщане се извършва и възстановяване на </a:t>
            </a:r>
            <a:r>
              <a:rPr lang="bg-BG" sz="1600" dirty="0" err="1">
                <a:latin typeface="Times New Roman" panose="02020603050405020304" pitchFamily="18" charset="0"/>
                <a:cs typeface="Times New Roman" panose="02020603050405020304" pitchFamily="18" charset="0"/>
              </a:rPr>
              <a:t>стековия</a:t>
            </a:r>
            <a:r>
              <a:rPr lang="bg-BG" sz="1600" dirty="0">
                <a:latin typeface="Times New Roman" panose="02020603050405020304" pitchFamily="18" charset="0"/>
                <a:cs typeface="Times New Roman" panose="02020603050405020304" pitchFamily="18" charset="0"/>
              </a:rPr>
              <a:t> указател. Действията в квадратни скоби се изпълняват при дълъг преход. Команда RET – всъщност е разширената команда RET 0, т.е. връщане без изчистване на стека. Операндът i16 показва колко байта (а не думи) в стека следва бъдат изхвърлени. Изхвърлянето на k параметъра </a:t>
            </a:r>
            <a:r>
              <a:rPr lang="ru-RU" sz="1600" dirty="0">
                <a:latin typeface="Times New Roman" panose="02020603050405020304" pitchFamily="18" charset="0"/>
                <a:cs typeface="Times New Roman" panose="02020603050405020304" pitchFamily="18" charset="0"/>
              </a:rPr>
              <a:t>с формат дума </a:t>
            </a:r>
            <a:r>
              <a:rPr lang="ru-RU" sz="1600" dirty="0" err="1">
                <a:latin typeface="Times New Roman" panose="02020603050405020304" pitchFamily="18" charset="0"/>
                <a:cs typeface="Times New Roman" panose="02020603050405020304" pitchFamily="18" charset="0"/>
              </a:rPr>
              <a:t>изисква</a:t>
            </a:r>
            <a:r>
              <a:rPr lang="ru-RU" sz="1600" dirty="0">
                <a:latin typeface="Times New Roman" panose="02020603050405020304" pitchFamily="18" charset="0"/>
                <a:cs typeface="Times New Roman" panose="02020603050405020304" pitchFamily="18" charset="0"/>
              </a:rPr>
              <a:t> </a:t>
            </a:r>
            <a:r>
              <a:rPr lang="bg-BG" sz="1600" dirty="0">
                <a:latin typeface="Times New Roman" panose="02020603050405020304" pitchFamily="18" charset="0"/>
                <a:cs typeface="Times New Roman" panose="02020603050405020304" pitchFamily="18" charset="0"/>
              </a:rPr>
              <a:t>записване на числото 2*k, а не просто k. В операнда не следва да се отчита мястото, което заема адресът за връщане, тъй като командата RET вече го е прочела и го е изхвърлила. Отчитайки всичко казано “изходните” действия на процедурата са:</a:t>
            </a:r>
          </a:p>
          <a:p>
            <a:pPr algn="just"/>
            <a:r>
              <a:rPr lang="bg-BG" sz="1600" dirty="0">
                <a:latin typeface="Times New Roman" panose="02020603050405020304" pitchFamily="18" charset="0"/>
                <a:cs typeface="Times New Roman" panose="02020603050405020304" pitchFamily="18" charset="0"/>
              </a:rPr>
              <a:t>		; “изходните” действия на процедурата</a:t>
            </a:r>
          </a:p>
          <a:p>
            <a:pPr algn="just"/>
            <a:r>
              <a:rPr lang="bg-BG" sz="1600" dirty="0">
                <a:latin typeface="Times New Roman" panose="02020603050405020304" pitchFamily="18" charset="0"/>
                <a:cs typeface="Times New Roman" panose="02020603050405020304" pitchFamily="18" charset="0"/>
              </a:rPr>
              <a:t>		POP BP ; възстановяване </a:t>
            </a:r>
            <a:r>
              <a:rPr lang="ru-RU" sz="1600" dirty="0">
                <a:latin typeface="Times New Roman" panose="02020603050405020304" pitchFamily="18" charset="0"/>
                <a:cs typeface="Times New Roman" panose="02020603050405020304" pitchFamily="18" charset="0"/>
              </a:rPr>
              <a:t>на ВР</a:t>
            </a:r>
          </a:p>
          <a:p>
            <a:pPr algn="just"/>
            <a:r>
              <a:rPr lang="ru-RU" sz="1600" dirty="0">
                <a:latin typeface="Times New Roman" panose="02020603050405020304" pitchFamily="18" charset="0"/>
                <a:cs typeface="Times New Roman" panose="02020603050405020304" pitchFamily="18" charset="0"/>
              </a:rPr>
              <a:t>		RET 2*k</a:t>
            </a:r>
          </a:p>
          <a:p>
            <a:pPr algn="just"/>
            <a:r>
              <a:rPr lang="bg-BG"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P</a:t>
            </a:r>
            <a:r>
              <a:rPr lang="bg-BG"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ENDP</a:t>
            </a:r>
            <a:endParaRPr lang="bg-BG" sz="1600" dirty="0">
              <a:latin typeface="Times New Roman" panose="02020603050405020304" pitchFamily="18" charset="0"/>
              <a:cs typeface="Times New Roman" panose="02020603050405020304" pitchFamily="18" charset="0"/>
            </a:endParaRPr>
          </a:p>
          <a:p>
            <a:pPr algn="just"/>
            <a:endParaRPr lang="bg-BG" sz="16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04285B2-6487-4AB6-8C61-7D5BD880354B}"/>
              </a:ext>
            </a:extLst>
          </p:cNvPr>
          <p:cNvSpPr/>
          <p:nvPr/>
        </p:nvSpPr>
        <p:spPr>
          <a:xfrm>
            <a:off x="403329" y="188640"/>
            <a:ext cx="6000938" cy="480131"/>
          </a:xfrm>
          <a:prstGeom prst="rect">
            <a:avLst/>
          </a:prstGeom>
        </p:spPr>
        <p:txBody>
          <a:bodyPr wrap="none">
            <a:spAutoFit/>
          </a:bodyPr>
          <a:lstStyle/>
          <a:p>
            <a:pPr>
              <a:lnSpc>
                <a:spcPct val="90000"/>
              </a:lnSpc>
              <a:spcBef>
                <a:spcPct val="0"/>
              </a:spcBef>
            </a:pPr>
            <a:r>
              <a:rPr lang="bg-BG" sz="2800" b="1" dirty="0">
                <a:solidFill>
                  <a:schemeClr val="tx2"/>
                </a:solidFill>
                <a:latin typeface="Times New Roman" panose="02020603050405020304" pitchFamily="18" charset="0"/>
                <a:ea typeface="+mj-ea"/>
                <a:cs typeface="Times New Roman" panose="02020603050405020304" pitchFamily="18" charset="0"/>
              </a:rPr>
              <a:t>Предаване на параметри чрез стека</a:t>
            </a:r>
          </a:p>
        </p:txBody>
      </p:sp>
    </p:spTree>
    <p:extLst>
      <p:ext uri="{BB962C8B-B14F-4D97-AF65-F5344CB8AC3E}">
        <p14:creationId xmlns:p14="http://schemas.microsoft.com/office/powerpoint/2010/main" val="352334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321A00A-3D2A-4F26-BF57-3699335FA0AD}"/>
              </a:ext>
            </a:extLst>
          </p:cNvPr>
          <p:cNvSpPr/>
          <p:nvPr/>
        </p:nvSpPr>
        <p:spPr>
          <a:xfrm>
            <a:off x="179512" y="1124744"/>
            <a:ext cx="8640960" cy="5262979"/>
          </a:xfrm>
          <a:prstGeom prst="rect">
            <a:avLst/>
          </a:prstGeom>
        </p:spPr>
        <p:txBody>
          <a:bodyPr wrap="square">
            <a:spAutoFit/>
          </a:bodyPr>
          <a:lstStyle/>
          <a:p>
            <a:pPr algn="just"/>
            <a:r>
              <a:rPr lang="bg-BG" sz="2100" b="1" dirty="0">
                <a:latin typeface="Times New Roman" panose="02020603050405020304" pitchFamily="18" charset="0"/>
                <a:cs typeface="Times New Roman" panose="02020603050405020304" pitchFamily="18" charset="0"/>
              </a:rPr>
              <a:t>Локални данни за процедурите </a:t>
            </a:r>
            <a:endParaRPr lang="en-US" sz="2100" b="1" dirty="0">
              <a:latin typeface="Times New Roman" panose="02020603050405020304" pitchFamily="18" charset="0"/>
              <a:cs typeface="Times New Roman" panose="02020603050405020304" pitchFamily="18" charset="0"/>
            </a:endParaRPr>
          </a:p>
          <a:p>
            <a:pPr algn="just"/>
            <a:r>
              <a:rPr lang="bg-BG" sz="2100" dirty="0">
                <a:latin typeface="Times New Roman" panose="02020603050405020304" pitchFamily="18" charset="0"/>
                <a:cs typeface="Times New Roman" panose="02020603050405020304" pitchFamily="18" charset="0"/>
              </a:rPr>
              <a:t>Л</a:t>
            </a:r>
            <a:r>
              <a:rPr lang="ru-RU" sz="2100" dirty="0" err="1">
                <a:latin typeface="Times New Roman" panose="02020603050405020304" pitchFamily="18" charset="0"/>
                <a:cs typeface="Times New Roman" panose="02020603050405020304" pitchFamily="18" charset="0"/>
              </a:rPr>
              <a:t>окални</a:t>
            </a:r>
            <a:r>
              <a:rPr lang="ru-RU" sz="2100" dirty="0">
                <a:latin typeface="Times New Roman" panose="02020603050405020304" pitchFamily="18" charset="0"/>
                <a:cs typeface="Times New Roman" panose="02020603050405020304" pitchFamily="18" charset="0"/>
              </a:rPr>
              <a:t> данни са </a:t>
            </a:r>
            <a:r>
              <a:rPr lang="ru-RU" sz="2100" dirty="0" err="1">
                <a:latin typeface="Times New Roman" panose="02020603050405020304" pitchFamily="18" charset="0"/>
                <a:cs typeface="Times New Roman" panose="02020603050405020304" pitchFamily="18" charset="0"/>
              </a:rPr>
              <a:t>стойностите</a:t>
            </a:r>
            <a:r>
              <a:rPr lang="ru-RU" sz="2100" dirty="0">
                <a:latin typeface="Times New Roman" panose="02020603050405020304" pitchFamily="18" charset="0"/>
                <a:cs typeface="Times New Roman" panose="02020603050405020304" pitchFamily="18" charset="0"/>
              </a:rPr>
              <a:t> на </a:t>
            </a:r>
            <a:r>
              <a:rPr lang="ru-RU" sz="2100" dirty="0" err="1">
                <a:latin typeface="Times New Roman" panose="02020603050405020304" pitchFamily="18" charset="0"/>
                <a:cs typeface="Times New Roman" panose="02020603050405020304" pitchFamily="18" charset="0"/>
              </a:rPr>
              <a:t>величини</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използвани</a:t>
            </a:r>
            <a:r>
              <a:rPr lang="ru-RU" sz="2100" dirty="0">
                <a:latin typeface="Times New Roman" panose="02020603050405020304" pitchFamily="18" charset="0"/>
                <a:cs typeface="Times New Roman" panose="02020603050405020304" pitchFamily="18" charset="0"/>
              </a:rPr>
              <a:t> от </a:t>
            </a:r>
            <a:r>
              <a:rPr lang="ru-RU" sz="2100" dirty="0" err="1">
                <a:latin typeface="Times New Roman" panose="02020603050405020304" pitchFamily="18" charset="0"/>
                <a:cs typeface="Times New Roman" panose="02020603050405020304" pitchFamily="18" charset="0"/>
              </a:rPr>
              <a:t>алгоритъма</a:t>
            </a:r>
            <a:r>
              <a:rPr lang="ru-RU" sz="2100" dirty="0">
                <a:latin typeface="Times New Roman" panose="02020603050405020304" pitchFamily="18" charset="0"/>
                <a:cs typeface="Times New Roman" panose="02020603050405020304" pitchFamily="18" charset="0"/>
              </a:rPr>
              <a:t> на </a:t>
            </a:r>
            <a:r>
              <a:rPr lang="ru-RU" sz="2100" dirty="0" err="1">
                <a:latin typeface="Times New Roman" panose="02020603050405020304" pitchFamily="18" charset="0"/>
                <a:cs typeface="Times New Roman" panose="02020603050405020304" pitchFamily="18" charset="0"/>
              </a:rPr>
              <a:t>процедурата</a:t>
            </a:r>
            <a:r>
              <a:rPr lang="ru-RU" sz="2100" dirty="0">
                <a:latin typeface="Times New Roman" panose="02020603050405020304" pitchFamily="18" charset="0"/>
                <a:cs typeface="Times New Roman" panose="02020603050405020304" pitchFamily="18" charset="0"/>
              </a:rPr>
              <a:t> и </a:t>
            </a:r>
            <a:r>
              <a:rPr lang="ru-RU" sz="2100" dirty="0" err="1">
                <a:latin typeface="Times New Roman" panose="02020603050405020304" pitchFamily="18" charset="0"/>
                <a:cs typeface="Times New Roman" panose="02020603050405020304" pitchFamily="18" charset="0"/>
              </a:rPr>
              <a:t>нямащи</a:t>
            </a:r>
            <a:r>
              <a:rPr lang="ru-RU" sz="2100" dirty="0">
                <a:latin typeface="Times New Roman" panose="02020603050405020304" pitchFamily="18" charset="0"/>
                <a:cs typeface="Times New Roman" panose="02020603050405020304" pitchFamily="18" charset="0"/>
              </a:rPr>
              <a:t> отношение </a:t>
            </a:r>
            <a:r>
              <a:rPr lang="ru-RU" sz="2100" dirty="0" err="1">
                <a:latin typeface="Times New Roman" panose="02020603050405020304" pitchFamily="18" charset="0"/>
                <a:cs typeface="Times New Roman" panose="02020603050405020304" pitchFamily="18" charset="0"/>
              </a:rPr>
              <a:t>към</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величините</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извън</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нея</a:t>
            </a:r>
            <a:r>
              <a:rPr lang="ru-RU" sz="2100" dirty="0">
                <a:latin typeface="Times New Roman" panose="02020603050405020304" pitchFamily="18" charset="0"/>
                <a:cs typeface="Times New Roman" panose="02020603050405020304" pitchFamily="18" charset="0"/>
              </a:rPr>
              <a:t>. Когато </a:t>
            </a:r>
            <a:r>
              <a:rPr lang="ru-RU" sz="2100" dirty="0" err="1">
                <a:latin typeface="Times New Roman" panose="02020603050405020304" pitchFamily="18" charset="0"/>
                <a:cs typeface="Times New Roman" panose="02020603050405020304" pitchFamily="18" charset="0"/>
              </a:rPr>
              <a:t>обаче</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локалните</a:t>
            </a:r>
            <a:r>
              <a:rPr lang="ru-RU" sz="2100" dirty="0">
                <a:latin typeface="Times New Roman" panose="02020603050405020304" pitchFamily="18" charset="0"/>
                <a:cs typeface="Times New Roman" panose="02020603050405020304" pitchFamily="18" charset="0"/>
              </a:rPr>
              <a:t> данни са много на </a:t>
            </a:r>
            <a:r>
              <a:rPr lang="ru-RU" sz="2100" dirty="0" err="1">
                <a:latin typeface="Times New Roman" panose="02020603050405020304" pitchFamily="18" charset="0"/>
                <a:cs typeface="Times New Roman" panose="02020603050405020304" pitchFamily="18" charset="0"/>
              </a:rPr>
              <a:t>брой</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възниква</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естественият</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въпрос</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къде</a:t>
            </a:r>
            <a:r>
              <a:rPr lang="ru-RU" sz="2100" dirty="0">
                <a:latin typeface="Times New Roman" panose="02020603050405020304" pitchFamily="18" charset="0"/>
                <a:cs typeface="Times New Roman" panose="02020603050405020304" pitchFamily="18" charset="0"/>
              </a:rPr>
              <a:t> да </a:t>
            </a:r>
            <a:r>
              <a:rPr lang="ru-RU" sz="2100" dirty="0" err="1">
                <a:latin typeface="Times New Roman" panose="02020603050405020304" pitchFamily="18" charset="0"/>
                <a:cs typeface="Times New Roman" panose="02020603050405020304" pitchFamily="18" charset="0"/>
              </a:rPr>
              <a:t>бъдат</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съхранявани</a:t>
            </a:r>
            <a:r>
              <a:rPr lang="ru-RU" sz="2100" dirty="0">
                <a:latin typeface="Times New Roman" panose="02020603050405020304" pitchFamily="18" charset="0"/>
                <a:cs typeface="Times New Roman" panose="02020603050405020304" pitchFamily="18" charset="0"/>
              </a:rPr>
              <a:t>. Не е </a:t>
            </a:r>
            <a:r>
              <a:rPr lang="ru-RU" sz="2100" dirty="0" err="1">
                <a:latin typeface="Times New Roman" panose="02020603050405020304" pitchFamily="18" charset="0"/>
                <a:cs typeface="Times New Roman" panose="02020603050405020304" pitchFamily="18" charset="0"/>
              </a:rPr>
              <a:t>ефективно</a:t>
            </a:r>
            <a:r>
              <a:rPr lang="ru-RU" sz="2100" dirty="0">
                <a:latin typeface="Times New Roman" panose="02020603050405020304" pitchFamily="18" charset="0"/>
                <a:cs typeface="Times New Roman" panose="02020603050405020304" pitchFamily="18" charset="0"/>
              </a:rPr>
              <a:t> да се </a:t>
            </a:r>
            <a:r>
              <a:rPr lang="ru-RU" sz="2100" dirty="0" err="1">
                <a:latin typeface="Times New Roman" panose="02020603050405020304" pitchFamily="18" charset="0"/>
                <a:cs typeface="Times New Roman" panose="02020603050405020304" pitchFamily="18" charset="0"/>
              </a:rPr>
              <a:t>резервира</a:t>
            </a:r>
            <a:r>
              <a:rPr lang="ru-RU" sz="2100" dirty="0">
                <a:latin typeface="Times New Roman" panose="02020603050405020304" pitchFamily="18" charset="0"/>
                <a:cs typeface="Times New Roman" panose="02020603050405020304" pitchFamily="18" charset="0"/>
              </a:rPr>
              <a:t> място в </a:t>
            </a:r>
            <a:r>
              <a:rPr lang="ru-RU" sz="2100" dirty="0" err="1">
                <a:latin typeface="Times New Roman" panose="02020603050405020304" pitchFamily="18" charset="0"/>
                <a:cs typeface="Times New Roman" panose="02020603050405020304" pitchFamily="18" charset="0"/>
              </a:rPr>
              <a:t>данновия</a:t>
            </a:r>
            <a:r>
              <a:rPr lang="ru-RU" sz="2100" dirty="0">
                <a:latin typeface="Times New Roman" panose="02020603050405020304" pitchFamily="18" charset="0"/>
                <a:cs typeface="Times New Roman" panose="02020603050405020304" pitchFamily="18" charset="0"/>
              </a:rPr>
              <a:t> сегмент, тъй като то </a:t>
            </a:r>
            <a:r>
              <a:rPr lang="ru-RU" sz="2100" dirty="0" err="1">
                <a:latin typeface="Times New Roman" panose="02020603050405020304" pitchFamily="18" charset="0"/>
                <a:cs typeface="Times New Roman" panose="02020603050405020304" pitchFamily="18" charset="0"/>
              </a:rPr>
              <a:t>ще</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бъде</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блокирано</a:t>
            </a:r>
            <a:r>
              <a:rPr lang="ru-RU" sz="2100" dirty="0">
                <a:latin typeface="Times New Roman" panose="02020603050405020304" pitchFamily="18" charset="0"/>
                <a:cs typeface="Times New Roman" panose="02020603050405020304" pitchFamily="18" charset="0"/>
              </a:rPr>
              <a:t> и </a:t>
            </a:r>
            <a:r>
              <a:rPr lang="ru-RU" sz="2100" dirty="0" err="1">
                <a:latin typeface="Times New Roman" panose="02020603050405020304" pitchFamily="18" charset="0"/>
                <a:cs typeface="Times New Roman" panose="02020603050405020304" pitchFamily="18" charset="0"/>
              </a:rPr>
              <a:t>недостъпно</a:t>
            </a:r>
            <a:r>
              <a:rPr lang="ru-RU" sz="2100" dirty="0">
                <a:latin typeface="Times New Roman" panose="02020603050405020304" pitchFamily="18" charset="0"/>
                <a:cs typeface="Times New Roman" panose="02020603050405020304" pitchFamily="18" charset="0"/>
              </a:rPr>
              <a:t> за </a:t>
            </a:r>
            <a:r>
              <a:rPr lang="ru-RU" sz="2100" dirty="0" err="1">
                <a:latin typeface="Times New Roman" panose="02020603050405020304" pitchFamily="18" charset="0"/>
                <a:cs typeface="Times New Roman" panose="02020603050405020304" pitchFamily="18" charset="0"/>
              </a:rPr>
              <a:t>съхраняване</a:t>
            </a:r>
            <a:r>
              <a:rPr lang="ru-RU" sz="2100" dirty="0">
                <a:latin typeface="Times New Roman" panose="02020603050405020304" pitchFamily="18" charset="0"/>
                <a:cs typeface="Times New Roman" panose="02020603050405020304" pitchFamily="18" charset="0"/>
              </a:rPr>
              <a:t> на други данни. </a:t>
            </a:r>
            <a:r>
              <a:rPr lang="ru-RU" sz="2100" dirty="0" err="1">
                <a:latin typeface="Times New Roman" panose="02020603050405020304" pitchFamily="18" charset="0"/>
                <a:cs typeface="Times New Roman" panose="02020603050405020304" pitchFamily="18" charset="0"/>
              </a:rPr>
              <a:t>Счита</a:t>
            </a:r>
            <a:r>
              <a:rPr lang="ru-RU" sz="2100" dirty="0">
                <a:latin typeface="Times New Roman" panose="02020603050405020304" pitchFamily="18" charset="0"/>
                <a:cs typeface="Times New Roman" panose="02020603050405020304" pitchFamily="18" charset="0"/>
              </a:rPr>
              <a:t> се, че </a:t>
            </a:r>
            <a:r>
              <a:rPr lang="ru-RU" sz="2100" dirty="0" err="1">
                <a:latin typeface="Times New Roman" panose="02020603050405020304" pitchFamily="18" charset="0"/>
                <a:cs typeface="Times New Roman" panose="02020603050405020304" pitchFamily="18" charset="0"/>
              </a:rPr>
              <a:t>по-добре</a:t>
            </a:r>
            <a:r>
              <a:rPr lang="ru-RU" sz="2100" dirty="0">
                <a:latin typeface="Times New Roman" panose="02020603050405020304" pitchFamily="18" charset="0"/>
                <a:cs typeface="Times New Roman" panose="02020603050405020304" pitchFamily="18" charset="0"/>
              </a:rPr>
              <a:t> за </a:t>
            </a:r>
            <a:r>
              <a:rPr lang="ru-RU" sz="2100" dirty="0" err="1">
                <a:latin typeface="Times New Roman" panose="02020603050405020304" pitchFamily="18" charset="0"/>
                <a:cs typeface="Times New Roman" panose="02020603050405020304" pitchFamily="18" charset="0"/>
              </a:rPr>
              <a:t>целта</a:t>
            </a:r>
            <a:r>
              <a:rPr lang="ru-RU" sz="2100" dirty="0">
                <a:latin typeface="Times New Roman" panose="02020603050405020304" pitchFamily="18" charset="0"/>
                <a:cs typeface="Times New Roman" panose="02020603050405020304" pitchFamily="18" charset="0"/>
              </a:rPr>
              <a:t> да се използва </a:t>
            </a:r>
            <a:r>
              <a:rPr lang="ru-RU" sz="2100" dirty="0" err="1">
                <a:latin typeface="Times New Roman" panose="02020603050405020304" pitchFamily="18" charset="0"/>
                <a:cs typeface="Times New Roman" panose="02020603050405020304" pitchFamily="18" charset="0"/>
              </a:rPr>
              <a:t>отново</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стекът</a:t>
            </a:r>
            <a:r>
              <a:rPr lang="ru-RU" sz="2100" dirty="0">
                <a:latin typeface="Times New Roman" panose="02020603050405020304" pitchFamily="18" charset="0"/>
                <a:cs typeface="Times New Roman" panose="02020603050405020304" pitchFamily="18" charset="0"/>
              </a:rPr>
              <a:t>.  При </a:t>
            </a:r>
            <a:r>
              <a:rPr lang="ru-RU" sz="2100" dirty="0" err="1">
                <a:latin typeface="Times New Roman" panose="02020603050405020304" pitchFamily="18" charset="0"/>
                <a:cs typeface="Times New Roman" panose="02020603050405020304" pitchFamily="18" charset="0"/>
              </a:rPr>
              <a:t>влизане</a:t>
            </a:r>
            <a:r>
              <a:rPr lang="ru-RU" sz="2100" dirty="0">
                <a:latin typeface="Times New Roman" panose="02020603050405020304" pitchFamily="18" charset="0"/>
                <a:cs typeface="Times New Roman" panose="02020603050405020304" pitchFamily="18" charset="0"/>
              </a:rPr>
              <a:t> в </a:t>
            </a:r>
            <a:r>
              <a:rPr lang="ru-RU" sz="2100" dirty="0" err="1">
                <a:latin typeface="Times New Roman" panose="02020603050405020304" pitchFamily="18" charset="0"/>
                <a:cs typeface="Times New Roman" panose="02020603050405020304" pitchFamily="18" charset="0"/>
              </a:rPr>
              <a:t>процедурата</a:t>
            </a:r>
            <a:r>
              <a:rPr lang="ru-RU" sz="2100" dirty="0">
                <a:latin typeface="Times New Roman" panose="02020603050405020304" pitchFamily="18" charset="0"/>
                <a:cs typeface="Times New Roman" panose="02020603050405020304" pitchFamily="18" charset="0"/>
              </a:rPr>
              <a:t> в стека се </a:t>
            </a:r>
            <a:r>
              <a:rPr lang="ru-RU" sz="2100" dirty="0" err="1">
                <a:latin typeface="Times New Roman" panose="02020603050405020304" pitchFamily="18" charset="0"/>
                <a:cs typeface="Times New Roman" panose="02020603050405020304" pitchFamily="18" charset="0"/>
              </a:rPr>
              <a:t>резервират</a:t>
            </a:r>
            <a:r>
              <a:rPr lang="ru-RU" sz="2100" dirty="0">
                <a:latin typeface="Times New Roman" panose="02020603050405020304" pitchFamily="18" charset="0"/>
                <a:cs typeface="Times New Roman" panose="02020603050405020304" pitchFamily="18" charset="0"/>
              </a:rPr>
              <a:t> определен </a:t>
            </a:r>
            <a:r>
              <a:rPr lang="ru-RU" sz="2100" dirty="0" err="1">
                <a:latin typeface="Times New Roman" panose="02020603050405020304" pitchFamily="18" charset="0"/>
                <a:cs typeface="Times New Roman" panose="02020603050405020304" pitchFamily="18" charset="0"/>
              </a:rPr>
              <a:t>брой</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байтове</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предназначени</a:t>
            </a:r>
            <a:r>
              <a:rPr lang="ru-RU" sz="2100" dirty="0">
                <a:latin typeface="Times New Roman" panose="02020603050405020304" pitchFamily="18" charset="0"/>
                <a:cs typeface="Times New Roman" panose="02020603050405020304" pitchFamily="18" charset="0"/>
              </a:rPr>
              <a:t> за </a:t>
            </a:r>
            <a:r>
              <a:rPr lang="ru-RU" sz="2100" dirty="0" err="1">
                <a:latin typeface="Times New Roman" panose="02020603050405020304" pitchFamily="18" charset="0"/>
                <a:cs typeface="Times New Roman" panose="02020603050405020304" pitchFamily="18" charset="0"/>
              </a:rPr>
              <a:t>локалните</a:t>
            </a:r>
            <a:r>
              <a:rPr lang="ru-RU" sz="2100" dirty="0">
                <a:latin typeface="Times New Roman" panose="02020603050405020304" pitchFamily="18" charset="0"/>
                <a:cs typeface="Times New Roman" panose="02020603050405020304" pitchFamily="18" charset="0"/>
              </a:rPr>
              <a:t> данни, които </a:t>
            </a:r>
            <a:r>
              <a:rPr lang="ru-RU" sz="2100" dirty="0" err="1">
                <a:latin typeface="Times New Roman" panose="02020603050405020304" pitchFamily="18" charset="0"/>
                <a:cs typeface="Times New Roman" panose="02020603050405020304" pitchFamily="18" charset="0"/>
              </a:rPr>
              <a:t>непосредствено</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преди</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излизане</a:t>
            </a:r>
            <a:r>
              <a:rPr lang="ru-RU" sz="2100" dirty="0">
                <a:latin typeface="Times New Roman" panose="02020603050405020304" pitchFamily="18" charset="0"/>
                <a:cs typeface="Times New Roman" panose="02020603050405020304" pitchFamily="18" charset="0"/>
              </a:rPr>
              <a:t> от </a:t>
            </a:r>
            <a:r>
              <a:rPr lang="ru-RU" sz="2100" dirty="0" err="1">
                <a:latin typeface="Times New Roman" panose="02020603050405020304" pitchFamily="18" charset="0"/>
                <a:cs typeface="Times New Roman" panose="02020603050405020304" pitchFamily="18" charset="0"/>
              </a:rPr>
              <a:t>процедурата</a:t>
            </a:r>
            <a:r>
              <a:rPr lang="ru-RU" sz="2100" dirty="0">
                <a:latin typeface="Times New Roman" panose="02020603050405020304" pitchFamily="18" charset="0"/>
                <a:cs typeface="Times New Roman" panose="02020603050405020304" pitchFamily="18" charset="0"/>
              </a:rPr>
              <a:t> се </a:t>
            </a:r>
            <a:r>
              <a:rPr lang="ru-RU" sz="2100" dirty="0" err="1">
                <a:latin typeface="Times New Roman" panose="02020603050405020304" pitchFamily="18" charset="0"/>
                <a:cs typeface="Times New Roman" panose="02020603050405020304" pitchFamily="18" charset="0"/>
              </a:rPr>
              <a:t>освобождават</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изхвърлят</a:t>
            </a:r>
            <a:r>
              <a:rPr lang="ru-RU" sz="2100" dirty="0">
                <a:latin typeface="Times New Roman" panose="02020603050405020304" pitchFamily="18" charset="0"/>
                <a:cs typeface="Times New Roman" panose="02020603050405020304" pitchFamily="18" charset="0"/>
              </a:rPr>
              <a:t>).  Това </a:t>
            </a:r>
            <a:r>
              <a:rPr lang="ru-RU" sz="2100" dirty="0" err="1">
                <a:latin typeface="Times New Roman" panose="02020603050405020304" pitchFamily="18" charset="0"/>
                <a:cs typeface="Times New Roman" panose="02020603050405020304" pitchFamily="18" charset="0"/>
              </a:rPr>
              <a:t>резервиране</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може</a:t>
            </a:r>
            <a:r>
              <a:rPr lang="ru-RU" sz="2100" dirty="0">
                <a:latin typeface="Times New Roman" panose="02020603050405020304" pitchFamily="18" charset="0"/>
                <a:cs typeface="Times New Roman" panose="02020603050405020304" pitchFamily="18" charset="0"/>
              </a:rPr>
              <a:t> да се </a:t>
            </a:r>
            <a:r>
              <a:rPr lang="ru-RU" sz="2100" dirty="0" err="1">
                <a:latin typeface="Times New Roman" panose="02020603050405020304" pitchFamily="18" charset="0"/>
                <a:cs typeface="Times New Roman" panose="02020603050405020304" pitchFamily="18" charset="0"/>
              </a:rPr>
              <a:t>практикува</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както</a:t>
            </a:r>
            <a:r>
              <a:rPr lang="ru-RU" sz="2100" dirty="0">
                <a:latin typeface="Times New Roman" panose="02020603050405020304" pitchFamily="18" charset="0"/>
                <a:cs typeface="Times New Roman" panose="02020603050405020304" pitchFamily="18" charset="0"/>
              </a:rPr>
              <a:t> в </a:t>
            </a:r>
            <a:r>
              <a:rPr lang="ru-RU" sz="2100" dirty="0" err="1">
                <a:latin typeface="Times New Roman" panose="02020603050405020304" pitchFamily="18" charset="0"/>
                <a:cs typeface="Times New Roman" panose="02020603050405020304" pitchFamily="18" charset="0"/>
              </a:rPr>
              <a:t>случаите</a:t>
            </a:r>
            <a:r>
              <a:rPr lang="ru-RU" sz="2100" dirty="0">
                <a:latin typeface="Times New Roman" panose="02020603050405020304" pitchFamily="18" charset="0"/>
                <a:cs typeface="Times New Roman" panose="02020603050405020304" pitchFamily="18" charset="0"/>
              </a:rPr>
              <a:t>, когато параметрите се </a:t>
            </a:r>
            <a:r>
              <a:rPr lang="ru-RU" sz="2100" dirty="0" err="1">
                <a:latin typeface="Times New Roman" panose="02020603050405020304" pitchFamily="18" charset="0"/>
                <a:cs typeface="Times New Roman" panose="02020603050405020304" pitchFamily="18" charset="0"/>
              </a:rPr>
              <a:t>предават</a:t>
            </a:r>
            <a:r>
              <a:rPr lang="ru-RU" sz="2100" dirty="0">
                <a:latin typeface="Times New Roman" panose="02020603050405020304" pitchFamily="18" charset="0"/>
                <a:cs typeface="Times New Roman" panose="02020603050405020304" pitchFamily="18" charset="0"/>
              </a:rPr>
              <a:t> чрез </a:t>
            </a:r>
            <a:r>
              <a:rPr lang="ru-RU" sz="2100" dirty="0" err="1">
                <a:latin typeface="Times New Roman" panose="02020603050405020304" pitchFamily="18" charset="0"/>
                <a:cs typeface="Times New Roman" panose="02020603050405020304" pitchFamily="18" charset="0"/>
              </a:rPr>
              <a:t>регистри</a:t>
            </a:r>
            <a:r>
              <a:rPr lang="ru-RU" sz="2100" dirty="0">
                <a:latin typeface="Times New Roman" panose="02020603050405020304" pitchFamily="18" charset="0"/>
                <a:cs typeface="Times New Roman" panose="02020603050405020304" pitchFamily="18" charset="0"/>
              </a:rPr>
              <a:t>, така и когато за това се използва стека. За </a:t>
            </a:r>
            <a:r>
              <a:rPr lang="ru-RU" sz="2100" dirty="0" err="1">
                <a:latin typeface="Times New Roman" panose="02020603050405020304" pitchFamily="18" charset="0"/>
                <a:cs typeface="Times New Roman" panose="02020603050405020304" pitchFamily="18" charset="0"/>
              </a:rPr>
              <a:t>целта</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следва</a:t>
            </a:r>
            <a:r>
              <a:rPr lang="ru-RU" sz="2100" dirty="0">
                <a:latin typeface="Times New Roman" panose="02020603050405020304" pitchFamily="18" charset="0"/>
                <a:cs typeface="Times New Roman" panose="02020603050405020304" pitchFamily="18" charset="0"/>
              </a:rPr>
              <a:t> да се запомни </a:t>
            </a:r>
            <a:r>
              <a:rPr lang="ru-RU" sz="2100" dirty="0" err="1">
                <a:latin typeface="Times New Roman" panose="02020603050405020304" pitchFamily="18" charset="0"/>
                <a:cs typeface="Times New Roman" panose="02020603050405020304" pitchFamily="18" charset="0"/>
              </a:rPr>
              <a:t>съдържанието</a:t>
            </a:r>
            <a:r>
              <a:rPr lang="ru-RU" sz="2100" dirty="0">
                <a:latin typeface="Times New Roman" panose="02020603050405020304" pitchFamily="18" charset="0"/>
                <a:cs typeface="Times New Roman" panose="02020603050405020304" pitchFamily="18" charset="0"/>
              </a:rPr>
              <a:t> на </a:t>
            </a:r>
            <a:r>
              <a:rPr lang="ru-RU" sz="2100" dirty="0" err="1">
                <a:latin typeface="Times New Roman" panose="02020603050405020304" pitchFamily="18" charset="0"/>
                <a:cs typeface="Times New Roman" panose="02020603050405020304" pitchFamily="18" charset="0"/>
              </a:rPr>
              <a:t>регистър</a:t>
            </a:r>
            <a:r>
              <a:rPr lang="ru-RU" sz="2100" dirty="0">
                <a:latin typeface="Times New Roman" panose="02020603050405020304" pitchFamily="18" charset="0"/>
                <a:cs typeface="Times New Roman" panose="02020603050405020304" pitchFamily="18" charset="0"/>
              </a:rPr>
              <a:t> ВР в стека, след което да се </a:t>
            </a:r>
            <a:r>
              <a:rPr lang="ru-RU" sz="2100" dirty="0" err="1">
                <a:latin typeface="Times New Roman" panose="02020603050405020304" pitchFamily="18" charset="0"/>
                <a:cs typeface="Times New Roman" panose="02020603050405020304" pitchFamily="18" charset="0"/>
              </a:rPr>
              <a:t>зареди</a:t>
            </a:r>
            <a:r>
              <a:rPr lang="ru-RU" sz="2100" dirty="0">
                <a:latin typeface="Times New Roman" panose="02020603050405020304" pitchFamily="18" charset="0"/>
                <a:cs typeface="Times New Roman" panose="02020603050405020304" pitchFamily="18" charset="0"/>
              </a:rPr>
              <a:t> с адреса на топ </a:t>
            </a:r>
            <a:r>
              <a:rPr lang="ru-RU" sz="2100" dirty="0" err="1">
                <a:latin typeface="Times New Roman" panose="02020603050405020304" pitchFamily="18" charset="0"/>
                <a:cs typeface="Times New Roman" panose="02020603050405020304" pitchFamily="18" charset="0"/>
              </a:rPr>
              <a:t>клетката</a:t>
            </a:r>
            <a:r>
              <a:rPr lang="ru-RU" sz="2100" dirty="0">
                <a:latin typeface="Times New Roman" panose="02020603050405020304" pitchFamily="18" charset="0"/>
                <a:cs typeface="Times New Roman" panose="02020603050405020304" pitchFamily="18" charset="0"/>
              </a:rPr>
              <a:t> (действия, </a:t>
            </a:r>
            <a:r>
              <a:rPr lang="ru-RU" sz="2100" dirty="0" err="1">
                <a:latin typeface="Times New Roman" panose="02020603050405020304" pitchFamily="18" charset="0"/>
                <a:cs typeface="Times New Roman" panose="02020603050405020304" pitchFamily="18" charset="0"/>
              </a:rPr>
              <a:t>аналогични</a:t>
            </a:r>
            <a:r>
              <a:rPr lang="ru-RU" sz="2100" dirty="0">
                <a:latin typeface="Times New Roman" panose="02020603050405020304" pitchFamily="18" charset="0"/>
                <a:cs typeface="Times New Roman" panose="02020603050405020304" pitchFamily="18" charset="0"/>
              </a:rPr>
              <a:t> на “</a:t>
            </a:r>
            <a:r>
              <a:rPr lang="ru-RU" sz="2100" dirty="0" err="1">
                <a:latin typeface="Times New Roman" panose="02020603050405020304" pitchFamily="18" charset="0"/>
                <a:cs typeface="Times New Roman" panose="02020603050405020304" pitchFamily="18" charset="0"/>
              </a:rPr>
              <a:t>входните</a:t>
            </a:r>
            <a:r>
              <a:rPr lang="ru-RU" sz="2100" dirty="0">
                <a:latin typeface="Times New Roman" panose="02020603050405020304" pitchFamily="18" charset="0"/>
                <a:cs typeface="Times New Roman" panose="02020603050405020304" pitchFamily="18" charset="0"/>
              </a:rPr>
              <a:t>”). След това </a:t>
            </a:r>
            <a:r>
              <a:rPr lang="ru-RU" sz="2100" dirty="0" err="1">
                <a:latin typeface="Times New Roman" panose="02020603050405020304" pitchFamily="18" charset="0"/>
                <a:cs typeface="Times New Roman" panose="02020603050405020304" pitchFamily="18" charset="0"/>
              </a:rPr>
              <a:t>съдържанието</a:t>
            </a:r>
            <a:r>
              <a:rPr lang="ru-RU" sz="2100" dirty="0">
                <a:latin typeface="Times New Roman" panose="02020603050405020304" pitchFamily="18" charset="0"/>
                <a:cs typeface="Times New Roman" panose="02020603050405020304" pitchFamily="18" charset="0"/>
              </a:rPr>
              <a:t> на </a:t>
            </a:r>
            <a:r>
              <a:rPr lang="ru-RU" sz="2100" dirty="0" err="1">
                <a:latin typeface="Times New Roman" panose="02020603050405020304" pitchFamily="18" charset="0"/>
                <a:cs typeface="Times New Roman" panose="02020603050405020304" pitchFamily="18" charset="0"/>
              </a:rPr>
              <a:t>стековия</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указател</a:t>
            </a:r>
            <a:r>
              <a:rPr lang="ru-RU" sz="2100" dirty="0">
                <a:latin typeface="Times New Roman" panose="02020603050405020304" pitchFamily="18" charset="0"/>
                <a:cs typeface="Times New Roman" panose="02020603050405020304" pitchFamily="18" charset="0"/>
              </a:rPr>
              <a:t> SP се </a:t>
            </a:r>
            <a:r>
              <a:rPr lang="ru-RU" sz="2100" dirty="0" err="1">
                <a:latin typeface="Times New Roman" panose="02020603050405020304" pitchFamily="18" charset="0"/>
                <a:cs typeface="Times New Roman" panose="02020603050405020304" pitchFamily="18" charset="0"/>
              </a:rPr>
              <a:t>намалява</a:t>
            </a:r>
            <a:r>
              <a:rPr lang="ru-RU" sz="2100" dirty="0">
                <a:latin typeface="Times New Roman" panose="02020603050405020304" pitchFamily="18" charset="0"/>
                <a:cs typeface="Times New Roman" panose="02020603050405020304" pitchFamily="18" charset="0"/>
              </a:rPr>
              <a:t> с число, равно на броя на </a:t>
            </a:r>
            <a:r>
              <a:rPr lang="ru-RU" sz="2100" dirty="0" err="1">
                <a:latin typeface="Times New Roman" panose="02020603050405020304" pitchFamily="18" charset="0"/>
                <a:cs typeface="Times New Roman" panose="02020603050405020304" pitchFamily="18" charset="0"/>
              </a:rPr>
              <a:t>резервираните</a:t>
            </a:r>
            <a:r>
              <a:rPr lang="ru-RU" sz="2100" dirty="0">
                <a:latin typeface="Times New Roman" panose="02020603050405020304" pitchFamily="18" charset="0"/>
                <a:cs typeface="Times New Roman" panose="02020603050405020304" pitchFamily="18" charset="0"/>
              </a:rPr>
              <a:t> </a:t>
            </a:r>
            <a:r>
              <a:rPr lang="ru-RU" sz="2100" dirty="0" err="1">
                <a:latin typeface="Times New Roman" panose="02020603050405020304" pitchFamily="18" charset="0"/>
                <a:cs typeface="Times New Roman" panose="02020603050405020304" pitchFamily="18" charset="0"/>
              </a:rPr>
              <a:t>байтове</a:t>
            </a:r>
            <a:endParaRPr lang="bg-BG" sz="21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04285B2-6487-4AB6-8C61-7D5BD880354B}"/>
              </a:ext>
            </a:extLst>
          </p:cNvPr>
          <p:cNvSpPr/>
          <p:nvPr/>
        </p:nvSpPr>
        <p:spPr>
          <a:xfrm>
            <a:off x="539552" y="548680"/>
            <a:ext cx="6000938" cy="480131"/>
          </a:xfrm>
          <a:prstGeom prst="rect">
            <a:avLst/>
          </a:prstGeom>
        </p:spPr>
        <p:txBody>
          <a:bodyPr wrap="none">
            <a:spAutoFit/>
          </a:bodyPr>
          <a:lstStyle/>
          <a:p>
            <a:pPr>
              <a:lnSpc>
                <a:spcPct val="90000"/>
              </a:lnSpc>
              <a:spcBef>
                <a:spcPct val="0"/>
              </a:spcBef>
            </a:pPr>
            <a:r>
              <a:rPr lang="bg-BG" sz="2800" b="1" dirty="0">
                <a:solidFill>
                  <a:schemeClr val="tx2"/>
                </a:solidFill>
                <a:latin typeface="Times New Roman" panose="02020603050405020304" pitchFamily="18" charset="0"/>
                <a:ea typeface="+mj-ea"/>
                <a:cs typeface="Times New Roman" panose="02020603050405020304" pitchFamily="18" charset="0"/>
              </a:rPr>
              <a:t>Предаване на параметри чрез стека</a:t>
            </a:r>
          </a:p>
        </p:txBody>
      </p:sp>
    </p:spTree>
    <p:extLst>
      <p:ext uri="{BB962C8B-B14F-4D97-AF65-F5344CB8AC3E}">
        <p14:creationId xmlns:p14="http://schemas.microsoft.com/office/powerpoint/2010/main" val="10239547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321A00A-3D2A-4F26-BF57-3699335FA0AD}"/>
              </a:ext>
            </a:extLst>
          </p:cNvPr>
          <p:cNvSpPr/>
          <p:nvPr/>
        </p:nvSpPr>
        <p:spPr>
          <a:xfrm>
            <a:off x="107504" y="695753"/>
            <a:ext cx="8936785" cy="6001643"/>
          </a:xfrm>
          <a:prstGeom prst="rect">
            <a:avLst/>
          </a:prstGeom>
        </p:spPr>
        <p:txBody>
          <a:bodyPr wrap="square">
            <a:spAutoFit/>
          </a:bodyPr>
          <a:lstStyle/>
          <a:p>
            <a:pPr algn="just"/>
            <a:r>
              <a:rPr lang="bg-BG" b="1" dirty="0">
                <a:latin typeface="Times New Roman" panose="02020603050405020304" pitchFamily="18" charset="0"/>
                <a:cs typeface="Times New Roman" panose="02020603050405020304" pitchFamily="18" charset="0"/>
              </a:rPr>
              <a:t>Локални данни за процедурите </a:t>
            </a:r>
            <a:endParaRPr lang="en-US" b="1" dirty="0">
              <a:latin typeface="Times New Roman" panose="02020603050405020304" pitchFamily="18" charset="0"/>
              <a:cs typeface="Times New Roman" panose="02020603050405020304" pitchFamily="18" charset="0"/>
            </a:endParaRPr>
          </a:p>
          <a:p>
            <a:pPr algn="just"/>
            <a:r>
              <a:rPr lang="ru-RU" sz="1600" dirty="0">
                <a:latin typeface="Times New Roman" panose="02020603050405020304" pitchFamily="18" charset="0"/>
                <a:cs typeface="Times New Roman" panose="02020603050405020304" pitchFamily="18" charset="0"/>
              </a:rPr>
              <a:t>Например, ако на </a:t>
            </a:r>
            <a:r>
              <a:rPr lang="ru-RU" sz="1600" dirty="0" err="1">
                <a:latin typeface="Times New Roman" panose="02020603050405020304" pitchFamily="18" charset="0"/>
                <a:cs typeface="Times New Roman" panose="02020603050405020304" pitchFamily="18" charset="0"/>
              </a:rPr>
              <a:t>процедурата</a:t>
            </a:r>
            <a:r>
              <a:rPr lang="ru-RU" sz="1600" dirty="0">
                <a:latin typeface="Times New Roman" panose="02020603050405020304" pitchFamily="18" charset="0"/>
                <a:cs typeface="Times New Roman" panose="02020603050405020304" pitchFamily="18" charset="0"/>
              </a:rPr>
              <a:t> РР са </a:t>
            </a:r>
            <a:r>
              <a:rPr lang="ru-RU" sz="1600" dirty="0" err="1">
                <a:latin typeface="Times New Roman" panose="02020603050405020304" pitchFamily="18" charset="0"/>
                <a:cs typeface="Times New Roman" panose="02020603050405020304" pitchFamily="18" charset="0"/>
              </a:rPr>
              <a:t>нужни</a:t>
            </a:r>
            <a:r>
              <a:rPr lang="ru-RU" sz="1600" dirty="0">
                <a:latin typeface="Times New Roman" panose="02020603050405020304" pitchFamily="18" charset="0"/>
                <a:cs typeface="Times New Roman" panose="02020603050405020304" pitchFamily="18" charset="0"/>
              </a:rPr>
              <a:t> 3 байта за </a:t>
            </a:r>
            <a:r>
              <a:rPr lang="ru-RU" sz="1600" dirty="0" err="1">
                <a:latin typeface="Times New Roman" panose="02020603050405020304" pitchFamily="18" charset="0"/>
                <a:cs typeface="Times New Roman" panose="02020603050405020304" pitchFamily="18" charset="0"/>
              </a:rPr>
              <a:t>локални</a:t>
            </a:r>
            <a:r>
              <a:rPr lang="ru-RU" sz="1600" dirty="0">
                <a:latin typeface="Times New Roman" panose="02020603050405020304" pitchFamily="18" charset="0"/>
                <a:cs typeface="Times New Roman" panose="02020603050405020304" pitchFamily="18" charset="0"/>
              </a:rPr>
              <a:t> данни (2 байта за </a:t>
            </a:r>
            <a:r>
              <a:rPr lang="ru-RU" sz="1600" dirty="0" err="1">
                <a:latin typeface="Times New Roman" panose="02020603050405020304" pitchFamily="18" charset="0"/>
                <a:cs typeface="Times New Roman" panose="02020603050405020304" pitchFamily="18" charset="0"/>
              </a:rPr>
              <a:t>променлива</a:t>
            </a:r>
            <a:r>
              <a:rPr lang="ru-RU" sz="1600" dirty="0">
                <a:latin typeface="Times New Roman" panose="02020603050405020304" pitchFamily="18" charset="0"/>
                <a:cs typeface="Times New Roman" panose="02020603050405020304" pitchFamily="18" charset="0"/>
              </a:rPr>
              <a:t> В2 и 1 байт за В1), то </a:t>
            </a:r>
            <a:r>
              <a:rPr lang="ru-RU" sz="1600" dirty="0" err="1">
                <a:latin typeface="Times New Roman" panose="02020603050405020304" pitchFamily="18" charset="0"/>
                <a:cs typeface="Times New Roman" panose="02020603050405020304" pitchFamily="18" charset="0"/>
              </a:rPr>
              <a:t>описаните</a:t>
            </a:r>
            <a:r>
              <a:rPr lang="ru-RU" sz="1600" dirty="0">
                <a:latin typeface="Times New Roman" panose="02020603050405020304" pitchFamily="18" charset="0"/>
                <a:cs typeface="Times New Roman" panose="02020603050405020304" pitchFamily="18" charset="0"/>
              </a:rPr>
              <a:t> действия могат да се </a:t>
            </a:r>
            <a:r>
              <a:rPr lang="ru-RU" sz="1600" dirty="0" err="1">
                <a:latin typeface="Times New Roman" panose="02020603050405020304" pitchFamily="18" charset="0"/>
                <a:cs typeface="Times New Roman" panose="02020603050405020304" pitchFamily="18" charset="0"/>
              </a:rPr>
              <a:t>реализират</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както</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следва</a:t>
            </a:r>
            <a:r>
              <a:rPr lang="ru-RU" sz="1600"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algn="just"/>
            <a:endParaRPr lang="ru-RU"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PP  PROC        </a:t>
            </a:r>
          </a:p>
          <a:p>
            <a:pPr algn="just"/>
            <a:r>
              <a:rPr lang="ru-RU"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PUSH  BP        </a:t>
            </a:r>
          </a:p>
          <a:p>
            <a:pPr algn="just"/>
            <a:r>
              <a:rPr lang="ru-RU"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MOV   BP, SP        </a:t>
            </a:r>
          </a:p>
          <a:p>
            <a:pPr algn="just"/>
            <a:r>
              <a:rPr lang="ru-RU"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SUB    SP, 3       </a:t>
            </a:r>
          </a:p>
          <a:p>
            <a:pPr algn="just"/>
            <a:r>
              <a:rPr lang="ru-RU" sz="1600" dirty="0">
                <a:latin typeface="Times New Roman" panose="02020603050405020304" pitchFamily="18" charset="0"/>
                <a:cs typeface="Times New Roman" panose="02020603050405020304" pitchFamily="18" charset="0"/>
              </a:rPr>
              <a:t>	   ····  ····  ····  ····        </a:t>
            </a:r>
          </a:p>
          <a:p>
            <a:pPr algn="just"/>
            <a:r>
              <a:rPr lang="ru-RU" sz="1600" dirty="0">
                <a:latin typeface="Times New Roman" panose="02020603050405020304" pitchFamily="18" charset="0"/>
                <a:cs typeface="Times New Roman" panose="02020603050405020304" pitchFamily="18" charset="0"/>
              </a:rPr>
              <a:t>                     ····  ····  ····  ···· </a:t>
            </a:r>
          </a:p>
          <a:p>
            <a:pPr algn="just"/>
            <a:endParaRPr lang="en-US" sz="1600" dirty="0">
              <a:latin typeface="Times New Roman" panose="02020603050405020304" pitchFamily="18" charset="0"/>
              <a:cs typeface="Times New Roman" panose="02020603050405020304" pitchFamily="18" charset="0"/>
            </a:endParaRPr>
          </a:p>
          <a:p>
            <a:pPr algn="just"/>
            <a:r>
              <a:rPr lang="ru-RU" sz="1600" dirty="0">
                <a:latin typeface="Times New Roman" panose="02020603050405020304" pitchFamily="18" charset="0"/>
                <a:cs typeface="Times New Roman" panose="02020603050405020304" pitchFamily="18" charset="0"/>
              </a:rPr>
              <a:t>След това </a:t>
            </a:r>
            <a:r>
              <a:rPr lang="ru-RU" sz="1600" dirty="0" err="1">
                <a:latin typeface="Times New Roman" panose="02020603050405020304" pitchFamily="18" charset="0"/>
                <a:cs typeface="Times New Roman" panose="02020603050405020304" pitchFamily="18" charset="0"/>
              </a:rPr>
              <a:t>достъпът</a:t>
            </a:r>
            <a:r>
              <a:rPr lang="ru-RU" sz="1600" dirty="0">
                <a:latin typeface="Times New Roman" panose="02020603050405020304" pitchFamily="18" charset="0"/>
                <a:cs typeface="Times New Roman" panose="02020603050405020304" pitchFamily="18" charset="0"/>
              </a:rPr>
              <a:t> до </a:t>
            </a:r>
            <a:r>
              <a:rPr lang="ru-RU" sz="1600" dirty="0" err="1">
                <a:latin typeface="Times New Roman" panose="02020603050405020304" pitchFamily="18" charset="0"/>
                <a:cs typeface="Times New Roman" panose="02020603050405020304" pitchFamily="18" charset="0"/>
              </a:rPr>
              <a:t>локалните</a:t>
            </a:r>
            <a:r>
              <a:rPr lang="ru-RU" sz="1600" dirty="0">
                <a:latin typeface="Times New Roman" panose="02020603050405020304" pitchFamily="18" charset="0"/>
                <a:cs typeface="Times New Roman" panose="02020603050405020304" pitchFamily="18" charset="0"/>
              </a:rPr>
              <a:t> данни се </a:t>
            </a:r>
            <a:r>
              <a:rPr lang="ru-RU" sz="1600" dirty="0" err="1">
                <a:latin typeface="Times New Roman" panose="02020603050405020304" pitchFamily="18" charset="0"/>
                <a:cs typeface="Times New Roman" panose="02020603050405020304" pitchFamily="18" charset="0"/>
              </a:rPr>
              <a:t>осъществява</a:t>
            </a:r>
            <a:r>
              <a:rPr lang="ru-RU" sz="1600" dirty="0">
                <a:latin typeface="Times New Roman" panose="02020603050405020304" pitchFamily="18" charset="0"/>
                <a:cs typeface="Times New Roman" panose="02020603050405020304" pitchFamily="18" charset="0"/>
              </a:rPr>
              <a:t> чрез </a:t>
            </a:r>
            <a:r>
              <a:rPr lang="ru-RU" sz="1600" dirty="0" err="1">
                <a:latin typeface="Times New Roman" panose="02020603050405020304" pitchFamily="18" charset="0"/>
                <a:cs typeface="Times New Roman" panose="02020603050405020304" pitchFamily="18" charset="0"/>
              </a:rPr>
              <a:t>адресни</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изрази</a:t>
            </a:r>
            <a:r>
              <a:rPr lang="ru-RU" sz="1600" dirty="0">
                <a:latin typeface="Times New Roman" panose="02020603050405020304" pitchFamily="18" charset="0"/>
                <a:cs typeface="Times New Roman" panose="02020603050405020304" pitchFamily="18" charset="0"/>
              </a:rPr>
              <a:t> от вида [BP-k]. Например, чрез [BP-2] – за </a:t>
            </a:r>
            <a:r>
              <a:rPr lang="ru-RU" sz="1600" dirty="0" err="1">
                <a:latin typeface="Times New Roman" panose="02020603050405020304" pitchFamily="18" charset="0"/>
                <a:cs typeface="Times New Roman" panose="02020603050405020304" pitchFamily="18" charset="0"/>
              </a:rPr>
              <a:t>локалната</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променлива</a:t>
            </a:r>
            <a:r>
              <a:rPr lang="ru-RU" sz="1600" dirty="0">
                <a:latin typeface="Times New Roman" panose="02020603050405020304" pitchFamily="18" charset="0"/>
                <a:cs typeface="Times New Roman" panose="02020603050405020304" pitchFamily="18" charset="0"/>
              </a:rPr>
              <a:t> В2 и чрез [BP-3] за </a:t>
            </a:r>
            <a:r>
              <a:rPr lang="ru-RU" sz="1600" dirty="0" err="1">
                <a:latin typeface="Times New Roman" panose="02020603050405020304" pitchFamily="18" charset="0"/>
                <a:cs typeface="Times New Roman" panose="02020603050405020304" pitchFamily="18" charset="0"/>
              </a:rPr>
              <a:t>локалната</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променлива</a:t>
            </a:r>
            <a:r>
              <a:rPr lang="ru-RU" sz="1600" dirty="0">
                <a:latin typeface="Times New Roman" panose="02020603050405020304" pitchFamily="18" charset="0"/>
                <a:cs typeface="Times New Roman" panose="02020603050405020304" pitchFamily="18" charset="0"/>
              </a:rPr>
              <a:t> В1. При </a:t>
            </a:r>
            <a:r>
              <a:rPr lang="ru-RU" sz="1600" dirty="0" err="1">
                <a:latin typeface="Times New Roman" panose="02020603050405020304" pitchFamily="18" charset="0"/>
                <a:cs typeface="Times New Roman" panose="02020603050405020304" pitchFamily="18" charset="0"/>
              </a:rPr>
              <a:t>завършване</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процедурата</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следва</a:t>
            </a:r>
            <a:r>
              <a:rPr lang="ru-RU" sz="1600" dirty="0">
                <a:latin typeface="Times New Roman" panose="02020603050405020304" pitchFamily="18" charset="0"/>
                <a:cs typeface="Times New Roman" panose="02020603050405020304" pitchFamily="18" charset="0"/>
              </a:rPr>
              <a:t> да </a:t>
            </a:r>
            <a:r>
              <a:rPr lang="ru-RU" sz="1600" dirty="0" err="1">
                <a:latin typeface="Times New Roman" panose="02020603050405020304" pitchFamily="18" charset="0"/>
                <a:cs typeface="Times New Roman" panose="02020603050405020304" pitchFamily="18" charset="0"/>
              </a:rPr>
              <a:t>изпълни</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командите</a:t>
            </a:r>
            <a:r>
              <a:rPr lang="ru-RU" sz="1600"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gn="just"/>
            <a:r>
              <a:rPr lang="ru-RU"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  ····  ····  ····  ····            </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MOV  SP, BP         ; SP := (BP)             </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POP  BP                 ; </a:t>
            </a:r>
            <a:r>
              <a:rPr lang="ru-RU" sz="1600" dirty="0" err="1">
                <a:latin typeface="Times New Roman" panose="02020603050405020304" pitchFamily="18" charset="0"/>
                <a:cs typeface="Times New Roman" panose="02020603050405020304" pitchFamily="18" charset="0"/>
              </a:rPr>
              <a:t>възстановяване</a:t>
            </a:r>
            <a:r>
              <a:rPr lang="ru-RU" sz="1600" dirty="0">
                <a:latin typeface="Times New Roman" panose="02020603050405020304" pitchFamily="18" charset="0"/>
                <a:cs typeface="Times New Roman" panose="02020603050405020304" pitchFamily="18" charset="0"/>
              </a:rPr>
              <a:t> на </a:t>
            </a:r>
            <a:r>
              <a:rPr lang="ru-RU" sz="1600" dirty="0" err="1">
                <a:latin typeface="Times New Roman" panose="02020603050405020304" pitchFamily="18" charset="0"/>
                <a:cs typeface="Times New Roman" panose="02020603050405020304" pitchFamily="18" charset="0"/>
              </a:rPr>
              <a:t>старото</a:t>
            </a:r>
            <a:r>
              <a:rPr lang="ru-RU" sz="1600"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RET   3                   ; </a:t>
            </a:r>
            <a:r>
              <a:rPr lang="ru-RU" sz="1600" dirty="0" err="1">
                <a:latin typeface="Times New Roman" panose="02020603050405020304" pitchFamily="18" charset="0"/>
                <a:cs typeface="Times New Roman" panose="02020603050405020304" pitchFamily="18" charset="0"/>
              </a:rPr>
              <a:t>изхвърляне</a:t>
            </a:r>
            <a:r>
              <a:rPr lang="ru-RU" sz="1600" dirty="0">
                <a:latin typeface="Times New Roman" panose="02020603050405020304" pitchFamily="18" charset="0"/>
                <a:cs typeface="Times New Roman" panose="02020603050405020304" pitchFamily="18" charset="0"/>
              </a:rPr>
              <a:t> на 3 байта     </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PP   ENDP  </a:t>
            </a:r>
            <a:endParaRPr lang="en-US" sz="1600" dirty="0">
              <a:latin typeface="Times New Roman" panose="02020603050405020304" pitchFamily="18" charset="0"/>
              <a:cs typeface="Times New Roman" panose="02020603050405020304" pitchFamily="18" charset="0"/>
            </a:endParaRPr>
          </a:p>
          <a:p>
            <a:pPr algn="just"/>
            <a:r>
              <a:rPr lang="bg-BG" sz="1600" dirty="0">
                <a:latin typeface="Times New Roman" panose="02020603050405020304" pitchFamily="18" charset="0"/>
                <a:cs typeface="Times New Roman" panose="02020603050405020304" pitchFamily="18" charset="0"/>
              </a:rPr>
              <a:t>Д</a:t>
            </a:r>
            <a:r>
              <a:rPr lang="ru-RU" sz="1600" dirty="0" err="1">
                <a:latin typeface="Times New Roman" panose="02020603050405020304" pitchFamily="18" charset="0"/>
                <a:cs typeface="Times New Roman" panose="02020603050405020304" pitchFamily="18" charset="0"/>
              </a:rPr>
              <a:t>вижението</a:t>
            </a:r>
            <a:r>
              <a:rPr lang="ru-RU" sz="1600" dirty="0">
                <a:latin typeface="Times New Roman" panose="02020603050405020304" pitchFamily="18" charset="0"/>
                <a:cs typeface="Times New Roman" panose="02020603050405020304" pitchFamily="18" charset="0"/>
              </a:rPr>
              <a:t> на указателя ВР при работа с </a:t>
            </a:r>
            <a:r>
              <a:rPr lang="ru-RU" sz="1600" dirty="0" err="1">
                <a:latin typeface="Times New Roman" panose="02020603050405020304" pitchFamily="18" charset="0"/>
                <a:cs typeface="Times New Roman" panose="02020603050405020304" pitchFamily="18" charset="0"/>
              </a:rPr>
              <a:t>локалните</a:t>
            </a:r>
            <a:r>
              <a:rPr lang="ru-RU" sz="1600" dirty="0">
                <a:latin typeface="Times New Roman" panose="02020603050405020304" pitchFamily="18" charset="0"/>
                <a:cs typeface="Times New Roman" panose="02020603050405020304" pitchFamily="18" charset="0"/>
              </a:rPr>
              <a:t> данни (</a:t>
            </a:r>
            <a:r>
              <a:rPr lang="ru-RU" sz="1600" dirty="0" err="1">
                <a:latin typeface="Times New Roman" panose="02020603050405020304" pitchFamily="18" charset="0"/>
                <a:cs typeface="Times New Roman" panose="02020603050405020304" pitchFamily="18" charset="0"/>
              </a:rPr>
              <a:t>четене</a:t>
            </a:r>
            <a:r>
              <a:rPr lang="ru-RU" sz="1600" dirty="0">
                <a:latin typeface="Times New Roman" panose="02020603050405020304" pitchFamily="18" charset="0"/>
                <a:cs typeface="Times New Roman" panose="02020603050405020304" pitchFamily="18" charset="0"/>
              </a:rPr>
              <a:t> и </a:t>
            </a:r>
            <a:r>
              <a:rPr lang="ru-RU" sz="1600" dirty="0" err="1">
                <a:latin typeface="Times New Roman" panose="02020603050405020304" pitchFamily="18" charset="0"/>
                <a:cs typeface="Times New Roman" panose="02020603050405020304" pitchFamily="18" charset="0"/>
              </a:rPr>
              <a:t>запис</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зависи</a:t>
            </a:r>
            <a:r>
              <a:rPr lang="ru-RU" sz="1600" dirty="0">
                <a:latin typeface="Times New Roman" panose="02020603050405020304" pitchFamily="18" charset="0"/>
                <a:cs typeface="Times New Roman" panose="02020603050405020304" pitchFamily="18" charset="0"/>
              </a:rPr>
              <a:t> от </a:t>
            </a:r>
            <a:r>
              <a:rPr lang="ru-RU" sz="1600" dirty="0" err="1">
                <a:latin typeface="Times New Roman" panose="02020603050405020304" pitchFamily="18" charset="0"/>
                <a:cs typeface="Times New Roman" panose="02020603050405020304" pitchFamily="18" charset="0"/>
              </a:rPr>
              <a:t>алгоритъма</a:t>
            </a:r>
            <a:r>
              <a:rPr lang="ru-RU" sz="1600" dirty="0">
                <a:latin typeface="Times New Roman" panose="02020603050405020304" pitchFamily="18" charset="0"/>
                <a:cs typeface="Times New Roman" panose="02020603050405020304" pitchFamily="18" charset="0"/>
              </a:rPr>
              <a:t> на </a:t>
            </a:r>
            <a:r>
              <a:rPr lang="ru-RU" sz="1600" dirty="0" err="1">
                <a:latin typeface="Times New Roman" panose="02020603050405020304" pitchFamily="18" charset="0"/>
                <a:cs typeface="Times New Roman" panose="02020603050405020304" pitchFamily="18" charset="0"/>
              </a:rPr>
              <a:t>процедурата</a:t>
            </a:r>
            <a:r>
              <a:rPr lang="ru-RU" sz="1600" dirty="0">
                <a:latin typeface="Times New Roman" panose="02020603050405020304" pitchFamily="18" charset="0"/>
                <a:cs typeface="Times New Roman" panose="02020603050405020304" pitchFamily="18" charset="0"/>
              </a:rPr>
              <a:t>, което не </a:t>
            </a:r>
            <a:r>
              <a:rPr lang="ru-RU" sz="1600" dirty="0" err="1">
                <a:latin typeface="Times New Roman" panose="02020603050405020304" pitchFamily="18" charset="0"/>
                <a:cs typeface="Times New Roman" panose="02020603050405020304" pitchFamily="18" charset="0"/>
              </a:rPr>
              <a:t>гарантира</a:t>
            </a:r>
            <a:r>
              <a:rPr lang="ru-RU" sz="1600" dirty="0">
                <a:latin typeface="Times New Roman" panose="02020603050405020304" pitchFamily="18" charset="0"/>
                <a:cs typeface="Times New Roman" panose="02020603050405020304" pitchFamily="18" charset="0"/>
              </a:rPr>
              <a:t>, че </a:t>
            </a:r>
            <a:r>
              <a:rPr lang="ru-RU" sz="1600" dirty="0" err="1">
                <a:latin typeface="Times New Roman" panose="02020603050405020304" pitchFamily="18" charset="0"/>
                <a:cs typeface="Times New Roman" panose="02020603050405020304" pitchFamily="18" charset="0"/>
              </a:rPr>
              <a:t>текущото</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му</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съдържание</a:t>
            </a:r>
            <a:r>
              <a:rPr lang="ru-RU" sz="1600" dirty="0">
                <a:latin typeface="Times New Roman" panose="02020603050405020304" pitchFamily="18" charset="0"/>
                <a:cs typeface="Times New Roman" panose="02020603050405020304" pitchFamily="18" charset="0"/>
              </a:rPr>
              <a:t> (в </a:t>
            </a:r>
            <a:r>
              <a:rPr lang="ru-RU" sz="1600" dirty="0" err="1">
                <a:latin typeface="Times New Roman" panose="02020603050405020304" pitchFamily="18" charset="0"/>
                <a:cs typeface="Times New Roman" panose="02020603050405020304" pitchFamily="18" charset="0"/>
              </a:rPr>
              <a:t>началото</a:t>
            </a:r>
            <a:r>
              <a:rPr lang="ru-RU" sz="1600" dirty="0">
                <a:latin typeface="Times New Roman" panose="02020603050405020304" pitchFamily="18" charset="0"/>
                <a:cs typeface="Times New Roman" panose="02020603050405020304" pitchFamily="18" charset="0"/>
              </a:rPr>
              <a:t> на горе </a:t>
            </a:r>
            <a:r>
              <a:rPr lang="ru-RU" sz="1600" dirty="0" err="1">
                <a:latin typeface="Times New Roman" panose="02020603050405020304" pitchFamily="18" charset="0"/>
                <a:cs typeface="Times New Roman" panose="02020603050405020304" pitchFamily="18" charset="0"/>
              </a:rPr>
              <a:t>представените</a:t>
            </a:r>
            <a:r>
              <a:rPr lang="ru-RU" sz="1600" dirty="0">
                <a:latin typeface="Times New Roman" panose="02020603050405020304" pitchFamily="18" charset="0"/>
                <a:cs typeface="Times New Roman" panose="02020603050405020304" pitchFamily="18" charset="0"/>
              </a:rPr>
              <a:t> действия - команда MOV) </a:t>
            </a:r>
            <a:r>
              <a:rPr lang="ru-RU" sz="1600" dirty="0" err="1">
                <a:latin typeface="Times New Roman" panose="02020603050405020304" pitchFamily="18" charset="0"/>
                <a:cs typeface="Times New Roman" panose="02020603050405020304" pitchFamily="18" charset="0"/>
              </a:rPr>
              <a:t>ще</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бъде</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правилно</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Ето</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защо</a:t>
            </a:r>
            <a:r>
              <a:rPr lang="ru-RU" sz="1600" dirty="0">
                <a:latin typeface="Times New Roman" panose="02020603050405020304" pitchFamily="18" charset="0"/>
                <a:cs typeface="Times New Roman" panose="02020603050405020304" pitchFamily="18" charset="0"/>
              </a:rPr>
              <a:t>, ако е така, </a:t>
            </a:r>
            <a:r>
              <a:rPr lang="ru-RU" sz="1600" dirty="0" err="1">
                <a:latin typeface="Times New Roman" panose="02020603050405020304" pitchFamily="18" charset="0"/>
                <a:cs typeface="Times New Roman" panose="02020603050405020304" pitchFamily="18" charset="0"/>
              </a:rPr>
              <a:t>програмистът</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следва</a:t>
            </a:r>
            <a:r>
              <a:rPr lang="ru-RU" sz="1600" dirty="0">
                <a:latin typeface="Times New Roman" panose="02020603050405020304" pitchFamily="18" charset="0"/>
                <a:cs typeface="Times New Roman" panose="02020603050405020304" pitchFamily="18" charset="0"/>
              </a:rPr>
              <a:t> да </a:t>
            </a:r>
            <a:r>
              <a:rPr lang="ru-RU" sz="1600" dirty="0" err="1">
                <a:latin typeface="Times New Roman" panose="02020603050405020304" pitchFamily="18" charset="0"/>
                <a:cs typeface="Times New Roman" panose="02020603050405020304" pitchFamily="18" charset="0"/>
              </a:rPr>
              <a:t>осигури</a:t>
            </a:r>
            <a:r>
              <a:rPr lang="ru-RU" sz="1600" dirty="0">
                <a:latin typeface="Times New Roman" panose="02020603050405020304" pitchFamily="18" charset="0"/>
                <a:cs typeface="Times New Roman" panose="02020603050405020304" pitchFamily="18" charset="0"/>
              </a:rPr>
              <a:t> по принудителен начин </a:t>
            </a:r>
            <a:r>
              <a:rPr lang="ru-RU" sz="1600" dirty="0" err="1">
                <a:latin typeface="Times New Roman" panose="02020603050405020304" pitchFamily="18" charset="0"/>
                <a:cs typeface="Times New Roman" panose="02020603050405020304" pitchFamily="18" charset="0"/>
              </a:rPr>
              <a:t>правилното</a:t>
            </a:r>
            <a:r>
              <a:rPr lang="ru-RU" sz="1600" dirty="0">
                <a:latin typeface="Times New Roman" panose="02020603050405020304" pitchFamily="18" charset="0"/>
                <a:cs typeface="Times New Roman" panose="02020603050405020304" pitchFamily="18" charset="0"/>
              </a:rPr>
              <a:t> </a:t>
            </a:r>
            <a:r>
              <a:rPr lang="ru-RU" sz="1600" dirty="0" err="1">
                <a:latin typeface="Times New Roman" panose="02020603050405020304" pitchFamily="18" charset="0"/>
                <a:cs typeface="Times New Roman" panose="02020603050405020304" pitchFamily="18" charset="0"/>
              </a:rPr>
              <a:t>съдържание</a:t>
            </a:r>
            <a:r>
              <a:rPr lang="ru-RU" sz="1600" dirty="0">
                <a:latin typeface="Times New Roman" panose="02020603050405020304" pitchFamily="18" charset="0"/>
                <a:cs typeface="Times New Roman" panose="02020603050405020304" pitchFamily="18" charset="0"/>
              </a:rPr>
              <a:t> от вида [BP-k].   </a:t>
            </a:r>
            <a:endParaRPr lang="bg-BG" sz="16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04285B2-6487-4AB6-8C61-7D5BD880354B}"/>
              </a:ext>
            </a:extLst>
          </p:cNvPr>
          <p:cNvSpPr/>
          <p:nvPr/>
        </p:nvSpPr>
        <p:spPr>
          <a:xfrm>
            <a:off x="403329" y="188640"/>
            <a:ext cx="6000938" cy="480131"/>
          </a:xfrm>
          <a:prstGeom prst="rect">
            <a:avLst/>
          </a:prstGeom>
        </p:spPr>
        <p:txBody>
          <a:bodyPr wrap="none">
            <a:spAutoFit/>
          </a:bodyPr>
          <a:lstStyle/>
          <a:p>
            <a:pPr>
              <a:lnSpc>
                <a:spcPct val="90000"/>
              </a:lnSpc>
              <a:spcBef>
                <a:spcPct val="0"/>
              </a:spcBef>
            </a:pPr>
            <a:r>
              <a:rPr lang="bg-BG" sz="2800" b="1" dirty="0">
                <a:solidFill>
                  <a:schemeClr val="tx2"/>
                </a:solidFill>
                <a:latin typeface="Times New Roman" panose="02020603050405020304" pitchFamily="18" charset="0"/>
                <a:ea typeface="+mj-ea"/>
                <a:cs typeface="Times New Roman" panose="02020603050405020304" pitchFamily="18" charset="0"/>
              </a:rPr>
              <a:t>Предаване на параметри чрез стека</a:t>
            </a:r>
          </a:p>
        </p:txBody>
      </p:sp>
      <p:pic>
        <p:nvPicPr>
          <p:cNvPr id="4" name="Картина 3"/>
          <p:cNvPicPr>
            <a:picLocks noChangeAspect="1"/>
          </p:cNvPicPr>
          <p:nvPr/>
        </p:nvPicPr>
        <p:blipFill>
          <a:blip r:embed="rId3"/>
          <a:stretch>
            <a:fillRect/>
          </a:stretch>
        </p:blipFill>
        <p:spPr>
          <a:xfrm>
            <a:off x="4139952" y="1700808"/>
            <a:ext cx="3827909" cy="1799209"/>
          </a:xfrm>
          <a:prstGeom prst="rect">
            <a:avLst/>
          </a:prstGeom>
        </p:spPr>
      </p:pic>
    </p:spTree>
    <p:extLst>
      <p:ext uri="{BB962C8B-B14F-4D97-AF65-F5344CB8AC3E}">
        <p14:creationId xmlns:p14="http://schemas.microsoft.com/office/powerpoint/2010/main" val="41530095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137EDBF-6B75-4064-8809-9366A642F8DE}"/>
              </a:ext>
            </a:extLst>
          </p:cNvPr>
          <p:cNvSpPr txBox="1"/>
          <p:nvPr/>
        </p:nvSpPr>
        <p:spPr>
          <a:xfrm>
            <a:off x="596976" y="371684"/>
            <a:ext cx="4464496" cy="480131"/>
          </a:xfrm>
          <a:prstGeom prst="rect">
            <a:avLst/>
          </a:prstGeom>
          <a:noFill/>
        </p:spPr>
        <p:txBody>
          <a:bodyPr wrap="square" rtlCol="0">
            <a:spAutoFit/>
          </a:bodyPr>
          <a:lstStyle/>
          <a:p>
            <a:pPr>
              <a:lnSpc>
                <a:spcPct val="90000"/>
              </a:lnSpc>
              <a:spcBef>
                <a:spcPct val="0"/>
              </a:spcBef>
            </a:pPr>
            <a:r>
              <a:rPr lang="bg-BG" sz="2800" b="1" dirty="0">
                <a:solidFill>
                  <a:schemeClr val="tx2"/>
                </a:solidFill>
                <a:latin typeface="Times New Roman" panose="02020603050405020304" pitchFamily="18" charset="0"/>
                <a:ea typeface="+mj-ea"/>
                <a:cs typeface="Times New Roman" panose="02020603050405020304" pitchFamily="18" charset="0"/>
              </a:rPr>
              <a:t>ПОДПРОГРАМИ</a:t>
            </a:r>
            <a:r>
              <a:rPr lang="en-US" sz="2800" b="1" dirty="0">
                <a:solidFill>
                  <a:schemeClr val="tx2"/>
                </a:solidFill>
                <a:latin typeface="Times New Roman" panose="02020603050405020304" pitchFamily="18" charset="0"/>
                <a:ea typeface="+mj-ea"/>
                <a:cs typeface="Times New Roman" panose="02020603050405020304" pitchFamily="18" charset="0"/>
              </a:rPr>
              <a:t>-ARM</a:t>
            </a:r>
          </a:p>
        </p:txBody>
      </p:sp>
      <p:sp>
        <p:nvSpPr>
          <p:cNvPr id="10" name="Rectangle 9">
            <a:extLst>
              <a:ext uri="{FF2B5EF4-FFF2-40B4-BE49-F238E27FC236}">
                <a16:creationId xmlns:a16="http://schemas.microsoft.com/office/drawing/2014/main" id="{E7ECC4FF-7C7A-4998-81C7-1FA9E2004C89}"/>
              </a:ext>
            </a:extLst>
          </p:cNvPr>
          <p:cNvSpPr/>
          <p:nvPr/>
        </p:nvSpPr>
        <p:spPr>
          <a:xfrm>
            <a:off x="395536" y="879485"/>
            <a:ext cx="8100900" cy="3477875"/>
          </a:xfrm>
          <a:prstGeom prst="rect">
            <a:avLst/>
          </a:prstGeom>
        </p:spPr>
        <p:txBody>
          <a:bodyPr wrap="square">
            <a:spAutoFit/>
          </a:bodyPr>
          <a:lstStyle/>
          <a:p>
            <a:pPr indent="457200" algn="just"/>
            <a:r>
              <a:rPr lang="bg-BG" sz="2000" dirty="0">
                <a:latin typeface="Times New Roman" panose="02020603050405020304" pitchFamily="18" charset="0"/>
                <a:cs typeface="Times New Roman" panose="02020603050405020304" pitchFamily="18" charset="0"/>
              </a:rPr>
              <a:t>Повечето големи програми се състоят от подпрограми, където</a:t>
            </a:r>
            <a:r>
              <a:rPr lang="en-US" sz="2000" dirty="0">
                <a:latin typeface="Times New Roman" panose="02020603050405020304" pitchFamily="18" charset="0"/>
                <a:cs typeface="Times New Roman" panose="02020603050405020304" pitchFamily="18" charset="0"/>
              </a:rPr>
              <a:t> </a:t>
            </a:r>
            <a:r>
              <a:rPr lang="bg-BG" sz="2000" dirty="0">
                <a:latin typeface="Times New Roman" panose="02020603050405020304" pitchFamily="18" charset="0"/>
                <a:cs typeface="Times New Roman" panose="02020603050405020304" pitchFamily="18" charset="0"/>
              </a:rPr>
              <a:t>функциите</a:t>
            </a:r>
            <a:r>
              <a:rPr lang="ru-RU" sz="2000" dirty="0">
                <a:latin typeface="Times New Roman" panose="02020603050405020304" pitchFamily="18" charset="0"/>
                <a:cs typeface="Times New Roman" panose="02020603050405020304" pitchFamily="18" charset="0"/>
              </a:rPr>
              <a:t> </a:t>
            </a:r>
            <a:r>
              <a:rPr lang="bg-BG" sz="2000" dirty="0">
                <a:latin typeface="Times New Roman" panose="02020603050405020304" pitchFamily="18" charset="0"/>
                <a:cs typeface="Times New Roman" panose="02020603050405020304" pitchFamily="18" charset="0"/>
              </a:rPr>
              <a:t>могат</a:t>
            </a:r>
            <a:r>
              <a:rPr lang="ru-RU" sz="2000" dirty="0">
                <a:latin typeface="Times New Roman" panose="02020603050405020304" pitchFamily="18" charset="0"/>
                <a:cs typeface="Times New Roman" panose="02020603050405020304" pitchFamily="18" charset="0"/>
              </a:rPr>
              <a:t> да </a:t>
            </a:r>
            <a:r>
              <a:rPr lang="bg-BG" sz="2000" dirty="0">
                <a:latin typeface="Times New Roman" panose="02020603050405020304" pitchFamily="18" charset="0"/>
                <a:cs typeface="Times New Roman" panose="02020603050405020304" pitchFamily="18" charset="0"/>
              </a:rPr>
              <a:t>бъдат извиквани </a:t>
            </a:r>
            <a:r>
              <a:rPr lang="ru-RU" sz="2000" dirty="0">
                <a:latin typeface="Times New Roman" panose="02020603050405020304" pitchFamily="18" charset="0"/>
                <a:cs typeface="Times New Roman" panose="02020603050405020304" pitchFamily="18" charset="0"/>
              </a:rPr>
              <a:t>по желание</a:t>
            </a:r>
            <a:r>
              <a:rPr lang="en-US" sz="2000" dirty="0">
                <a:latin typeface="Times New Roman" panose="02020603050405020304" pitchFamily="18" charset="0"/>
                <a:cs typeface="Times New Roman" panose="02020603050405020304" pitchFamily="18" charset="0"/>
              </a:rPr>
              <a:t>. </a:t>
            </a:r>
            <a:r>
              <a:rPr lang="bg-BG" sz="2000" dirty="0">
                <a:latin typeface="Times New Roman" panose="02020603050405020304" pitchFamily="18" charset="0"/>
                <a:cs typeface="Times New Roman" panose="02020603050405020304" pitchFamily="18" charset="0"/>
              </a:rPr>
              <a:t>Подпрограмите позволяват на програмистите да пишат и тестват първо малки блокове код,</a:t>
            </a:r>
            <a:r>
              <a:rPr lang="en-US" sz="2000" dirty="0">
                <a:latin typeface="Times New Roman" panose="02020603050405020304" pitchFamily="18" charset="0"/>
                <a:cs typeface="Times New Roman" panose="02020603050405020304" pitchFamily="18" charset="0"/>
              </a:rPr>
              <a:t> </a:t>
            </a:r>
            <a:r>
              <a:rPr lang="bg-BG" sz="2000" dirty="0">
                <a:latin typeface="Times New Roman" panose="02020603050405020304" pitchFamily="18" charset="0"/>
                <a:cs typeface="Times New Roman" panose="02020603050405020304" pitchFamily="18" charset="0"/>
              </a:rPr>
              <a:t>надграждайки знанието</a:t>
            </a:r>
            <a:r>
              <a:rPr lang="en-US" sz="2000" dirty="0">
                <a:latin typeface="Times New Roman" panose="02020603050405020304" pitchFamily="18" charset="0"/>
                <a:cs typeface="Times New Roman" panose="02020603050405020304" pitchFamily="18" charset="0"/>
              </a:rPr>
              <a:t>, </a:t>
            </a:r>
            <a:r>
              <a:rPr lang="bg-BG" sz="2000" dirty="0">
                <a:latin typeface="Times New Roman" panose="02020603050405020304" pitchFamily="18" charset="0"/>
                <a:cs typeface="Times New Roman" panose="02020603050405020304" pitchFamily="18" charset="0"/>
              </a:rPr>
              <a:t>че работят. </a:t>
            </a:r>
            <a:r>
              <a:rPr lang="ru-RU" sz="2000" dirty="0">
                <a:latin typeface="Times New Roman" panose="02020603050405020304" pitchFamily="18" charset="0"/>
                <a:cs typeface="Times New Roman" panose="02020603050405020304" pitchFamily="18" charset="0"/>
              </a:rPr>
              <a:t>Набор от инструкции, които се използват многократно в дадена </a:t>
            </a:r>
            <a:r>
              <a:rPr lang="bg-BG" sz="2000" dirty="0">
                <a:latin typeface="Times New Roman" panose="02020603050405020304" pitchFamily="18" charset="0"/>
                <a:cs typeface="Times New Roman" panose="02020603050405020304" pitchFamily="18" charset="0"/>
              </a:rPr>
              <a:t>програма, </a:t>
            </a:r>
            <a:r>
              <a:rPr lang="bg-BG" sz="2000" dirty="0" err="1">
                <a:latin typeface="Times New Roman" panose="02020603050405020304" pitchFamily="18" charset="0"/>
                <a:cs typeface="Times New Roman" panose="02020603050405020304" pitchFamily="18" charset="0"/>
              </a:rPr>
              <a:t>мо</a:t>
            </a:r>
            <a:r>
              <a:rPr lang="ru-RU" sz="2000" dirty="0" err="1">
                <a:latin typeface="Times New Roman" panose="02020603050405020304" pitchFamily="18" charset="0"/>
                <a:cs typeface="Times New Roman" panose="02020603050405020304" pitchFamily="18" charset="0"/>
              </a:rPr>
              <a:t>гат</a:t>
            </a:r>
            <a:r>
              <a:rPr lang="ru-RU" sz="2000" dirty="0">
                <a:latin typeface="Times New Roman" panose="02020603050405020304" pitchFamily="18" charset="0"/>
                <a:cs typeface="Times New Roman" panose="02020603050405020304" pitchFamily="18" charset="0"/>
              </a:rPr>
              <a:t> да </a:t>
            </a:r>
            <a:r>
              <a:rPr lang="bg-BG" sz="2000" dirty="0">
                <a:latin typeface="Times New Roman" panose="02020603050405020304" pitchFamily="18" charset="0"/>
                <a:cs typeface="Times New Roman" panose="02020603050405020304" pitchFamily="18" charset="0"/>
              </a:rPr>
              <a:t>бъдат посочени </a:t>
            </a:r>
            <a:r>
              <a:rPr lang="bg-BG" sz="2000" dirty="0" err="1">
                <a:latin typeface="Times New Roman" panose="02020603050405020304" pitchFamily="18" charset="0"/>
                <a:cs typeface="Times New Roman" panose="02020603050405020304" pitchFamily="18" charset="0"/>
              </a:rPr>
              <a:t>ка</a:t>
            </a:r>
            <a:r>
              <a:rPr lang="ru-RU" sz="2000" dirty="0">
                <a:latin typeface="Times New Roman" panose="02020603050405020304" pitchFamily="18" charset="0"/>
                <a:cs typeface="Times New Roman" panose="02020603050405020304" pitchFamily="18" charset="0"/>
              </a:rPr>
              <a:t>то под</a:t>
            </a:r>
            <a:r>
              <a:rPr lang="bg-BG" sz="2000" dirty="0">
                <a:latin typeface="Times New Roman" panose="02020603050405020304" pitchFamily="18" charset="0"/>
                <a:cs typeface="Times New Roman" panose="02020603050405020304" pitchFamily="18" charset="0"/>
              </a:rPr>
              <a:t>програма</a:t>
            </a:r>
            <a:r>
              <a:rPr lang="ru-RU" sz="2000" dirty="0">
                <a:latin typeface="Times New Roman" panose="02020603050405020304" pitchFamily="18" charset="0"/>
                <a:cs typeface="Times New Roman" panose="02020603050405020304" pitchFamily="18" charset="0"/>
              </a:rPr>
              <a:t>. В </a:t>
            </a:r>
            <a:r>
              <a:rPr lang="bg-BG" sz="2000" dirty="0">
                <a:latin typeface="Times New Roman" panose="02020603050405020304" pitchFamily="18" charset="0"/>
                <a:cs typeface="Times New Roman" panose="02020603050405020304" pitchFamily="18" charset="0"/>
              </a:rPr>
              <a:t>Подпрограмите трябва да следват определени</a:t>
            </a:r>
            <a:r>
              <a:rPr lang="en-US" sz="2000" dirty="0">
                <a:latin typeface="Times New Roman" panose="02020603050405020304" pitchFamily="18" charset="0"/>
                <a:cs typeface="Times New Roman" panose="02020603050405020304" pitchFamily="18" charset="0"/>
              </a:rPr>
              <a:t> </a:t>
            </a:r>
            <a:r>
              <a:rPr lang="bg-BG" sz="2000" dirty="0">
                <a:latin typeface="Times New Roman" panose="02020603050405020304" pitchFamily="18" charset="0"/>
                <a:cs typeface="Times New Roman" panose="02020603050405020304" pitchFamily="18" charset="0"/>
              </a:rPr>
              <a:t>насоки и софтуерът трябва да може да ги прекъсва, без да причинява грешки. Подпрограмите, са процедури,  като е необходимо да се разгледат начините за запазване и възстановяване на данни, предаване на информация към и от подпрограми и изграждане на стекове. </a:t>
            </a:r>
          </a:p>
          <a:p>
            <a:endParaRPr lang="bg-BG" sz="20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C2193F42-AC8E-42AB-800F-F40557AA2CD9}"/>
              </a:ext>
            </a:extLst>
          </p:cNvPr>
          <p:cNvPicPr>
            <a:picLocks noChangeAspect="1"/>
          </p:cNvPicPr>
          <p:nvPr/>
        </p:nvPicPr>
        <p:blipFill>
          <a:blip r:embed="rId2"/>
          <a:stretch>
            <a:fillRect/>
          </a:stretch>
        </p:blipFill>
        <p:spPr>
          <a:xfrm>
            <a:off x="2438890" y="4437112"/>
            <a:ext cx="4266220" cy="1659086"/>
          </a:xfrm>
          <a:prstGeom prst="rect">
            <a:avLst/>
          </a:prstGeom>
        </p:spPr>
      </p:pic>
    </p:spTree>
    <p:extLst>
      <p:ext uri="{BB962C8B-B14F-4D97-AF65-F5344CB8AC3E}">
        <p14:creationId xmlns:p14="http://schemas.microsoft.com/office/powerpoint/2010/main" val="44751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137EDBF-6B75-4064-8809-9366A642F8DE}"/>
              </a:ext>
            </a:extLst>
          </p:cNvPr>
          <p:cNvSpPr txBox="1"/>
          <p:nvPr/>
        </p:nvSpPr>
        <p:spPr>
          <a:xfrm>
            <a:off x="539552" y="188640"/>
            <a:ext cx="7704856" cy="584775"/>
          </a:xfrm>
          <a:prstGeom prst="rect">
            <a:avLst/>
          </a:prstGeom>
          <a:noFill/>
        </p:spPr>
        <p:txBody>
          <a:bodyPr wrap="square" rtlCol="0">
            <a:spAutoFit/>
          </a:bodyPr>
          <a:lstStyle/>
          <a:p>
            <a:r>
              <a:rPr lang="bg-BG" sz="3200" b="1" dirty="0">
                <a:solidFill>
                  <a:schemeClr val="tx2"/>
                </a:solidFill>
                <a:latin typeface="Times New Roman" panose="02020603050405020304" pitchFamily="18" charset="0"/>
                <a:ea typeface="+mj-ea"/>
                <a:cs typeface="Times New Roman" panose="02020603050405020304" pitchFamily="18" charset="0"/>
              </a:rPr>
              <a:t>ПОДПРОГРАМИ</a:t>
            </a:r>
            <a:r>
              <a:rPr lang="en-US" sz="3200" b="1" dirty="0">
                <a:solidFill>
                  <a:schemeClr val="tx2"/>
                </a:solidFill>
                <a:latin typeface="Times New Roman" panose="02020603050405020304" pitchFamily="18" charset="0"/>
                <a:ea typeface="+mj-ea"/>
                <a:cs typeface="Times New Roman" panose="02020603050405020304" pitchFamily="18" charset="0"/>
              </a:rPr>
              <a:t>-ARM</a:t>
            </a:r>
          </a:p>
        </p:txBody>
      </p:sp>
      <p:sp>
        <p:nvSpPr>
          <p:cNvPr id="10" name="Rectangle 9">
            <a:extLst>
              <a:ext uri="{FF2B5EF4-FFF2-40B4-BE49-F238E27FC236}">
                <a16:creationId xmlns:a16="http://schemas.microsoft.com/office/drawing/2014/main" id="{E7ECC4FF-7C7A-4998-81C7-1FA9E2004C89}"/>
              </a:ext>
            </a:extLst>
          </p:cNvPr>
          <p:cNvSpPr/>
          <p:nvPr/>
        </p:nvSpPr>
        <p:spPr>
          <a:xfrm>
            <a:off x="395536" y="879485"/>
            <a:ext cx="7992888" cy="5509200"/>
          </a:xfrm>
          <a:prstGeom prst="rect">
            <a:avLst/>
          </a:prstGeom>
        </p:spPr>
        <p:txBody>
          <a:bodyPr wrap="square">
            <a:spAutoFit/>
          </a:bodyPr>
          <a:lstStyle/>
          <a:p>
            <a:pPr indent="457200" algn="just"/>
            <a:r>
              <a:rPr lang="ru-RU" sz="2200" b="1" dirty="0" err="1">
                <a:latin typeface="Times New Roman" panose="02020603050405020304" pitchFamily="18" charset="0"/>
                <a:cs typeface="Times New Roman" panose="02020603050405020304" pitchFamily="18" charset="0"/>
              </a:rPr>
              <a:t>Извикване</a:t>
            </a:r>
            <a:r>
              <a:rPr lang="ru-RU" sz="2200" b="1" dirty="0">
                <a:latin typeface="Times New Roman" panose="02020603050405020304" pitchFamily="18" charset="0"/>
                <a:cs typeface="Times New Roman" panose="02020603050405020304" pitchFamily="18" charset="0"/>
              </a:rPr>
              <a:t> на </a:t>
            </a:r>
            <a:r>
              <a:rPr lang="ru-RU" sz="2200" b="1" dirty="0" err="1">
                <a:latin typeface="Times New Roman" panose="02020603050405020304" pitchFamily="18" charset="0"/>
                <a:cs typeface="Times New Roman" panose="02020603050405020304" pitchFamily="18" charset="0"/>
              </a:rPr>
              <a:t>подпрограма</a:t>
            </a:r>
            <a:r>
              <a:rPr lang="ru-RU" sz="2200" b="1" dirty="0">
                <a:latin typeface="Times New Roman" panose="02020603050405020304" pitchFamily="18" charset="0"/>
                <a:cs typeface="Times New Roman" panose="02020603050405020304" pitchFamily="18" charset="0"/>
              </a:rPr>
              <a:t> </a:t>
            </a:r>
          </a:p>
          <a:p>
            <a:pPr indent="457200" algn="just"/>
            <a:r>
              <a:rPr lang="ru-RU" sz="2200" dirty="0" err="1">
                <a:latin typeface="Times New Roman" panose="02020603050405020304" pitchFamily="18" charset="0"/>
                <a:cs typeface="Times New Roman" panose="02020603050405020304" pitchFamily="18" charset="0"/>
              </a:rPr>
              <a:t>Обръщане</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към</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подпрограма</a:t>
            </a:r>
            <a:r>
              <a:rPr lang="ru-RU" sz="2200" dirty="0">
                <a:latin typeface="Times New Roman" panose="02020603050405020304" pitchFamily="18" charset="0"/>
                <a:cs typeface="Times New Roman" panose="02020603050405020304" pitchFamily="18" charset="0"/>
              </a:rPr>
              <a:t> се </a:t>
            </a:r>
            <a:r>
              <a:rPr lang="ru-RU" sz="2200" dirty="0" err="1">
                <a:latin typeface="Times New Roman" panose="02020603050405020304" pitchFamily="18" charset="0"/>
                <a:cs typeface="Times New Roman" panose="02020603050405020304" pitchFamily="18" charset="0"/>
              </a:rPr>
              <a:t>реализира</a:t>
            </a:r>
            <a:r>
              <a:rPr lang="ru-RU" sz="2200" dirty="0">
                <a:latin typeface="Times New Roman" panose="02020603050405020304" pitchFamily="18" charset="0"/>
                <a:cs typeface="Times New Roman" panose="02020603050405020304" pitchFamily="18" charset="0"/>
              </a:rPr>
              <a:t> с команда за </a:t>
            </a:r>
            <a:r>
              <a:rPr lang="ru-RU" sz="2200" dirty="0" err="1">
                <a:latin typeface="Times New Roman" panose="02020603050405020304" pitchFamily="18" charset="0"/>
                <a:cs typeface="Times New Roman" panose="02020603050405020304" pitchFamily="18" charset="0"/>
              </a:rPr>
              <a:t>разклонение</a:t>
            </a:r>
            <a:r>
              <a:rPr lang="ru-RU" sz="2200" dirty="0">
                <a:latin typeface="Times New Roman" panose="02020603050405020304" pitchFamily="18" charset="0"/>
                <a:cs typeface="Times New Roman" panose="02020603050405020304" pitchFamily="18" charset="0"/>
              </a:rPr>
              <a:t> с </a:t>
            </a:r>
            <a:r>
              <a:rPr lang="ru-RU" sz="2200" dirty="0" err="1">
                <a:latin typeface="Times New Roman" panose="02020603050405020304" pitchFamily="18" charset="0"/>
                <a:cs typeface="Times New Roman" panose="02020603050405020304" pitchFamily="18" charset="0"/>
              </a:rPr>
              <a:t>връщане</a:t>
            </a:r>
            <a:r>
              <a:rPr lang="ru-RU" sz="2200" dirty="0">
                <a:latin typeface="Times New Roman" panose="02020603050405020304" pitchFamily="18" charset="0"/>
                <a:cs typeface="Times New Roman" panose="02020603050405020304" pitchFamily="18" charset="0"/>
              </a:rPr>
              <a:t>, което се </a:t>
            </a:r>
            <a:r>
              <a:rPr lang="ru-RU" sz="2200" dirty="0" err="1">
                <a:latin typeface="Times New Roman" panose="02020603050405020304" pitchFamily="18" charset="0"/>
                <a:cs typeface="Times New Roman" panose="02020603050405020304" pitchFamily="18" charset="0"/>
              </a:rPr>
              <a:t>указва</a:t>
            </a:r>
            <a:r>
              <a:rPr lang="ru-RU" sz="2200" dirty="0">
                <a:latin typeface="Times New Roman" panose="02020603050405020304" pitchFamily="18" charset="0"/>
                <a:cs typeface="Times New Roman" panose="02020603050405020304" pitchFamily="18" charset="0"/>
              </a:rPr>
              <a:t> с символа „L“ (</a:t>
            </a:r>
            <a:r>
              <a:rPr lang="ru-RU" sz="2200" dirty="0" err="1">
                <a:latin typeface="Times New Roman" panose="02020603050405020304" pitchFamily="18" charset="0"/>
                <a:cs typeface="Times New Roman" panose="02020603050405020304" pitchFamily="18" charset="0"/>
              </a:rPr>
              <a:t>link</a:t>
            </a:r>
            <a:r>
              <a:rPr lang="ru-RU" sz="2200" dirty="0">
                <a:latin typeface="Times New Roman" panose="02020603050405020304" pitchFamily="18" charset="0"/>
                <a:cs typeface="Times New Roman" panose="02020603050405020304" pitchFamily="18" charset="0"/>
              </a:rPr>
              <a:t>) в </a:t>
            </a:r>
            <a:r>
              <a:rPr lang="ru-RU" sz="2200" dirty="0" err="1">
                <a:latin typeface="Times New Roman" panose="02020603050405020304" pitchFamily="18" charset="0"/>
                <a:cs typeface="Times New Roman" panose="02020603050405020304" pitchFamily="18" charset="0"/>
              </a:rPr>
              <a:t>командата</a:t>
            </a:r>
            <a:r>
              <a:rPr lang="ru-RU" sz="2200" dirty="0">
                <a:latin typeface="Times New Roman" panose="02020603050405020304" pitchFamily="18" charset="0"/>
                <a:cs typeface="Times New Roman" panose="02020603050405020304" pitchFamily="18" charset="0"/>
              </a:rPr>
              <a:t> за </a:t>
            </a:r>
            <a:r>
              <a:rPr lang="ru-RU" sz="2200" dirty="0" err="1">
                <a:latin typeface="Times New Roman" panose="02020603050405020304" pitchFamily="18" charset="0"/>
                <a:cs typeface="Times New Roman" panose="02020603050405020304" pitchFamily="18" charset="0"/>
              </a:rPr>
              <a:t>разклонение</a:t>
            </a:r>
            <a:r>
              <a:rPr lang="ru-RU" sz="2200" dirty="0">
                <a:latin typeface="Times New Roman" panose="02020603050405020304" pitchFamily="18" charset="0"/>
                <a:cs typeface="Times New Roman" panose="02020603050405020304" pitchFamily="18" charset="0"/>
              </a:rPr>
              <a:t> (BL). </a:t>
            </a:r>
          </a:p>
          <a:p>
            <a:pPr indent="457200" algn="just"/>
            <a:r>
              <a:rPr lang="ru-RU" sz="2200" dirty="0">
                <a:latin typeface="Times New Roman" panose="02020603050405020304" pitchFamily="18" charset="0"/>
                <a:cs typeface="Times New Roman" panose="02020603050405020304" pitchFamily="18" charset="0"/>
              </a:rPr>
              <a:t>При </a:t>
            </a:r>
            <a:r>
              <a:rPr lang="ru-RU" sz="2200" dirty="0" err="1">
                <a:latin typeface="Times New Roman" panose="02020603050405020304" pitchFamily="18" charset="0"/>
                <a:cs typeface="Times New Roman" panose="02020603050405020304" pitchFamily="18" charset="0"/>
              </a:rPr>
              <a:t>изпълнението</a:t>
            </a:r>
            <a:r>
              <a:rPr lang="ru-RU" sz="2200" dirty="0">
                <a:latin typeface="Times New Roman" panose="02020603050405020304" pitchFamily="18" charset="0"/>
                <a:cs typeface="Times New Roman" panose="02020603050405020304" pitchFamily="18" charset="0"/>
              </a:rPr>
              <a:t> на </a:t>
            </a:r>
            <a:r>
              <a:rPr lang="ru-RU" sz="2200" dirty="0" err="1">
                <a:latin typeface="Times New Roman" panose="02020603050405020304" pitchFamily="18" charset="0"/>
                <a:cs typeface="Times New Roman" panose="02020603050405020304" pitchFamily="18" charset="0"/>
              </a:rPr>
              <a:t>такава</a:t>
            </a:r>
            <a:r>
              <a:rPr lang="ru-RU" sz="2200" dirty="0">
                <a:latin typeface="Times New Roman" panose="02020603050405020304" pitchFamily="18" charset="0"/>
                <a:cs typeface="Times New Roman" panose="02020603050405020304" pitchFamily="18" charset="0"/>
              </a:rPr>
              <a:t> команда </a:t>
            </a:r>
            <a:r>
              <a:rPr lang="ru-RU" sz="2200" dirty="0" err="1">
                <a:latin typeface="Times New Roman" panose="02020603050405020304" pitchFamily="18" charset="0"/>
                <a:cs typeface="Times New Roman" panose="02020603050405020304" pitchFamily="18" charset="0"/>
              </a:rPr>
              <a:t>старата</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стойност</a:t>
            </a:r>
            <a:r>
              <a:rPr lang="ru-RU" sz="2200" dirty="0">
                <a:latin typeface="Times New Roman" panose="02020603050405020304" pitchFamily="18" charset="0"/>
                <a:cs typeface="Times New Roman" panose="02020603050405020304" pitchFamily="18" charset="0"/>
              </a:rPr>
              <a:t> на PC се </a:t>
            </a:r>
            <a:r>
              <a:rPr lang="ru-RU" sz="2200" dirty="0" err="1">
                <a:latin typeface="Times New Roman" panose="02020603050405020304" pitchFamily="18" charset="0"/>
                <a:cs typeface="Times New Roman" panose="02020603050405020304" pitchFamily="18" charset="0"/>
              </a:rPr>
              <a:t>записва</a:t>
            </a:r>
            <a:r>
              <a:rPr lang="ru-RU" sz="2200" dirty="0">
                <a:latin typeface="Times New Roman" panose="02020603050405020304" pitchFamily="18" charset="0"/>
                <a:cs typeface="Times New Roman" panose="02020603050405020304" pitchFamily="18" charset="0"/>
              </a:rPr>
              <a:t> в </a:t>
            </a:r>
            <a:r>
              <a:rPr lang="ru-RU" sz="2200" dirty="0" err="1">
                <a:latin typeface="Times New Roman" panose="02020603050405020304" pitchFamily="18" charset="0"/>
                <a:cs typeface="Times New Roman" panose="02020603050405020304" pitchFamily="18" charset="0"/>
              </a:rPr>
              <a:t>регистъра</a:t>
            </a:r>
            <a:r>
              <a:rPr lang="ru-RU" sz="2200" dirty="0">
                <a:latin typeface="Times New Roman" panose="02020603050405020304" pitchFamily="18" charset="0"/>
                <a:cs typeface="Times New Roman" panose="02020603050405020304" pitchFamily="18" charset="0"/>
              </a:rPr>
              <a:t> на </a:t>
            </a:r>
            <a:r>
              <a:rPr lang="ru-RU" sz="2200" dirty="0" err="1">
                <a:latin typeface="Times New Roman" panose="02020603050405020304" pitchFamily="18" charset="0"/>
                <a:cs typeface="Times New Roman" panose="02020603050405020304" pitchFamily="18" charset="0"/>
              </a:rPr>
              <a:t>връзката</a:t>
            </a:r>
            <a:r>
              <a:rPr lang="ru-RU" sz="2200" dirty="0">
                <a:latin typeface="Times New Roman" panose="02020603050405020304" pitchFamily="18" charset="0"/>
                <a:cs typeface="Times New Roman" panose="02020603050405020304" pitchFamily="18" charset="0"/>
              </a:rPr>
              <a:t> LR (R14) на </a:t>
            </a:r>
            <a:r>
              <a:rPr lang="ru-RU" sz="2200" dirty="0" err="1">
                <a:latin typeface="Times New Roman" panose="02020603050405020304" pitchFamily="18" charset="0"/>
                <a:cs typeface="Times New Roman" panose="02020603050405020304" pitchFamily="18" charset="0"/>
              </a:rPr>
              <a:t>текущата</a:t>
            </a:r>
            <a:r>
              <a:rPr lang="ru-RU" sz="2200" dirty="0">
                <a:latin typeface="Times New Roman" panose="02020603050405020304" pitchFamily="18" charset="0"/>
                <a:cs typeface="Times New Roman" panose="02020603050405020304" pitchFamily="18" charset="0"/>
              </a:rPr>
              <a:t> банка </a:t>
            </a:r>
            <a:r>
              <a:rPr lang="ru-RU" sz="2200" dirty="0" err="1">
                <a:latin typeface="Times New Roman" panose="02020603050405020304" pitchFamily="18" charset="0"/>
                <a:cs typeface="Times New Roman" panose="02020603050405020304" pitchFamily="18" charset="0"/>
              </a:rPr>
              <a:t>регистри</a:t>
            </a:r>
            <a:r>
              <a:rPr lang="ru-RU" sz="2200" dirty="0">
                <a:latin typeface="Times New Roman" panose="02020603050405020304" pitchFamily="18" charset="0"/>
                <a:cs typeface="Times New Roman" panose="02020603050405020304" pitchFamily="18" charset="0"/>
              </a:rPr>
              <a:t> (в </a:t>
            </a:r>
            <a:r>
              <a:rPr lang="ru-RU" sz="2200" dirty="0" err="1">
                <a:latin typeface="Times New Roman" panose="02020603050405020304" pitchFamily="18" charset="0"/>
                <a:cs typeface="Times New Roman" panose="02020603050405020304" pitchFamily="18" charset="0"/>
              </a:rPr>
              <a:t>зависимост</a:t>
            </a:r>
            <a:r>
              <a:rPr lang="ru-RU" sz="2200" dirty="0">
                <a:latin typeface="Times New Roman" panose="02020603050405020304" pitchFamily="18" charset="0"/>
                <a:cs typeface="Times New Roman" panose="02020603050405020304" pitchFamily="18" charset="0"/>
              </a:rPr>
              <a:t> от режима на работа). </a:t>
            </a:r>
            <a:r>
              <a:rPr lang="ru-RU" sz="2200" dirty="0" err="1">
                <a:latin typeface="Times New Roman" panose="02020603050405020304" pitchFamily="18" charset="0"/>
                <a:cs typeface="Times New Roman" panose="02020603050405020304" pitchFamily="18" charset="0"/>
              </a:rPr>
              <a:t>Преди</a:t>
            </a:r>
            <a:r>
              <a:rPr lang="ru-RU" sz="2200" dirty="0">
                <a:latin typeface="Times New Roman" panose="02020603050405020304" pitchFamily="18" charset="0"/>
                <a:cs typeface="Times New Roman" panose="02020603050405020304" pitchFamily="18" charset="0"/>
              </a:rPr>
              <a:t> да се </a:t>
            </a:r>
            <a:r>
              <a:rPr lang="ru-RU" sz="2200" dirty="0" err="1">
                <a:latin typeface="Times New Roman" panose="02020603050405020304" pitchFamily="18" charset="0"/>
                <a:cs typeface="Times New Roman" panose="02020603050405020304" pitchFamily="18" charset="0"/>
              </a:rPr>
              <a:t>извърши</a:t>
            </a:r>
            <a:r>
              <a:rPr lang="ru-RU" sz="2200" dirty="0">
                <a:latin typeface="Times New Roman" panose="02020603050405020304" pitchFamily="18" charset="0"/>
                <a:cs typeface="Times New Roman" panose="02020603050405020304" pitchFamily="18" charset="0"/>
              </a:rPr>
              <a:t> това, от </a:t>
            </a:r>
            <a:r>
              <a:rPr lang="ru-RU" sz="2200" dirty="0" err="1">
                <a:latin typeface="Times New Roman" panose="02020603050405020304" pitchFamily="18" charset="0"/>
                <a:cs typeface="Times New Roman" panose="02020603050405020304" pitchFamily="18" charset="0"/>
              </a:rPr>
              <a:t>стойността</a:t>
            </a:r>
            <a:r>
              <a:rPr lang="ru-RU" sz="2200" dirty="0">
                <a:latin typeface="Times New Roman" panose="02020603050405020304" pitchFamily="18" charset="0"/>
                <a:cs typeface="Times New Roman" panose="02020603050405020304" pitchFamily="18" charset="0"/>
              </a:rPr>
              <a:t> на PC се </a:t>
            </a:r>
            <a:r>
              <a:rPr lang="ru-RU" sz="2200" dirty="0" err="1">
                <a:latin typeface="Times New Roman" panose="02020603050405020304" pitchFamily="18" charset="0"/>
                <a:cs typeface="Times New Roman" panose="02020603050405020304" pitchFamily="18" charset="0"/>
              </a:rPr>
              <a:t>изважда</a:t>
            </a:r>
            <a:r>
              <a:rPr lang="ru-RU" sz="2200" dirty="0">
                <a:latin typeface="Times New Roman" panose="02020603050405020304" pitchFamily="18" charset="0"/>
                <a:cs typeface="Times New Roman" panose="02020603050405020304" pitchFamily="18" charset="0"/>
              </a:rPr>
              <a:t> 4, така че R14 </a:t>
            </a:r>
            <a:r>
              <a:rPr lang="ru-RU" sz="2200" dirty="0" err="1">
                <a:latin typeface="Times New Roman" panose="02020603050405020304" pitchFamily="18" charset="0"/>
                <a:cs typeface="Times New Roman" panose="02020603050405020304" pitchFamily="18" charset="0"/>
              </a:rPr>
              <a:t>съдържа</a:t>
            </a:r>
            <a:r>
              <a:rPr lang="ru-RU" sz="2200" dirty="0">
                <a:latin typeface="Times New Roman" panose="02020603050405020304" pitchFamily="18" charset="0"/>
                <a:cs typeface="Times New Roman" panose="02020603050405020304" pitchFamily="18" charset="0"/>
              </a:rPr>
              <a:t> адреса на </a:t>
            </a:r>
            <a:r>
              <a:rPr lang="ru-RU" sz="2200" dirty="0" err="1">
                <a:latin typeface="Times New Roman" panose="02020603050405020304" pitchFamily="18" charset="0"/>
                <a:cs typeface="Times New Roman" panose="02020603050405020304" pitchFamily="18" charset="0"/>
              </a:rPr>
              <a:t>командата</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непосредствено</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следваща</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командата</a:t>
            </a:r>
            <a:r>
              <a:rPr lang="ru-RU" sz="2200" dirty="0">
                <a:latin typeface="Times New Roman" panose="02020603050405020304" pitchFamily="18" charset="0"/>
                <a:cs typeface="Times New Roman" panose="02020603050405020304" pitchFamily="18" charset="0"/>
              </a:rPr>
              <a:t> BL. CPSR не се </a:t>
            </a:r>
            <a:r>
              <a:rPr lang="ru-RU" sz="2200" dirty="0" err="1">
                <a:latin typeface="Times New Roman" panose="02020603050405020304" pitchFamily="18" charset="0"/>
                <a:cs typeface="Times New Roman" panose="02020603050405020304" pitchFamily="18" charset="0"/>
              </a:rPr>
              <a:t>съхранява</a:t>
            </a:r>
            <a:r>
              <a:rPr lang="ru-RU" sz="2200" dirty="0">
                <a:latin typeface="Times New Roman" panose="02020603050405020304" pitchFamily="18" charset="0"/>
                <a:cs typeface="Times New Roman" panose="02020603050405020304" pitchFamily="18" charset="0"/>
              </a:rPr>
              <a:t> заедно с PC. </a:t>
            </a:r>
          </a:p>
          <a:p>
            <a:pPr indent="457200" algn="just"/>
            <a:r>
              <a:rPr lang="ru-RU" sz="2200" dirty="0">
                <a:latin typeface="Times New Roman" panose="02020603050405020304" pitchFamily="18" charset="0"/>
                <a:cs typeface="Times New Roman" panose="02020603050405020304" pitchFamily="18" charset="0"/>
              </a:rPr>
              <a:t>За </a:t>
            </a:r>
            <a:r>
              <a:rPr lang="ru-RU" sz="2200" dirty="0" err="1">
                <a:latin typeface="Times New Roman" panose="02020603050405020304" pitchFamily="18" charset="0"/>
                <a:cs typeface="Times New Roman" panose="02020603050405020304" pitchFamily="18" charset="0"/>
              </a:rPr>
              <a:t>връщане</a:t>
            </a:r>
            <a:r>
              <a:rPr lang="ru-RU" sz="2200" dirty="0">
                <a:latin typeface="Times New Roman" panose="02020603050405020304" pitchFamily="18" charset="0"/>
                <a:cs typeface="Times New Roman" panose="02020603050405020304" pitchFamily="18" charset="0"/>
              </a:rPr>
              <a:t> от </a:t>
            </a:r>
            <a:r>
              <a:rPr lang="ru-RU" sz="2200" dirty="0" err="1">
                <a:latin typeface="Times New Roman" panose="02020603050405020304" pitchFamily="18" charset="0"/>
                <a:cs typeface="Times New Roman" panose="02020603050405020304" pitchFamily="18" charset="0"/>
              </a:rPr>
              <a:t>подпрограма</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която</a:t>
            </a:r>
            <a:r>
              <a:rPr lang="ru-RU" sz="2200" dirty="0">
                <a:latin typeface="Times New Roman" panose="02020603050405020304" pitchFamily="18" charset="0"/>
                <a:cs typeface="Times New Roman" panose="02020603050405020304" pitchFamily="18" charset="0"/>
              </a:rPr>
              <a:t> е </a:t>
            </a:r>
            <a:r>
              <a:rPr lang="ru-RU" sz="2200" dirty="0" err="1">
                <a:latin typeface="Times New Roman" panose="02020603050405020304" pitchFamily="18" charset="0"/>
                <a:cs typeface="Times New Roman" panose="02020603050405020304" pitchFamily="18" charset="0"/>
              </a:rPr>
              <a:t>извикана</a:t>
            </a:r>
            <a:r>
              <a:rPr lang="ru-RU" sz="2200" dirty="0">
                <a:latin typeface="Times New Roman" panose="02020603050405020304" pitchFamily="18" charset="0"/>
                <a:cs typeface="Times New Roman" panose="02020603050405020304" pitchFamily="18" charset="0"/>
              </a:rPr>
              <a:t> с команда </a:t>
            </a:r>
            <a:r>
              <a:rPr lang="ru-RU" sz="2200" dirty="0" err="1">
                <a:latin typeface="Times New Roman" panose="02020603050405020304" pitchFamily="18" charset="0"/>
                <a:cs typeface="Times New Roman" panose="02020603050405020304" pitchFamily="18" charset="0"/>
              </a:rPr>
              <a:t>Branch</a:t>
            </a:r>
            <a:r>
              <a:rPr lang="ru-RU" sz="2200" dirty="0">
                <a:latin typeface="Times New Roman" panose="02020603050405020304" pitchFamily="18" charset="0"/>
                <a:cs typeface="Times New Roman" panose="02020603050405020304" pitchFamily="18" charset="0"/>
              </a:rPr>
              <a:t> with </a:t>
            </a:r>
            <a:r>
              <a:rPr lang="ru-RU" sz="2200" dirty="0" err="1">
                <a:latin typeface="Times New Roman" panose="02020603050405020304" pitchFamily="18" charset="0"/>
                <a:cs typeface="Times New Roman" panose="02020603050405020304" pitchFamily="18" charset="0"/>
              </a:rPr>
              <a:t>Link</a:t>
            </a:r>
            <a:r>
              <a:rPr lang="ru-RU" sz="2200" dirty="0">
                <a:latin typeface="Times New Roman" panose="02020603050405020304" pitchFamily="18" charset="0"/>
                <a:cs typeface="Times New Roman" panose="02020603050405020304" pitchFamily="18" charset="0"/>
              </a:rPr>
              <a:t> (BL), се използват: </a:t>
            </a:r>
          </a:p>
          <a:p>
            <a:pPr marL="342900" indent="-342900" algn="just">
              <a:buFontTx/>
              <a:buChar char="-"/>
            </a:pPr>
            <a:r>
              <a:rPr lang="ru-RU" sz="2200" dirty="0">
                <a:latin typeface="Times New Roman" panose="02020603050405020304" pitchFamily="18" charset="0"/>
                <a:cs typeface="Times New Roman" panose="02020603050405020304" pitchFamily="18" charset="0"/>
              </a:rPr>
              <a:t>MOV PC,R14 ако </a:t>
            </a:r>
            <a:r>
              <a:rPr lang="ru-RU" sz="2200" dirty="0" err="1">
                <a:latin typeface="Times New Roman" panose="02020603050405020304" pitchFamily="18" charset="0"/>
                <a:cs typeface="Times New Roman" panose="02020603050405020304" pitchFamily="18" charset="0"/>
              </a:rPr>
              <a:t>съдържанието</a:t>
            </a:r>
            <a:r>
              <a:rPr lang="ru-RU" sz="2200" dirty="0">
                <a:latin typeface="Times New Roman" panose="02020603050405020304" pitchFamily="18" charset="0"/>
                <a:cs typeface="Times New Roman" panose="02020603050405020304" pitchFamily="18" charset="0"/>
              </a:rPr>
              <a:t> на LR </a:t>
            </a:r>
            <a:r>
              <a:rPr lang="ru-RU" sz="2200" dirty="0" err="1">
                <a:latin typeface="Times New Roman" panose="02020603050405020304" pitchFamily="18" charset="0"/>
                <a:cs typeface="Times New Roman" panose="02020603050405020304" pitchFamily="18" charset="0"/>
              </a:rPr>
              <a:t>още</a:t>
            </a:r>
            <a:r>
              <a:rPr lang="ru-RU" sz="2200" dirty="0">
                <a:latin typeface="Times New Roman" panose="02020603050405020304" pitchFamily="18" charset="0"/>
                <a:cs typeface="Times New Roman" panose="02020603050405020304" pitchFamily="18" charset="0"/>
              </a:rPr>
              <a:t> е валидно или </a:t>
            </a:r>
          </a:p>
          <a:p>
            <a:pPr marL="342900" indent="-342900" algn="just">
              <a:buFontTx/>
              <a:buChar char="-"/>
            </a:pPr>
            <a:r>
              <a:rPr lang="ru-RU" sz="2200" dirty="0">
                <a:latin typeface="Times New Roman" panose="02020603050405020304" pitchFamily="18" charset="0"/>
                <a:cs typeface="Times New Roman" panose="02020603050405020304" pitchFamily="18" charset="0"/>
              </a:rPr>
              <a:t>LDM Rn!,{…PC}ако съдържанието на LR е било записано в стек с адрес, записан в Rn – стеков </a:t>
            </a:r>
            <a:r>
              <a:rPr lang="ru-RU" sz="2200" dirty="0" err="1">
                <a:latin typeface="Times New Roman" panose="02020603050405020304" pitchFamily="18" charset="0"/>
                <a:cs typeface="Times New Roman" panose="02020603050405020304" pitchFamily="18" charset="0"/>
              </a:rPr>
              <a:t>указател</a:t>
            </a:r>
            <a:r>
              <a:rPr lang="ru-RU" sz="2200" dirty="0">
                <a:latin typeface="Times New Roman" panose="02020603050405020304" pitchFamily="18" charset="0"/>
                <a:cs typeface="Times New Roman" panose="02020603050405020304" pitchFamily="18" charset="0"/>
              </a:rPr>
              <a:t> </a:t>
            </a:r>
          </a:p>
          <a:p>
            <a:pPr marL="342900" indent="-342900" algn="just">
              <a:buFontTx/>
              <a:buChar char="-"/>
            </a:pPr>
            <a:r>
              <a:rPr lang="en-US" sz="2200" dirty="0">
                <a:latin typeface="Times New Roman" panose="02020603050405020304" pitchFamily="18" charset="0"/>
                <a:cs typeface="Times New Roman" panose="02020603050405020304" pitchFamily="18" charset="0"/>
              </a:rPr>
              <a:t>BX  LR</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93099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137EDBF-6B75-4064-8809-9366A642F8DE}"/>
              </a:ext>
            </a:extLst>
          </p:cNvPr>
          <p:cNvSpPr txBox="1"/>
          <p:nvPr/>
        </p:nvSpPr>
        <p:spPr>
          <a:xfrm>
            <a:off x="899592" y="620688"/>
            <a:ext cx="7704856" cy="584775"/>
          </a:xfrm>
          <a:prstGeom prst="rect">
            <a:avLst/>
          </a:prstGeom>
          <a:noFill/>
        </p:spPr>
        <p:txBody>
          <a:bodyPr wrap="square" rtlCol="0">
            <a:spAutoFit/>
          </a:bodyPr>
          <a:lstStyle/>
          <a:p>
            <a:r>
              <a:rPr lang="bg-BG" sz="3200" b="1" dirty="0">
                <a:solidFill>
                  <a:schemeClr val="tx2"/>
                </a:solidFill>
                <a:latin typeface="Times New Roman" panose="02020603050405020304" pitchFamily="18" charset="0"/>
                <a:ea typeface="+mj-ea"/>
                <a:cs typeface="Times New Roman" panose="02020603050405020304" pitchFamily="18" charset="0"/>
              </a:rPr>
              <a:t>ПОДПРОГРАМИ</a:t>
            </a:r>
            <a:r>
              <a:rPr lang="en-US" sz="3200" b="1" dirty="0">
                <a:solidFill>
                  <a:schemeClr val="tx2"/>
                </a:solidFill>
                <a:latin typeface="Times New Roman" panose="02020603050405020304" pitchFamily="18" charset="0"/>
                <a:ea typeface="+mj-ea"/>
                <a:cs typeface="Times New Roman" panose="02020603050405020304" pitchFamily="18" charset="0"/>
              </a:rPr>
              <a:t>-ARM</a:t>
            </a:r>
          </a:p>
        </p:txBody>
      </p:sp>
      <p:sp>
        <p:nvSpPr>
          <p:cNvPr id="10" name="Rectangle 9">
            <a:extLst>
              <a:ext uri="{FF2B5EF4-FFF2-40B4-BE49-F238E27FC236}">
                <a16:creationId xmlns:a16="http://schemas.microsoft.com/office/drawing/2014/main" id="{E7ECC4FF-7C7A-4998-81C7-1FA9E2004C89}"/>
              </a:ext>
            </a:extLst>
          </p:cNvPr>
          <p:cNvSpPr/>
          <p:nvPr/>
        </p:nvSpPr>
        <p:spPr>
          <a:xfrm>
            <a:off x="503548" y="1221701"/>
            <a:ext cx="8100900" cy="5324535"/>
          </a:xfrm>
          <a:prstGeom prst="rect">
            <a:avLst/>
          </a:prstGeom>
        </p:spPr>
        <p:txBody>
          <a:bodyPr wrap="square">
            <a:spAutoFit/>
          </a:bodyPr>
          <a:lstStyle/>
          <a:p>
            <a:pPr indent="457200" algn="just"/>
            <a:r>
              <a:rPr lang="ru-RU" sz="2000" dirty="0" err="1">
                <a:latin typeface="Times New Roman" panose="02020603050405020304" pitchFamily="18" charset="0"/>
                <a:cs typeface="Times New Roman" panose="02020603050405020304" pitchFamily="18" charset="0"/>
              </a:rPr>
              <a:t>Примери</a:t>
            </a:r>
            <a:r>
              <a:rPr lang="ru-RU" sz="2000" dirty="0">
                <a:latin typeface="Times New Roman" panose="02020603050405020304" pitchFamily="18" charset="0"/>
                <a:cs typeface="Times New Roman" panose="02020603050405020304" pitchFamily="18" charset="0"/>
              </a:rPr>
              <a:t>: </a:t>
            </a:r>
          </a:p>
          <a:p>
            <a:pPr indent="457200" algn="just"/>
            <a:r>
              <a:rPr lang="ru-RU" sz="2000" dirty="0" err="1">
                <a:latin typeface="Times New Roman" panose="02020603050405020304" pitchFamily="18" charset="0"/>
                <a:cs typeface="Times New Roman" panose="02020603050405020304" pitchFamily="18" charset="0"/>
              </a:rPr>
              <a:t>here</a:t>
            </a:r>
            <a:r>
              <a:rPr lang="ru-RU" sz="2000" dirty="0">
                <a:latin typeface="Times New Roman" panose="02020603050405020304" pitchFamily="18" charset="0"/>
                <a:cs typeface="Times New Roman" panose="02020603050405020304" pitchFamily="18" charset="0"/>
              </a:rPr>
              <a:t>: BAL </a:t>
            </a:r>
            <a:r>
              <a:rPr lang="ru-RU" sz="2000" dirty="0" err="1">
                <a:latin typeface="Times New Roman" panose="02020603050405020304" pitchFamily="18" charset="0"/>
                <a:cs typeface="Times New Roman" panose="02020603050405020304" pitchFamily="18" charset="0"/>
              </a:rPr>
              <a:t>here</a:t>
            </a:r>
            <a:r>
              <a:rPr lang="ru-RU" sz="2000" dirty="0">
                <a:latin typeface="Times New Roman" panose="02020603050405020304" pitchFamily="18" charset="0"/>
                <a:cs typeface="Times New Roman" panose="02020603050405020304" pitchFamily="18" charset="0"/>
              </a:rPr>
              <a:t>	// </a:t>
            </a:r>
            <a:r>
              <a:rPr lang="ru-RU" sz="2000" dirty="0" err="1">
                <a:latin typeface="Times New Roman" panose="02020603050405020304" pitchFamily="18" charset="0"/>
                <a:cs typeface="Times New Roman" panose="02020603050405020304" pitchFamily="18" charset="0"/>
              </a:rPr>
              <a:t>асемблира</a:t>
            </a:r>
            <a:r>
              <a:rPr lang="ru-RU" sz="2000" dirty="0">
                <a:latin typeface="Times New Roman" panose="02020603050405020304" pitchFamily="18" charset="0"/>
                <a:cs typeface="Times New Roman" panose="02020603050405020304" pitchFamily="18" charset="0"/>
              </a:rPr>
              <a:t> се до 0xEAFFFFFE (</a:t>
            </a:r>
            <a:r>
              <a:rPr lang="ru-RU" sz="2000" dirty="0" err="1">
                <a:latin typeface="Times New Roman" panose="02020603050405020304" pitchFamily="18" charset="0"/>
                <a:cs typeface="Times New Roman" panose="02020603050405020304" pitchFamily="18" charset="0"/>
              </a:rPr>
              <a:t>поради</a:t>
            </a:r>
            <a:r>
              <a:rPr lang="ru-RU" sz="2000" dirty="0">
                <a:latin typeface="Times New Roman" panose="02020603050405020304" pitchFamily="18" charset="0"/>
                <a:cs typeface="Times New Roman" panose="02020603050405020304" pitchFamily="18" charset="0"/>
              </a:rPr>
              <a:t> 				// </a:t>
            </a:r>
            <a:r>
              <a:rPr lang="ru-RU" sz="2000" dirty="0" err="1">
                <a:latin typeface="Times New Roman" panose="02020603050405020304" pitchFamily="18" charset="0"/>
                <a:cs typeface="Times New Roman" panose="02020603050405020304" pitchFamily="18" charset="0"/>
              </a:rPr>
              <a:t>отместването</a:t>
            </a:r>
            <a:r>
              <a:rPr lang="ru-RU" sz="2000" dirty="0">
                <a:latin typeface="Times New Roman" panose="02020603050405020304" pitchFamily="18" charset="0"/>
                <a:cs typeface="Times New Roman" panose="02020603050405020304" pitchFamily="18" charset="0"/>
              </a:rPr>
              <a:t> на PC)</a:t>
            </a:r>
          </a:p>
          <a:p>
            <a:pPr indent="457200" algn="just"/>
            <a:endParaRPr lang="ru-RU" sz="2000" dirty="0">
              <a:latin typeface="Times New Roman" panose="02020603050405020304" pitchFamily="18" charset="0"/>
              <a:cs typeface="Times New Roman" panose="02020603050405020304" pitchFamily="18" charset="0"/>
            </a:endParaRPr>
          </a:p>
          <a:p>
            <a:pPr indent="457200" algn="just"/>
            <a:r>
              <a:rPr lang="ru-RU" sz="2000" dirty="0">
                <a:latin typeface="Times New Roman" panose="02020603050405020304" pitchFamily="18" charset="0"/>
                <a:cs typeface="Times New Roman" panose="02020603050405020304" pitchFamily="18" charset="0"/>
              </a:rPr>
              <a:t>B  </a:t>
            </a:r>
            <a:r>
              <a:rPr lang="ru-RU" sz="2000" dirty="0" err="1">
                <a:latin typeface="Times New Roman" panose="02020603050405020304" pitchFamily="18" charset="0"/>
                <a:cs typeface="Times New Roman" panose="02020603050405020304" pitchFamily="18" charset="0"/>
              </a:rPr>
              <a:t>there</a:t>
            </a:r>
            <a:r>
              <a:rPr lang="ru-RU" sz="2000" dirty="0">
                <a:latin typeface="Times New Roman" panose="02020603050405020304" pitchFamily="18" charset="0"/>
                <a:cs typeface="Times New Roman" panose="02020603050405020304" pitchFamily="18" charset="0"/>
              </a:rPr>
              <a:t> 		// по </a:t>
            </a:r>
            <a:r>
              <a:rPr lang="ru-RU" sz="2000" dirty="0" err="1">
                <a:latin typeface="Times New Roman" panose="02020603050405020304" pitchFamily="18" charset="0"/>
                <a:cs typeface="Times New Roman" panose="02020603050405020304" pitchFamily="18" charset="0"/>
              </a:rPr>
              <a:t>подразбиране</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условието</a:t>
            </a:r>
            <a:r>
              <a:rPr lang="ru-RU" sz="2000" dirty="0">
                <a:latin typeface="Times New Roman" panose="02020603050405020304" pitchFamily="18" charset="0"/>
                <a:cs typeface="Times New Roman" panose="02020603050405020304" pitchFamily="18" charset="0"/>
              </a:rPr>
              <a:t> е </a:t>
            </a:r>
            <a:r>
              <a:rPr lang="ru-RU" sz="2000" dirty="0" err="1">
                <a:latin typeface="Times New Roman" panose="02020603050405020304" pitchFamily="18" charset="0"/>
                <a:cs typeface="Times New Roman" panose="02020603050405020304" pitchFamily="18" charset="0"/>
              </a:rPr>
              <a:t>ALways</a:t>
            </a:r>
            <a:r>
              <a:rPr lang="ru-RU" sz="2000" dirty="0">
                <a:latin typeface="Times New Roman" panose="02020603050405020304" pitchFamily="18" charset="0"/>
                <a:cs typeface="Times New Roman" panose="02020603050405020304" pitchFamily="18" charset="0"/>
              </a:rPr>
              <a:t> </a:t>
            </a:r>
          </a:p>
          <a:p>
            <a:pPr indent="457200" algn="just"/>
            <a:endParaRPr lang="ru-RU" sz="2000" dirty="0">
              <a:latin typeface="Times New Roman" panose="02020603050405020304" pitchFamily="18" charset="0"/>
              <a:cs typeface="Times New Roman" panose="02020603050405020304" pitchFamily="18" charset="0"/>
            </a:endParaRPr>
          </a:p>
          <a:p>
            <a:pPr indent="457200" algn="just"/>
            <a:r>
              <a:rPr lang="ru-RU" sz="2000" dirty="0">
                <a:latin typeface="Times New Roman" panose="02020603050405020304" pitchFamily="18" charset="0"/>
                <a:cs typeface="Times New Roman" panose="02020603050405020304" pitchFamily="18" charset="0"/>
              </a:rPr>
              <a:t>CMP  R1,#0 		// сравни R1 с 0 и премини </a:t>
            </a:r>
            <a:r>
              <a:rPr lang="ru-RU" sz="2000" dirty="0" err="1">
                <a:latin typeface="Times New Roman" panose="02020603050405020304" pitchFamily="18" charset="0"/>
                <a:cs typeface="Times New Roman" panose="02020603050405020304" pitchFamily="18" charset="0"/>
              </a:rPr>
              <a:t>към</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fred</a:t>
            </a:r>
            <a:r>
              <a:rPr lang="ru-RU" sz="2000" dirty="0">
                <a:latin typeface="Times New Roman" panose="02020603050405020304" pitchFamily="18" charset="0"/>
                <a:cs typeface="Times New Roman" panose="02020603050405020304" pitchFamily="18" charset="0"/>
              </a:rPr>
              <a:t>, ако R1 е</a:t>
            </a:r>
          </a:p>
          <a:p>
            <a:pPr indent="457200" algn="just"/>
            <a:r>
              <a:rPr lang="ru-RU" sz="2000" dirty="0">
                <a:latin typeface="Times New Roman" panose="02020603050405020304" pitchFamily="18" charset="0"/>
                <a:cs typeface="Times New Roman" panose="02020603050405020304" pitchFamily="18" charset="0"/>
              </a:rPr>
              <a:t>BEQ  </a:t>
            </a:r>
            <a:r>
              <a:rPr lang="ru-RU" sz="2000" dirty="0" err="1">
                <a:latin typeface="Times New Roman" panose="02020603050405020304" pitchFamily="18" charset="0"/>
                <a:cs typeface="Times New Roman" panose="02020603050405020304" pitchFamily="18" charset="0"/>
              </a:rPr>
              <a:t>fred</a:t>
            </a:r>
            <a:r>
              <a:rPr lang="ru-RU" sz="2000" dirty="0">
                <a:latin typeface="Times New Roman" panose="02020603050405020304" pitchFamily="18" charset="0"/>
                <a:cs typeface="Times New Roman" panose="02020603050405020304" pitchFamily="18" charset="0"/>
              </a:rPr>
              <a:t> 		// 0, иначе премини </a:t>
            </a:r>
            <a:r>
              <a:rPr lang="ru-RU" sz="2000" dirty="0" err="1">
                <a:latin typeface="Times New Roman" panose="02020603050405020304" pitchFamily="18" charset="0"/>
                <a:cs typeface="Times New Roman" panose="02020603050405020304" pitchFamily="18" charset="0"/>
              </a:rPr>
              <a:t>към</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следващата</a:t>
            </a:r>
            <a:r>
              <a:rPr lang="ru-RU" sz="2000" dirty="0">
                <a:latin typeface="Times New Roman" panose="02020603050405020304" pitchFamily="18" charset="0"/>
                <a:cs typeface="Times New Roman" panose="02020603050405020304" pitchFamily="18" charset="0"/>
              </a:rPr>
              <a:t> команда</a:t>
            </a:r>
          </a:p>
          <a:p>
            <a:pPr indent="457200" algn="just"/>
            <a:endParaRPr lang="ru-RU" sz="2000" dirty="0">
              <a:latin typeface="Times New Roman" panose="02020603050405020304" pitchFamily="18" charset="0"/>
              <a:cs typeface="Times New Roman" panose="02020603050405020304" pitchFamily="18" charset="0"/>
            </a:endParaRPr>
          </a:p>
          <a:p>
            <a:pPr indent="457200" algn="just"/>
            <a:r>
              <a:rPr lang="ru-RU" sz="2000" dirty="0">
                <a:latin typeface="Times New Roman" panose="02020603050405020304" pitchFamily="18" charset="0"/>
                <a:cs typeface="Times New Roman" panose="02020603050405020304" pitchFamily="18" charset="0"/>
              </a:rPr>
              <a:t>BL  </a:t>
            </a:r>
            <a:r>
              <a:rPr lang="ru-RU" sz="2000" dirty="0" err="1">
                <a:latin typeface="Times New Roman" panose="02020603050405020304" pitchFamily="18" charset="0"/>
                <a:cs typeface="Times New Roman" panose="02020603050405020304" pitchFamily="18" charset="0"/>
              </a:rPr>
              <a:t>sub+ROM</a:t>
            </a:r>
            <a:r>
              <a:rPr lang="ru-RU" sz="2000" dirty="0">
                <a:latin typeface="Times New Roman" panose="02020603050405020304" pitchFamily="18" charset="0"/>
                <a:cs typeface="Times New Roman" panose="02020603050405020304" pitchFamily="18" charset="0"/>
              </a:rPr>
              <a:t>	// </a:t>
            </a:r>
            <a:r>
              <a:rPr lang="ru-RU" sz="2000" dirty="0" err="1">
                <a:latin typeface="Times New Roman" panose="02020603050405020304" pitchFamily="18" charset="0"/>
                <a:cs typeface="Times New Roman" panose="02020603050405020304" pitchFamily="18" charset="0"/>
              </a:rPr>
              <a:t>извикай</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подпрограма</a:t>
            </a:r>
            <a:r>
              <a:rPr lang="ru-RU" sz="2000" dirty="0">
                <a:latin typeface="Times New Roman" panose="02020603050405020304" pitchFamily="18" charset="0"/>
                <a:cs typeface="Times New Roman" panose="02020603050405020304" pitchFamily="18" charset="0"/>
              </a:rPr>
              <a:t> на адрес, </a:t>
            </a:r>
            <a:r>
              <a:rPr lang="ru-RU" sz="2000" dirty="0" err="1">
                <a:latin typeface="Times New Roman" panose="02020603050405020304" pitchFamily="18" charset="0"/>
                <a:cs typeface="Times New Roman" panose="02020603050405020304" pitchFamily="18" charset="0"/>
              </a:rPr>
              <a:t>изчислен</a:t>
            </a:r>
            <a:r>
              <a:rPr lang="ru-RU" sz="2000" dirty="0">
                <a:latin typeface="Times New Roman" panose="02020603050405020304" pitchFamily="18" charset="0"/>
                <a:cs typeface="Times New Roman" panose="02020603050405020304" pitchFamily="18" charset="0"/>
              </a:rPr>
              <a:t> </a:t>
            </a:r>
          </a:p>
          <a:p>
            <a:pPr indent="457200" algn="just"/>
            <a:r>
              <a:rPr lang="ru-RU" sz="2000" dirty="0">
                <a:latin typeface="Times New Roman" panose="02020603050405020304" pitchFamily="18" charset="0"/>
                <a:cs typeface="Times New Roman" panose="02020603050405020304" pitchFamily="18" charset="0"/>
              </a:rPr>
              <a:t>			// от </a:t>
            </a:r>
            <a:r>
              <a:rPr lang="ru-RU" sz="2000" dirty="0" err="1">
                <a:latin typeface="Times New Roman" panose="02020603050405020304" pitchFamily="18" charset="0"/>
                <a:cs typeface="Times New Roman" panose="02020603050405020304" pitchFamily="18" charset="0"/>
              </a:rPr>
              <a:t>асемблера</a:t>
            </a:r>
            <a:r>
              <a:rPr lang="ru-RU" sz="2000" dirty="0">
                <a:latin typeface="Times New Roman" panose="02020603050405020304" pitchFamily="18" charset="0"/>
                <a:cs typeface="Times New Roman" panose="02020603050405020304" pitchFamily="18" charset="0"/>
              </a:rPr>
              <a:t> </a:t>
            </a:r>
          </a:p>
          <a:p>
            <a:pPr indent="457200" algn="just"/>
            <a:endParaRPr lang="ru-RU" sz="2000" dirty="0">
              <a:latin typeface="Times New Roman" panose="02020603050405020304" pitchFamily="18" charset="0"/>
              <a:cs typeface="Times New Roman" panose="02020603050405020304" pitchFamily="18" charset="0"/>
            </a:endParaRPr>
          </a:p>
          <a:p>
            <a:pPr indent="457200" algn="just"/>
            <a:r>
              <a:rPr lang="ru-RU" sz="2000" dirty="0">
                <a:latin typeface="Times New Roman" panose="02020603050405020304" pitchFamily="18" charset="0"/>
                <a:cs typeface="Times New Roman" panose="02020603050405020304" pitchFamily="18" charset="0"/>
              </a:rPr>
              <a:t>ADDS  R1,R1,#1	// </a:t>
            </a:r>
            <a:r>
              <a:rPr lang="ru-RU" sz="2000" dirty="0" err="1">
                <a:latin typeface="Times New Roman" panose="02020603050405020304" pitchFamily="18" charset="0"/>
                <a:cs typeface="Times New Roman" panose="02020603050405020304" pitchFamily="18" charset="0"/>
              </a:rPr>
              <a:t>добави</a:t>
            </a:r>
            <a:r>
              <a:rPr lang="ru-RU" sz="2000" dirty="0">
                <a:latin typeface="Times New Roman" panose="02020603050405020304" pitchFamily="18" charset="0"/>
                <a:cs typeface="Times New Roman" panose="02020603050405020304" pitchFamily="18" charset="0"/>
              </a:rPr>
              <a:t> 1 </a:t>
            </a:r>
            <a:r>
              <a:rPr lang="ru-RU" sz="2000" dirty="0" err="1">
                <a:latin typeface="Times New Roman" panose="02020603050405020304" pitchFamily="18" charset="0"/>
                <a:cs typeface="Times New Roman" panose="02020603050405020304" pitchFamily="18" charset="0"/>
              </a:rPr>
              <a:t>към</a:t>
            </a:r>
            <a:r>
              <a:rPr lang="ru-RU" sz="2000" dirty="0">
                <a:latin typeface="Times New Roman" panose="02020603050405020304" pitchFamily="18" charset="0"/>
                <a:cs typeface="Times New Roman" panose="02020603050405020304" pitchFamily="18" charset="0"/>
              </a:rPr>
              <a:t> R1, </a:t>
            </a:r>
            <a:r>
              <a:rPr lang="ru-RU" sz="2000" dirty="0" err="1">
                <a:latin typeface="Times New Roman" panose="02020603050405020304" pitchFamily="18" charset="0"/>
                <a:cs typeface="Times New Roman" panose="02020603050405020304" pitchFamily="18" charset="0"/>
              </a:rPr>
              <a:t>променяйки</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флаговете</a:t>
            </a:r>
            <a:endParaRPr lang="ru-RU" sz="2000" dirty="0">
              <a:latin typeface="Times New Roman" panose="02020603050405020304" pitchFamily="18" charset="0"/>
              <a:cs typeface="Times New Roman" panose="02020603050405020304" pitchFamily="18" charset="0"/>
            </a:endParaRPr>
          </a:p>
          <a:p>
            <a:pPr indent="457200" algn="just"/>
            <a:endParaRPr lang="ru-RU" sz="2000" dirty="0">
              <a:latin typeface="Times New Roman" panose="02020603050405020304" pitchFamily="18" charset="0"/>
              <a:cs typeface="Times New Roman" panose="02020603050405020304" pitchFamily="18" charset="0"/>
            </a:endParaRPr>
          </a:p>
          <a:p>
            <a:pPr indent="457200" algn="just"/>
            <a:r>
              <a:rPr lang="ru-RU" sz="2000" dirty="0">
                <a:latin typeface="Times New Roman" panose="02020603050405020304" pitchFamily="18" charset="0"/>
                <a:cs typeface="Times New Roman" panose="02020603050405020304" pitchFamily="18" charset="0"/>
              </a:rPr>
              <a:t>BLCC  </a:t>
            </a:r>
            <a:r>
              <a:rPr lang="ru-RU" sz="2000" dirty="0" err="1">
                <a:latin typeface="Times New Roman" panose="02020603050405020304" pitchFamily="18" charset="0"/>
                <a:cs typeface="Times New Roman" panose="02020603050405020304" pitchFamily="18" charset="0"/>
              </a:rPr>
              <a:t>sub</a:t>
            </a:r>
            <a:r>
              <a:rPr lang="ru-RU" sz="2000" dirty="0">
                <a:latin typeface="Times New Roman" panose="02020603050405020304" pitchFamily="18" charset="0"/>
                <a:cs typeface="Times New Roman" panose="02020603050405020304" pitchFamily="18" charset="0"/>
              </a:rPr>
              <a:t>  		// в </a:t>
            </a:r>
            <a:r>
              <a:rPr lang="ru-RU" sz="2000" dirty="0" err="1">
                <a:latin typeface="Times New Roman" panose="02020603050405020304" pitchFamily="18" charset="0"/>
                <a:cs typeface="Times New Roman" panose="02020603050405020304" pitchFamily="18" charset="0"/>
              </a:rPr>
              <a:t>зависимост</a:t>
            </a:r>
            <a:r>
              <a:rPr lang="ru-RU" sz="2000" dirty="0">
                <a:latin typeface="Times New Roman" panose="02020603050405020304" pitchFamily="18" charset="0"/>
                <a:cs typeface="Times New Roman" panose="02020603050405020304" pitchFamily="18" charset="0"/>
              </a:rPr>
              <a:t> от </a:t>
            </a:r>
            <a:r>
              <a:rPr lang="ru-RU" sz="2000" dirty="0" err="1">
                <a:latin typeface="Times New Roman" panose="02020603050405020304" pitchFamily="18" charset="0"/>
                <a:cs typeface="Times New Roman" panose="02020603050405020304" pitchFamily="18" charset="0"/>
              </a:rPr>
              <a:t>резултата</a:t>
            </a:r>
            <a:r>
              <a:rPr lang="ru-RU" sz="2000" dirty="0">
                <a:latin typeface="Times New Roman" panose="02020603050405020304" pitchFamily="18" charset="0"/>
                <a:cs typeface="Times New Roman" panose="02020603050405020304" pitchFamily="18" charset="0"/>
              </a:rPr>
              <a:t> и </a:t>
            </a:r>
            <a:r>
              <a:rPr lang="ru-RU" sz="2000" dirty="0" err="1">
                <a:latin typeface="Times New Roman" panose="02020603050405020304" pitchFamily="18" charset="0"/>
                <a:cs typeface="Times New Roman" panose="02020603050405020304" pitchFamily="18" charset="0"/>
              </a:rPr>
              <a:t>извикай</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sub</a:t>
            </a:r>
            <a:r>
              <a:rPr lang="ru-RU" sz="2000" dirty="0">
                <a:latin typeface="Times New Roman" panose="02020603050405020304" pitchFamily="18" charset="0"/>
                <a:cs typeface="Times New Roman" panose="02020603050405020304" pitchFamily="18" charset="0"/>
              </a:rPr>
              <a:t>,</a:t>
            </a:r>
          </a:p>
          <a:p>
            <a:pPr indent="457200" algn="just"/>
            <a:r>
              <a:rPr lang="ru-RU" sz="2000" dirty="0">
                <a:latin typeface="Times New Roman" panose="02020603050405020304" pitchFamily="18" charset="0"/>
                <a:cs typeface="Times New Roman" panose="02020603050405020304" pitchFamily="18" charset="0"/>
              </a:rPr>
              <a:t>			// ако флаг C e 0, </a:t>
            </a:r>
            <a:r>
              <a:rPr lang="ru-RU" sz="2000" dirty="0" err="1">
                <a:latin typeface="Times New Roman" panose="02020603050405020304" pitchFamily="18" charset="0"/>
                <a:cs typeface="Times New Roman" panose="02020603050405020304" pitchFamily="18" charset="0"/>
              </a:rPr>
              <a:t>какъвто</a:t>
            </a:r>
            <a:r>
              <a:rPr lang="ru-RU" sz="2000" dirty="0">
                <a:latin typeface="Times New Roman" panose="02020603050405020304" pitchFamily="18" charset="0"/>
                <a:cs typeface="Times New Roman" panose="02020603050405020304" pitchFamily="18" charset="0"/>
              </a:rPr>
              <a:t> би бил </a:t>
            </a:r>
            <a:r>
              <a:rPr lang="ru-RU" sz="2000" dirty="0" err="1">
                <a:latin typeface="Times New Roman" panose="02020603050405020304" pitchFamily="18" charset="0"/>
                <a:cs typeface="Times New Roman" panose="02020603050405020304" pitchFamily="18" charset="0"/>
              </a:rPr>
              <a:t>случаят</a:t>
            </a:r>
            <a:r>
              <a:rPr lang="ru-RU" sz="2000" dirty="0">
                <a:latin typeface="Times New Roman" panose="02020603050405020304" pitchFamily="18" charset="0"/>
                <a:cs typeface="Times New Roman" panose="02020603050405020304" pitchFamily="18" charset="0"/>
              </a:rPr>
              <a:t>, </a:t>
            </a:r>
          </a:p>
          <a:p>
            <a:pPr indent="457200" algn="just"/>
            <a:r>
              <a:rPr lang="ru-RU" sz="2000" dirty="0">
                <a:latin typeface="Times New Roman" panose="02020603050405020304" pitchFamily="18" charset="0"/>
                <a:cs typeface="Times New Roman" panose="02020603050405020304" pitchFamily="18" charset="0"/>
              </a:rPr>
              <a:t>			// </a:t>
            </a:r>
            <a:r>
              <a:rPr lang="ru-RU" sz="2000" dirty="0" err="1">
                <a:latin typeface="Times New Roman" panose="02020603050405020304" pitchFamily="18" charset="0"/>
                <a:cs typeface="Times New Roman" panose="02020603050405020304" pitchFamily="18" charset="0"/>
              </a:rPr>
              <a:t>освен</a:t>
            </a:r>
            <a:r>
              <a:rPr lang="ru-RU" sz="2000" dirty="0">
                <a:latin typeface="Times New Roman" panose="02020603050405020304" pitchFamily="18" charset="0"/>
                <a:cs typeface="Times New Roman" panose="02020603050405020304" pitchFamily="18" charset="0"/>
              </a:rPr>
              <a:t> ако R1 е бил 0xFFFFFFFF (−1) </a:t>
            </a:r>
            <a:endParaRPr lang="bg-BG"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94561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540633-89A2-4A92-BB32-A6DE3FD7548E}"/>
              </a:ext>
            </a:extLst>
          </p:cNvPr>
          <p:cNvSpPr/>
          <p:nvPr/>
        </p:nvSpPr>
        <p:spPr>
          <a:xfrm>
            <a:off x="251520" y="1268760"/>
            <a:ext cx="8712968" cy="2246769"/>
          </a:xfrm>
          <a:prstGeom prst="rect">
            <a:avLst/>
          </a:prstGeom>
        </p:spPr>
        <p:txBody>
          <a:bodyPr wrap="square">
            <a:spAutoFit/>
          </a:bodyPr>
          <a:lstStyle/>
          <a:p>
            <a:pPr algn="just"/>
            <a:r>
              <a:rPr lang="bg-BG" sz="2000" dirty="0">
                <a:latin typeface="Times New Roman" panose="02020603050405020304" pitchFamily="18" charset="0"/>
                <a:cs typeface="Times New Roman" panose="02020603050405020304" pitchFamily="18" charset="0"/>
              </a:rPr>
              <a:t>Стековете работят на принципа „Последен влязъл, първи излязъл“ (LIFO) и могат да с е използват за описание на системи от архитектурно ниво до хардуерно </a:t>
            </a:r>
            <a:r>
              <a:rPr lang="bg-BG" sz="2000" dirty="0" err="1">
                <a:latin typeface="Times New Roman" panose="02020603050405020304" pitchFamily="18" charset="0"/>
                <a:cs typeface="Times New Roman" panose="02020603050405020304" pitchFamily="18" charset="0"/>
              </a:rPr>
              <a:t>нив</a:t>
            </a:r>
            <a:r>
              <a:rPr lang="ru-RU" sz="2000" dirty="0">
                <a:latin typeface="Times New Roman" panose="02020603050405020304" pitchFamily="18" charset="0"/>
                <a:cs typeface="Times New Roman" panose="02020603050405020304" pitchFamily="18" charset="0"/>
              </a:rPr>
              <a:t>о. Те могат да се използват и за </a:t>
            </a:r>
            <a:r>
              <a:rPr lang="ru-RU" sz="2000" dirty="0" err="1">
                <a:latin typeface="Times New Roman" panose="02020603050405020304" pitchFamily="18" charset="0"/>
                <a:cs typeface="Times New Roman" panose="02020603050405020304" pitchFamily="18" charset="0"/>
              </a:rPr>
              <a:t>софтуерни</a:t>
            </a:r>
            <a:r>
              <a:rPr lang="ru-RU" sz="2000" dirty="0">
                <a:latin typeface="Times New Roman" panose="02020603050405020304" pitchFamily="18" charset="0"/>
                <a:cs typeface="Times New Roman" panose="02020603050405020304" pitchFamily="18" charset="0"/>
              </a:rPr>
              <a:t> операции. Когато става </a:t>
            </a:r>
            <a:r>
              <a:rPr lang="ru-RU" sz="2000" dirty="0" err="1">
                <a:latin typeface="Times New Roman" panose="02020603050405020304" pitchFamily="18" charset="0"/>
                <a:cs typeface="Times New Roman" panose="02020603050405020304" pitchFamily="18" charset="0"/>
              </a:rPr>
              <a:t>въпрос</a:t>
            </a:r>
            <a:r>
              <a:rPr lang="ru-RU" sz="2000" dirty="0">
                <a:latin typeface="Times New Roman" panose="02020603050405020304" pitchFamily="18" charset="0"/>
                <a:cs typeface="Times New Roman" panose="02020603050405020304" pitchFamily="18" charset="0"/>
              </a:rPr>
              <a:t> за </a:t>
            </a:r>
            <a:r>
              <a:rPr lang="ru-RU" sz="2000" dirty="0" err="1">
                <a:latin typeface="Times New Roman" panose="02020603050405020304" pitchFamily="18" charset="0"/>
                <a:cs typeface="Times New Roman" panose="02020603050405020304" pitchFamily="18" charset="0"/>
              </a:rPr>
              <a:t>хардуер</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обикновено</a:t>
            </a:r>
            <a:r>
              <a:rPr lang="ru-RU" sz="2000" dirty="0">
                <a:latin typeface="Times New Roman" panose="02020603050405020304" pitchFamily="18" charset="0"/>
                <a:cs typeface="Times New Roman" panose="02020603050405020304" pitchFamily="18" charset="0"/>
              </a:rPr>
              <a:t> това са области в </a:t>
            </a:r>
            <a:r>
              <a:rPr lang="ru-RU" sz="2000" dirty="0" err="1">
                <a:latin typeface="Times New Roman" panose="02020603050405020304" pitchFamily="18" charset="0"/>
                <a:cs typeface="Times New Roman" panose="02020603050405020304" pitchFamily="18" charset="0"/>
              </a:rPr>
              <a:t>паметта</a:t>
            </a:r>
            <a:r>
              <a:rPr lang="ru-RU" sz="2000" dirty="0">
                <a:latin typeface="Times New Roman" panose="02020603050405020304" pitchFamily="18" charset="0"/>
                <a:cs typeface="Times New Roman" panose="02020603050405020304" pitchFamily="18" charset="0"/>
              </a:rPr>
              <a:t>, които </a:t>
            </a:r>
            <a:r>
              <a:rPr lang="ru-RU" sz="2000" dirty="0" err="1">
                <a:latin typeface="Times New Roman" panose="02020603050405020304" pitchFamily="18" charset="0"/>
                <a:cs typeface="Times New Roman" panose="02020603050405020304" pitchFamily="18" charset="0"/>
              </a:rPr>
              <a:t>имат</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променлива</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дължина</a:t>
            </a:r>
            <a:r>
              <a:rPr lang="ru-RU" sz="2000" dirty="0">
                <a:latin typeface="Times New Roman" panose="02020603050405020304" pitchFamily="18" charset="0"/>
                <a:cs typeface="Times New Roman" panose="02020603050405020304" pitchFamily="18" charset="0"/>
              </a:rPr>
              <a:t> и </a:t>
            </a:r>
            <a:r>
              <a:rPr lang="ru-RU" sz="2000" dirty="0" err="1">
                <a:latin typeface="Times New Roman" panose="02020603050405020304" pitchFamily="18" charset="0"/>
                <a:cs typeface="Times New Roman" panose="02020603050405020304" pitchFamily="18" charset="0"/>
              </a:rPr>
              <a:t>фиксиран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начален</a:t>
            </a:r>
            <a:r>
              <a:rPr lang="ru-RU" sz="2000" dirty="0">
                <a:latin typeface="Times New Roman" panose="02020603050405020304" pitchFamily="18" charset="0"/>
                <a:cs typeface="Times New Roman" panose="02020603050405020304" pitchFamily="18" charset="0"/>
              </a:rPr>
              <a:t> адрес. </a:t>
            </a:r>
            <a:r>
              <a:rPr lang="ru-RU" sz="2000" dirty="0" err="1">
                <a:latin typeface="Times New Roman" panose="02020603050405020304" pitchFamily="18" charset="0"/>
                <a:cs typeface="Times New Roman" panose="02020603050405020304" pitchFamily="18" charset="0"/>
              </a:rPr>
              <a:t>Фигурата</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показва</a:t>
            </a:r>
            <a:r>
              <a:rPr lang="ru-RU" sz="2000" dirty="0">
                <a:latin typeface="Times New Roman" panose="02020603050405020304" pitchFamily="18" charset="0"/>
                <a:cs typeface="Times New Roman" panose="02020603050405020304" pitchFamily="18" charset="0"/>
              </a:rPr>
              <a:t> описание на </a:t>
            </a:r>
            <a:r>
              <a:rPr lang="ru-RU" sz="2000" dirty="0" err="1">
                <a:latin typeface="Times New Roman" panose="02020603050405020304" pitchFamily="18" charset="0"/>
                <a:cs typeface="Times New Roman" panose="02020603050405020304" pitchFamily="18" charset="0"/>
              </a:rPr>
              <a:t>хардуерен</a:t>
            </a:r>
            <a:r>
              <a:rPr lang="ru-RU" sz="2000" dirty="0">
                <a:latin typeface="Times New Roman" panose="02020603050405020304" pitchFamily="18" charset="0"/>
                <a:cs typeface="Times New Roman" panose="02020603050405020304" pitchFamily="18" charset="0"/>
              </a:rPr>
              <a:t> стек, като </a:t>
            </a:r>
            <a:r>
              <a:rPr lang="ru-RU" sz="2000" dirty="0" err="1">
                <a:latin typeface="Times New Roman" panose="02020603050405020304" pitchFamily="18" charset="0"/>
                <a:cs typeface="Times New Roman" panose="02020603050405020304" pitchFamily="18" charset="0"/>
              </a:rPr>
              <a:t>всеки</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запис</a:t>
            </a:r>
            <a:r>
              <a:rPr lang="ru-RU" sz="2000" dirty="0">
                <a:latin typeface="Times New Roman" panose="02020603050405020304" pitchFamily="18" charset="0"/>
                <a:cs typeface="Times New Roman" panose="02020603050405020304" pitchFamily="18" charset="0"/>
              </a:rPr>
              <a:t> е </a:t>
            </a:r>
            <a:r>
              <a:rPr lang="ru-RU" sz="2000" dirty="0" err="1">
                <a:latin typeface="Times New Roman" panose="02020603050405020304" pitchFamily="18" charset="0"/>
                <a:cs typeface="Times New Roman" panose="02020603050405020304" pitchFamily="18" charset="0"/>
              </a:rPr>
              <a:t>фиксиран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брой</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байтове</a:t>
            </a:r>
            <a:r>
              <a:rPr lang="ru-RU" sz="2000" dirty="0">
                <a:latin typeface="Times New Roman" panose="02020603050405020304" pitchFamily="18" charset="0"/>
                <a:cs typeface="Times New Roman" panose="02020603050405020304" pitchFamily="18" charset="0"/>
              </a:rPr>
              <a:t> в </a:t>
            </a:r>
            <a:r>
              <a:rPr lang="ru-RU" sz="2000" dirty="0" err="1">
                <a:latin typeface="Times New Roman" panose="02020603050405020304" pitchFamily="18" charset="0"/>
                <a:cs typeface="Times New Roman" panose="02020603050405020304" pitchFamily="18" charset="0"/>
              </a:rPr>
              <a:t>паметта</a:t>
            </a:r>
            <a:r>
              <a:rPr lang="ru-RU" sz="2000" dirty="0">
                <a:latin typeface="Times New Roman" panose="02020603050405020304" pitchFamily="18" charset="0"/>
                <a:cs typeface="Times New Roman" panose="02020603050405020304" pitchFamily="18" charset="0"/>
              </a:rPr>
              <a:t> (за </a:t>
            </a:r>
            <a:r>
              <a:rPr lang="ru-RU" sz="2000" dirty="0" err="1">
                <a:latin typeface="Times New Roman" panose="02020603050405020304" pitchFamily="18" charset="0"/>
                <a:cs typeface="Times New Roman" panose="02020603050405020304" pitchFamily="18" charset="0"/>
              </a:rPr>
              <a:t>нашия</a:t>
            </a:r>
            <a:r>
              <a:rPr lang="ru-RU" sz="2000" dirty="0">
                <a:latin typeface="Times New Roman" panose="02020603050405020304" pitchFamily="18" charset="0"/>
                <a:cs typeface="Times New Roman" panose="02020603050405020304" pitchFamily="18" charset="0"/>
              </a:rPr>
              <a:t> случай </a:t>
            </a:r>
            <a:r>
              <a:rPr lang="ru-RU" sz="2000" dirty="0" err="1">
                <a:latin typeface="Times New Roman" panose="02020603050405020304" pitchFamily="18" charset="0"/>
                <a:cs typeface="Times New Roman" panose="02020603050405020304" pitchFamily="18" charset="0"/>
              </a:rPr>
              <a:t>обикновено</a:t>
            </a:r>
            <a:r>
              <a:rPr lang="ru-RU" sz="2000" dirty="0">
                <a:latin typeface="Times New Roman" panose="02020603050405020304" pitchFamily="18" charset="0"/>
                <a:cs typeface="Times New Roman" panose="02020603050405020304" pitchFamily="18" charset="0"/>
              </a:rPr>
              <a:t> това са </a:t>
            </a:r>
            <a:r>
              <a:rPr lang="ru-RU" sz="2000" dirty="0" err="1">
                <a:latin typeface="Times New Roman" panose="02020603050405020304" pitchFamily="18" charset="0"/>
                <a:cs typeface="Times New Roman" panose="02020603050405020304" pitchFamily="18" charset="0"/>
              </a:rPr>
              <a:t>стойности</a:t>
            </a:r>
            <a:r>
              <a:rPr lang="ru-RU" sz="2000" dirty="0">
                <a:latin typeface="Times New Roman" panose="02020603050405020304" pitchFamily="18" charset="0"/>
                <a:cs typeface="Times New Roman" panose="02020603050405020304" pitchFamily="18" charset="0"/>
              </a:rPr>
              <a:t> на </a:t>
            </a:r>
            <a:r>
              <a:rPr lang="ru-RU" sz="2000" dirty="0" err="1">
                <a:latin typeface="Times New Roman" panose="02020603050405020304" pitchFamily="18" charset="0"/>
                <a:cs typeface="Times New Roman" panose="02020603050405020304" pitchFamily="18" charset="0"/>
              </a:rPr>
              <a:t>дължина</a:t>
            </a:r>
            <a:r>
              <a:rPr lang="ru-RU" sz="2000" dirty="0">
                <a:latin typeface="Times New Roman" panose="02020603050405020304" pitchFamily="18" charset="0"/>
                <a:cs typeface="Times New Roman" panose="02020603050405020304" pitchFamily="18" charset="0"/>
              </a:rPr>
              <a:t> на </a:t>
            </a:r>
            <a:r>
              <a:rPr lang="ru-RU" sz="2000" dirty="0" err="1">
                <a:latin typeface="Times New Roman" panose="02020603050405020304" pitchFamily="18" charset="0"/>
                <a:cs typeface="Times New Roman" panose="02020603050405020304" pitchFamily="18" charset="0"/>
              </a:rPr>
              <a:t>думата</a:t>
            </a:r>
            <a:r>
              <a:rPr lang="ru-RU" sz="2000" dirty="0">
                <a:latin typeface="Times New Roman" panose="02020603050405020304" pitchFamily="18" charset="0"/>
                <a:cs typeface="Times New Roman" panose="02020603050405020304" pitchFamily="18" charset="0"/>
              </a:rPr>
              <a:t>). </a:t>
            </a:r>
          </a:p>
        </p:txBody>
      </p:sp>
      <p:pic>
        <p:nvPicPr>
          <p:cNvPr id="4" name="Картина 3"/>
          <p:cNvPicPr>
            <a:picLocks noChangeAspect="1"/>
          </p:cNvPicPr>
          <p:nvPr/>
        </p:nvPicPr>
        <p:blipFill>
          <a:blip r:embed="rId2"/>
          <a:stretch>
            <a:fillRect/>
          </a:stretch>
        </p:blipFill>
        <p:spPr>
          <a:xfrm>
            <a:off x="755576" y="548680"/>
            <a:ext cx="5980694" cy="859611"/>
          </a:xfrm>
          <a:prstGeom prst="rect">
            <a:avLst/>
          </a:prstGeom>
        </p:spPr>
      </p:pic>
      <p:pic>
        <p:nvPicPr>
          <p:cNvPr id="6" name="Picture 2">
            <a:extLst>
              <a:ext uri="{FF2B5EF4-FFF2-40B4-BE49-F238E27FC236}">
                <a16:creationId xmlns:a16="http://schemas.microsoft.com/office/drawing/2014/main" id="{E6865FB1-4CBC-4FDC-B8A0-0966177B6A52}"/>
              </a:ext>
            </a:extLst>
          </p:cNvPr>
          <p:cNvPicPr>
            <a:picLocks noChangeAspect="1"/>
          </p:cNvPicPr>
          <p:nvPr/>
        </p:nvPicPr>
        <p:blipFill>
          <a:blip r:embed="rId3"/>
          <a:stretch>
            <a:fillRect/>
          </a:stretch>
        </p:blipFill>
        <p:spPr>
          <a:xfrm>
            <a:off x="1979712" y="3429000"/>
            <a:ext cx="5756411" cy="3156715"/>
          </a:xfrm>
          <a:prstGeom prst="rect">
            <a:avLst/>
          </a:prstGeom>
        </p:spPr>
      </p:pic>
    </p:spTree>
    <p:extLst>
      <p:ext uri="{BB962C8B-B14F-4D97-AF65-F5344CB8AC3E}">
        <p14:creationId xmlns:p14="http://schemas.microsoft.com/office/powerpoint/2010/main" val="247392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540633-89A2-4A92-BB32-A6DE3FD7548E}"/>
              </a:ext>
            </a:extLst>
          </p:cNvPr>
          <p:cNvSpPr/>
          <p:nvPr/>
        </p:nvSpPr>
        <p:spPr>
          <a:xfrm>
            <a:off x="467544" y="1772816"/>
            <a:ext cx="8424936" cy="3888244"/>
          </a:xfrm>
          <a:prstGeom prst="rect">
            <a:avLst/>
          </a:prstGeom>
        </p:spPr>
        <p:txBody>
          <a:bodyPr wrap="square">
            <a:spAutoFit/>
          </a:bodyPr>
          <a:lstStyle/>
          <a:p>
            <a:pPr algn="just">
              <a:lnSpc>
                <a:spcPts val="3200"/>
              </a:lnSpc>
            </a:pPr>
            <a:r>
              <a:rPr lang="ru-RU" sz="2400" dirty="0" err="1">
                <a:latin typeface="Times New Roman" panose="02020603050405020304" pitchFamily="18" charset="0"/>
                <a:cs typeface="Times New Roman" panose="02020603050405020304" pitchFamily="18" charset="0"/>
              </a:rPr>
              <a:t>Данните</a:t>
            </a:r>
            <a:r>
              <a:rPr lang="ru-RU" sz="2400" dirty="0">
                <a:latin typeface="Times New Roman" panose="02020603050405020304" pitchFamily="18" charset="0"/>
                <a:cs typeface="Times New Roman" panose="02020603050405020304" pitchFamily="18" charset="0"/>
              </a:rPr>
              <a:t> се </a:t>
            </a:r>
            <a:r>
              <a:rPr lang="ru-RU" sz="2400" dirty="0" err="1">
                <a:latin typeface="Times New Roman" panose="02020603050405020304" pitchFamily="18" charset="0"/>
                <a:cs typeface="Times New Roman" panose="02020603050405020304" pitchFamily="18" charset="0"/>
              </a:rPr>
              <a:t>записват</a:t>
            </a:r>
            <a:r>
              <a:rPr lang="ru-RU" sz="2400" dirty="0">
                <a:latin typeface="Times New Roman" panose="02020603050405020304" pitchFamily="18" charset="0"/>
                <a:cs typeface="Times New Roman" panose="02020603050405020304" pitchFamily="18" charset="0"/>
              </a:rPr>
              <a:t> или </a:t>
            </a:r>
            <a:r>
              <a:rPr lang="ru-RU" sz="2400" dirty="0" err="1">
                <a:latin typeface="Times New Roman" panose="02020603050405020304" pitchFamily="18" charset="0"/>
                <a:cs typeface="Times New Roman" panose="02020603050405020304" pitchFamily="18" charset="0"/>
              </a:rPr>
              <a:t>избутват</a:t>
            </a:r>
            <a:r>
              <a:rPr lang="ru-RU" sz="2400" dirty="0">
                <a:latin typeface="Times New Roman" panose="02020603050405020304" pitchFamily="18" charset="0"/>
                <a:cs typeface="Times New Roman" panose="02020603050405020304" pitchFamily="18" charset="0"/>
              </a:rPr>
              <a:t> в </a:t>
            </a:r>
            <a:r>
              <a:rPr lang="ru-RU" sz="2400" dirty="0" err="1">
                <a:latin typeface="Times New Roman" panose="02020603050405020304" pitchFamily="18" charset="0"/>
                <a:cs typeface="Times New Roman" panose="02020603050405020304" pitchFamily="18" charset="0"/>
              </a:rPr>
              <a:t>горната</a:t>
            </a:r>
            <a:r>
              <a:rPr lang="ru-RU" sz="2400" dirty="0">
                <a:latin typeface="Times New Roman" panose="02020603050405020304" pitchFamily="18" charset="0"/>
                <a:cs typeface="Times New Roman" panose="02020603050405020304" pitchFamily="18" charset="0"/>
              </a:rPr>
              <a:t> част на стека и също се </a:t>
            </a:r>
            <a:r>
              <a:rPr lang="ru-RU" sz="2400" dirty="0" err="1">
                <a:latin typeface="Times New Roman" panose="02020603050405020304" pitchFamily="18" charset="0"/>
                <a:cs typeface="Times New Roman" panose="02020603050405020304" pitchFamily="18" charset="0"/>
              </a:rPr>
              <a:t>четат</a:t>
            </a:r>
            <a:r>
              <a:rPr lang="ru-RU" sz="2400" dirty="0">
                <a:latin typeface="Times New Roman" panose="02020603050405020304" pitchFamily="18" charset="0"/>
                <a:cs typeface="Times New Roman" panose="02020603050405020304" pitchFamily="18" charset="0"/>
              </a:rPr>
              <a:t> или </a:t>
            </a:r>
            <a:r>
              <a:rPr lang="ru-RU" sz="2400" dirty="0" err="1">
                <a:latin typeface="Times New Roman" panose="02020603050405020304" pitchFamily="18" charset="0"/>
                <a:cs typeface="Times New Roman" panose="02020603050405020304" pitchFamily="18" charset="0"/>
              </a:rPr>
              <a:t>изваждат</a:t>
            </a:r>
            <a:r>
              <a:rPr lang="ru-RU" sz="2400" dirty="0">
                <a:latin typeface="Times New Roman" panose="02020603050405020304" pitchFamily="18" charset="0"/>
                <a:cs typeface="Times New Roman" panose="02020603050405020304" pitchFamily="18" charset="0"/>
              </a:rPr>
              <a:t> от </a:t>
            </a:r>
            <a:r>
              <a:rPr lang="ru-RU" sz="2400" dirty="0" err="1">
                <a:latin typeface="Times New Roman" panose="02020603050405020304" pitchFamily="18" charset="0"/>
                <a:cs typeface="Times New Roman" panose="02020603050405020304" pitchFamily="18" charset="0"/>
              </a:rPr>
              <a:t>горната</a:t>
            </a:r>
            <a:r>
              <a:rPr lang="ru-RU" sz="2400" dirty="0">
                <a:latin typeface="Times New Roman" panose="02020603050405020304" pitchFamily="18" charset="0"/>
                <a:cs typeface="Times New Roman" panose="02020603050405020304" pitchFamily="18" charset="0"/>
              </a:rPr>
              <a:t> част на стека, </a:t>
            </a:r>
            <a:r>
              <a:rPr lang="ru-RU" sz="2400" dirty="0" err="1">
                <a:latin typeface="Times New Roman" panose="02020603050405020304" pitchFamily="18" charset="0"/>
                <a:cs typeface="Times New Roman" panose="02020603050405020304" pitchFamily="18" charset="0"/>
              </a:rPr>
              <a:t>където</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процесорът</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коригира</a:t>
            </a:r>
            <a:r>
              <a:rPr lang="ru-RU" sz="2400" dirty="0">
                <a:latin typeface="Times New Roman" panose="02020603050405020304" pitchFamily="18" charset="0"/>
                <a:cs typeface="Times New Roman" panose="02020603050405020304" pitchFamily="18" charset="0"/>
              </a:rPr>
              <a:t> указателя на стека </a:t>
            </a:r>
            <a:r>
              <a:rPr lang="ru-RU" sz="2400" dirty="0" err="1">
                <a:latin typeface="Times New Roman" panose="02020603050405020304" pitchFamily="18" charset="0"/>
                <a:cs typeface="Times New Roman" panose="02020603050405020304" pitchFamily="18" charset="0"/>
              </a:rPr>
              <a:t>преди</a:t>
            </a:r>
            <a:r>
              <a:rPr lang="ru-RU" sz="2400" dirty="0">
                <a:latin typeface="Times New Roman" panose="02020603050405020304" pitchFamily="18" charset="0"/>
                <a:cs typeface="Times New Roman" panose="02020603050405020304" pitchFamily="18" charset="0"/>
              </a:rPr>
              <a:t> или след всяка операция. ARM </a:t>
            </a:r>
            <a:r>
              <a:rPr lang="ru-RU" sz="2400" dirty="0" err="1">
                <a:latin typeface="Times New Roman" panose="02020603050405020304" pitchFamily="18" charset="0"/>
                <a:cs typeface="Times New Roman" panose="02020603050405020304" pitchFamily="18" charset="0"/>
              </a:rPr>
              <a:t>процесорите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имат</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указател</a:t>
            </a:r>
            <a:r>
              <a:rPr lang="ru-RU" sz="2400" dirty="0">
                <a:latin typeface="Times New Roman" panose="02020603050405020304" pitchFamily="18" charset="0"/>
                <a:cs typeface="Times New Roman" panose="02020603050405020304" pitchFamily="18" charset="0"/>
              </a:rPr>
              <a:t> на стека, </a:t>
            </a:r>
            <a:r>
              <a:rPr lang="ru-RU" sz="2400" dirty="0" err="1">
                <a:latin typeface="Times New Roman" panose="02020603050405020304" pitchFamily="18" charset="0"/>
                <a:cs typeface="Times New Roman" panose="02020603050405020304" pitchFamily="18" charset="0"/>
              </a:rPr>
              <a:t>регистър</a:t>
            </a:r>
            <a:r>
              <a:rPr lang="ru-RU" sz="2400" dirty="0">
                <a:latin typeface="Times New Roman" panose="02020603050405020304" pitchFamily="18" charset="0"/>
                <a:cs typeface="Times New Roman" panose="02020603050405020304" pitchFamily="18" charset="0"/>
              </a:rPr>
              <a:t> r13, </a:t>
            </a:r>
            <a:r>
              <a:rPr lang="ru-RU" sz="2400" dirty="0" err="1">
                <a:latin typeface="Times New Roman" panose="02020603050405020304" pitchFamily="18" charset="0"/>
                <a:cs typeface="Times New Roman" panose="02020603050405020304" pitchFamily="18" charset="0"/>
              </a:rPr>
              <a:t>който</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съдържа</a:t>
            </a:r>
            <a:r>
              <a:rPr lang="ru-RU" sz="2400" dirty="0">
                <a:latin typeface="Times New Roman" panose="02020603050405020304" pitchFamily="18" charset="0"/>
                <a:cs typeface="Times New Roman" panose="02020603050405020304" pitchFamily="18" charset="0"/>
              </a:rPr>
              <a:t> адреса или на </a:t>
            </a:r>
            <a:r>
              <a:rPr lang="ru-RU" sz="2400" dirty="0" err="1">
                <a:latin typeface="Times New Roman" panose="02020603050405020304" pitchFamily="18" charset="0"/>
                <a:cs typeface="Times New Roman" panose="02020603050405020304" pitchFamily="18" charset="0"/>
              </a:rPr>
              <a:t>следващия</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празен</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запис</a:t>
            </a:r>
            <a:r>
              <a:rPr lang="ru-RU" sz="2400" dirty="0">
                <a:latin typeface="Times New Roman" panose="02020603050405020304" pitchFamily="18" charset="0"/>
                <a:cs typeface="Times New Roman" panose="02020603050405020304" pitchFamily="18" charset="0"/>
              </a:rPr>
              <a:t>, или на </a:t>
            </a:r>
            <a:r>
              <a:rPr lang="ru-RU" sz="2400" dirty="0" err="1">
                <a:latin typeface="Times New Roman" panose="02020603050405020304" pitchFamily="18" charset="0"/>
                <a:cs typeface="Times New Roman" panose="02020603050405020304" pitchFamily="18" charset="0"/>
              </a:rPr>
              <a:t>последния</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попълнен</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запис</a:t>
            </a:r>
            <a:r>
              <a:rPr lang="ru-RU" sz="2400" dirty="0">
                <a:latin typeface="Times New Roman" panose="02020603050405020304" pitchFamily="18" charset="0"/>
                <a:cs typeface="Times New Roman" panose="02020603050405020304" pitchFamily="18" charset="0"/>
              </a:rPr>
              <a:t> в </a:t>
            </a:r>
            <a:r>
              <a:rPr lang="ru-RU" sz="2400" dirty="0" err="1">
                <a:latin typeface="Times New Roman" panose="02020603050405020304" pitchFamily="18" charset="0"/>
                <a:cs typeface="Times New Roman" panose="02020603050405020304" pitchFamily="18" charset="0"/>
              </a:rPr>
              <a:t>опашката</a:t>
            </a:r>
            <a:r>
              <a:rPr lang="ru-RU" sz="2400" dirty="0">
                <a:latin typeface="Times New Roman" panose="02020603050405020304" pitchFamily="18" charset="0"/>
                <a:cs typeface="Times New Roman" panose="02020603050405020304" pitchFamily="18" charset="0"/>
              </a:rPr>
              <a:t>, в </a:t>
            </a:r>
            <a:r>
              <a:rPr lang="ru-RU" sz="2400" dirty="0" err="1">
                <a:latin typeface="Times New Roman" panose="02020603050405020304" pitchFamily="18" charset="0"/>
                <a:cs typeface="Times New Roman" panose="02020603050405020304" pitchFamily="18" charset="0"/>
              </a:rPr>
              <a:t>зависимост</a:t>
            </a:r>
            <a:r>
              <a:rPr lang="ru-RU" sz="2400" dirty="0">
                <a:latin typeface="Times New Roman" panose="02020603050405020304" pitchFamily="18" charset="0"/>
                <a:cs typeface="Times New Roman" panose="02020603050405020304" pitchFamily="18" charset="0"/>
              </a:rPr>
              <a:t> от вида на стека, </a:t>
            </a:r>
            <a:r>
              <a:rPr lang="ru-RU" sz="2400" dirty="0" err="1">
                <a:latin typeface="Times New Roman" panose="02020603050405020304" pitchFamily="18" charset="0"/>
                <a:cs typeface="Times New Roman" panose="02020603050405020304" pitchFamily="18" charset="0"/>
              </a:rPr>
              <a:t>който</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имате</a:t>
            </a:r>
            <a:r>
              <a:rPr lang="ru-RU" sz="2400" dirty="0">
                <a:latin typeface="Times New Roman" panose="02020603050405020304" pitchFamily="18" charset="0"/>
                <a:cs typeface="Times New Roman" panose="02020603050405020304" pitchFamily="18" charset="0"/>
              </a:rPr>
              <a:t>.</a:t>
            </a:r>
          </a:p>
          <a:p>
            <a:pPr algn="just"/>
            <a:endParaRPr lang="ru-RU"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ru-RU" sz="2000" dirty="0">
              <a:latin typeface="Times New Roman" panose="02020603050405020304" pitchFamily="18" charset="0"/>
              <a:cs typeface="Times New Roman" panose="02020603050405020304" pitchFamily="18" charset="0"/>
            </a:endParaRPr>
          </a:p>
        </p:txBody>
      </p:sp>
      <p:pic>
        <p:nvPicPr>
          <p:cNvPr id="4" name="Картина 3"/>
          <p:cNvPicPr>
            <a:picLocks noChangeAspect="1"/>
          </p:cNvPicPr>
          <p:nvPr/>
        </p:nvPicPr>
        <p:blipFill>
          <a:blip r:embed="rId2"/>
          <a:stretch>
            <a:fillRect/>
          </a:stretch>
        </p:blipFill>
        <p:spPr>
          <a:xfrm>
            <a:off x="827584" y="409149"/>
            <a:ext cx="5980694" cy="859611"/>
          </a:xfrm>
          <a:prstGeom prst="rect">
            <a:avLst/>
          </a:prstGeom>
        </p:spPr>
      </p:pic>
    </p:spTree>
    <p:extLst>
      <p:ext uri="{BB962C8B-B14F-4D97-AF65-F5344CB8AC3E}">
        <p14:creationId xmlns:p14="http://schemas.microsoft.com/office/powerpoint/2010/main" val="42329921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540633-89A2-4A92-BB32-A6DE3FD7548E}"/>
              </a:ext>
            </a:extLst>
          </p:cNvPr>
          <p:cNvSpPr/>
          <p:nvPr/>
        </p:nvSpPr>
        <p:spPr>
          <a:xfrm>
            <a:off x="323528" y="836712"/>
            <a:ext cx="8424936" cy="5837495"/>
          </a:xfrm>
          <a:prstGeom prst="rect">
            <a:avLst/>
          </a:prstGeom>
        </p:spPr>
        <p:txBody>
          <a:bodyPr wrap="square">
            <a:spAutoFit/>
          </a:bodyPr>
          <a:lstStyle/>
          <a:p>
            <a:pPr algn="just">
              <a:lnSpc>
                <a:spcPts val="3200"/>
              </a:lnSpc>
            </a:pPr>
            <a:r>
              <a:rPr lang="en-US" sz="2400" b="1" dirty="0">
                <a:latin typeface="Times New Roman" panose="02020603050405020304" pitchFamily="18" charset="0"/>
                <a:cs typeface="Times New Roman" panose="02020603050405020304" pitchFamily="18" charset="0"/>
              </a:rPr>
              <a:t>LDM/STM </a:t>
            </a:r>
            <a:r>
              <a:rPr lang="bg-BG" sz="2400" b="1" dirty="0">
                <a:latin typeface="Times New Roman" panose="02020603050405020304" pitchFamily="18" charset="0"/>
                <a:cs typeface="Times New Roman" panose="02020603050405020304" pitchFamily="18" charset="0"/>
              </a:rPr>
              <a:t>инструкции</a:t>
            </a:r>
          </a:p>
          <a:p>
            <a:pPr algn="just">
              <a:lnSpc>
                <a:spcPts val="3200"/>
              </a:lnSpc>
            </a:pPr>
            <a:r>
              <a:rPr lang="ru-RU" sz="2400" dirty="0" err="1">
                <a:latin typeface="Times New Roman" panose="02020603050405020304" pitchFamily="18" charset="0"/>
                <a:cs typeface="Times New Roman" panose="02020603050405020304" pitchFamily="18" charset="0"/>
              </a:rPr>
              <a:t>Инструкциите</a:t>
            </a:r>
            <a:r>
              <a:rPr lang="ru-RU" sz="2400" dirty="0">
                <a:latin typeface="Times New Roman" panose="02020603050405020304" pitchFamily="18" charset="0"/>
                <a:cs typeface="Times New Roman" panose="02020603050405020304" pitchFamily="18" charset="0"/>
              </a:rPr>
              <a:t> LDR и STR </a:t>
            </a:r>
            <a:r>
              <a:rPr lang="ru-RU" sz="2400" dirty="0" err="1">
                <a:latin typeface="Times New Roman" panose="02020603050405020304" pitchFamily="18" charset="0"/>
                <a:cs typeface="Times New Roman" panose="02020603050405020304" pitchFamily="18" charset="0"/>
              </a:rPr>
              <a:t>прехвърлят</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думи</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полудуми</a:t>
            </a:r>
            <a:r>
              <a:rPr lang="ru-RU" sz="2400" dirty="0">
                <a:latin typeface="Times New Roman" panose="02020603050405020304" pitchFamily="18" charset="0"/>
                <a:cs typeface="Times New Roman" panose="02020603050405020304" pitchFamily="18" charset="0"/>
              </a:rPr>
              <a:t> и </a:t>
            </a:r>
            <a:r>
              <a:rPr lang="ru-RU" sz="2400" dirty="0" err="1">
                <a:latin typeface="Times New Roman" panose="02020603050405020304" pitchFamily="18" charset="0"/>
                <a:cs typeface="Times New Roman" panose="02020603050405020304" pitchFamily="18" charset="0"/>
              </a:rPr>
              <a:t>байтове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докато</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инструкциите</a:t>
            </a:r>
            <a:r>
              <a:rPr lang="ru-RU" sz="2400" dirty="0">
                <a:latin typeface="Times New Roman" panose="02020603050405020304" pitchFamily="18" charset="0"/>
                <a:cs typeface="Times New Roman" panose="02020603050405020304" pitchFamily="18" charset="0"/>
              </a:rPr>
              <a:t> LDM и STM винаги </a:t>
            </a:r>
            <a:r>
              <a:rPr lang="ru-RU" sz="2400" dirty="0" err="1">
                <a:latin typeface="Times New Roman" panose="02020603050405020304" pitchFamily="18" charset="0"/>
                <a:cs typeface="Times New Roman" panose="02020603050405020304" pitchFamily="18" charset="0"/>
              </a:rPr>
              <a:t>прехвърлят</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една</a:t>
            </a:r>
            <a:r>
              <a:rPr lang="ru-RU" sz="2400" dirty="0">
                <a:latin typeface="Times New Roman" panose="02020603050405020304" pitchFamily="18" charset="0"/>
                <a:cs typeface="Times New Roman" panose="02020603050405020304" pitchFamily="18" charset="0"/>
              </a:rPr>
              <a:t> или </a:t>
            </a:r>
            <a:r>
              <a:rPr lang="ru-RU" sz="2400" dirty="0" err="1">
                <a:latin typeface="Times New Roman" panose="02020603050405020304" pitchFamily="18" charset="0"/>
                <a:cs typeface="Times New Roman" panose="02020603050405020304" pitchFamily="18" charset="0"/>
              </a:rPr>
              <a:t>повече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думи</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използвайки</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регистри</a:t>
            </a:r>
            <a:r>
              <a:rPr lang="ru-RU" sz="2400" dirty="0">
                <a:latin typeface="Times New Roman" panose="02020603050405020304" pitchFamily="18" charset="0"/>
                <a:cs typeface="Times New Roman" panose="02020603050405020304" pitchFamily="18" charset="0"/>
              </a:rPr>
              <a:t> и </a:t>
            </a:r>
            <a:r>
              <a:rPr lang="ru-RU" sz="2400" dirty="0" err="1">
                <a:latin typeface="Times New Roman" panose="02020603050405020304" pitchFamily="18" charset="0"/>
                <a:cs typeface="Times New Roman" panose="02020603050405020304" pitchFamily="18" charset="0"/>
              </a:rPr>
              <a:t>указател</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към</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паметта</a:t>
            </a:r>
            <a:r>
              <a:rPr lang="ru-RU" sz="2400" dirty="0">
                <a:latin typeface="Times New Roman" panose="02020603050405020304" pitchFamily="18" charset="0"/>
                <a:cs typeface="Times New Roman" panose="02020603050405020304" pitchFamily="18" charset="0"/>
              </a:rPr>
              <a:t>, известен като </a:t>
            </a:r>
            <a:r>
              <a:rPr lang="ru-RU" sz="2400" dirty="0" err="1">
                <a:latin typeface="Times New Roman" panose="02020603050405020304" pitchFamily="18" charset="0"/>
                <a:cs typeface="Times New Roman" panose="02020603050405020304" pitchFamily="18" charset="0"/>
              </a:rPr>
              <a:t>основен</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регистър</a:t>
            </a:r>
            <a:r>
              <a:rPr lang="ru-RU" sz="2400" dirty="0">
                <a:latin typeface="Times New Roman" panose="02020603050405020304" pitchFamily="18" charset="0"/>
                <a:cs typeface="Times New Roman" panose="02020603050405020304" pitchFamily="18" charset="0"/>
              </a:rPr>
              <a:t>. Този тип </a:t>
            </a:r>
            <a:r>
              <a:rPr lang="ru-RU" sz="2400" dirty="0" err="1">
                <a:latin typeface="Times New Roman" panose="02020603050405020304" pitchFamily="18" charset="0"/>
                <a:cs typeface="Times New Roman" panose="02020603050405020304" pitchFamily="18" charset="0"/>
              </a:rPr>
              <a:t>зареждане</a:t>
            </a:r>
            <a:r>
              <a:rPr lang="ru-RU" sz="2400" dirty="0">
                <a:latin typeface="Times New Roman" panose="02020603050405020304" pitchFamily="18" charset="0"/>
                <a:cs typeface="Times New Roman" panose="02020603050405020304" pitchFamily="18" charset="0"/>
              </a:rPr>
              <a:t>/</a:t>
            </a:r>
            <a:r>
              <a:rPr lang="ru-RU" sz="2400" dirty="0" err="1">
                <a:latin typeface="Times New Roman" panose="02020603050405020304" pitchFamily="18" charset="0"/>
                <a:cs typeface="Times New Roman" panose="02020603050405020304" pitchFamily="18" charset="0"/>
              </a:rPr>
              <a:t>съхранение</a:t>
            </a:r>
            <a:r>
              <a:rPr lang="ru-RU" sz="2400" dirty="0">
                <a:latin typeface="Times New Roman" panose="02020603050405020304" pitchFamily="18" charset="0"/>
                <a:cs typeface="Times New Roman" panose="02020603050405020304" pitchFamily="18" charset="0"/>
              </a:rPr>
              <a:t> се </a:t>
            </a:r>
            <a:r>
              <a:rPr lang="ru-RU" sz="2400" dirty="0" err="1">
                <a:latin typeface="Times New Roman" panose="02020603050405020304" pitchFamily="18" charset="0"/>
                <a:cs typeface="Times New Roman" panose="02020603050405020304" pitchFamily="18" charset="0"/>
              </a:rPr>
              <a:t>появява</a:t>
            </a:r>
            <a:r>
              <a:rPr lang="ru-RU" sz="2400" dirty="0">
                <a:latin typeface="Times New Roman" panose="02020603050405020304" pitchFamily="18" charset="0"/>
                <a:cs typeface="Times New Roman" panose="02020603050405020304" pitchFamily="18" charset="0"/>
              </a:rPr>
              <a:t> най-често в контекста на </a:t>
            </a:r>
            <a:r>
              <a:rPr lang="ru-RU" sz="2400" dirty="0" err="1">
                <a:latin typeface="Times New Roman" panose="02020603050405020304" pitchFamily="18" charset="0"/>
                <a:cs typeface="Times New Roman" panose="02020603050405020304" pitchFamily="18" charset="0"/>
              </a:rPr>
              <a:t>стекове</a:t>
            </a:r>
            <a:r>
              <a:rPr lang="ru-RU" sz="2400" dirty="0">
                <a:latin typeface="Times New Roman" panose="02020603050405020304" pitchFamily="18" charset="0"/>
                <a:cs typeface="Times New Roman" panose="02020603050405020304" pitchFamily="18" charset="0"/>
              </a:rPr>
              <a:t> и обработка на </a:t>
            </a:r>
            <a:r>
              <a:rPr lang="ru-RU" sz="2400" dirty="0" err="1">
                <a:latin typeface="Times New Roman" panose="02020603050405020304" pitchFamily="18" charset="0"/>
                <a:cs typeface="Times New Roman" panose="02020603050405020304" pitchFamily="18" charset="0"/>
              </a:rPr>
              <a:t>изключения</a:t>
            </a:r>
            <a:r>
              <a:rPr lang="ru-RU" sz="2400" dirty="0">
                <a:latin typeface="Times New Roman" panose="02020603050405020304" pitchFamily="18" charset="0"/>
                <a:cs typeface="Times New Roman" panose="02020603050405020304" pitchFamily="18" charset="0"/>
              </a:rPr>
              <a:t>, тъй като </a:t>
            </a:r>
            <a:r>
              <a:rPr lang="ru-RU" sz="2400" dirty="0" err="1">
                <a:latin typeface="Times New Roman" panose="02020603050405020304" pitchFamily="18" charset="0"/>
                <a:cs typeface="Times New Roman" panose="02020603050405020304" pitchFamily="18" charset="0"/>
              </a:rPr>
              <a:t>процесорът</a:t>
            </a:r>
            <a:r>
              <a:rPr lang="ru-RU" sz="2400" dirty="0">
                <a:latin typeface="Times New Roman" panose="02020603050405020304" pitchFamily="18" charset="0"/>
                <a:cs typeface="Times New Roman" panose="02020603050405020304" pitchFamily="18" charset="0"/>
              </a:rPr>
              <a:t> има само ограничен </a:t>
            </a:r>
            <a:r>
              <a:rPr lang="ru-RU" sz="2400" dirty="0" err="1">
                <a:latin typeface="Times New Roman" panose="02020603050405020304" pitchFamily="18" charset="0"/>
                <a:cs typeface="Times New Roman" panose="02020603050405020304" pitchFamily="18" charset="0"/>
              </a:rPr>
              <a:t>брой</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регистри</a:t>
            </a:r>
            <a:r>
              <a:rPr lang="ru-RU" sz="2400" dirty="0">
                <a:latin typeface="Times New Roman" panose="02020603050405020304" pitchFamily="18" charset="0"/>
                <a:cs typeface="Times New Roman" panose="02020603050405020304" pitchFamily="18" charset="0"/>
              </a:rPr>
              <a:t> и </a:t>
            </a:r>
            <a:r>
              <a:rPr lang="ru-RU" sz="2400" dirty="0" err="1">
                <a:latin typeface="Times New Roman" panose="02020603050405020304" pitchFamily="18" charset="0"/>
                <a:cs typeface="Times New Roman" panose="02020603050405020304" pitchFamily="18" charset="0"/>
              </a:rPr>
              <a:t>понякога</a:t>
            </a:r>
            <a:r>
              <a:rPr lang="ru-RU" sz="2400" dirty="0">
                <a:latin typeface="Times New Roman" panose="02020603050405020304" pitchFamily="18" charset="0"/>
                <a:cs typeface="Times New Roman" panose="02020603050405020304" pitchFamily="18" charset="0"/>
              </a:rPr>
              <a:t> просто трябва да направите </a:t>
            </a:r>
            <a:r>
              <a:rPr lang="ru-RU" sz="2400" dirty="0" err="1">
                <a:latin typeface="Times New Roman" panose="02020603050405020304" pitchFamily="18" charset="0"/>
                <a:cs typeface="Times New Roman" panose="02020603050405020304" pitchFamily="18" charset="0"/>
              </a:rPr>
              <a:t>някъде</a:t>
            </a:r>
            <a:r>
              <a:rPr lang="ru-RU" sz="2400" dirty="0">
                <a:latin typeface="Times New Roman" panose="02020603050405020304" pitchFamily="18" charset="0"/>
                <a:cs typeface="Times New Roman" panose="02020603050405020304" pitchFamily="18" charset="0"/>
              </a:rPr>
              <a:t> място за нови данни. Като </a:t>
            </a:r>
            <a:r>
              <a:rPr lang="ru-RU" sz="2400" dirty="0" err="1">
                <a:latin typeface="Times New Roman" panose="02020603050405020304" pitchFamily="18" charset="0"/>
                <a:cs typeface="Times New Roman" panose="02020603050405020304" pitchFamily="18" charset="0"/>
              </a:rPr>
              <a:t>записвате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съдържанието</a:t>
            </a:r>
            <a:r>
              <a:rPr lang="ru-RU" sz="2400" dirty="0">
                <a:latin typeface="Times New Roman" panose="02020603050405020304" pitchFamily="18" charset="0"/>
                <a:cs typeface="Times New Roman" panose="02020603050405020304" pitchFamily="18" charset="0"/>
              </a:rPr>
              <a:t> на </a:t>
            </a:r>
            <a:r>
              <a:rPr lang="ru-RU" sz="2400" dirty="0" err="1">
                <a:latin typeface="Times New Roman" panose="02020603050405020304" pitchFamily="18" charset="0"/>
                <a:cs typeface="Times New Roman" panose="02020603050405020304" pitchFamily="18" charset="0"/>
              </a:rPr>
              <a:t>регистрите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преди</a:t>
            </a:r>
            <a:r>
              <a:rPr lang="ru-RU" sz="2400" dirty="0">
                <a:latin typeface="Times New Roman" panose="02020603050405020304" pitchFamily="18" charset="0"/>
                <a:cs typeface="Times New Roman" panose="02020603050405020304" pitchFamily="18" charset="0"/>
              </a:rPr>
              <a:t> да </a:t>
            </a:r>
            <a:r>
              <a:rPr lang="ru-RU" sz="2400" dirty="0" err="1">
                <a:latin typeface="Times New Roman" panose="02020603050405020304" pitchFamily="18" charset="0"/>
                <a:cs typeface="Times New Roman" panose="02020603050405020304" pitchFamily="18" charset="0"/>
              </a:rPr>
              <a:t>обработите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изключение</a:t>
            </a:r>
            <a:r>
              <a:rPr lang="ru-RU" sz="2400" dirty="0">
                <a:latin typeface="Times New Roman" panose="02020603050405020304" pitchFamily="18" charset="0"/>
                <a:cs typeface="Times New Roman" panose="02020603050405020304" pitchFamily="18" charset="0"/>
              </a:rPr>
              <a:t> или да </a:t>
            </a:r>
            <a:r>
              <a:rPr lang="ru-RU" sz="2400" dirty="0" err="1">
                <a:latin typeface="Times New Roman" panose="02020603050405020304" pitchFamily="18" charset="0"/>
                <a:cs typeface="Times New Roman" panose="02020603050405020304" pitchFamily="18" charset="0"/>
              </a:rPr>
              <a:t>отидете</a:t>
            </a:r>
            <a:r>
              <a:rPr lang="ru-RU" sz="2400" dirty="0">
                <a:latin typeface="Times New Roman" panose="02020603050405020304" pitchFamily="18" charset="0"/>
                <a:cs typeface="Times New Roman" panose="02020603050405020304" pitchFamily="18" charset="0"/>
              </a:rPr>
              <a:t> на </a:t>
            </a:r>
            <a:r>
              <a:rPr lang="ru-RU" sz="2400" dirty="0" err="1">
                <a:latin typeface="Times New Roman" panose="02020603050405020304" pitchFamily="18" charset="0"/>
                <a:cs typeface="Times New Roman" panose="02020603050405020304" pitchFamily="18" charset="0"/>
              </a:rPr>
              <a:t>подпрограма</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вие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освобождавате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регистри</a:t>
            </a:r>
            <a:r>
              <a:rPr lang="ru-RU" sz="2400" dirty="0">
                <a:latin typeface="Times New Roman" panose="02020603050405020304" pitchFamily="18" charset="0"/>
                <a:cs typeface="Times New Roman" panose="02020603050405020304" pitchFamily="18" charset="0"/>
              </a:rPr>
              <a:t> за </a:t>
            </a:r>
            <a:r>
              <a:rPr lang="ru-RU" sz="2400" dirty="0" err="1">
                <a:latin typeface="Times New Roman" panose="02020603050405020304" pitchFamily="18" charset="0"/>
                <a:cs typeface="Times New Roman" panose="02020603050405020304" pitchFamily="18" charset="0"/>
              </a:rPr>
              <a:t>различни</a:t>
            </a:r>
            <a:r>
              <a:rPr lang="ru-RU" sz="2400" dirty="0">
                <a:latin typeface="Times New Roman" panose="02020603050405020304" pitchFamily="18" charset="0"/>
                <a:cs typeface="Times New Roman" panose="02020603050405020304" pitchFamily="18" charset="0"/>
              </a:rPr>
              <a:t> приложения. Очевидно те трябва да </a:t>
            </a:r>
            <a:r>
              <a:rPr lang="ru-RU" sz="2400" dirty="0" err="1">
                <a:latin typeface="Times New Roman" panose="02020603050405020304" pitchFamily="18" charset="0"/>
                <a:cs typeface="Times New Roman" panose="02020603050405020304" pitchFamily="18" charset="0"/>
              </a:rPr>
              <a:t>бъдат</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възстановени</a:t>
            </a:r>
            <a:r>
              <a:rPr lang="ru-RU" sz="2400" dirty="0">
                <a:latin typeface="Times New Roman" panose="02020603050405020304" pitchFamily="18" charset="0"/>
                <a:cs typeface="Times New Roman" panose="02020603050405020304" pitchFamily="18" charset="0"/>
              </a:rPr>
              <a:t>, когато приключите, и има инструкции как да направите точно това</a:t>
            </a:r>
          </a:p>
        </p:txBody>
      </p:sp>
      <p:pic>
        <p:nvPicPr>
          <p:cNvPr id="4" name="Картина 3"/>
          <p:cNvPicPr>
            <a:picLocks noChangeAspect="1"/>
          </p:cNvPicPr>
          <p:nvPr/>
        </p:nvPicPr>
        <p:blipFill>
          <a:blip r:embed="rId2"/>
          <a:stretch>
            <a:fillRect/>
          </a:stretch>
        </p:blipFill>
        <p:spPr>
          <a:xfrm>
            <a:off x="899592" y="188640"/>
            <a:ext cx="5980694" cy="859611"/>
          </a:xfrm>
          <a:prstGeom prst="rect">
            <a:avLst/>
          </a:prstGeom>
        </p:spPr>
      </p:pic>
    </p:spTree>
    <p:extLst>
      <p:ext uri="{BB962C8B-B14F-4D97-AF65-F5344CB8AC3E}">
        <p14:creationId xmlns:p14="http://schemas.microsoft.com/office/powerpoint/2010/main" val="9096282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540633-89A2-4A92-BB32-A6DE3FD7548E}"/>
              </a:ext>
            </a:extLst>
          </p:cNvPr>
          <p:cNvSpPr/>
          <p:nvPr/>
        </p:nvSpPr>
        <p:spPr>
          <a:xfrm>
            <a:off x="251520" y="980728"/>
            <a:ext cx="8712968" cy="4903907"/>
          </a:xfrm>
          <a:prstGeom prst="rect">
            <a:avLst/>
          </a:prstGeom>
        </p:spPr>
        <p:txBody>
          <a:bodyPr wrap="square">
            <a:spAutoFit/>
          </a:bodyPr>
          <a:lstStyle/>
          <a:p>
            <a:pPr algn="just">
              <a:lnSpc>
                <a:spcPts val="3200"/>
              </a:lnSpc>
            </a:pPr>
            <a:r>
              <a:rPr lang="en-US" sz="2400" b="1" dirty="0">
                <a:latin typeface="Times New Roman" panose="02020603050405020304" pitchFamily="18" charset="0"/>
                <a:cs typeface="Times New Roman" panose="02020603050405020304" pitchFamily="18" charset="0"/>
              </a:rPr>
              <a:t>LDM/STM </a:t>
            </a:r>
            <a:r>
              <a:rPr lang="bg-BG" sz="2400" b="1" dirty="0">
                <a:latin typeface="Times New Roman" panose="02020603050405020304" pitchFamily="18" charset="0"/>
                <a:cs typeface="Times New Roman" panose="02020603050405020304" pitchFamily="18" charset="0"/>
              </a:rPr>
              <a:t>инструкции</a:t>
            </a:r>
          </a:p>
          <a:p>
            <a:pPr algn="just"/>
            <a:r>
              <a:rPr lang="ru-RU" sz="2200" dirty="0" err="1">
                <a:latin typeface="Times New Roman" panose="02020603050405020304" pitchFamily="18" charset="0"/>
                <a:cs typeface="Times New Roman" panose="02020603050405020304" pitchFamily="18" charset="0"/>
              </a:rPr>
              <a:t>Предимство</a:t>
            </a:r>
            <a:r>
              <a:rPr lang="ru-RU" sz="2200" dirty="0">
                <a:latin typeface="Times New Roman" panose="02020603050405020304" pitchFamily="18" charset="0"/>
                <a:cs typeface="Times New Roman" panose="02020603050405020304" pitchFamily="18" charset="0"/>
              </a:rPr>
              <a:t> е, че </a:t>
            </a:r>
            <a:r>
              <a:rPr lang="ru-RU" sz="2200" dirty="0" err="1">
                <a:latin typeface="Times New Roman" panose="02020603050405020304" pitchFamily="18" charset="0"/>
                <a:cs typeface="Times New Roman" panose="02020603050405020304" pitchFamily="18" charset="0"/>
              </a:rPr>
              <a:t>размерът</a:t>
            </a:r>
            <a:r>
              <a:rPr lang="ru-RU" sz="2200" dirty="0">
                <a:latin typeface="Times New Roman" panose="02020603050405020304" pitchFamily="18" charset="0"/>
                <a:cs typeface="Times New Roman" panose="02020603050405020304" pitchFamily="18" charset="0"/>
              </a:rPr>
              <a:t> на кода </a:t>
            </a:r>
            <a:r>
              <a:rPr lang="ru-RU" sz="2200" dirty="0" err="1">
                <a:latin typeface="Times New Roman" panose="02020603050405020304" pitchFamily="18" charset="0"/>
                <a:cs typeface="Times New Roman" panose="02020603050405020304" pitchFamily="18" charset="0"/>
              </a:rPr>
              <a:t>намалява</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Една</a:t>
            </a:r>
            <a:r>
              <a:rPr lang="ru-RU" sz="2200" dirty="0">
                <a:latin typeface="Times New Roman" panose="02020603050405020304" pitchFamily="18" charset="0"/>
                <a:cs typeface="Times New Roman" panose="02020603050405020304" pitchFamily="18" charset="0"/>
              </a:rPr>
              <a:t> LDM инструкция </a:t>
            </a:r>
            <a:r>
              <a:rPr lang="ru-RU" sz="2200" dirty="0" err="1">
                <a:latin typeface="Times New Roman" panose="02020603050405020304" pitchFamily="18" charset="0"/>
                <a:cs typeface="Times New Roman" panose="02020603050405020304" pitchFamily="18" charset="0"/>
              </a:rPr>
              <a:t>може</a:t>
            </a:r>
            <a:r>
              <a:rPr lang="ru-RU" sz="2200" dirty="0">
                <a:latin typeface="Times New Roman" panose="02020603050405020304" pitchFamily="18" charset="0"/>
                <a:cs typeface="Times New Roman" panose="02020603050405020304" pitchFamily="18" charset="0"/>
              </a:rPr>
              <a:t> да </a:t>
            </a:r>
            <a:r>
              <a:rPr lang="ru-RU" sz="2200" dirty="0" err="1">
                <a:latin typeface="Times New Roman" panose="02020603050405020304" pitchFamily="18" charset="0"/>
                <a:cs typeface="Times New Roman" panose="02020603050405020304" pitchFamily="18" charset="0"/>
              </a:rPr>
              <a:t>зареди</a:t>
            </a:r>
            <a:r>
              <a:rPr lang="ru-RU" sz="2200" dirty="0">
                <a:latin typeface="Times New Roman" panose="02020603050405020304" pitchFamily="18" charset="0"/>
                <a:cs typeface="Times New Roman" panose="02020603050405020304" pitchFamily="18" charset="0"/>
              </a:rPr>
              <a:t> множество </a:t>
            </a:r>
            <a:r>
              <a:rPr lang="ru-RU" sz="2200" dirty="0" err="1">
                <a:latin typeface="Times New Roman" panose="02020603050405020304" pitchFamily="18" charset="0"/>
                <a:cs typeface="Times New Roman" panose="02020603050405020304" pitchFamily="18" charset="0"/>
              </a:rPr>
              <a:t>регистри</a:t>
            </a:r>
            <a:r>
              <a:rPr lang="ru-RU" sz="2200" dirty="0">
                <a:latin typeface="Times New Roman" panose="02020603050405020304" pitchFamily="18" charset="0"/>
                <a:cs typeface="Times New Roman" panose="02020603050405020304" pitchFamily="18" charset="0"/>
              </a:rPr>
              <a:t> от </a:t>
            </a:r>
            <a:r>
              <a:rPr lang="ru-RU" sz="2200" dirty="0" err="1">
                <a:latin typeface="Times New Roman" panose="02020603050405020304" pitchFamily="18" charset="0"/>
                <a:cs typeface="Times New Roman" panose="02020603050405020304" pitchFamily="18" charset="0"/>
              </a:rPr>
              <a:t>паметта</a:t>
            </a:r>
            <a:r>
              <a:rPr lang="ru-RU" sz="2200" dirty="0">
                <a:latin typeface="Times New Roman" panose="02020603050405020304" pitchFamily="18" charset="0"/>
                <a:cs typeface="Times New Roman" panose="02020603050405020304" pitchFamily="18" charset="0"/>
              </a:rPr>
              <a:t>, като използва само </a:t>
            </a:r>
            <a:r>
              <a:rPr lang="ru-RU" sz="2200" dirty="0" err="1">
                <a:latin typeface="Times New Roman" panose="02020603050405020304" pitchFamily="18" charset="0"/>
                <a:cs typeface="Times New Roman" panose="02020603050405020304" pitchFamily="18" charset="0"/>
              </a:rPr>
              <a:t>една</a:t>
            </a:r>
            <a:r>
              <a:rPr lang="ru-RU" sz="2200" dirty="0">
                <a:latin typeface="Times New Roman" panose="02020603050405020304" pitchFamily="18" charset="0"/>
                <a:cs typeface="Times New Roman" panose="02020603050405020304" pitchFamily="18" charset="0"/>
              </a:rPr>
              <a:t> инструкция, а не </a:t>
            </a:r>
            <a:r>
              <a:rPr lang="ru-RU" sz="2200" dirty="0" err="1">
                <a:latin typeface="Times New Roman" panose="02020603050405020304" pitchFamily="18" charset="0"/>
                <a:cs typeface="Times New Roman" panose="02020603050405020304" pitchFamily="18" charset="0"/>
              </a:rPr>
              <a:t>отделни</a:t>
            </a:r>
            <a:r>
              <a:rPr lang="ru-RU" sz="2200" dirty="0">
                <a:latin typeface="Times New Roman" panose="02020603050405020304" pitchFamily="18" charset="0"/>
                <a:cs typeface="Times New Roman" panose="02020603050405020304" pitchFamily="18" charset="0"/>
              </a:rPr>
              <a:t> LDR инструкции. </a:t>
            </a:r>
            <a:r>
              <a:rPr lang="ru-RU" sz="2200" dirty="0" err="1">
                <a:latin typeface="Times New Roman" panose="02020603050405020304" pitchFamily="18" charset="0"/>
                <a:cs typeface="Times New Roman" panose="02020603050405020304" pitchFamily="18" charset="0"/>
              </a:rPr>
              <a:t>Времето</a:t>
            </a:r>
            <a:r>
              <a:rPr lang="ru-RU" sz="2200" dirty="0">
                <a:latin typeface="Times New Roman" panose="02020603050405020304" pitchFamily="18" charset="0"/>
                <a:cs typeface="Times New Roman" panose="02020603050405020304" pitchFamily="18" charset="0"/>
              </a:rPr>
              <a:t> за </a:t>
            </a:r>
            <a:r>
              <a:rPr lang="ru-RU" sz="2200" dirty="0" err="1">
                <a:latin typeface="Times New Roman" panose="02020603050405020304" pitchFamily="18" charset="0"/>
                <a:cs typeface="Times New Roman" panose="02020603050405020304" pitchFamily="18" charset="0"/>
              </a:rPr>
              <a:t>изпълнение</a:t>
            </a:r>
            <a:r>
              <a:rPr lang="ru-RU" sz="2200" dirty="0">
                <a:latin typeface="Times New Roman" panose="02020603050405020304" pitchFamily="18" charset="0"/>
                <a:cs typeface="Times New Roman" panose="02020603050405020304" pitchFamily="18" charset="0"/>
              </a:rPr>
              <a:t> също се </a:t>
            </a:r>
            <a:r>
              <a:rPr lang="ru-RU" sz="2200" dirty="0" err="1">
                <a:latin typeface="Times New Roman" panose="02020603050405020304" pitchFamily="18" charset="0"/>
                <a:cs typeface="Times New Roman" panose="02020603050405020304" pitchFamily="18" charset="0"/>
              </a:rPr>
              <a:t>съкращава</a:t>
            </a:r>
            <a:r>
              <a:rPr lang="ru-RU" sz="2200" dirty="0">
                <a:latin typeface="Times New Roman" panose="02020603050405020304" pitchFamily="18" charset="0"/>
                <a:cs typeface="Times New Roman" panose="02020603050405020304" pitchFamily="18" charset="0"/>
              </a:rPr>
              <a:t>, тъй като само </a:t>
            </a:r>
            <a:r>
              <a:rPr lang="ru-RU" sz="2200" dirty="0" err="1">
                <a:latin typeface="Times New Roman" panose="02020603050405020304" pitchFamily="18" charset="0"/>
                <a:cs typeface="Times New Roman" panose="02020603050405020304" pitchFamily="18" charset="0"/>
              </a:rPr>
              <a:t>една</a:t>
            </a:r>
            <a:r>
              <a:rPr lang="ru-RU" sz="2200" dirty="0">
                <a:latin typeface="Times New Roman" panose="02020603050405020304" pitchFamily="18" charset="0"/>
                <a:cs typeface="Times New Roman" panose="02020603050405020304" pitchFamily="18" charset="0"/>
              </a:rPr>
              <a:t> инструкция трябва да </a:t>
            </a:r>
            <a:r>
              <a:rPr lang="ru-RU" sz="2200" dirty="0" err="1">
                <a:latin typeface="Times New Roman" panose="02020603050405020304" pitchFamily="18" charset="0"/>
                <a:cs typeface="Times New Roman" panose="02020603050405020304" pitchFamily="18" charset="0"/>
              </a:rPr>
              <a:t>бъде</a:t>
            </a:r>
            <a:r>
              <a:rPr lang="ru-RU" sz="2200" dirty="0">
                <a:latin typeface="Times New Roman" panose="02020603050405020304" pitchFamily="18" charset="0"/>
                <a:cs typeface="Times New Roman" panose="02020603050405020304" pitchFamily="18" charset="0"/>
              </a:rPr>
              <a:t> извлечена от </a:t>
            </a:r>
            <a:r>
              <a:rPr lang="ru-RU" sz="2200" dirty="0" err="1">
                <a:latin typeface="Times New Roman" panose="02020603050405020304" pitchFamily="18" charset="0"/>
                <a:cs typeface="Times New Roman" panose="02020603050405020304" pitchFamily="18" charset="0"/>
              </a:rPr>
              <a:t>паметта</a:t>
            </a:r>
            <a:r>
              <a:rPr lang="ru-RU" sz="2200" dirty="0">
                <a:latin typeface="Times New Roman" panose="02020603050405020304" pitchFamily="18" charset="0"/>
                <a:cs typeface="Times New Roman" panose="02020603050405020304" pitchFamily="18" charset="0"/>
              </a:rPr>
              <a:t>. </a:t>
            </a:r>
          </a:p>
          <a:p>
            <a:pPr algn="just"/>
            <a:r>
              <a:rPr lang="ru-RU" sz="2200" b="1" dirty="0">
                <a:latin typeface="Times New Roman" panose="02020603050405020304" pitchFamily="18" charset="0"/>
                <a:cs typeface="Times New Roman" panose="02020603050405020304" pitchFamily="18" charset="0"/>
              </a:rPr>
              <a:t>LDM &lt;</a:t>
            </a:r>
            <a:r>
              <a:rPr lang="ru-RU" sz="2200" b="1" dirty="0" err="1">
                <a:latin typeface="Times New Roman" panose="02020603050405020304" pitchFamily="18" charset="0"/>
                <a:cs typeface="Times New Roman" panose="02020603050405020304" pitchFamily="18" charset="0"/>
              </a:rPr>
              <a:t>address-mode</a:t>
            </a:r>
            <a:r>
              <a:rPr lang="ru-RU" sz="2200" b="1" dirty="0">
                <a:latin typeface="Times New Roman" panose="02020603050405020304" pitchFamily="18" charset="0"/>
                <a:cs typeface="Times New Roman" panose="02020603050405020304" pitchFamily="18" charset="0"/>
              </a:rPr>
              <a:t>&gt; {&lt;</a:t>
            </a:r>
            <a:r>
              <a:rPr lang="ru-RU" sz="2200" b="1" dirty="0" err="1">
                <a:latin typeface="Times New Roman" panose="02020603050405020304" pitchFamily="18" charset="0"/>
                <a:cs typeface="Times New Roman" panose="02020603050405020304" pitchFamily="18" charset="0"/>
              </a:rPr>
              <a:t>cond</a:t>
            </a:r>
            <a:r>
              <a:rPr lang="ru-RU" sz="2200" b="1" dirty="0">
                <a:latin typeface="Times New Roman" panose="02020603050405020304" pitchFamily="18" charset="0"/>
                <a:cs typeface="Times New Roman" panose="02020603050405020304" pitchFamily="18" charset="0"/>
              </a:rPr>
              <a:t>&gt;} &lt;</a:t>
            </a:r>
            <a:r>
              <a:rPr lang="ru-RU" sz="2200" b="1" dirty="0" err="1">
                <a:latin typeface="Times New Roman" panose="02020603050405020304" pitchFamily="18" charset="0"/>
                <a:cs typeface="Times New Roman" panose="02020603050405020304" pitchFamily="18" charset="0"/>
              </a:rPr>
              <a:t>Rn</a:t>
            </a:r>
            <a:r>
              <a:rPr lang="ru-RU" sz="2200" b="1" dirty="0">
                <a:latin typeface="Times New Roman" panose="02020603050405020304" pitchFamily="18" charset="0"/>
                <a:cs typeface="Times New Roman" panose="02020603050405020304" pitchFamily="18" charset="0"/>
              </a:rPr>
              <a:t>&gt; {!}, &lt;</a:t>
            </a:r>
            <a:r>
              <a:rPr lang="ru-RU" sz="2200" b="1" dirty="0" err="1">
                <a:latin typeface="Times New Roman" panose="02020603050405020304" pitchFamily="18" charset="0"/>
                <a:cs typeface="Times New Roman" panose="02020603050405020304" pitchFamily="18" charset="0"/>
              </a:rPr>
              <a:t>reg-list</a:t>
            </a:r>
            <a:r>
              <a:rPr lang="ru-RU" sz="2200" b="1" dirty="0">
                <a:latin typeface="Times New Roman" panose="02020603050405020304" pitchFamily="18" charset="0"/>
                <a:cs typeface="Times New Roman" panose="02020603050405020304" pitchFamily="18" charset="0"/>
              </a:rPr>
              <a:t>&gt; {^}</a:t>
            </a:r>
          </a:p>
          <a:p>
            <a:pPr algn="just"/>
            <a:r>
              <a:rPr lang="ru-RU" sz="2200" dirty="0" err="1">
                <a:latin typeface="Times New Roman" panose="02020603050405020304" pitchFamily="18" charset="0"/>
                <a:cs typeface="Times New Roman" panose="02020603050405020304" pitchFamily="18" charset="0"/>
              </a:rPr>
              <a:t>където</a:t>
            </a:r>
            <a:r>
              <a:rPr lang="ru-RU" sz="2200" dirty="0">
                <a:latin typeface="Times New Roman" panose="02020603050405020304" pitchFamily="18" charset="0"/>
                <a:cs typeface="Times New Roman" panose="02020603050405020304" pitchFamily="18" charset="0"/>
              </a:rPr>
              <a:t> {&lt;</a:t>
            </a:r>
            <a:r>
              <a:rPr lang="ru-RU" sz="2200" dirty="0" err="1">
                <a:latin typeface="Times New Roman" panose="02020603050405020304" pitchFamily="18" charset="0"/>
                <a:cs typeface="Times New Roman" panose="02020603050405020304" pitchFamily="18" charset="0"/>
              </a:rPr>
              <a:t>cond</a:t>
            </a:r>
            <a:r>
              <a:rPr lang="ru-RU" sz="2200" dirty="0">
                <a:latin typeface="Times New Roman" panose="02020603050405020304" pitchFamily="18" charset="0"/>
                <a:cs typeface="Times New Roman" panose="02020603050405020304" pitchFamily="18" charset="0"/>
              </a:rPr>
              <a:t>&gt;} е </a:t>
            </a:r>
            <a:r>
              <a:rPr lang="ru-RU" sz="2200" dirty="0" err="1">
                <a:latin typeface="Times New Roman" panose="02020603050405020304" pitchFamily="18" charset="0"/>
                <a:cs typeface="Times New Roman" panose="02020603050405020304" pitchFamily="18" charset="0"/>
              </a:rPr>
              <a:t>незадължителен</a:t>
            </a:r>
            <a:r>
              <a:rPr lang="ru-RU" sz="2200" dirty="0">
                <a:latin typeface="Times New Roman" panose="02020603050405020304" pitchFamily="18" charset="0"/>
                <a:cs typeface="Times New Roman" panose="02020603050405020304" pitchFamily="18" charset="0"/>
              </a:rPr>
              <a:t> код на условие;</a:t>
            </a:r>
          </a:p>
          <a:p>
            <a:pPr algn="just"/>
            <a:r>
              <a:rPr lang="ru-RU" sz="2200" dirty="0">
                <a:latin typeface="Times New Roman" panose="02020603050405020304" pitchFamily="18" charset="0"/>
                <a:cs typeface="Times New Roman" panose="02020603050405020304" pitchFamily="18" charset="0"/>
              </a:rPr>
              <a:t>&lt;</a:t>
            </a:r>
            <a:r>
              <a:rPr lang="ru-RU" sz="2200" dirty="0" err="1">
                <a:latin typeface="Times New Roman" panose="02020603050405020304" pitchFamily="18" charset="0"/>
                <a:cs typeface="Times New Roman" panose="02020603050405020304" pitchFamily="18" charset="0"/>
              </a:rPr>
              <a:t>address-mode</a:t>
            </a:r>
            <a:r>
              <a:rPr lang="ru-RU" sz="2200" dirty="0">
                <a:latin typeface="Times New Roman" panose="02020603050405020304" pitchFamily="18" charset="0"/>
                <a:cs typeface="Times New Roman" panose="02020603050405020304" pitchFamily="18" charset="0"/>
              </a:rPr>
              <a:t>&gt; </a:t>
            </a:r>
            <a:r>
              <a:rPr lang="ru-RU" sz="2200" dirty="0" err="1">
                <a:latin typeface="Times New Roman" panose="02020603050405020304" pitchFamily="18" charset="0"/>
                <a:cs typeface="Times New Roman" panose="02020603050405020304" pitchFamily="18" charset="0"/>
              </a:rPr>
              <a:t>указва</a:t>
            </a:r>
            <a:r>
              <a:rPr lang="ru-RU" sz="2200" dirty="0">
                <a:latin typeface="Times New Roman" panose="02020603050405020304" pitchFamily="18" charset="0"/>
                <a:cs typeface="Times New Roman" panose="02020603050405020304" pitchFamily="18" charset="0"/>
              </a:rPr>
              <a:t> режима на </a:t>
            </a:r>
            <a:r>
              <a:rPr lang="ru-RU" sz="2200" dirty="0" err="1">
                <a:latin typeface="Times New Roman" panose="02020603050405020304" pitchFamily="18" charset="0"/>
                <a:cs typeface="Times New Roman" panose="02020603050405020304" pitchFamily="18" charset="0"/>
              </a:rPr>
              <a:t>адресиране</a:t>
            </a:r>
            <a:r>
              <a:rPr lang="ru-RU" sz="2200" dirty="0">
                <a:latin typeface="Times New Roman" panose="02020603050405020304" pitchFamily="18" charset="0"/>
                <a:cs typeface="Times New Roman" panose="02020603050405020304" pitchFamily="18" charset="0"/>
              </a:rPr>
              <a:t> на </a:t>
            </a:r>
            <a:r>
              <a:rPr lang="ru-RU" sz="2200" dirty="0" err="1">
                <a:latin typeface="Times New Roman" panose="02020603050405020304" pitchFamily="18" charset="0"/>
                <a:cs typeface="Times New Roman" panose="02020603050405020304" pitchFamily="18" charset="0"/>
              </a:rPr>
              <a:t>инструкцията</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който</a:t>
            </a:r>
            <a:r>
              <a:rPr lang="ru-RU" sz="2200" dirty="0">
                <a:latin typeface="Times New Roman" panose="02020603050405020304" pitchFamily="18" charset="0"/>
                <a:cs typeface="Times New Roman" panose="02020603050405020304" pitchFamily="18" charset="0"/>
              </a:rPr>
              <a:t> ни </a:t>
            </a:r>
            <a:r>
              <a:rPr lang="ru-RU" sz="2200" dirty="0" err="1">
                <a:latin typeface="Times New Roman" panose="02020603050405020304" pitchFamily="18" charset="0"/>
                <a:cs typeface="Times New Roman" panose="02020603050405020304" pitchFamily="18" charset="0"/>
              </a:rPr>
              <a:t>казва</a:t>
            </a:r>
            <a:r>
              <a:rPr lang="ru-RU" sz="2200" dirty="0">
                <a:latin typeface="Times New Roman" panose="02020603050405020304" pitchFamily="18" charset="0"/>
                <a:cs typeface="Times New Roman" panose="02020603050405020304" pitchFamily="18" charset="0"/>
              </a:rPr>
              <a:t> как и </a:t>
            </a:r>
            <a:r>
              <a:rPr lang="ru-RU" sz="2200" dirty="0" err="1">
                <a:latin typeface="Times New Roman" panose="02020603050405020304" pitchFamily="18" charset="0"/>
                <a:cs typeface="Times New Roman" panose="02020603050405020304" pitchFamily="18" charset="0"/>
              </a:rPr>
              <a:t>кога</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променяме</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основния</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регистър</a:t>
            </a:r>
            <a:r>
              <a:rPr lang="ru-RU" sz="2200" dirty="0">
                <a:latin typeface="Times New Roman" panose="02020603050405020304" pitchFamily="18" charset="0"/>
                <a:cs typeface="Times New Roman" panose="02020603050405020304" pitchFamily="18" charset="0"/>
              </a:rPr>
              <a:t>; </a:t>
            </a:r>
          </a:p>
          <a:p>
            <a:pPr algn="just"/>
            <a:r>
              <a:rPr lang="ru-RU" sz="2200" dirty="0">
                <a:latin typeface="Times New Roman" panose="02020603050405020304" pitchFamily="18" charset="0"/>
                <a:cs typeface="Times New Roman" panose="02020603050405020304" pitchFamily="18" charset="0"/>
              </a:rPr>
              <a:t>&lt;</a:t>
            </a:r>
            <a:r>
              <a:rPr lang="ru-RU" sz="2200" dirty="0" err="1">
                <a:latin typeface="Times New Roman" panose="02020603050405020304" pitchFamily="18" charset="0"/>
                <a:cs typeface="Times New Roman" panose="02020603050405020304" pitchFamily="18" charset="0"/>
              </a:rPr>
              <a:t>Rn</a:t>
            </a:r>
            <a:r>
              <a:rPr lang="ru-RU" sz="2200" dirty="0">
                <a:latin typeface="Times New Roman" panose="02020603050405020304" pitchFamily="18" charset="0"/>
                <a:cs typeface="Times New Roman" panose="02020603050405020304" pitchFamily="18" charset="0"/>
              </a:rPr>
              <a:t>&gt; е </a:t>
            </a:r>
            <a:r>
              <a:rPr lang="ru-RU" sz="2200" dirty="0" err="1">
                <a:latin typeface="Times New Roman" panose="02020603050405020304" pitchFamily="18" charset="0"/>
                <a:cs typeface="Times New Roman" panose="02020603050405020304" pitchFamily="18" charset="0"/>
              </a:rPr>
              <a:t>основният</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регистър</a:t>
            </a:r>
            <a:r>
              <a:rPr lang="ru-RU" sz="2200" dirty="0">
                <a:latin typeface="Times New Roman" panose="02020603050405020304" pitchFamily="18" charset="0"/>
                <a:cs typeface="Times New Roman" panose="02020603050405020304" pitchFamily="18" charset="0"/>
              </a:rPr>
              <a:t> за </a:t>
            </a:r>
            <a:r>
              <a:rPr lang="ru-RU" sz="2200" dirty="0" err="1">
                <a:latin typeface="Times New Roman" panose="02020603050405020304" pitchFamily="18" charset="0"/>
                <a:cs typeface="Times New Roman" panose="02020603050405020304" pitchFamily="18" charset="0"/>
              </a:rPr>
              <a:t>операцията</a:t>
            </a:r>
            <a:r>
              <a:rPr lang="ru-RU" sz="2200" dirty="0">
                <a:latin typeface="Times New Roman" panose="02020603050405020304" pitchFamily="18" charset="0"/>
                <a:cs typeface="Times New Roman" panose="02020603050405020304" pitchFamily="18" charset="0"/>
              </a:rPr>
              <a:t> за </a:t>
            </a:r>
            <a:r>
              <a:rPr lang="ru-RU" sz="2200" dirty="0" err="1">
                <a:latin typeface="Times New Roman" panose="02020603050405020304" pitchFamily="18" charset="0"/>
                <a:cs typeface="Times New Roman" panose="02020603050405020304" pitchFamily="18" charset="0"/>
              </a:rPr>
              <a:t>зареждане</a:t>
            </a:r>
            <a:r>
              <a:rPr lang="ru-RU" sz="2200" dirty="0">
                <a:latin typeface="Times New Roman" panose="02020603050405020304" pitchFamily="18" charset="0"/>
                <a:cs typeface="Times New Roman" panose="02020603050405020304" pitchFamily="18" charset="0"/>
              </a:rPr>
              <a:t>; </a:t>
            </a:r>
          </a:p>
          <a:p>
            <a:pPr algn="just"/>
            <a:r>
              <a:rPr lang="ru-RU" sz="2200" dirty="0">
                <a:latin typeface="Times New Roman" panose="02020603050405020304" pitchFamily="18" charset="0"/>
                <a:cs typeface="Times New Roman" panose="02020603050405020304" pitchFamily="18" charset="0"/>
              </a:rPr>
              <a:t>и &lt;</a:t>
            </a:r>
            <a:r>
              <a:rPr lang="ru-RU" sz="2200" dirty="0" err="1">
                <a:latin typeface="Times New Roman" panose="02020603050405020304" pitchFamily="18" charset="0"/>
                <a:cs typeface="Times New Roman" panose="02020603050405020304" pitchFamily="18" charset="0"/>
              </a:rPr>
              <a:t>reg-list</a:t>
            </a:r>
            <a:r>
              <a:rPr lang="ru-RU" sz="2200" dirty="0">
                <a:latin typeface="Times New Roman" panose="02020603050405020304" pitchFamily="18" charset="0"/>
                <a:cs typeface="Times New Roman" panose="02020603050405020304" pitchFamily="18" charset="0"/>
              </a:rPr>
              <a:t>&gt; е разделен </a:t>
            </a:r>
            <a:r>
              <a:rPr lang="ru-RU" sz="2200" dirty="0" err="1">
                <a:latin typeface="Times New Roman" panose="02020603050405020304" pitchFamily="18" charset="0"/>
                <a:cs typeface="Times New Roman" panose="02020603050405020304" pitchFamily="18" charset="0"/>
              </a:rPr>
              <a:t>със</a:t>
            </a:r>
            <a:r>
              <a:rPr lang="ru-RU" sz="2200" dirty="0">
                <a:latin typeface="Times New Roman" panose="02020603050405020304" pitchFamily="18" charset="0"/>
                <a:cs typeface="Times New Roman" panose="02020603050405020304" pitchFamily="18" charset="0"/>
              </a:rPr>
              <a:t> запетая </a:t>
            </a:r>
            <a:r>
              <a:rPr lang="ru-RU" sz="2200" dirty="0" err="1">
                <a:latin typeface="Times New Roman" panose="02020603050405020304" pitchFamily="18" charset="0"/>
                <a:cs typeface="Times New Roman" panose="02020603050405020304" pitchFamily="18" charset="0"/>
              </a:rPr>
              <a:t>списък</a:t>
            </a:r>
            <a:r>
              <a:rPr lang="ru-RU" sz="2200" dirty="0">
                <a:latin typeface="Times New Roman" panose="02020603050405020304" pitchFamily="18" charset="0"/>
                <a:cs typeface="Times New Roman" panose="02020603050405020304" pitchFamily="18" charset="0"/>
              </a:rPr>
              <a:t> от имена на </a:t>
            </a:r>
            <a:r>
              <a:rPr lang="ru-RU" sz="2200" dirty="0" err="1">
                <a:latin typeface="Times New Roman" panose="02020603050405020304" pitchFamily="18" charset="0"/>
                <a:cs typeface="Times New Roman" panose="02020603050405020304" pitchFamily="18" charset="0"/>
              </a:rPr>
              <a:t>символни</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регистри</a:t>
            </a:r>
            <a:r>
              <a:rPr lang="ru-RU" sz="2200" dirty="0">
                <a:latin typeface="Times New Roman" panose="02020603050405020304" pitchFamily="18" charset="0"/>
                <a:cs typeface="Times New Roman" panose="02020603050405020304" pitchFamily="18" charset="0"/>
              </a:rPr>
              <a:t> и </a:t>
            </a:r>
            <a:r>
              <a:rPr lang="ru-RU" sz="2200" dirty="0" err="1">
                <a:latin typeface="Times New Roman" panose="02020603050405020304" pitchFamily="18" charset="0"/>
                <a:cs typeface="Times New Roman" panose="02020603050405020304" pitchFamily="18" charset="0"/>
              </a:rPr>
              <a:t>диапазони</a:t>
            </a:r>
            <a:r>
              <a:rPr lang="ru-RU" sz="2200" dirty="0">
                <a:latin typeface="Times New Roman" panose="02020603050405020304" pitchFamily="18" charset="0"/>
                <a:cs typeface="Times New Roman" panose="02020603050405020304" pitchFamily="18" charset="0"/>
              </a:rPr>
              <a:t> на </a:t>
            </a:r>
            <a:r>
              <a:rPr lang="ru-RU" sz="2200" dirty="0" err="1">
                <a:latin typeface="Times New Roman" panose="02020603050405020304" pitchFamily="18" charset="0"/>
                <a:cs typeface="Times New Roman" panose="02020603050405020304" pitchFamily="18" charset="0"/>
              </a:rPr>
              <a:t>регистри</a:t>
            </a:r>
            <a:r>
              <a:rPr lang="ru-RU" sz="2200" dirty="0">
                <a:latin typeface="Times New Roman" panose="02020603050405020304" pitchFamily="18" charset="0"/>
                <a:cs typeface="Times New Roman" panose="02020603050405020304" pitchFamily="18" charset="0"/>
              </a:rPr>
              <a:t>, </a:t>
            </a:r>
            <a:r>
              <a:rPr lang="ru-RU" sz="2200" dirty="0" err="1">
                <a:latin typeface="Times New Roman" panose="02020603050405020304" pitchFamily="18" charset="0"/>
                <a:cs typeface="Times New Roman" panose="02020603050405020304" pitchFamily="18" charset="0"/>
              </a:rPr>
              <a:t>затворени</a:t>
            </a:r>
            <a:r>
              <a:rPr lang="ru-RU" sz="2200" dirty="0">
                <a:latin typeface="Times New Roman" panose="02020603050405020304" pitchFamily="18" charset="0"/>
                <a:cs typeface="Times New Roman" panose="02020603050405020304" pitchFamily="18" charset="0"/>
              </a:rPr>
              <a:t> в скоби.</a:t>
            </a:r>
          </a:p>
          <a:p>
            <a:pPr algn="just"/>
            <a:endParaRPr lang="ru-RU" sz="2200" dirty="0">
              <a:latin typeface="Times New Roman" panose="02020603050405020304" pitchFamily="18" charset="0"/>
              <a:cs typeface="Times New Roman" panose="02020603050405020304" pitchFamily="18" charset="0"/>
            </a:endParaRPr>
          </a:p>
        </p:txBody>
      </p:sp>
      <p:pic>
        <p:nvPicPr>
          <p:cNvPr id="4" name="Картина 3"/>
          <p:cNvPicPr>
            <a:picLocks noChangeAspect="1"/>
          </p:cNvPicPr>
          <p:nvPr/>
        </p:nvPicPr>
        <p:blipFill>
          <a:blip r:embed="rId2"/>
          <a:stretch>
            <a:fillRect/>
          </a:stretch>
        </p:blipFill>
        <p:spPr>
          <a:xfrm>
            <a:off x="827584" y="409149"/>
            <a:ext cx="5980694" cy="859611"/>
          </a:xfrm>
          <a:prstGeom prst="rect">
            <a:avLst/>
          </a:prstGeom>
        </p:spPr>
      </p:pic>
      <p:pic>
        <p:nvPicPr>
          <p:cNvPr id="3" name="Картина 2"/>
          <p:cNvPicPr>
            <a:picLocks noChangeAspect="1"/>
          </p:cNvPicPr>
          <p:nvPr/>
        </p:nvPicPr>
        <p:blipFill>
          <a:blip r:embed="rId3"/>
          <a:stretch>
            <a:fillRect/>
          </a:stretch>
        </p:blipFill>
        <p:spPr>
          <a:xfrm>
            <a:off x="971600" y="5733256"/>
            <a:ext cx="6807021" cy="580911"/>
          </a:xfrm>
          <a:prstGeom prst="rect">
            <a:avLst/>
          </a:prstGeom>
        </p:spPr>
      </p:pic>
    </p:spTree>
    <p:extLst>
      <p:ext uri="{BB962C8B-B14F-4D97-AF65-F5344CB8AC3E}">
        <p14:creationId xmlns:p14="http://schemas.microsoft.com/office/powerpoint/2010/main" val="21696632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540633-89A2-4A92-BB32-A6DE3FD7548E}"/>
              </a:ext>
            </a:extLst>
          </p:cNvPr>
          <p:cNvSpPr/>
          <p:nvPr/>
        </p:nvSpPr>
        <p:spPr>
          <a:xfrm>
            <a:off x="251520" y="980728"/>
            <a:ext cx="8712968" cy="5591274"/>
          </a:xfrm>
          <a:prstGeom prst="rect">
            <a:avLst/>
          </a:prstGeom>
        </p:spPr>
        <p:txBody>
          <a:bodyPr wrap="square">
            <a:spAutoFit/>
          </a:bodyPr>
          <a:lstStyle/>
          <a:p>
            <a:pPr algn="just">
              <a:lnSpc>
                <a:spcPts val="3200"/>
              </a:lnSpc>
            </a:pPr>
            <a:r>
              <a:rPr lang="en-US" sz="2400" b="1" dirty="0">
                <a:latin typeface="Times New Roman" panose="02020603050405020304" pitchFamily="18" charset="0"/>
                <a:cs typeface="Times New Roman" panose="02020603050405020304" pitchFamily="18" charset="0"/>
              </a:rPr>
              <a:t>LDM/STM </a:t>
            </a:r>
            <a:r>
              <a:rPr lang="bg-BG" sz="2400" b="1" dirty="0">
                <a:latin typeface="Times New Roman" panose="02020603050405020304" pitchFamily="18" charset="0"/>
                <a:cs typeface="Times New Roman" panose="02020603050405020304" pitchFamily="18" charset="0"/>
              </a:rPr>
              <a:t>инструкции</a:t>
            </a:r>
          </a:p>
          <a:p>
            <a:pPr algn="just"/>
            <a:r>
              <a:rPr lang="en-US" sz="2400" dirty="0">
                <a:latin typeface="Times New Roman" panose="02020603050405020304" pitchFamily="18" charset="0"/>
                <a:cs typeface="Times New Roman" panose="02020603050405020304" pitchFamily="18" charset="0"/>
              </a:rPr>
              <a:t>STM </a:t>
            </a:r>
            <a:r>
              <a:rPr lang="bg-BG" sz="2400" dirty="0">
                <a:latin typeface="Times New Roman" panose="02020603050405020304" pitchFamily="18" charset="0"/>
                <a:cs typeface="Times New Roman" panose="02020603050405020304" pitchFamily="18" charset="0"/>
              </a:rPr>
              <a:t>инструкцията прехвърля данни от регистър в паметта.</a:t>
            </a:r>
          </a:p>
          <a:p>
            <a:pPr algn="just"/>
            <a:r>
              <a:rPr lang="en-US" sz="2400" b="1" dirty="0">
                <a:latin typeface="Times New Roman" panose="02020603050405020304" pitchFamily="18" charset="0"/>
                <a:cs typeface="Times New Roman" panose="02020603050405020304" pitchFamily="18" charset="0"/>
              </a:rPr>
              <a:t>STM &lt;address-mode&gt; {&lt;</a:t>
            </a:r>
            <a:r>
              <a:rPr lang="en-US" sz="2400" b="1" dirty="0" err="1">
                <a:latin typeface="Times New Roman" panose="02020603050405020304" pitchFamily="18" charset="0"/>
                <a:cs typeface="Times New Roman" panose="02020603050405020304" pitchFamily="18" charset="0"/>
              </a:rPr>
              <a:t>cond</a:t>
            </a:r>
            <a:r>
              <a:rPr lang="en-US" sz="2400" b="1" dirty="0">
                <a:latin typeface="Times New Roman" panose="02020603050405020304" pitchFamily="18" charset="0"/>
                <a:cs typeface="Times New Roman" panose="02020603050405020304" pitchFamily="18" charset="0"/>
              </a:rPr>
              <a:t>&gt;} &lt;Rn&gt; {!}, &lt;</a:t>
            </a:r>
            <a:r>
              <a:rPr lang="en-US" sz="2400" b="1" dirty="0" err="1">
                <a:latin typeface="Times New Roman" panose="02020603050405020304" pitchFamily="18" charset="0"/>
                <a:cs typeface="Times New Roman" panose="02020603050405020304" pitchFamily="18" charset="0"/>
              </a:rPr>
              <a:t>reg</a:t>
            </a:r>
            <a:r>
              <a:rPr lang="en-US" sz="2400" b="1" dirty="0">
                <a:latin typeface="Times New Roman" panose="02020603050405020304" pitchFamily="18" charset="0"/>
                <a:cs typeface="Times New Roman" panose="02020603050405020304" pitchFamily="18" charset="0"/>
              </a:rPr>
              <a:t>-list&gt; {^}</a:t>
            </a:r>
            <a:endParaRPr lang="bg-BG" sz="2400" b="1" dirty="0">
              <a:latin typeface="Times New Roman" panose="02020603050405020304" pitchFamily="18" charset="0"/>
              <a:cs typeface="Times New Roman" panose="02020603050405020304" pitchFamily="18" charset="0"/>
            </a:endParaRPr>
          </a:p>
          <a:p>
            <a:pPr algn="just"/>
            <a:r>
              <a:rPr lang="ru-RU" sz="2400" dirty="0" err="1">
                <a:latin typeface="Times New Roman" panose="02020603050405020304" pitchFamily="18" charset="0"/>
                <a:cs typeface="Times New Roman" panose="02020603050405020304" pitchFamily="18" charset="0"/>
              </a:rPr>
              <a:t>където</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опциите</a:t>
            </a:r>
            <a:r>
              <a:rPr lang="ru-RU" sz="2400" dirty="0">
                <a:latin typeface="Times New Roman" panose="02020603050405020304" pitchFamily="18" charset="0"/>
                <a:cs typeface="Times New Roman" panose="02020603050405020304" pitchFamily="18" charset="0"/>
              </a:rPr>
              <a:t> са </a:t>
            </a:r>
            <a:r>
              <a:rPr lang="ru-RU" sz="2400" dirty="0" err="1">
                <a:latin typeface="Times New Roman" panose="02020603050405020304" pitchFamily="18" charset="0"/>
                <a:cs typeface="Times New Roman" panose="02020603050405020304" pitchFamily="18" charset="0"/>
              </a:rPr>
              <a:t>идентични</a:t>
            </a:r>
            <a:r>
              <a:rPr lang="ru-RU" sz="2400" dirty="0">
                <a:latin typeface="Times New Roman" panose="02020603050405020304" pitchFamily="18" charset="0"/>
                <a:cs typeface="Times New Roman" panose="02020603050405020304" pitchFamily="18" charset="0"/>
              </a:rPr>
              <a:t> с тези за LDM </a:t>
            </a:r>
            <a:r>
              <a:rPr lang="ru-RU" sz="2400" dirty="0" err="1">
                <a:latin typeface="Times New Roman" panose="02020603050405020304" pitchFamily="18" charset="0"/>
                <a:cs typeface="Times New Roman" panose="02020603050405020304" pitchFamily="18" charset="0"/>
              </a:rPr>
              <a:t>инструкцията</a:t>
            </a:r>
            <a:r>
              <a:rPr lang="ru-RU" sz="2400" dirty="0">
                <a:latin typeface="Times New Roman" panose="02020603050405020304" pitchFamily="18" charset="0"/>
                <a:cs typeface="Times New Roman" panose="02020603050405020304" pitchFamily="18" charset="0"/>
              </a:rPr>
              <a:t>.</a:t>
            </a:r>
          </a:p>
          <a:p>
            <a:pPr algn="just"/>
            <a:r>
              <a:rPr lang="ru-RU" sz="2400" dirty="0" err="1">
                <a:latin typeface="Times New Roman" panose="02020603050405020304" pitchFamily="18" charset="0"/>
                <a:cs typeface="Times New Roman" panose="02020603050405020304" pitchFamily="18" charset="0"/>
              </a:rPr>
              <a:t>Започвайки</a:t>
            </a:r>
            <a:r>
              <a:rPr lang="ru-RU" sz="2400" dirty="0">
                <a:latin typeface="Times New Roman" panose="02020603050405020304" pitchFamily="18" charset="0"/>
                <a:cs typeface="Times New Roman" panose="02020603050405020304" pitchFamily="18" charset="0"/>
              </a:rPr>
              <a:t> от </a:t>
            </a:r>
            <a:r>
              <a:rPr lang="ru-RU" sz="2400" dirty="0" err="1">
                <a:latin typeface="Times New Roman" panose="02020603050405020304" pitchFamily="18" charset="0"/>
                <a:cs typeface="Times New Roman" panose="02020603050405020304" pitchFamily="18" charset="0"/>
              </a:rPr>
              <a:t>стойността</a:t>
            </a:r>
            <a:r>
              <a:rPr lang="ru-RU" sz="2400" dirty="0">
                <a:latin typeface="Times New Roman" panose="02020603050405020304" pitchFamily="18" charset="0"/>
                <a:cs typeface="Times New Roman" panose="02020603050405020304" pitchFamily="18" charset="0"/>
              </a:rPr>
              <a:t> в </a:t>
            </a:r>
            <a:r>
              <a:rPr lang="ru-RU" sz="2400" dirty="0" err="1">
                <a:latin typeface="Times New Roman" panose="02020603050405020304" pitchFamily="18" charset="0"/>
                <a:cs typeface="Times New Roman" panose="02020603050405020304" pitchFamily="18" charset="0"/>
              </a:rPr>
              <a:t>основния</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регистър</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достъпният</a:t>
            </a:r>
            <a:r>
              <a:rPr lang="ru-RU" sz="2400" dirty="0">
                <a:latin typeface="Times New Roman" panose="02020603050405020304" pitchFamily="18" charset="0"/>
                <a:cs typeface="Times New Roman" panose="02020603050405020304" pitchFamily="18" charset="0"/>
              </a:rPr>
              <a:t> адрес се </a:t>
            </a:r>
            <a:r>
              <a:rPr lang="ru-RU" sz="2400" dirty="0" err="1">
                <a:latin typeface="Times New Roman" panose="02020603050405020304" pitchFamily="18" charset="0"/>
                <a:cs typeface="Times New Roman" panose="02020603050405020304" pitchFamily="18" charset="0"/>
              </a:rPr>
              <a:t>намалява</a:t>
            </a:r>
            <a:r>
              <a:rPr lang="ru-RU" sz="2400" dirty="0">
                <a:latin typeface="Times New Roman" panose="02020603050405020304" pitchFamily="18" charset="0"/>
                <a:cs typeface="Times New Roman" panose="02020603050405020304" pitchFamily="18" charset="0"/>
              </a:rPr>
              <a:t> или </a:t>
            </a:r>
            <a:r>
              <a:rPr lang="ru-RU" sz="2400" dirty="0" err="1">
                <a:latin typeface="Times New Roman" panose="02020603050405020304" pitchFamily="18" charset="0"/>
                <a:cs typeface="Times New Roman" panose="02020603050405020304" pitchFamily="18" charset="0"/>
              </a:rPr>
              <a:t>увеличава</a:t>
            </a:r>
            <a:r>
              <a:rPr lang="ru-RU" sz="2400" dirty="0">
                <a:latin typeface="Times New Roman" panose="02020603050405020304" pitchFamily="18" charset="0"/>
                <a:cs typeface="Times New Roman" panose="02020603050405020304" pitchFamily="18" charset="0"/>
              </a:rPr>
              <a:t> с </a:t>
            </a:r>
            <a:r>
              <a:rPr lang="ru-RU" sz="2400" dirty="0" err="1">
                <a:latin typeface="Times New Roman" panose="02020603050405020304" pitchFamily="18" charset="0"/>
                <a:cs typeface="Times New Roman" panose="02020603050405020304" pitchFamily="18" charset="0"/>
              </a:rPr>
              <a:t>една</a:t>
            </a:r>
            <a:r>
              <a:rPr lang="ru-RU" sz="2400" dirty="0">
                <a:latin typeface="Times New Roman" panose="02020603050405020304" pitchFamily="18" charset="0"/>
                <a:cs typeface="Times New Roman" panose="02020603050405020304" pitchFamily="18" charset="0"/>
              </a:rPr>
              <a:t> дума за </a:t>
            </a:r>
            <a:r>
              <a:rPr lang="ru-RU" sz="2400" dirty="0" err="1">
                <a:latin typeface="Times New Roman" panose="02020603050405020304" pitchFamily="18" charset="0"/>
                <a:cs typeface="Times New Roman" panose="02020603050405020304" pitchFamily="18" charset="0"/>
              </a:rPr>
              <a:t>всеки</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регистър</a:t>
            </a:r>
            <a:r>
              <a:rPr lang="ru-RU" sz="2400" dirty="0">
                <a:latin typeface="Times New Roman" panose="02020603050405020304" pitchFamily="18" charset="0"/>
                <a:cs typeface="Times New Roman" panose="02020603050405020304" pitchFamily="18" charset="0"/>
              </a:rPr>
              <a:t> в </a:t>
            </a:r>
            <a:r>
              <a:rPr lang="ru-RU" sz="2400" dirty="0" err="1">
                <a:latin typeface="Times New Roman" panose="02020603050405020304" pitchFamily="18" charset="0"/>
                <a:cs typeface="Times New Roman" panose="02020603050405020304" pitchFamily="18" charset="0"/>
              </a:rPr>
              <a:t>списъка</a:t>
            </a:r>
            <a:r>
              <a:rPr lang="ru-RU" sz="2400" dirty="0">
                <a:latin typeface="Times New Roman" panose="02020603050405020304" pitchFamily="18" charset="0"/>
                <a:cs typeface="Times New Roman" panose="02020603050405020304" pitchFamily="18" charset="0"/>
              </a:rPr>
              <a:t> с </a:t>
            </a:r>
            <a:r>
              <a:rPr lang="ru-RU" sz="2400" dirty="0" err="1">
                <a:latin typeface="Times New Roman" panose="02020603050405020304" pitchFamily="18" charset="0"/>
                <a:cs typeface="Times New Roman" panose="02020603050405020304" pitchFamily="18" charset="0"/>
              </a:rPr>
              <a:t>регистри</a:t>
            </a:r>
            <a:r>
              <a:rPr lang="ru-RU" sz="2400" dirty="0">
                <a:latin typeface="Times New Roman" panose="02020603050405020304" pitchFamily="18" charset="0"/>
                <a:cs typeface="Times New Roman" panose="02020603050405020304" pitchFamily="18" charset="0"/>
              </a:rPr>
              <a:t>. Тъй като </a:t>
            </a:r>
            <a:r>
              <a:rPr lang="ru-RU" sz="2400" dirty="0" err="1">
                <a:latin typeface="Times New Roman" panose="02020603050405020304" pitchFamily="18" charset="0"/>
                <a:cs typeface="Times New Roman" panose="02020603050405020304" pitchFamily="18" charset="0"/>
              </a:rPr>
              <a:t>основният</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регистър</a:t>
            </a:r>
            <a:r>
              <a:rPr lang="ru-RU" sz="2400" dirty="0">
                <a:latin typeface="Times New Roman" panose="02020603050405020304" pitchFamily="18" charset="0"/>
                <a:cs typeface="Times New Roman" panose="02020603050405020304" pitchFamily="18" charset="0"/>
              </a:rPr>
              <a:t> не се </a:t>
            </a:r>
            <a:r>
              <a:rPr lang="ru-RU" sz="2400" dirty="0" err="1">
                <a:latin typeface="Times New Roman" panose="02020603050405020304" pitchFamily="18" charset="0"/>
                <a:cs typeface="Times New Roman" panose="02020603050405020304" pitchFamily="18" charset="0"/>
              </a:rPr>
              <a:t>модифицира</a:t>
            </a:r>
            <a:r>
              <a:rPr lang="ru-RU" sz="2400" dirty="0">
                <a:latin typeface="Times New Roman" panose="02020603050405020304" pitchFamily="18" charset="0"/>
                <a:cs typeface="Times New Roman" panose="02020603050405020304" pitchFamily="18" charset="0"/>
              </a:rPr>
              <a:t> след </a:t>
            </a:r>
            <a:r>
              <a:rPr lang="ru-RU" sz="2400" dirty="0" err="1">
                <a:latin typeface="Times New Roman" panose="02020603050405020304" pitchFamily="18" charset="0"/>
                <a:cs typeface="Times New Roman" panose="02020603050405020304" pitchFamily="18" charset="0"/>
              </a:rPr>
              <a:t>завършване</a:t>
            </a:r>
            <a:r>
              <a:rPr lang="ru-RU" sz="2400" dirty="0">
                <a:latin typeface="Times New Roman" panose="02020603050405020304" pitchFamily="18" charset="0"/>
                <a:cs typeface="Times New Roman" panose="02020603050405020304" pitchFamily="18" charset="0"/>
              </a:rPr>
              <a:t> на LDM или STM инструкция, можете да принудите адреса да </a:t>
            </a:r>
            <a:r>
              <a:rPr lang="ru-RU" sz="2400" dirty="0" err="1">
                <a:latin typeface="Times New Roman" panose="02020603050405020304" pitchFamily="18" charset="0"/>
                <a:cs typeface="Times New Roman" panose="02020603050405020304" pitchFamily="18" charset="0"/>
              </a:rPr>
              <a:t>бъде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актуализиран</a:t>
            </a:r>
            <a:r>
              <a:rPr lang="ru-RU" sz="2400" dirty="0">
                <a:latin typeface="Times New Roman" panose="02020603050405020304" pitchFamily="18" charset="0"/>
                <a:cs typeface="Times New Roman" panose="02020603050405020304" pitchFamily="18" charset="0"/>
              </a:rPr>
              <a:t>, като </a:t>
            </a:r>
            <a:r>
              <a:rPr lang="ru-RU" sz="2400" dirty="0" err="1">
                <a:latin typeface="Times New Roman" panose="02020603050405020304" pitchFamily="18" charset="0"/>
                <a:cs typeface="Times New Roman" panose="02020603050405020304" pitchFamily="18" charset="0"/>
              </a:rPr>
              <a:t>използвате</a:t>
            </a:r>
            <a:r>
              <a:rPr lang="ru-RU" sz="2400" dirty="0">
                <a:latin typeface="Times New Roman" panose="02020603050405020304" pitchFamily="18" charset="0"/>
                <a:cs typeface="Times New Roman" panose="02020603050405020304" pitchFamily="18" charset="0"/>
              </a:rPr>
              <a:t> "!" опция с </a:t>
            </a:r>
            <a:r>
              <a:rPr lang="ru-RU" sz="2400" dirty="0" err="1">
                <a:latin typeface="Times New Roman" panose="02020603050405020304" pitchFamily="18" charset="0"/>
                <a:cs typeface="Times New Roman" panose="02020603050405020304" pitchFamily="18" charset="0"/>
              </a:rPr>
              <a:t>мнемониката</a:t>
            </a:r>
            <a:r>
              <a:rPr lang="ru-RU" sz="2400" dirty="0">
                <a:latin typeface="Times New Roman" panose="02020603050405020304" pitchFamily="18" charset="0"/>
                <a:cs typeface="Times New Roman" panose="02020603050405020304" pitchFamily="18" charset="0"/>
              </a:rPr>
              <a:t>. Ако случайно </a:t>
            </a:r>
            <a:r>
              <a:rPr lang="ru-RU" sz="2400" dirty="0" err="1">
                <a:latin typeface="Times New Roman" panose="02020603050405020304" pitchFamily="18" charset="0"/>
                <a:cs typeface="Times New Roman" panose="02020603050405020304" pitchFamily="18" charset="0"/>
              </a:rPr>
              <a:t>имате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основния</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регистър</a:t>
            </a:r>
            <a:r>
              <a:rPr lang="ru-RU" sz="2400" dirty="0">
                <a:latin typeface="Times New Roman" panose="02020603050405020304" pitchFamily="18" charset="0"/>
                <a:cs typeface="Times New Roman" panose="02020603050405020304" pitchFamily="18" charset="0"/>
              </a:rPr>
              <a:t> в </a:t>
            </a:r>
            <a:r>
              <a:rPr lang="ru-RU" sz="2400" dirty="0" err="1">
                <a:latin typeface="Times New Roman" panose="02020603050405020304" pitchFamily="18" charset="0"/>
                <a:cs typeface="Times New Roman" panose="02020603050405020304" pitchFamily="18" charset="0"/>
              </a:rPr>
              <a:t>списъка</a:t>
            </a:r>
            <a:r>
              <a:rPr lang="ru-RU" sz="2400" dirty="0">
                <a:latin typeface="Times New Roman" panose="02020603050405020304" pitchFamily="18" charset="0"/>
                <a:cs typeface="Times New Roman" panose="02020603050405020304" pitchFamily="18" charset="0"/>
              </a:rPr>
              <a:t> с </a:t>
            </a:r>
            <a:r>
              <a:rPr lang="ru-RU" sz="2400" dirty="0" err="1">
                <a:latin typeface="Times New Roman" panose="02020603050405020304" pitchFamily="18" charset="0"/>
                <a:cs typeface="Times New Roman" panose="02020603050405020304" pitchFamily="18" charset="0"/>
              </a:rPr>
              <a:t>регистри</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тогава</a:t>
            </a:r>
            <a:r>
              <a:rPr lang="ru-RU" sz="2400" dirty="0">
                <a:latin typeface="Times New Roman" panose="02020603050405020304" pitchFamily="18" charset="0"/>
                <a:cs typeface="Times New Roman" panose="02020603050405020304" pitchFamily="18" charset="0"/>
              </a:rPr>
              <a:t> не трябва да </a:t>
            </a:r>
            <a:r>
              <a:rPr lang="ru-RU" sz="2400" dirty="0" err="1">
                <a:latin typeface="Times New Roman" panose="02020603050405020304" pitchFamily="18" charset="0"/>
                <a:cs typeface="Times New Roman" panose="02020603050405020304" pitchFamily="18" charset="0"/>
              </a:rPr>
              <a:t>използвате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опцията</a:t>
            </a:r>
            <a:r>
              <a:rPr lang="ru-RU" sz="2400" dirty="0">
                <a:latin typeface="Times New Roman" panose="02020603050405020304" pitchFamily="18" charset="0"/>
                <a:cs typeface="Times New Roman" panose="02020603050405020304" pitchFamily="18" charset="0"/>
              </a:rPr>
              <a:t> за обратно </a:t>
            </a:r>
            <a:r>
              <a:rPr lang="ru-RU" sz="2400" dirty="0" err="1">
                <a:latin typeface="Times New Roman" panose="02020603050405020304" pitchFamily="18" charset="0"/>
                <a:cs typeface="Times New Roman" panose="02020603050405020304" pitchFamily="18" charset="0"/>
              </a:rPr>
              <a:t>записване</a:t>
            </a:r>
            <a:r>
              <a:rPr lang="ru-RU" sz="2400" dirty="0">
                <a:latin typeface="Times New Roman" panose="02020603050405020304" pitchFamily="18" charset="0"/>
                <a:cs typeface="Times New Roman" panose="02020603050405020304" pitchFamily="18" charset="0"/>
              </a:rPr>
              <a:t>.</a:t>
            </a:r>
          </a:p>
          <a:p>
            <a:pPr algn="just">
              <a:lnSpc>
                <a:spcPts val="3200"/>
              </a:lnSpc>
            </a:pPr>
            <a:r>
              <a:rPr lang="en-US" sz="2400" dirty="0">
                <a:latin typeface="Times New Roman" panose="02020603050405020304" pitchFamily="18" charset="0"/>
                <a:cs typeface="Times New Roman" panose="02020603050405020304" pitchFamily="18" charset="0"/>
              </a:rPr>
              <a:t> </a:t>
            </a:r>
            <a:endParaRPr lang="ru-RU"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ru-RU" sz="2000" dirty="0">
              <a:latin typeface="Times New Roman" panose="02020603050405020304" pitchFamily="18" charset="0"/>
              <a:cs typeface="Times New Roman" panose="02020603050405020304" pitchFamily="18" charset="0"/>
            </a:endParaRPr>
          </a:p>
        </p:txBody>
      </p:sp>
      <p:pic>
        <p:nvPicPr>
          <p:cNvPr id="4" name="Картина 3"/>
          <p:cNvPicPr>
            <a:picLocks noChangeAspect="1"/>
          </p:cNvPicPr>
          <p:nvPr/>
        </p:nvPicPr>
        <p:blipFill>
          <a:blip r:embed="rId2"/>
          <a:stretch>
            <a:fillRect/>
          </a:stretch>
        </p:blipFill>
        <p:spPr>
          <a:xfrm>
            <a:off x="827584" y="409149"/>
            <a:ext cx="5980694" cy="859611"/>
          </a:xfrm>
          <a:prstGeom prst="rect">
            <a:avLst/>
          </a:prstGeom>
        </p:spPr>
      </p:pic>
      <p:pic>
        <p:nvPicPr>
          <p:cNvPr id="3" name="Картина 2"/>
          <p:cNvPicPr>
            <a:picLocks noChangeAspect="1"/>
          </p:cNvPicPr>
          <p:nvPr/>
        </p:nvPicPr>
        <p:blipFill>
          <a:blip r:embed="rId3"/>
          <a:stretch>
            <a:fillRect/>
          </a:stretch>
        </p:blipFill>
        <p:spPr>
          <a:xfrm>
            <a:off x="1691680" y="5661248"/>
            <a:ext cx="5596985" cy="648072"/>
          </a:xfrm>
          <a:prstGeom prst="rect">
            <a:avLst/>
          </a:prstGeom>
        </p:spPr>
      </p:pic>
    </p:spTree>
    <p:extLst>
      <p:ext uri="{BB962C8B-B14F-4D97-AF65-F5344CB8AC3E}">
        <p14:creationId xmlns:p14="http://schemas.microsoft.com/office/powerpoint/2010/main" val="16022194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540633-89A2-4A92-BB32-A6DE3FD7548E}"/>
              </a:ext>
            </a:extLst>
          </p:cNvPr>
          <p:cNvSpPr/>
          <p:nvPr/>
        </p:nvSpPr>
        <p:spPr>
          <a:xfrm>
            <a:off x="179512" y="980728"/>
            <a:ext cx="8712968" cy="5427127"/>
          </a:xfrm>
          <a:prstGeom prst="rect">
            <a:avLst/>
          </a:prstGeom>
        </p:spPr>
        <p:txBody>
          <a:bodyPr wrap="square">
            <a:spAutoFit/>
          </a:bodyPr>
          <a:lstStyle/>
          <a:p>
            <a:pPr algn="just">
              <a:lnSpc>
                <a:spcPts val="3200"/>
              </a:lnSpc>
            </a:pPr>
            <a:r>
              <a:rPr lang="en-US" sz="2400" b="1" dirty="0">
                <a:latin typeface="Times New Roman" panose="02020603050405020304" pitchFamily="18" charset="0"/>
                <a:cs typeface="Times New Roman" panose="02020603050405020304" pitchFamily="18" charset="0"/>
              </a:rPr>
              <a:t>LDM/STM </a:t>
            </a:r>
            <a:r>
              <a:rPr lang="bg-BG" sz="2400" b="1" dirty="0">
                <a:latin typeface="Times New Roman" panose="02020603050405020304" pitchFamily="18" charset="0"/>
                <a:cs typeface="Times New Roman" panose="02020603050405020304" pitchFamily="18" charset="0"/>
              </a:rPr>
              <a:t>инструкции</a:t>
            </a:r>
          </a:p>
          <a:p>
            <a:pPr algn="just">
              <a:lnSpc>
                <a:spcPts val="3200"/>
              </a:lnSpc>
            </a:pPr>
            <a:r>
              <a:rPr lang="ru-RU" sz="2400" dirty="0" err="1">
                <a:latin typeface="Times New Roman" panose="02020603050405020304" pitchFamily="18" charset="0"/>
                <a:cs typeface="Times New Roman" panose="02020603050405020304" pitchFamily="18" charset="0"/>
              </a:rPr>
              <a:t>Предлагат</a:t>
            </a:r>
            <a:r>
              <a:rPr lang="ru-RU" sz="2400" dirty="0">
                <a:latin typeface="Times New Roman" panose="02020603050405020304" pitchFamily="18" charset="0"/>
                <a:cs typeface="Times New Roman" panose="02020603050405020304" pitchFamily="18" charset="0"/>
              </a:rPr>
              <a:t> се </a:t>
            </a:r>
            <a:r>
              <a:rPr lang="ru-RU" sz="2400" dirty="0" err="1">
                <a:latin typeface="Times New Roman" panose="02020603050405020304" pitchFamily="18" charset="0"/>
                <a:cs typeface="Times New Roman" panose="02020603050405020304" pitchFamily="18" charset="0"/>
              </a:rPr>
              <a:t>четири</a:t>
            </a:r>
            <a:r>
              <a:rPr lang="ru-RU" sz="2400" dirty="0">
                <a:latin typeface="Times New Roman" panose="02020603050405020304" pitchFamily="18" charset="0"/>
                <a:cs typeface="Times New Roman" panose="02020603050405020304" pitchFamily="18" charset="0"/>
              </a:rPr>
              <a:t> режима на </a:t>
            </a:r>
            <a:r>
              <a:rPr lang="ru-RU" sz="2400" dirty="0" err="1">
                <a:latin typeface="Times New Roman" panose="02020603050405020304" pitchFamily="18" charset="0"/>
                <a:cs typeface="Times New Roman" panose="02020603050405020304" pitchFamily="18" charset="0"/>
              </a:rPr>
              <a:t>адресиране</a:t>
            </a:r>
            <a:r>
              <a:rPr lang="ru-RU" sz="2400" dirty="0">
                <a:latin typeface="Times New Roman" panose="02020603050405020304" pitchFamily="18" charset="0"/>
                <a:cs typeface="Times New Roman" panose="02020603050405020304" pitchFamily="18" charset="0"/>
              </a:rPr>
              <a:t>:</a:t>
            </a:r>
          </a:p>
          <a:p>
            <a:pPr algn="just">
              <a:lnSpc>
                <a:spcPts val="3200"/>
              </a:lnSpc>
            </a:pP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предварително</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нарастване</a:t>
            </a:r>
            <a:endParaRPr lang="ru-RU" sz="2400" dirty="0">
              <a:latin typeface="Times New Roman" panose="02020603050405020304" pitchFamily="18" charset="0"/>
              <a:cs typeface="Times New Roman" panose="02020603050405020304" pitchFamily="18" charset="0"/>
            </a:endParaRPr>
          </a:p>
          <a:p>
            <a:pPr algn="just">
              <a:lnSpc>
                <a:spcPts val="3200"/>
              </a:lnSpc>
            </a:pP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последващо</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нарастване</a:t>
            </a:r>
            <a:endParaRPr lang="ru-RU" sz="2400" dirty="0">
              <a:latin typeface="Times New Roman" panose="02020603050405020304" pitchFamily="18" charset="0"/>
              <a:cs typeface="Times New Roman" panose="02020603050405020304" pitchFamily="18" charset="0"/>
            </a:endParaRPr>
          </a:p>
          <a:p>
            <a:pPr algn="just">
              <a:lnSpc>
                <a:spcPts val="3200"/>
              </a:lnSpc>
            </a:pP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предварително</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намаляване</a:t>
            </a:r>
            <a:endParaRPr lang="ru-RU" sz="2400" dirty="0">
              <a:latin typeface="Times New Roman" panose="02020603050405020304" pitchFamily="18" charset="0"/>
              <a:cs typeface="Times New Roman" panose="02020603050405020304" pitchFamily="18" charset="0"/>
            </a:endParaRPr>
          </a:p>
          <a:p>
            <a:pPr algn="just">
              <a:lnSpc>
                <a:spcPts val="3200"/>
              </a:lnSpc>
            </a:pP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последващо</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намаляване</a:t>
            </a:r>
            <a:endParaRPr lang="ru-RU" sz="2400" dirty="0">
              <a:latin typeface="Times New Roman" panose="02020603050405020304" pitchFamily="18" charset="0"/>
              <a:cs typeface="Times New Roman" panose="02020603050405020304" pitchFamily="18" charset="0"/>
            </a:endParaRPr>
          </a:p>
          <a:p>
            <a:pPr algn="just">
              <a:lnSpc>
                <a:spcPts val="3200"/>
              </a:lnSpc>
            </a:pPr>
            <a:r>
              <a:rPr lang="ru-RU" sz="2400" dirty="0" err="1">
                <a:latin typeface="Times New Roman" panose="02020603050405020304" pitchFamily="18" charset="0"/>
                <a:cs typeface="Times New Roman" panose="02020603050405020304" pitchFamily="18" charset="0"/>
              </a:rPr>
              <a:t>Базовият</a:t>
            </a:r>
            <a:r>
              <a:rPr lang="ru-RU" sz="2400" dirty="0">
                <a:latin typeface="Times New Roman" panose="02020603050405020304" pitchFamily="18" charset="0"/>
                <a:cs typeface="Times New Roman" panose="02020603050405020304" pitchFamily="18" charset="0"/>
              </a:rPr>
              <a:t> адрес се </a:t>
            </a:r>
            <a:r>
              <a:rPr lang="ru-RU" sz="2400" dirty="0" err="1">
                <a:latin typeface="Times New Roman" panose="02020603050405020304" pitchFamily="18" charset="0"/>
                <a:cs typeface="Times New Roman" panose="02020603050405020304" pitchFamily="18" charset="0"/>
              </a:rPr>
              <a:t>задава</a:t>
            </a:r>
            <a:r>
              <a:rPr lang="ru-RU" sz="2400" dirty="0">
                <a:latin typeface="Times New Roman" panose="02020603050405020304" pitchFamily="18" charset="0"/>
                <a:cs typeface="Times New Roman" panose="02020603050405020304" pitchFamily="18" charset="0"/>
              </a:rPr>
              <a:t> чрез </a:t>
            </a:r>
            <a:r>
              <a:rPr lang="ru-RU" sz="2400" dirty="0" err="1">
                <a:latin typeface="Times New Roman" panose="02020603050405020304" pitchFamily="18" charset="0"/>
                <a:cs typeface="Times New Roman" panose="02020603050405020304" pitchFamily="18" charset="0"/>
              </a:rPr>
              <a:t>стойност</a:t>
            </a:r>
            <a:r>
              <a:rPr lang="ru-RU" sz="2400" dirty="0">
                <a:latin typeface="Times New Roman" panose="02020603050405020304" pitchFamily="18" charset="0"/>
                <a:cs typeface="Times New Roman" panose="02020603050405020304" pitchFamily="18" charset="0"/>
              </a:rPr>
              <a:t> в </a:t>
            </a:r>
            <a:r>
              <a:rPr lang="ru-RU" sz="2400" dirty="0" err="1">
                <a:latin typeface="Times New Roman" panose="02020603050405020304" pitchFamily="18" charset="0"/>
                <a:cs typeface="Times New Roman" panose="02020603050405020304" pitchFamily="18" charset="0"/>
              </a:rPr>
              <a:t>регистъра</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която</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може</a:t>
            </a:r>
            <a:r>
              <a:rPr lang="ru-RU" sz="2400" dirty="0">
                <a:latin typeface="Times New Roman" panose="02020603050405020304" pitchFamily="18" charset="0"/>
                <a:cs typeface="Times New Roman" panose="02020603050405020304" pitchFamily="18" charset="0"/>
              </a:rPr>
              <a:t> да </a:t>
            </a:r>
            <a:r>
              <a:rPr lang="ru-RU" sz="2400" dirty="0" err="1">
                <a:latin typeface="Times New Roman" panose="02020603050405020304" pitchFamily="18" charset="0"/>
                <a:cs typeface="Times New Roman" panose="02020603050405020304" pitchFamily="18" charset="0"/>
              </a:rPr>
              <a:t>бъде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актуализирана</a:t>
            </a:r>
            <a:r>
              <a:rPr lang="ru-RU" sz="2400" dirty="0">
                <a:latin typeface="Times New Roman" panose="02020603050405020304" pitchFamily="18" charset="0"/>
                <a:cs typeface="Times New Roman" panose="02020603050405020304" pitchFamily="18" charset="0"/>
              </a:rPr>
              <a:t> по </a:t>
            </a:r>
            <a:r>
              <a:rPr lang="ru-RU" sz="2400" dirty="0" err="1">
                <a:latin typeface="Times New Roman" panose="02020603050405020304" pitchFamily="18" charset="0"/>
                <a:cs typeface="Times New Roman" panose="02020603050405020304" pitchFamily="18" charset="0"/>
              </a:rPr>
              <a:t>избор</a:t>
            </a:r>
            <a:r>
              <a:rPr lang="ru-RU" sz="2400" dirty="0">
                <a:latin typeface="Times New Roman" panose="02020603050405020304" pitchFamily="18" charset="0"/>
                <a:cs typeface="Times New Roman" panose="02020603050405020304" pitchFamily="18" charset="0"/>
              </a:rPr>
              <a:t> след </a:t>
            </a:r>
            <a:r>
              <a:rPr lang="ru-RU" sz="2400" dirty="0" err="1">
                <a:latin typeface="Times New Roman" panose="02020603050405020304" pitchFamily="18" charset="0"/>
                <a:cs typeface="Times New Roman" panose="02020603050405020304" pitchFamily="18" charset="0"/>
              </a:rPr>
              <a:t>прехвърлянето</a:t>
            </a:r>
            <a:r>
              <a:rPr lang="ru-RU" sz="2400" dirty="0">
                <a:latin typeface="Times New Roman" panose="02020603050405020304" pitchFamily="18" charset="0"/>
                <a:cs typeface="Times New Roman" panose="02020603050405020304" pitchFamily="18" charset="0"/>
              </a:rPr>
              <a:t>. </a:t>
            </a:r>
          </a:p>
          <a:p>
            <a:pPr algn="just">
              <a:lnSpc>
                <a:spcPts val="3200"/>
              </a:lnSpc>
            </a:pPr>
            <a:r>
              <a:rPr lang="ru-RU" sz="2400" dirty="0">
                <a:latin typeface="Times New Roman" panose="02020603050405020304" pitchFamily="18" charset="0"/>
                <a:cs typeface="Times New Roman" panose="02020603050405020304" pitchFamily="18" charset="0"/>
              </a:rPr>
              <a:t>Тъй като </a:t>
            </a:r>
            <a:r>
              <a:rPr lang="ru-RU" sz="2400" dirty="0" err="1">
                <a:latin typeface="Times New Roman" panose="02020603050405020304" pitchFamily="18" charset="0"/>
                <a:cs typeface="Times New Roman" panose="02020603050405020304" pitchFamily="18" charset="0"/>
              </a:rPr>
              <a:t>адресът</a:t>
            </a:r>
            <a:r>
              <a:rPr lang="ru-RU" sz="2400" dirty="0">
                <a:latin typeface="Times New Roman" panose="02020603050405020304" pitchFamily="18" charset="0"/>
                <a:cs typeface="Times New Roman" panose="02020603050405020304" pitchFamily="18" charset="0"/>
              </a:rPr>
              <a:t> за </a:t>
            </a:r>
            <a:r>
              <a:rPr lang="ru-RU" sz="2400" dirty="0" err="1">
                <a:latin typeface="Times New Roman" panose="02020603050405020304" pitchFamily="18" charset="0"/>
                <a:cs typeface="Times New Roman" panose="02020603050405020304" pitchFamily="18" charset="0"/>
              </a:rPr>
              <a:t>връщане</a:t>
            </a:r>
            <a:r>
              <a:rPr lang="ru-RU" sz="2400" dirty="0">
                <a:latin typeface="Times New Roman" panose="02020603050405020304" pitchFamily="18" charset="0"/>
                <a:cs typeface="Times New Roman" panose="02020603050405020304" pitchFamily="18" charset="0"/>
              </a:rPr>
              <a:t> на </a:t>
            </a:r>
            <a:r>
              <a:rPr lang="ru-RU" sz="2400" dirty="0" err="1">
                <a:latin typeface="Times New Roman" panose="02020603050405020304" pitchFamily="18" charset="0"/>
                <a:cs typeface="Times New Roman" panose="02020603050405020304" pitchFamily="18" charset="0"/>
              </a:rPr>
              <a:t>подпрограмата</a:t>
            </a:r>
            <a:r>
              <a:rPr lang="ru-RU" sz="2400" dirty="0">
                <a:latin typeface="Times New Roman" panose="02020603050405020304" pitchFamily="18" charset="0"/>
                <a:cs typeface="Times New Roman" panose="02020603050405020304" pitchFamily="18" charset="0"/>
              </a:rPr>
              <a:t> и </a:t>
            </a:r>
            <a:r>
              <a:rPr lang="ru-RU" sz="2400" dirty="0" err="1">
                <a:latin typeface="Times New Roman" panose="02020603050405020304" pitchFamily="18" charset="0"/>
                <a:cs typeface="Times New Roman" panose="02020603050405020304" pitchFamily="18" charset="0"/>
              </a:rPr>
              <a:t>стойностите</a:t>
            </a:r>
            <a:r>
              <a:rPr lang="ru-RU" sz="2400" dirty="0">
                <a:latin typeface="Times New Roman" panose="02020603050405020304" pitchFamily="18" charset="0"/>
                <a:cs typeface="Times New Roman" panose="02020603050405020304" pitchFamily="18" charset="0"/>
              </a:rPr>
              <a:t> на </a:t>
            </a:r>
            <a:r>
              <a:rPr lang="ru-RU" sz="2400" dirty="0" err="1">
                <a:latin typeface="Times New Roman" panose="02020603050405020304" pitchFamily="18" charset="0"/>
                <a:cs typeface="Times New Roman" panose="02020603050405020304" pitchFamily="18" charset="0"/>
              </a:rPr>
              <a:t>компютъра</a:t>
            </a:r>
            <a:r>
              <a:rPr lang="ru-RU" sz="2400" dirty="0">
                <a:latin typeface="Times New Roman" panose="02020603050405020304" pitchFamily="18" charset="0"/>
                <a:cs typeface="Times New Roman" panose="02020603050405020304" pitchFamily="18" charset="0"/>
              </a:rPr>
              <a:t> са в </a:t>
            </a:r>
            <a:r>
              <a:rPr lang="ru-RU" sz="2400" dirty="0" err="1">
                <a:latin typeface="Times New Roman" panose="02020603050405020304" pitchFamily="18" charset="0"/>
                <a:cs typeface="Times New Roman" panose="02020603050405020304" pitchFamily="18" charset="0"/>
              </a:rPr>
              <a:t>регистри</a:t>
            </a:r>
            <a:r>
              <a:rPr lang="ru-RU" sz="2400" dirty="0">
                <a:latin typeface="Times New Roman" panose="02020603050405020304" pitchFamily="18" charset="0"/>
                <a:cs typeface="Times New Roman" panose="02020603050405020304" pitchFamily="18" charset="0"/>
              </a:rPr>
              <a:t> с </a:t>
            </a:r>
            <a:r>
              <a:rPr lang="ru-RU" sz="2400" dirty="0" err="1">
                <a:latin typeface="Times New Roman" panose="02020603050405020304" pitchFamily="18" charset="0"/>
                <a:cs typeface="Times New Roman" panose="02020603050405020304" pitchFamily="18" charset="0"/>
              </a:rPr>
              <a:t>общо</a:t>
            </a:r>
            <a:r>
              <a:rPr lang="ru-RU" sz="2400" dirty="0">
                <a:latin typeface="Times New Roman" panose="02020603050405020304" pitchFamily="18" charset="0"/>
                <a:cs typeface="Times New Roman" panose="02020603050405020304" pitchFamily="18" charset="0"/>
              </a:rPr>
              <a:t> предназначение, много </a:t>
            </a:r>
            <a:r>
              <a:rPr lang="ru-RU" sz="2400" dirty="0" err="1">
                <a:latin typeface="Times New Roman" panose="02020603050405020304" pitchFamily="18" charset="0"/>
                <a:cs typeface="Times New Roman" panose="02020603050405020304" pitchFamily="18" charset="0"/>
              </a:rPr>
              <a:t>ефективни</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последователности</a:t>
            </a:r>
            <a:r>
              <a:rPr lang="ru-RU" sz="2400" dirty="0">
                <a:latin typeface="Times New Roman" panose="02020603050405020304" pitchFamily="18" charset="0"/>
                <a:cs typeface="Times New Roman" panose="02020603050405020304" pitchFamily="18" charset="0"/>
              </a:rPr>
              <a:t> за </a:t>
            </a:r>
            <a:r>
              <a:rPr lang="ru-RU" sz="2400" dirty="0" err="1">
                <a:latin typeface="Times New Roman" panose="02020603050405020304" pitchFamily="18" charset="0"/>
                <a:cs typeface="Times New Roman" panose="02020603050405020304" pitchFamily="18" charset="0"/>
              </a:rPr>
              <a:t>влизане</a:t>
            </a:r>
            <a:r>
              <a:rPr lang="ru-RU" sz="2400" dirty="0">
                <a:latin typeface="Times New Roman" panose="02020603050405020304" pitchFamily="18" charset="0"/>
                <a:cs typeface="Times New Roman" panose="02020603050405020304" pitchFamily="18" charset="0"/>
              </a:rPr>
              <a:t> и </a:t>
            </a:r>
            <a:r>
              <a:rPr lang="ru-RU" sz="2400" dirty="0" err="1">
                <a:latin typeface="Times New Roman" panose="02020603050405020304" pitchFamily="18" charset="0"/>
                <a:cs typeface="Times New Roman" panose="02020603050405020304" pitchFamily="18" charset="0"/>
              </a:rPr>
              <a:t>излизане</a:t>
            </a:r>
            <a:r>
              <a:rPr lang="ru-RU" sz="2400" dirty="0">
                <a:latin typeface="Times New Roman" panose="02020603050405020304" pitchFamily="18" charset="0"/>
                <a:cs typeface="Times New Roman" panose="02020603050405020304" pitchFamily="18" charset="0"/>
              </a:rPr>
              <a:t> от </a:t>
            </a:r>
            <a:r>
              <a:rPr lang="ru-RU" sz="2400" dirty="0" err="1">
                <a:latin typeface="Times New Roman" panose="02020603050405020304" pitchFamily="18" charset="0"/>
                <a:cs typeface="Times New Roman" panose="02020603050405020304" pitchFamily="18" charset="0"/>
              </a:rPr>
              <a:t>подпрограмата</a:t>
            </a:r>
            <a:r>
              <a:rPr lang="ru-RU" sz="2400" dirty="0">
                <a:latin typeface="Times New Roman" panose="02020603050405020304" pitchFamily="18" charset="0"/>
                <a:cs typeface="Times New Roman" panose="02020603050405020304" pitchFamily="18" charset="0"/>
              </a:rPr>
              <a:t> могат да </a:t>
            </a:r>
            <a:r>
              <a:rPr lang="ru-RU" sz="2400" dirty="0" err="1">
                <a:latin typeface="Times New Roman" panose="02020603050405020304" pitchFamily="18" charset="0"/>
                <a:cs typeface="Times New Roman" panose="02020603050405020304" pitchFamily="18" charset="0"/>
              </a:rPr>
              <a:t>бъдат</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конструирани</a:t>
            </a:r>
            <a:r>
              <a:rPr lang="ru-RU" sz="2400" dirty="0">
                <a:latin typeface="Times New Roman" panose="02020603050405020304" pitchFamily="18" charset="0"/>
                <a:cs typeface="Times New Roman" panose="02020603050405020304" pitchFamily="18" charset="0"/>
              </a:rPr>
              <a:t> с LDM и STM:</a:t>
            </a:r>
          </a:p>
          <a:p>
            <a:pPr algn="just">
              <a:lnSpc>
                <a:spcPts val="3200"/>
              </a:lnSpc>
            </a:pPr>
            <a:endParaRPr lang="ru-RU" sz="2000" dirty="0">
              <a:latin typeface="Times New Roman" panose="02020603050405020304" pitchFamily="18" charset="0"/>
              <a:cs typeface="Times New Roman" panose="02020603050405020304" pitchFamily="18" charset="0"/>
            </a:endParaRPr>
          </a:p>
        </p:txBody>
      </p:sp>
      <p:pic>
        <p:nvPicPr>
          <p:cNvPr id="4" name="Картина 3"/>
          <p:cNvPicPr>
            <a:picLocks noChangeAspect="1"/>
          </p:cNvPicPr>
          <p:nvPr/>
        </p:nvPicPr>
        <p:blipFill>
          <a:blip r:embed="rId2"/>
          <a:stretch>
            <a:fillRect/>
          </a:stretch>
        </p:blipFill>
        <p:spPr>
          <a:xfrm>
            <a:off x="755576" y="332656"/>
            <a:ext cx="5980694" cy="859611"/>
          </a:xfrm>
          <a:prstGeom prst="rect">
            <a:avLst/>
          </a:prstGeom>
        </p:spPr>
      </p:pic>
    </p:spTree>
    <p:extLst>
      <p:ext uri="{BB962C8B-B14F-4D97-AF65-F5344CB8AC3E}">
        <p14:creationId xmlns:p14="http://schemas.microsoft.com/office/powerpoint/2010/main" val="7063895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540633-89A2-4A92-BB32-A6DE3FD7548E}"/>
              </a:ext>
            </a:extLst>
          </p:cNvPr>
          <p:cNvSpPr/>
          <p:nvPr/>
        </p:nvSpPr>
        <p:spPr>
          <a:xfrm>
            <a:off x="251520" y="1412776"/>
            <a:ext cx="8712968" cy="5016758"/>
          </a:xfrm>
          <a:prstGeom prst="rect">
            <a:avLst/>
          </a:prstGeom>
        </p:spPr>
        <p:txBody>
          <a:bodyPr wrap="square">
            <a:spAutoFit/>
          </a:bodyPr>
          <a:lstStyle/>
          <a:p>
            <a:pPr algn="just">
              <a:lnSpc>
                <a:spcPts val="3200"/>
              </a:lnSpc>
            </a:pPr>
            <a:r>
              <a:rPr lang="en-US" sz="2400" b="1" dirty="0">
                <a:latin typeface="Times New Roman" panose="02020603050405020304" pitchFamily="18" charset="0"/>
                <a:cs typeface="Times New Roman" panose="02020603050405020304" pitchFamily="18" charset="0"/>
              </a:rPr>
              <a:t>LDM/STM </a:t>
            </a:r>
            <a:r>
              <a:rPr lang="bg-BG" sz="2400" b="1" dirty="0">
                <a:latin typeface="Times New Roman" panose="02020603050405020304" pitchFamily="18" charset="0"/>
                <a:cs typeface="Times New Roman" panose="02020603050405020304" pitchFamily="18" charset="0"/>
              </a:rPr>
              <a:t>инструкции</a:t>
            </a:r>
          </a:p>
          <a:p>
            <a:pPr algn="just">
              <a:lnSpc>
                <a:spcPts val="3200"/>
              </a:lnSpc>
            </a:pP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Една</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единствена</a:t>
            </a:r>
            <a:r>
              <a:rPr lang="ru-RU" sz="2400" dirty="0">
                <a:latin typeface="Times New Roman" panose="02020603050405020304" pitchFamily="18" charset="0"/>
                <a:cs typeface="Times New Roman" panose="02020603050405020304" pitchFamily="18" charset="0"/>
              </a:rPr>
              <a:t> STM инструкция при </a:t>
            </a:r>
            <a:r>
              <a:rPr lang="ru-RU" sz="2400" dirty="0" err="1">
                <a:latin typeface="Times New Roman" panose="02020603050405020304" pitchFamily="18" charset="0"/>
                <a:cs typeface="Times New Roman" panose="02020603050405020304" pitchFamily="18" charset="0"/>
              </a:rPr>
              <a:t>въвеждане</a:t>
            </a:r>
            <a:r>
              <a:rPr lang="ru-RU" sz="2400" dirty="0">
                <a:latin typeface="Times New Roman" panose="02020603050405020304" pitchFamily="18" charset="0"/>
                <a:cs typeface="Times New Roman" panose="02020603050405020304" pitchFamily="18" charset="0"/>
              </a:rPr>
              <a:t> на </a:t>
            </a:r>
            <a:r>
              <a:rPr lang="ru-RU" sz="2400" dirty="0" err="1">
                <a:latin typeface="Times New Roman" panose="02020603050405020304" pitchFamily="18" charset="0"/>
                <a:cs typeface="Times New Roman" panose="02020603050405020304" pitchFamily="18" charset="0"/>
              </a:rPr>
              <a:t>подпрограма</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може</a:t>
            </a:r>
            <a:r>
              <a:rPr lang="ru-RU" sz="2400" dirty="0">
                <a:latin typeface="Times New Roman" panose="02020603050405020304" pitchFamily="18" charset="0"/>
                <a:cs typeface="Times New Roman" panose="02020603050405020304" pitchFamily="18" charset="0"/>
              </a:rPr>
              <a:t> да </a:t>
            </a:r>
            <a:r>
              <a:rPr lang="ru-RU" sz="2400" dirty="0" err="1">
                <a:latin typeface="Times New Roman" panose="02020603050405020304" pitchFamily="18" charset="0"/>
                <a:cs typeface="Times New Roman" panose="02020603050405020304" pitchFamily="18" charset="0"/>
              </a:rPr>
              <a:t>избута</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съдържанието</a:t>
            </a:r>
            <a:r>
              <a:rPr lang="ru-RU" sz="2400" dirty="0">
                <a:latin typeface="Times New Roman" panose="02020603050405020304" pitchFamily="18" charset="0"/>
                <a:cs typeface="Times New Roman" panose="02020603050405020304" pitchFamily="18" charset="0"/>
              </a:rPr>
              <a:t> на </a:t>
            </a:r>
            <a:r>
              <a:rPr lang="ru-RU" sz="2400" dirty="0" err="1">
                <a:latin typeface="Times New Roman" panose="02020603050405020304" pitchFamily="18" charset="0"/>
                <a:cs typeface="Times New Roman" panose="02020603050405020304" pitchFamily="18" charset="0"/>
              </a:rPr>
              <a:t>регистъра</a:t>
            </a:r>
            <a:r>
              <a:rPr lang="ru-RU" sz="2400" dirty="0">
                <a:latin typeface="Times New Roman" panose="02020603050405020304" pitchFamily="18" charset="0"/>
                <a:cs typeface="Times New Roman" panose="02020603050405020304" pitchFamily="18" charset="0"/>
              </a:rPr>
              <a:t> и адреса за </a:t>
            </a:r>
            <a:r>
              <a:rPr lang="ru-RU" sz="2400" dirty="0" err="1">
                <a:latin typeface="Times New Roman" panose="02020603050405020304" pitchFamily="18" charset="0"/>
                <a:cs typeface="Times New Roman" panose="02020603050405020304" pitchFamily="18" charset="0"/>
              </a:rPr>
              <a:t>връщане</a:t>
            </a:r>
            <a:r>
              <a:rPr lang="ru-RU" sz="2400" dirty="0">
                <a:latin typeface="Times New Roman" panose="02020603050405020304" pitchFamily="18" charset="0"/>
                <a:cs typeface="Times New Roman" panose="02020603050405020304" pitchFamily="18" charset="0"/>
              </a:rPr>
              <a:t> в стека, </a:t>
            </a:r>
            <a:r>
              <a:rPr lang="ru-RU" sz="2400" dirty="0" err="1">
                <a:latin typeface="Times New Roman" panose="02020603050405020304" pitchFamily="18" charset="0"/>
                <a:cs typeface="Times New Roman" panose="02020603050405020304" pitchFamily="18" charset="0"/>
              </a:rPr>
              <a:t>актуализирайки</a:t>
            </a:r>
            <a:r>
              <a:rPr lang="ru-RU" sz="2400" dirty="0">
                <a:latin typeface="Times New Roman" panose="02020603050405020304" pitchFamily="18" charset="0"/>
                <a:cs typeface="Times New Roman" panose="02020603050405020304" pitchFamily="18" charset="0"/>
              </a:rPr>
              <a:t> указателя на стека в </a:t>
            </a:r>
            <a:r>
              <a:rPr lang="ru-RU" sz="2400" dirty="0" err="1">
                <a:latin typeface="Times New Roman" panose="02020603050405020304" pitchFamily="18" charset="0"/>
                <a:cs typeface="Times New Roman" panose="02020603050405020304" pitchFamily="18" charset="0"/>
              </a:rPr>
              <a:t>процеса</a:t>
            </a:r>
            <a:r>
              <a:rPr lang="ru-RU" sz="2400" dirty="0">
                <a:latin typeface="Times New Roman" panose="02020603050405020304" pitchFamily="18" charset="0"/>
                <a:cs typeface="Times New Roman" panose="02020603050405020304" pitchFamily="18" charset="0"/>
              </a:rPr>
              <a:t>.</a:t>
            </a:r>
          </a:p>
          <a:p>
            <a:pPr algn="just">
              <a:lnSpc>
                <a:spcPts val="3200"/>
              </a:lnSpc>
            </a:pP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Една</a:t>
            </a:r>
            <a:r>
              <a:rPr lang="ru-RU" sz="2400" dirty="0">
                <a:latin typeface="Times New Roman" panose="02020603050405020304" pitchFamily="18" charset="0"/>
                <a:cs typeface="Times New Roman" panose="02020603050405020304" pitchFamily="18" charset="0"/>
              </a:rPr>
              <a:t> LDM инструкция при </a:t>
            </a:r>
            <a:r>
              <a:rPr lang="ru-RU" sz="2400" dirty="0" err="1">
                <a:latin typeface="Times New Roman" panose="02020603050405020304" pitchFamily="18" charset="0"/>
                <a:cs typeface="Times New Roman" panose="02020603050405020304" pitchFamily="18" charset="0"/>
              </a:rPr>
              <a:t>излизане</a:t>
            </a:r>
            <a:r>
              <a:rPr lang="ru-RU" sz="2400" dirty="0">
                <a:latin typeface="Times New Roman" panose="02020603050405020304" pitchFamily="18" charset="0"/>
                <a:cs typeface="Times New Roman" panose="02020603050405020304" pitchFamily="18" charset="0"/>
              </a:rPr>
              <a:t> от </a:t>
            </a:r>
            <a:r>
              <a:rPr lang="ru-RU" sz="2400" dirty="0" err="1">
                <a:latin typeface="Times New Roman" panose="02020603050405020304" pitchFamily="18" charset="0"/>
                <a:cs typeface="Times New Roman" panose="02020603050405020304" pitchFamily="18" charset="0"/>
              </a:rPr>
              <a:t>подпрограмата</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може</a:t>
            </a:r>
            <a:r>
              <a:rPr lang="ru-RU" sz="2400" dirty="0">
                <a:latin typeface="Times New Roman" panose="02020603050405020304" pitchFamily="18" charset="0"/>
                <a:cs typeface="Times New Roman" panose="02020603050405020304" pitchFamily="18" charset="0"/>
              </a:rPr>
              <a:t> да </a:t>
            </a:r>
            <a:r>
              <a:rPr lang="ru-RU" sz="2400" dirty="0" err="1">
                <a:latin typeface="Times New Roman" panose="02020603050405020304" pitchFamily="18" charset="0"/>
                <a:cs typeface="Times New Roman" panose="02020603050405020304" pitchFamily="18" charset="0"/>
              </a:rPr>
              <a:t>възстанови</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съдържанието</a:t>
            </a:r>
            <a:r>
              <a:rPr lang="ru-RU" sz="2400" dirty="0">
                <a:latin typeface="Times New Roman" panose="02020603050405020304" pitchFamily="18" charset="0"/>
                <a:cs typeface="Times New Roman" panose="02020603050405020304" pitchFamily="18" charset="0"/>
              </a:rPr>
              <a:t> на </a:t>
            </a:r>
            <a:r>
              <a:rPr lang="ru-RU" sz="2400" dirty="0" err="1">
                <a:latin typeface="Times New Roman" panose="02020603050405020304" pitchFamily="18" charset="0"/>
                <a:cs typeface="Times New Roman" panose="02020603050405020304" pitchFamily="18" charset="0"/>
              </a:rPr>
              <a:t>регистъра</a:t>
            </a:r>
            <a:r>
              <a:rPr lang="ru-RU" sz="2400" dirty="0">
                <a:latin typeface="Times New Roman" panose="02020603050405020304" pitchFamily="18" charset="0"/>
                <a:cs typeface="Times New Roman" panose="02020603050405020304" pitchFamily="18" charset="0"/>
              </a:rPr>
              <a:t> от стека, да </a:t>
            </a:r>
            <a:r>
              <a:rPr lang="ru-RU" sz="2400" dirty="0" err="1">
                <a:latin typeface="Times New Roman" panose="02020603050405020304" pitchFamily="18" charset="0"/>
                <a:cs typeface="Times New Roman" panose="02020603050405020304" pitchFamily="18" charset="0"/>
              </a:rPr>
              <a:t>зареди</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компютъра</a:t>
            </a:r>
            <a:r>
              <a:rPr lang="ru-RU" sz="2400" dirty="0">
                <a:latin typeface="Times New Roman" panose="02020603050405020304" pitchFamily="18" charset="0"/>
                <a:cs typeface="Times New Roman" panose="02020603050405020304" pitchFamily="18" charset="0"/>
              </a:rPr>
              <a:t> с адреса за </a:t>
            </a:r>
            <a:r>
              <a:rPr lang="ru-RU" sz="2400" dirty="0" err="1">
                <a:latin typeface="Times New Roman" panose="02020603050405020304" pitchFamily="18" charset="0"/>
                <a:cs typeface="Times New Roman" panose="02020603050405020304" pitchFamily="18" charset="0"/>
              </a:rPr>
              <a:t>връщане</a:t>
            </a:r>
            <a:r>
              <a:rPr lang="ru-RU" sz="2400" dirty="0">
                <a:latin typeface="Times New Roman" panose="02020603050405020304" pitchFamily="18" charset="0"/>
                <a:cs typeface="Times New Roman" panose="02020603050405020304" pitchFamily="18" charset="0"/>
              </a:rPr>
              <a:t> и да </a:t>
            </a:r>
            <a:r>
              <a:rPr lang="ru-RU" sz="2400" dirty="0" err="1">
                <a:latin typeface="Times New Roman" panose="02020603050405020304" pitchFamily="18" charset="0"/>
                <a:cs typeface="Times New Roman" panose="02020603050405020304" pitchFamily="18" charset="0"/>
              </a:rPr>
              <a:t>актуализира</a:t>
            </a:r>
            <a:r>
              <a:rPr lang="ru-RU" sz="2400" dirty="0">
                <a:latin typeface="Times New Roman" panose="02020603050405020304" pitchFamily="18" charset="0"/>
                <a:cs typeface="Times New Roman" panose="02020603050405020304" pitchFamily="18" charset="0"/>
              </a:rPr>
              <a:t> указателя на стека.</a:t>
            </a:r>
          </a:p>
          <a:p>
            <a:pPr algn="just">
              <a:lnSpc>
                <a:spcPts val="3200"/>
              </a:lnSpc>
            </a:pPr>
            <a:r>
              <a:rPr lang="ru-RU" sz="2400" dirty="0">
                <a:latin typeface="Times New Roman" panose="02020603050405020304" pitchFamily="18" charset="0"/>
                <a:cs typeface="Times New Roman" panose="02020603050405020304" pitchFamily="18" charset="0"/>
              </a:rPr>
              <a:t>LDM и STM </a:t>
            </a:r>
            <a:r>
              <a:rPr lang="ru-RU" sz="2400" dirty="0" err="1">
                <a:latin typeface="Times New Roman" panose="02020603050405020304" pitchFamily="18" charset="0"/>
                <a:cs typeface="Times New Roman" panose="02020603050405020304" pitchFamily="18" charset="0"/>
              </a:rPr>
              <a:t>инструкциите</a:t>
            </a:r>
            <a:r>
              <a:rPr lang="ru-RU" sz="2400" dirty="0">
                <a:latin typeface="Times New Roman" panose="02020603050405020304" pitchFamily="18" charset="0"/>
                <a:cs typeface="Times New Roman" panose="02020603050405020304" pitchFamily="18" charset="0"/>
              </a:rPr>
              <a:t> също така </a:t>
            </a:r>
            <a:r>
              <a:rPr lang="ru-RU" sz="2400" dirty="0" err="1">
                <a:latin typeface="Times New Roman" panose="02020603050405020304" pitchFamily="18" charset="0"/>
                <a:cs typeface="Times New Roman" panose="02020603050405020304" pitchFamily="18" charset="0"/>
              </a:rPr>
              <a:t>позволяват</a:t>
            </a:r>
            <a:r>
              <a:rPr lang="ru-RU" sz="2400" dirty="0">
                <a:latin typeface="Times New Roman" panose="02020603050405020304" pitchFamily="18" charset="0"/>
                <a:cs typeface="Times New Roman" panose="02020603050405020304" pitchFamily="18" charset="0"/>
              </a:rPr>
              <a:t> много </a:t>
            </a:r>
            <a:r>
              <a:rPr lang="ru-RU" sz="2400" dirty="0" err="1">
                <a:latin typeface="Times New Roman" panose="02020603050405020304" pitchFamily="18" charset="0"/>
                <a:cs typeface="Times New Roman" panose="02020603050405020304" pitchFamily="18" charset="0"/>
              </a:rPr>
              <a:t>ефективен</a:t>
            </a:r>
            <a:r>
              <a:rPr lang="ru-RU" sz="2400" dirty="0">
                <a:latin typeface="Times New Roman" panose="02020603050405020304" pitchFamily="18" charset="0"/>
                <a:cs typeface="Times New Roman" panose="02020603050405020304" pitchFamily="18" charset="0"/>
              </a:rPr>
              <a:t> код за </a:t>
            </a:r>
            <a:r>
              <a:rPr lang="ru-RU" sz="2400" dirty="0" err="1">
                <a:latin typeface="Times New Roman" panose="02020603050405020304" pitchFamily="18" charset="0"/>
                <a:cs typeface="Times New Roman" panose="02020603050405020304" pitchFamily="18" charset="0"/>
              </a:rPr>
              <a:t>блокови</a:t>
            </a:r>
            <a:r>
              <a:rPr lang="ru-RU" sz="2400" dirty="0">
                <a:latin typeface="Times New Roman" panose="02020603050405020304" pitchFamily="18" charset="0"/>
                <a:cs typeface="Times New Roman" panose="02020603050405020304" pitchFamily="18" charset="0"/>
              </a:rPr>
              <a:t> копия и </a:t>
            </a:r>
            <a:r>
              <a:rPr lang="ru-RU" sz="2400" dirty="0" err="1">
                <a:latin typeface="Times New Roman" panose="02020603050405020304" pitchFamily="18" charset="0"/>
                <a:cs typeface="Times New Roman" panose="02020603050405020304" pitchFamily="18" charset="0"/>
              </a:rPr>
              <a:t>подобни</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алгоритми</a:t>
            </a:r>
            <a:r>
              <a:rPr lang="ru-RU" sz="2400" dirty="0">
                <a:latin typeface="Times New Roman" panose="02020603050405020304" pitchFamily="18" charset="0"/>
                <a:cs typeface="Times New Roman" panose="02020603050405020304" pitchFamily="18" charset="0"/>
              </a:rPr>
              <a:t> за движение на данни.</a:t>
            </a:r>
            <a:endParaRPr lang="ru-RU" sz="2000" dirty="0">
              <a:latin typeface="Times New Roman" panose="02020603050405020304" pitchFamily="18" charset="0"/>
              <a:cs typeface="Times New Roman" panose="02020603050405020304" pitchFamily="18" charset="0"/>
            </a:endParaRPr>
          </a:p>
        </p:txBody>
      </p:sp>
      <p:pic>
        <p:nvPicPr>
          <p:cNvPr id="4" name="Картина 3"/>
          <p:cNvPicPr>
            <a:picLocks noChangeAspect="1"/>
          </p:cNvPicPr>
          <p:nvPr/>
        </p:nvPicPr>
        <p:blipFill>
          <a:blip r:embed="rId2"/>
          <a:stretch>
            <a:fillRect/>
          </a:stretch>
        </p:blipFill>
        <p:spPr>
          <a:xfrm>
            <a:off x="827584" y="404664"/>
            <a:ext cx="5980694" cy="859611"/>
          </a:xfrm>
          <a:prstGeom prst="rect">
            <a:avLst/>
          </a:prstGeom>
        </p:spPr>
      </p:pic>
    </p:spTree>
    <p:extLst>
      <p:ext uri="{BB962C8B-B14F-4D97-AF65-F5344CB8AC3E}">
        <p14:creationId xmlns:p14="http://schemas.microsoft.com/office/powerpoint/2010/main" val="25368239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540633-89A2-4A92-BB32-A6DE3FD7548E}"/>
              </a:ext>
            </a:extLst>
          </p:cNvPr>
          <p:cNvSpPr/>
          <p:nvPr/>
        </p:nvSpPr>
        <p:spPr>
          <a:xfrm>
            <a:off x="251520" y="980728"/>
            <a:ext cx="8712968" cy="6453049"/>
          </a:xfrm>
          <a:prstGeom prst="rect">
            <a:avLst/>
          </a:prstGeom>
        </p:spPr>
        <p:txBody>
          <a:bodyPr wrap="square">
            <a:spAutoFit/>
          </a:bodyPr>
          <a:lstStyle/>
          <a:p>
            <a:pPr algn="just">
              <a:lnSpc>
                <a:spcPts val="3200"/>
              </a:lnSpc>
            </a:pPr>
            <a:r>
              <a:rPr lang="en-US" sz="2400" b="1" dirty="0">
                <a:latin typeface="Times New Roman" panose="02020603050405020304" pitchFamily="18" charset="0"/>
                <a:cs typeface="Times New Roman" panose="02020603050405020304" pitchFamily="18" charset="0"/>
              </a:rPr>
              <a:t>PUSH </a:t>
            </a:r>
            <a:r>
              <a:rPr lang="bg-BG" sz="2400" b="1" dirty="0">
                <a:latin typeface="Times New Roman" panose="02020603050405020304" pitchFamily="18" charset="0"/>
                <a:cs typeface="Times New Roman" panose="02020603050405020304" pitchFamily="18" charset="0"/>
              </a:rPr>
              <a:t>и </a:t>
            </a:r>
            <a:r>
              <a:rPr lang="en-US" sz="2400" b="1" dirty="0">
                <a:latin typeface="Times New Roman" panose="02020603050405020304" pitchFamily="18" charset="0"/>
                <a:cs typeface="Times New Roman" panose="02020603050405020304" pitchFamily="18" charset="0"/>
              </a:rPr>
              <a:t>POP </a:t>
            </a:r>
            <a:r>
              <a:rPr lang="bg-BG" sz="2400" b="1" dirty="0">
                <a:latin typeface="Times New Roman" panose="02020603050405020304" pitchFamily="18" charset="0"/>
                <a:cs typeface="Times New Roman" panose="02020603050405020304" pitchFamily="18" charset="0"/>
              </a:rPr>
              <a:t>инструкции</a:t>
            </a:r>
          </a:p>
          <a:p>
            <a:pPr algn="just">
              <a:lnSpc>
                <a:spcPts val="3200"/>
              </a:lnSpc>
            </a:pPr>
            <a:r>
              <a:rPr lang="ru-RU" sz="2400" dirty="0">
                <a:latin typeface="Times New Roman" panose="02020603050405020304" pitchFamily="18" charset="0"/>
                <a:cs typeface="Times New Roman" panose="02020603050405020304" pitchFamily="18" charset="0"/>
              </a:rPr>
              <a:t>Има две инструкции, които са </a:t>
            </a:r>
            <a:r>
              <a:rPr lang="ru-RU" sz="2400" dirty="0" err="1">
                <a:latin typeface="Times New Roman" panose="02020603050405020304" pitchFamily="18" charset="0"/>
                <a:cs typeface="Times New Roman" panose="02020603050405020304" pitchFamily="18" charset="0"/>
              </a:rPr>
              <a:t>синоними</a:t>
            </a:r>
            <a:r>
              <a:rPr lang="ru-RU" sz="2400" dirty="0">
                <a:latin typeface="Times New Roman" panose="02020603050405020304" pitchFamily="18" charset="0"/>
                <a:cs typeface="Times New Roman" panose="02020603050405020304" pitchFamily="18" charset="0"/>
              </a:rPr>
              <a:t> на STMDB и LDMIA, а именно PUSH и POP, </a:t>
            </a:r>
            <a:r>
              <a:rPr lang="ru-RU" sz="2400" dirty="0" err="1">
                <a:latin typeface="Times New Roman" panose="02020603050405020304" pitchFamily="18" charset="0"/>
                <a:cs typeface="Times New Roman" panose="02020603050405020304" pitchFamily="18" charset="0"/>
              </a:rPr>
              <a:t>съответно</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Синтаксисът</a:t>
            </a:r>
            <a:r>
              <a:rPr lang="ru-RU" sz="2400" dirty="0">
                <a:latin typeface="Times New Roman" panose="02020603050405020304" pitchFamily="18" charset="0"/>
                <a:cs typeface="Times New Roman" panose="02020603050405020304" pitchFamily="18" charset="0"/>
              </a:rPr>
              <a:t> за </a:t>
            </a:r>
            <a:r>
              <a:rPr lang="ru-RU" sz="2400" dirty="0" err="1">
                <a:latin typeface="Times New Roman" panose="02020603050405020304" pitchFamily="18" charset="0"/>
                <a:cs typeface="Times New Roman" panose="02020603050405020304" pitchFamily="18" charset="0"/>
              </a:rPr>
              <a:t>двете</a:t>
            </a:r>
            <a:r>
              <a:rPr lang="ru-RU" sz="2400" dirty="0">
                <a:latin typeface="Times New Roman" panose="02020603050405020304" pitchFamily="18" charset="0"/>
                <a:cs typeface="Times New Roman" panose="02020603050405020304" pitchFamily="18" charset="0"/>
              </a:rPr>
              <a:t> инструкции е  </a:t>
            </a:r>
          </a:p>
          <a:p>
            <a:pPr algn="just">
              <a:lnSpc>
                <a:spcPts val="3200"/>
              </a:lnSpc>
            </a:pPr>
            <a:r>
              <a:rPr lang="ru-RU" sz="2400" dirty="0">
                <a:latin typeface="Times New Roman" panose="02020603050405020304" pitchFamily="18" charset="0"/>
                <a:cs typeface="Times New Roman" panose="02020603050405020304" pitchFamily="18" charset="0"/>
              </a:rPr>
              <a:t>	PUSH{&lt;</a:t>
            </a:r>
            <a:r>
              <a:rPr lang="ru-RU" sz="2400" dirty="0" err="1">
                <a:latin typeface="Times New Roman" panose="02020603050405020304" pitchFamily="18" charset="0"/>
                <a:cs typeface="Times New Roman" panose="02020603050405020304" pitchFamily="18" charset="0"/>
              </a:rPr>
              <a:t>cond</a:t>
            </a:r>
            <a:r>
              <a:rPr lang="ru-RU" sz="2400" dirty="0">
                <a:latin typeface="Times New Roman" panose="02020603050405020304" pitchFamily="18" charset="0"/>
                <a:cs typeface="Times New Roman" panose="02020603050405020304" pitchFamily="18" charset="0"/>
              </a:rPr>
              <a:t>&gt;} {&lt;</a:t>
            </a:r>
            <a:r>
              <a:rPr lang="ru-RU" sz="2400" dirty="0" err="1">
                <a:latin typeface="Times New Roman" panose="02020603050405020304" pitchFamily="18" charset="0"/>
                <a:cs typeface="Times New Roman" panose="02020603050405020304" pitchFamily="18" charset="0"/>
              </a:rPr>
              <a:t>reglist</a:t>
            </a:r>
            <a:r>
              <a:rPr lang="ru-RU" sz="2400" dirty="0">
                <a:latin typeface="Times New Roman" panose="02020603050405020304" pitchFamily="18" charset="0"/>
                <a:cs typeface="Times New Roman" panose="02020603050405020304" pitchFamily="18" charset="0"/>
              </a:rPr>
              <a:t>&gt;}</a:t>
            </a:r>
          </a:p>
          <a:p>
            <a:pPr algn="just">
              <a:lnSpc>
                <a:spcPts val="3200"/>
              </a:lnSpc>
            </a:pPr>
            <a:r>
              <a:rPr lang="ru-RU" sz="2400" dirty="0">
                <a:latin typeface="Times New Roman" panose="02020603050405020304" pitchFamily="18" charset="0"/>
                <a:cs typeface="Times New Roman" panose="02020603050405020304" pitchFamily="18" charset="0"/>
              </a:rPr>
              <a:t>	POP{&lt;</a:t>
            </a:r>
            <a:r>
              <a:rPr lang="ru-RU" sz="2400" dirty="0" err="1">
                <a:latin typeface="Times New Roman" panose="02020603050405020304" pitchFamily="18" charset="0"/>
                <a:cs typeface="Times New Roman" panose="02020603050405020304" pitchFamily="18" charset="0"/>
              </a:rPr>
              <a:t>cond</a:t>
            </a:r>
            <a:r>
              <a:rPr lang="ru-RU" sz="2400" dirty="0">
                <a:latin typeface="Times New Roman" panose="02020603050405020304" pitchFamily="18" charset="0"/>
                <a:cs typeface="Times New Roman" panose="02020603050405020304" pitchFamily="18" charset="0"/>
              </a:rPr>
              <a:t>&gt;} {&lt;</a:t>
            </a:r>
            <a:r>
              <a:rPr lang="ru-RU" sz="2400" dirty="0" err="1">
                <a:latin typeface="Times New Roman" panose="02020603050405020304" pitchFamily="18" charset="0"/>
                <a:cs typeface="Times New Roman" panose="02020603050405020304" pitchFamily="18" charset="0"/>
              </a:rPr>
              <a:t>reglist</a:t>
            </a:r>
            <a:r>
              <a:rPr lang="ru-RU" sz="2400" dirty="0">
                <a:latin typeface="Times New Roman" panose="02020603050405020304" pitchFamily="18" charset="0"/>
                <a:cs typeface="Times New Roman" panose="02020603050405020304" pitchFamily="18" charset="0"/>
              </a:rPr>
              <a:t>&gt;} </a:t>
            </a:r>
          </a:p>
          <a:p>
            <a:pPr algn="just">
              <a:lnSpc>
                <a:spcPts val="3200"/>
              </a:lnSpc>
            </a:pPr>
            <a:r>
              <a:rPr lang="ru-RU" sz="2400" dirty="0" err="1">
                <a:latin typeface="Times New Roman" panose="02020603050405020304" pitchFamily="18" charset="0"/>
                <a:cs typeface="Times New Roman" panose="02020603050405020304" pitchFamily="18" charset="0"/>
              </a:rPr>
              <a:t>където</a:t>
            </a:r>
            <a:r>
              <a:rPr lang="ru-RU" sz="2400" dirty="0">
                <a:latin typeface="Times New Roman" panose="02020603050405020304" pitchFamily="18" charset="0"/>
                <a:cs typeface="Times New Roman" panose="02020603050405020304" pitchFamily="18" charset="0"/>
              </a:rPr>
              <a:t> {&lt;</a:t>
            </a:r>
            <a:r>
              <a:rPr lang="ru-RU" sz="2400" dirty="0" err="1">
                <a:latin typeface="Times New Roman" panose="02020603050405020304" pitchFamily="18" charset="0"/>
                <a:cs typeface="Times New Roman" panose="02020603050405020304" pitchFamily="18" charset="0"/>
              </a:rPr>
              <a:t>cond</a:t>
            </a:r>
            <a:r>
              <a:rPr lang="ru-RU" sz="2400" dirty="0">
                <a:latin typeface="Times New Roman" panose="02020603050405020304" pitchFamily="18" charset="0"/>
                <a:cs typeface="Times New Roman" panose="02020603050405020304" pitchFamily="18" charset="0"/>
              </a:rPr>
              <a:t>&gt;} е </a:t>
            </a:r>
            <a:r>
              <a:rPr lang="ru-RU" sz="2400" dirty="0" err="1">
                <a:latin typeface="Times New Roman" panose="02020603050405020304" pitchFamily="18" charset="0"/>
                <a:cs typeface="Times New Roman" panose="02020603050405020304" pitchFamily="18" charset="0"/>
              </a:rPr>
              <a:t>незадължителен</a:t>
            </a:r>
            <a:r>
              <a:rPr lang="ru-RU" sz="2400" dirty="0">
                <a:latin typeface="Times New Roman" panose="02020603050405020304" pitchFamily="18" charset="0"/>
                <a:cs typeface="Times New Roman" panose="02020603050405020304" pitchFamily="18" charset="0"/>
              </a:rPr>
              <a:t> код на условие и &lt;</a:t>
            </a:r>
            <a:r>
              <a:rPr lang="ru-RU" sz="2400" dirty="0" err="1">
                <a:latin typeface="Times New Roman" panose="02020603050405020304" pitchFamily="18" charset="0"/>
                <a:cs typeface="Times New Roman" panose="02020603050405020304" pitchFamily="18" charset="0"/>
              </a:rPr>
              <a:t>reg-list</a:t>
            </a:r>
            <a:r>
              <a:rPr lang="ru-RU" sz="2400" dirty="0">
                <a:latin typeface="Times New Roman" panose="02020603050405020304" pitchFamily="18" charset="0"/>
                <a:cs typeface="Times New Roman" panose="02020603050405020304" pitchFamily="18" charset="0"/>
              </a:rPr>
              <a:t>&gt; е разделен </a:t>
            </a:r>
            <a:r>
              <a:rPr lang="ru-RU" sz="2400" dirty="0" err="1">
                <a:latin typeface="Times New Roman" panose="02020603050405020304" pitchFamily="18" charset="0"/>
                <a:cs typeface="Times New Roman" panose="02020603050405020304" pitchFamily="18" charset="0"/>
              </a:rPr>
              <a:t>със</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запетаи</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списък</a:t>
            </a:r>
            <a:r>
              <a:rPr lang="ru-RU" sz="2400" dirty="0">
                <a:latin typeface="Times New Roman" panose="02020603050405020304" pitchFamily="18" charset="0"/>
                <a:cs typeface="Times New Roman" panose="02020603050405020304" pitchFamily="18" charset="0"/>
              </a:rPr>
              <a:t> от имена на </a:t>
            </a:r>
            <a:r>
              <a:rPr lang="ru-RU" sz="2400" dirty="0" err="1">
                <a:latin typeface="Times New Roman" panose="02020603050405020304" pitchFamily="18" charset="0"/>
                <a:cs typeface="Times New Roman" panose="02020603050405020304" pitchFamily="18" charset="0"/>
              </a:rPr>
              <a:t>символни</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регистри</a:t>
            </a:r>
            <a:r>
              <a:rPr lang="ru-RU" sz="2400" dirty="0">
                <a:latin typeface="Times New Roman" panose="02020603050405020304" pitchFamily="18" charset="0"/>
                <a:cs typeface="Times New Roman" panose="02020603050405020304" pitchFamily="18" charset="0"/>
              </a:rPr>
              <a:t> и </a:t>
            </a:r>
            <a:r>
              <a:rPr lang="ru-RU" sz="2400" dirty="0" err="1">
                <a:latin typeface="Times New Roman" panose="02020603050405020304" pitchFamily="18" charset="0"/>
                <a:cs typeface="Times New Roman" panose="02020603050405020304" pitchFamily="18" charset="0"/>
              </a:rPr>
              <a:t>диапазони</a:t>
            </a:r>
            <a:r>
              <a:rPr lang="ru-RU" sz="2400" dirty="0">
                <a:latin typeface="Times New Roman" panose="02020603050405020304" pitchFamily="18" charset="0"/>
                <a:cs typeface="Times New Roman" panose="02020603050405020304" pitchFamily="18" charset="0"/>
              </a:rPr>
              <a:t> на </a:t>
            </a:r>
            <a:r>
              <a:rPr lang="ru-RU" sz="2400" dirty="0" err="1">
                <a:latin typeface="Times New Roman" panose="02020603050405020304" pitchFamily="18" charset="0"/>
                <a:cs typeface="Times New Roman" panose="02020603050405020304" pitchFamily="18" charset="0"/>
              </a:rPr>
              <a:t>регистри</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затворени</a:t>
            </a:r>
            <a:r>
              <a:rPr lang="ru-RU" sz="2400" dirty="0">
                <a:latin typeface="Times New Roman" panose="02020603050405020304" pitchFamily="18" charset="0"/>
                <a:cs typeface="Times New Roman" panose="02020603050405020304" pitchFamily="18" charset="0"/>
              </a:rPr>
              <a:t> в </a:t>
            </a:r>
            <a:r>
              <a:rPr lang="ru-RU" sz="2400" dirty="0" err="1">
                <a:latin typeface="Times New Roman" panose="02020603050405020304" pitchFamily="18" charset="0"/>
                <a:cs typeface="Times New Roman" panose="02020603050405020304" pitchFamily="18" charset="0"/>
              </a:rPr>
              <a:t>брекети</a:t>
            </a:r>
            <a:r>
              <a:rPr lang="ru-RU" sz="2400" dirty="0">
                <a:latin typeface="Times New Roman" panose="02020603050405020304" pitchFamily="18" charset="0"/>
                <a:cs typeface="Times New Roman" panose="02020603050405020304" pitchFamily="18" charset="0"/>
              </a:rPr>
              <a:t>.</a:t>
            </a:r>
          </a:p>
          <a:p>
            <a:pPr algn="just">
              <a:lnSpc>
                <a:spcPts val="3200"/>
              </a:lnSpc>
            </a:pPr>
            <a:r>
              <a:rPr lang="ru-RU" sz="2400" dirty="0">
                <a:latin typeface="Times New Roman" panose="02020603050405020304" pitchFamily="18" charset="0"/>
                <a:cs typeface="Times New Roman" panose="02020603050405020304" pitchFamily="18" charset="0"/>
              </a:rPr>
              <a:t> PUSH има </a:t>
            </a:r>
            <a:r>
              <a:rPr lang="ru-RU" sz="2400" dirty="0" err="1">
                <a:latin typeface="Times New Roman" panose="02020603050405020304" pitchFamily="18" charset="0"/>
                <a:cs typeface="Times New Roman" panose="02020603050405020304" pitchFamily="18" charset="0"/>
              </a:rPr>
              <a:t>подобни</a:t>
            </a:r>
            <a:r>
              <a:rPr lang="ru-RU" sz="2400" dirty="0">
                <a:latin typeface="Times New Roman" panose="02020603050405020304" pitchFamily="18" charset="0"/>
                <a:cs typeface="Times New Roman" panose="02020603050405020304" pitchFamily="18" charset="0"/>
              </a:rPr>
              <a:t> ограничения като STM </a:t>
            </a:r>
            <a:r>
              <a:rPr lang="ru-RU" sz="2400" dirty="0" err="1">
                <a:latin typeface="Times New Roman" panose="02020603050405020304" pitchFamily="18" charset="0"/>
                <a:cs typeface="Times New Roman" panose="02020603050405020304" pitchFamily="18" charset="0"/>
              </a:rPr>
              <a:t>инструкцията</a:t>
            </a:r>
            <a:r>
              <a:rPr lang="ru-RU" sz="2400" dirty="0">
                <a:latin typeface="Times New Roman" panose="02020603050405020304" pitchFamily="18" charset="0"/>
                <a:cs typeface="Times New Roman" panose="02020603050405020304" pitchFamily="18" charset="0"/>
              </a:rPr>
              <a:t>, например </a:t>
            </a:r>
            <a:r>
              <a:rPr lang="ru-RU" sz="2400" dirty="0" err="1">
                <a:latin typeface="Times New Roman" panose="02020603050405020304" pitchFamily="18" charset="0"/>
                <a:cs typeface="Times New Roman" panose="02020603050405020304" pitchFamily="18" charset="0"/>
              </a:rPr>
              <a:t>списъкът</a:t>
            </a:r>
            <a:r>
              <a:rPr lang="ru-RU" sz="2400" dirty="0">
                <a:latin typeface="Times New Roman" panose="02020603050405020304" pitchFamily="18" charset="0"/>
                <a:cs typeface="Times New Roman" panose="02020603050405020304" pitchFamily="18" charset="0"/>
              </a:rPr>
              <a:t> с </a:t>
            </a:r>
            <a:r>
              <a:rPr lang="ru-RU" sz="2400" dirty="0" err="1">
                <a:latin typeface="Times New Roman" panose="02020603050405020304" pitchFamily="18" charset="0"/>
                <a:cs typeface="Times New Roman" panose="02020603050405020304" pitchFamily="18" charset="0"/>
              </a:rPr>
              <a:t>регистри</a:t>
            </a:r>
            <a:r>
              <a:rPr lang="ru-RU" sz="2400" dirty="0">
                <a:latin typeface="Times New Roman" panose="02020603050405020304" pitchFamily="18" charset="0"/>
                <a:cs typeface="Times New Roman" panose="02020603050405020304" pitchFamily="18" charset="0"/>
              </a:rPr>
              <a:t> не трябва да </a:t>
            </a:r>
            <a:r>
              <a:rPr lang="ru-RU" sz="2400" dirty="0" err="1">
                <a:latin typeface="Times New Roman" panose="02020603050405020304" pitchFamily="18" charset="0"/>
                <a:cs typeface="Times New Roman" panose="02020603050405020304" pitchFamily="18" charset="0"/>
              </a:rPr>
              <a:t>съдържа</a:t>
            </a:r>
            <a:r>
              <a:rPr lang="ru-RU"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PC</a:t>
            </a:r>
            <a:r>
              <a:rPr lang="ru-RU"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lnSpc>
                <a:spcPts val="3200"/>
              </a:lnSpc>
            </a:pPr>
            <a:r>
              <a:rPr lang="ru-RU" sz="2400" dirty="0">
                <a:latin typeface="Times New Roman" panose="02020603050405020304" pitchFamily="18" charset="0"/>
                <a:cs typeface="Times New Roman" panose="02020603050405020304" pitchFamily="18" charset="0"/>
              </a:rPr>
              <a:t>POP има </a:t>
            </a:r>
            <a:r>
              <a:rPr lang="ru-RU" sz="2400" dirty="0" err="1">
                <a:latin typeface="Times New Roman" panose="02020603050405020304" pitchFamily="18" charset="0"/>
                <a:cs typeface="Times New Roman" panose="02020603050405020304" pitchFamily="18" charset="0"/>
              </a:rPr>
              <a:t>подобни</a:t>
            </a:r>
            <a:r>
              <a:rPr lang="ru-RU" sz="2400" dirty="0">
                <a:latin typeface="Times New Roman" panose="02020603050405020304" pitchFamily="18" charset="0"/>
                <a:cs typeface="Times New Roman" panose="02020603050405020304" pitchFamily="18" charset="0"/>
              </a:rPr>
              <a:t> ограничения като LDM </a:t>
            </a:r>
            <a:r>
              <a:rPr lang="ru-RU" sz="2400" dirty="0" err="1">
                <a:latin typeface="Times New Roman" panose="02020603050405020304" pitchFamily="18" charset="0"/>
                <a:cs typeface="Times New Roman" panose="02020603050405020304" pitchFamily="18" charset="0"/>
              </a:rPr>
              <a:t>инструкцията</a:t>
            </a:r>
            <a:r>
              <a:rPr lang="ru-RU" sz="2400" dirty="0">
                <a:latin typeface="Times New Roman" panose="02020603050405020304" pitchFamily="18" charset="0"/>
                <a:cs typeface="Times New Roman" panose="02020603050405020304" pitchFamily="18" charset="0"/>
              </a:rPr>
              <a:t>, например </a:t>
            </a:r>
            <a:r>
              <a:rPr lang="ru-RU" sz="2400" dirty="0" err="1">
                <a:latin typeface="Times New Roman" panose="02020603050405020304" pitchFamily="18" charset="0"/>
                <a:cs typeface="Times New Roman" panose="02020603050405020304" pitchFamily="18" charset="0"/>
              </a:rPr>
              <a:t>списъкът</a:t>
            </a:r>
            <a:r>
              <a:rPr lang="ru-RU" sz="2400" dirty="0">
                <a:latin typeface="Times New Roman" panose="02020603050405020304" pitchFamily="18" charset="0"/>
                <a:cs typeface="Times New Roman" panose="02020603050405020304" pitchFamily="18" charset="0"/>
              </a:rPr>
              <a:t> с </a:t>
            </a:r>
            <a:r>
              <a:rPr lang="ru-RU" sz="2400" dirty="0" err="1">
                <a:latin typeface="Times New Roman" panose="02020603050405020304" pitchFamily="18" charset="0"/>
                <a:cs typeface="Times New Roman" panose="02020603050405020304" pitchFamily="18" charset="0"/>
              </a:rPr>
              <a:t>регистри</a:t>
            </a:r>
            <a:r>
              <a:rPr lang="ru-RU" sz="2400" dirty="0">
                <a:latin typeface="Times New Roman" panose="02020603050405020304" pitchFamily="18" charset="0"/>
                <a:cs typeface="Times New Roman" panose="02020603050405020304" pitchFamily="18" charset="0"/>
              </a:rPr>
              <a:t> не трябва да </a:t>
            </a:r>
            <a:r>
              <a:rPr lang="ru-RU" sz="2400" dirty="0" err="1">
                <a:latin typeface="Times New Roman" panose="02020603050405020304" pitchFamily="18" charset="0"/>
                <a:cs typeface="Times New Roman" panose="02020603050405020304" pitchFamily="18" charset="0"/>
              </a:rPr>
              <a:t>съдържа</a:t>
            </a:r>
            <a:r>
              <a:rPr lang="ru-RU" sz="2400" dirty="0">
                <a:latin typeface="Times New Roman" panose="02020603050405020304" pitchFamily="18" charset="0"/>
                <a:cs typeface="Times New Roman" panose="02020603050405020304" pitchFamily="18" charset="0"/>
              </a:rPr>
              <a:t> PC, ако </a:t>
            </a:r>
            <a:r>
              <a:rPr lang="ru-RU" sz="2400" dirty="0" err="1">
                <a:latin typeface="Times New Roman" panose="02020603050405020304" pitchFamily="18" charset="0"/>
                <a:cs typeface="Times New Roman" panose="02020603050405020304" pitchFamily="18" charset="0"/>
              </a:rPr>
              <a:t>съдържа</a:t>
            </a:r>
            <a:r>
              <a:rPr lang="ru-RU" sz="2400" dirty="0">
                <a:latin typeface="Times New Roman" panose="02020603050405020304" pitchFamily="18" charset="0"/>
                <a:cs typeface="Times New Roman" panose="02020603050405020304" pitchFamily="18" charset="0"/>
              </a:rPr>
              <a:t> LR.</a:t>
            </a:r>
            <a:r>
              <a:rPr lang="en-US" sz="2400" dirty="0">
                <a:latin typeface="Times New Roman" panose="02020603050405020304" pitchFamily="18" charset="0"/>
                <a:cs typeface="Times New Roman" panose="02020603050405020304" pitchFamily="18" charset="0"/>
              </a:rPr>
              <a:t> </a:t>
            </a:r>
            <a:endParaRPr lang="ru-RU"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ru-RU" sz="2000" dirty="0">
              <a:latin typeface="Times New Roman" panose="02020603050405020304" pitchFamily="18" charset="0"/>
              <a:cs typeface="Times New Roman" panose="02020603050405020304" pitchFamily="18" charset="0"/>
            </a:endParaRPr>
          </a:p>
        </p:txBody>
      </p:sp>
      <p:pic>
        <p:nvPicPr>
          <p:cNvPr id="4" name="Картина 3"/>
          <p:cNvPicPr>
            <a:picLocks noChangeAspect="1"/>
          </p:cNvPicPr>
          <p:nvPr/>
        </p:nvPicPr>
        <p:blipFill>
          <a:blip r:embed="rId2"/>
          <a:stretch>
            <a:fillRect/>
          </a:stretch>
        </p:blipFill>
        <p:spPr>
          <a:xfrm>
            <a:off x="967570" y="476672"/>
            <a:ext cx="5980694" cy="859611"/>
          </a:xfrm>
          <a:prstGeom prst="rect">
            <a:avLst/>
          </a:prstGeom>
        </p:spPr>
      </p:pic>
    </p:spTree>
    <p:extLst>
      <p:ext uri="{BB962C8B-B14F-4D97-AF65-F5344CB8AC3E}">
        <p14:creationId xmlns:p14="http://schemas.microsoft.com/office/powerpoint/2010/main" val="27828928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043608"/>
            <a:ext cx="8605464" cy="5570975"/>
          </a:xfrm>
        </p:spPr>
        <p:txBody>
          <a:bodyPr>
            <a:noAutofit/>
          </a:bodyPr>
          <a:lstStyle/>
          <a:p>
            <a:pPr algn="just">
              <a:lnSpc>
                <a:spcPts val="3000"/>
              </a:lnSpc>
              <a:spcBef>
                <a:spcPts val="0"/>
              </a:spcBef>
            </a:pPr>
            <a:endParaRPr lang="en-US" sz="2100" dirty="0">
              <a:latin typeface="Times New Roman" pitchFamily="18" charset="0"/>
              <a:cs typeface="Times New Roman" pitchFamily="18" charset="0"/>
            </a:endParaRPr>
          </a:p>
          <a:p>
            <a:pPr algn="just">
              <a:lnSpc>
                <a:spcPts val="3000"/>
              </a:lnSpc>
              <a:spcBef>
                <a:spcPts val="0"/>
              </a:spcBef>
            </a:pPr>
            <a:endParaRPr lang="en-US" sz="2100" dirty="0">
              <a:latin typeface="Times New Roman" pitchFamily="18" charset="0"/>
              <a:cs typeface="Times New Roman" pitchFamily="18" charset="0"/>
            </a:endParaRPr>
          </a:p>
          <a:p>
            <a:pPr algn="just">
              <a:lnSpc>
                <a:spcPts val="3000"/>
              </a:lnSpc>
              <a:spcBef>
                <a:spcPts val="0"/>
              </a:spcBef>
            </a:pPr>
            <a:endParaRPr lang="en-US" sz="2100" dirty="0">
              <a:latin typeface="Times New Roman" pitchFamily="18" charset="0"/>
              <a:cs typeface="Times New Roman" pitchFamily="18" charset="0"/>
            </a:endParaRPr>
          </a:p>
          <a:p>
            <a:pPr algn="just">
              <a:lnSpc>
                <a:spcPts val="3000"/>
              </a:lnSpc>
              <a:spcBef>
                <a:spcPts val="0"/>
              </a:spcBef>
            </a:pPr>
            <a:endParaRPr lang="en-US" sz="2100" dirty="0">
              <a:latin typeface="Times New Roman" pitchFamily="18" charset="0"/>
              <a:cs typeface="Times New Roman" pitchFamily="18" charset="0"/>
            </a:endParaRPr>
          </a:p>
          <a:p>
            <a:pPr algn="just"/>
            <a:r>
              <a:rPr lang="bg-BG" b="1" dirty="0">
                <a:latin typeface="Times New Roman" pitchFamily="18" charset="0"/>
                <a:cs typeface="Times New Roman" pitchFamily="18" charset="0"/>
              </a:rPr>
              <a:t>Задача</a:t>
            </a:r>
            <a:r>
              <a:rPr lang="en-US" b="1" dirty="0">
                <a:latin typeface="Times New Roman" panose="02020603050405020304" pitchFamily="18" charset="0"/>
                <a:cs typeface="Times New Roman" panose="02020603050405020304" pitchFamily="18" charset="0"/>
              </a:rPr>
              <a:t> 1</a:t>
            </a:r>
            <a:r>
              <a:rPr lang="bg-BG" b="1" dirty="0">
                <a:latin typeface="Times New Roman" pitchFamily="18" charset="0"/>
                <a:cs typeface="Times New Roman" pitchFamily="18" charset="0"/>
              </a:rPr>
              <a:t>. </a:t>
            </a:r>
            <a:r>
              <a:rPr lang="en-US" b="1" dirty="0" err="1">
                <a:latin typeface="Times New Roman" panose="02020603050405020304" pitchFamily="18" charset="0"/>
                <a:cs typeface="Times New Roman" panose="02020603050405020304" pitchFamily="18" charset="0"/>
              </a:rPr>
              <a:t>Изчислете</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стойността</a:t>
            </a:r>
            <a:r>
              <a:rPr lang="en-US" b="1" dirty="0">
                <a:latin typeface="Times New Roman" panose="02020603050405020304" pitchFamily="18" charset="0"/>
                <a:cs typeface="Times New Roman" panose="02020603050405020304" pitchFamily="18" charset="0"/>
              </a:rPr>
              <a:t> на </a:t>
            </a:r>
            <a:r>
              <a:rPr lang="bg-BG" b="1" dirty="0">
                <a:latin typeface="Times New Roman" panose="02020603050405020304" pitchFamily="18" charset="0"/>
                <a:cs typeface="Times New Roman" panose="02020603050405020304" pitchFamily="18" charset="0"/>
              </a:rPr>
              <a:t>израза </a:t>
            </a:r>
            <a:r>
              <a:rPr lang="en-US" b="1" dirty="0">
                <a:latin typeface="Times New Roman" panose="02020603050405020304" pitchFamily="18" charset="0"/>
                <a:cs typeface="Times New Roman" panose="02020603050405020304" pitchFamily="18" charset="0"/>
              </a:rPr>
              <a:t>R=max(A,B)+max(5,A-1)</a:t>
            </a:r>
            <a:r>
              <a:rPr lang="bg-BG" b="1" dirty="0">
                <a:latin typeface="Times New Roman" panose="02020603050405020304" pitchFamily="18" charset="0"/>
                <a:cs typeface="Times New Roman" panose="02020603050405020304" pitchFamily="18" charset="0"/>
              </a:rPr>
              <a:t>, където </a:t>
            </a:r>
            <a:r>
              <a:rPr lang="en-US" b="1" dirty="0">
                <a:latin typeface="Times New Roman" panose="02020603050405020304" pitchFamily="18" charset="0"/>
                <a:cs typeface="Times New Roman" panose="02020603050405020304" pitchFamily="18" charset="0"/>
              </a:rPr>
              <a:t>A,B</a:t>
            </a:r>
            <a:r>
              <a:rPr lang="bg-BG" b="1" dirty="0">
                <a:latin typeface="Times New Roman" panose="02020603050405020304" pitchFamily="18" charset="0"/>
                <a:cs typeface="Times New Roman" panose="02020603050405020304" pitchFamily="18" charset="0"/>
              </a:rPr>
              <a:t> и </a:t>
            </a:r>
            <a:r>
              <a:rPr lang="en-US" b="1" dirty="0">
                <a:latin typeface="Times New Roman" panose="02020603050405020304" pitchFamily="18" charset="0"/>
                <a:cs typeface="Times New Roman" panose="02020603050405020304" pitchFamily="18" charset="0"/>
              </a:rPr>
              <a:t>R са 32b цели </a:t>
            </a:r>
            <a:r>
              <a:rPr lang="en-US" b="1" dirty="0" err="1">
                <a:latin typeface="Times New Roman" panose="02020603050405020304" pitchFamily="18" charset="0"/>
                <a:cs typeface="Times New Roman" panose="02020603050405020304" pitchFamily="18" charset="0"/>
              </a:rPr>
              <a:t>числа</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съхранени</a:t>
            </a:r>
            <a:r>
              <a:rPr lang="en-US" b="1" dirty="0">
                <a:latin typeface="Times New Roman" panose="02020603050405020304" pitchFamily="18" charset="0"/>
                <a:cs typeface="Times New Roman" panose="02020603050405020304" pitchFamily="18" charset="0"/>
              </a:rPr>
              <a:t> в </a:t>
            </a:r>
            <a:r>
              <a:rPr lang="en-US" b="1" dirty="0" err="1">
                <a:latin typeface="Times New Roman" panose="02020603050405020304" pitchFamily="18" charset="0"/>
                <a:cs typeface="Times New Roman" panose="02020603050405020304" pitchFamily="18" charset="0"/>
              </a:rPr>
              <a:t>паметта</a:t>
            </a:r>
            <a:r>
              <a:rPr lang="bg-BG"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Използва</a:t>
            </a:r>
            <a:r>
              <a:rPr lang="bg-BG" b="1" dirty="0" err="1">
                <a:latin typeface="Times New Roman" panose="02020603050405020304" pitchFamily="18" charset="0"/>
                <a:cs typeface="Times New Roman" panose="02020603050405020304" pitchFamily="18" charset="0"/>
              </a:rPr>
              <a:t>йте</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подпрограма</a:t>
            </a:r>
            <a:r>
              <a:rPr lang="en-US" b="1" dirty="0">
                <a:latin typeface="Times New Roman" panose="02020603050405020304" pitchFamily="18" charset="0"/>
                <a:cs typeface="Times New Roman" panose="02020603050405020304" pitchFamily="18" charset="0"/>
              </a:rPr>
              <a:t> за </a:t>
            </a:r>
            <a:r>
              <a:rPr lang="en-US" b="1" dirty="0" err="1">
                <a:latin typeface="Times New Roman" panose="02020603050405020304" pitchFamily="18" charset="0"/>
                <a:cs typeface="Times New Roman" panose="02020603050405020304" pitchFamily="18" charset="0"/>
              </a:rPr>
              <a:t>изчисления</a:t>
            </a:r>
            <a:r>
              <a:rPr lang="bg-BG" b="1" dirty="0">
                <a:latin typeface="Times New Roman" panose="02020603050405020304" pitchFamily="18" charset="0"/>
                <a:cs typeface="Times New Roman" panose="02020603050405020304" pitchFamily="18" charset="0"/>
              </a:rPr>
              <a:t>та.</a:t>
            </a:r>
            <a:endParaRPr lang="en-US" b="1"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493204" y="188640"/>
            <a:ext cx="8229600" cy="854968"/>
          </a:xfrm>
        </p:spPr>
        <p:txBody>
          <a:bodyPr>
            <a:normAutofit/>
          </a:bodyPr>
          <a:lstStyle/>
          <a:p>
            <a:r>
              <a:rPr lang="en-US" sz="4000" dirty="0">
                <a:latin typeface="Times New Roman" pitchFamily="18" charset="0"/>
                <a:cs typeface="Times New Roman" pitchFamily="18" charset="0"/>
              </a:rPr>
              <a:t> </a:t>
            </a:r>
            <a:endParaRPr lang="bg-BG" sz="4000" b="1" dirty="0"/>
          </a:p>
        </p:txBody>
      </p:sp>
    </p:spTree>
    <p:extLst>
      <p:ext uri="{BB962C8B-B14F-4D97-AF65-F5344CB8AC3E}">
        <p14:creationId xmlns:p14="http://schemas.microsoft.com/office/powerpoint/2010/main" val="38590596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16632"/>
            <a:ext cx="8605464" cy="6912768"/>
          </a:xfrm>
        </p:spPr>
        <p:txBody>
          <a:bodyPr>
            <a:noAutofit/>
          </a:bodyPr>
          <a:lstStyle/>
          <a:p>
            <a:pPr algn="just">
              <a:lnSpc>
                <a:spcPts val="3000"/>
              </a:lnSpc>
              <a:spcBef>
                <a:spcPts val="0"/>
              </a:spcBef>
            </a:pPr>
            <a:endParaRPr lang="en-US" sz="2000" dirty="0">
              <a:latin typeface="Times New Roman" pitchFamily="18" charset="0"/>
              <a:cs typeface="Times New Roman" pitchFamily="18" charset="0"/>
            </a:endParaRPr>
          </a:p>
          <a:p>
            <a:pPr marL="0" indent="0" algn="just">
              <a:lnSpc>
                <a:spcPts val="3000"/>
              </a:lnSpc>
              <a:spcBef>
                <a:spcPts val="0"/>
              </a:spcBef>
              <a:buNone/>
            </a:pPr>
            <a:endParaRPr lang="en-US" sz="2000" dirty="0">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a:bodyPr>
          <a:lstStyle/>
          <a:p>
            <a:r>
              <a:rPr lang="en-US" sz="4000" dirty="0">
                <a:latin typeface="Times New Roman" pitchFamily="18" charset="0"/>
                <a:cs typeface="Times New Roman" pitchFamily="18" charset="0"/>
              </a:rPr>
              <a:t> </a:t>
            </a:r>
            <a:endParaRPr lang="bg-BG" sz="4000" b="1" dirty="0"/>
          </a:p>
        </p:txBody>
      </p:sp>
      <p:sp>
        <p:nvSpPr>
          <p:cNvPr id="2" name="Правоъгълник 1"/>
          <p:cNvSpPr/>
          <p:nvPr/>
        </p:nvSpPr>
        <p:spPr>
          <a:xfrm>
            <a:off x="657908" y="174014"/>
            <a:ext cx="8064896" cy="6740307"/>
          </a:xfrm>
          <a:prstGeom prst="rect">
            <a:avLst/>
          </a:prstGeom>
        </p:spPr>
        <p:txBody>
          <a:bodyPr wrap="square" lIns="91440" tIns="45720" rIns="91440" bIns="45720" anchor="t">
            <a:spAutoFit/>
          </a:bodyPr>
          <a:lstStyle/>
          <a:p>
            <a:r>
              <a:rPr lang="en-US" sz="1400" dirty="0">
                <a:latin typeface="Times New Roman"/>
                <a:cs typeface="Times New Roman"/>
              </a:rPr>
              <a:t>.</a:t>
            </a:r>
            <a:r>
              <a:rPr lang="en-US" sz="1600" dirty="0">
                <a:latin typeface="Times New Roman"/>
                <a:cs typeface="Times New Roman"/>
              </a:rPr>
              <a:t>486</a:t>
            </a:r>
            <a:endParaRPr lang="bg-BG"/>
          </a:p>
          <a:p>
            <a:r>
              <a:rPr lang="en-US" sz="1600" dirty="0">
                <a:latin typeface="Times New Roman"/>
                <a:cs typeface="Times New Roman"/>
              </a:rPr>
              <a:t>	.model </a:t>
            </a:r>
            <a:r>
              <a:rPr lang="en-US" sz="1600" err="1">
                <a:latin typeface="Times New Roman"/>
                <a:cs typeface="Times New Roman"/>
              </a:rPr>
              <a:t>flat,stdcall</a:t>
            </a:r>
            <a:endParaRPr lang="en-US" sz="1600">
              <a:latin typeface="Times New Roman"/>
              <a:cs typeface="Times New Roman"/>
            </a:endParaRPr>
          </a:p>
          <a:p>
            <a:r>
              <a:rPr lang="en-US" sz="1600" dirty="0">
                <a:latin typeface="Times New Roman"/>
                <a:cs typeface="Times New Roman"/>
              </a:rPr>
              <a:t>	</a:t>
            </a:r>
            <a:r>
              <a:rPr lang="en-US" sz="1600" err="1">
                <a:latin typeface="Times New Roman"/>
                <a:cs typeface="Times New Roman"/>
              </a:rPr>
              <a:t>includelib</a:t>
            </a:r>
            <a:r>
              <a:rPr lang="en-US" sz="1600" dirty="0">
                <a:latin typeface="Times New Roman"/>
                <a:cs typeface="Times New Roman"/>
              </a:rPr>
              <a:t> \masm32\lib\kernel32.lib</a:t>
            </a:r>
            <a:endParaRPr lang="en-US"/>
          </a:p>
          <a:p>
            <a:r>
              <a:rPr lang="en-US" sz="1600" dirty="0">
                <a:latin typeface="Times New Roman"/>
                <a:cs typeface="Times New Roman"/>
              </a:rPr>
              <a:t>	</a:t>
            </a:r>
            <a:r>
              <a:rPr lang="en-US" sz="1600" err="1">
                <a:latin typeface="Times New Roman"/>
                <a:cs typeface="Times New Roman"/>
              </a:rPr>
              <a:t>ExitProcess</a:t>
            </a:r>
            <a:r>
              <a:rPr lang="en-US" sz="1600" dirty="0">
                <a:latin typeface="Times New Roman"/>
                <a:cs typeface="Times New Roman"/>
              </a:rPr>
              <a:t> </a:t>
            </a:r>
            <a:r>
              <a:rPr lang="en-US" sz="1600" err="1">
                <a:latin typeface="Times New Roman"/>
                <a:cs typeface="Times New Roman"/>
              </a:rPr>
              <a:t>proto:DWORD</a:t>
            </a:r>
            <a:endParaRPr lang="en-US" sz="1600">
              <a:latin typeface="Times New Roman"/>
              <a:cs typeface="Times New Roman"/>
            </a:endParaRPr>
          </a:p>
          <a:p>
            <a:r>
              <a:rPr lang="en-US" sz="1600" dirty="0">
                <a:latin typeface="Times New Roman" panose="02020603050405020304" pitchFamily="18" charset="0"/>
                <a:cs typeface="Times New Roman" panose="02020603050405020304" pitchFamily="18" charset="0"/>
              </a:rPr>
              <a:t>.data</a:t>
            </a:r>
          </a:p>
          <a:p>
            <a:r>
              <a:rPr lang="en-US" sz="1600" dirty="0">
                <a:latin typeface="Times New Roman"/>
                <a:cs typeface="Times New Roman"/>
              </a:rPr>
              <a:t>A       	dd      5	   	  ;A-value</a:t>
            </a:r>
          </a:p>
          <a:p>
            <a:r>
              <a:rPr lang="en-US" sz="1600" dirty="0">
                <a:latin typeface="Times New Roman"/>
                <a:cs typeface="Times New Roman"/>
              </a:rPr>
              <a:t>B       	dd      -15		  ;B-value</a:t>
            </a:r>
          </a:p>
          <a:p>
            <a:r>
              <a:rPr lang="en-US" sz="1600" dirty="0">
                <a:latin typeface="Times New Roman"/>
                <a:cs typeface="Times New Roman"/>
              </a:rPr>
              <a:t>R       	dd      ? 		  ;Result-must be max(5,-15)+max(5,4)=10</a:t>
            </a:r>
          </a:p>
          <a:p>
            <a:r>
              <a:rPr lang="en-US" sz="1600" dirty="0">
                <a:latin typeface="Times New Roman" panose="02020603050405020304" pitchFamily="18" charset="0"/>
                <a:cs typeface="Times New Roman" panose="02020603050405020304" pitchFamily="18" charset="0"/>
              </a:rPr>
              <a:t> 	.code</a:t>
            </a:r>
          </a:p>
          <a:p>
            <a:r>
              <a:rPr lang="en-US" sz="1600" dirty="0">
                <a:latin typeface="Times New Roman"/>
                <a:cs typeface="Times New Roman"/>
              </a:rPr>
              <a:t>start:          mov	 </a:t>
            </a:r>
            <a:r>
              <a:rPr lang="en-US" sz="1600" dirty="0" err="1">
                <a:latin typeface="Times New Roman"/>
                <a:cs typeface="Times New Roman"/>
              </a:rPr>
              <a:t>eax,A</a:t>
            </a:r>
            <a:r>
              <a:rPr lang="en-US" sz="1600" dirty="0">
                <a:latin typeface="Times New Roman"/>
                <a:cs typeface="Times New Roman"/>
              </a:rPr>
              <a:t>	;Load </a:t>
            </a:r>
            <a:r>
              <a:rPr lang="en-US" sz="1600" dirty="0" err="1">
                <a:latin typeface="Times New Roman"/>
                <a:cs typeface="Times New Roman"/>
              </a:rPr>
              <a:t>eax</a:t>
            </a:r>
            <a:r>
              <a:rPr lang="en-US" sz="1600" dirty="0">
                <a:latin typeface="Times New Roman"/>
                <a:cs typeface="Times New Roman"/>
              </a:rPr>
              <a:t>&lt;-A</a:t>
            </a:r>
          </a:p>
          <a:p>
            <a:r>
              <a:rPr lang="en-US" sz="1600" dirty="0">
                <a:latin typeface="Times New Roman"/>
                <a:cs typeface="Times New Roman"/>
              </a:rPr>
              <a:t>	mov   </a:t>
            </a:r>
            <a:r>
              <a:rPr lang="en-US" sz="1600" dirty="0" err="1">
                <a:latin typeface="Times New Roman"/>
                <a:cs typeface="Times New Roman"/>
              </a:rPr>
              <a:t>ebx,B</a:t>
            </a:r>
            <a:r>
              <a:rPr lang="en-US" sz="1600" dirty="0">
                <a:latin typeface="Times New Roman"/>
                <a:cs typeface="Times New Roman"/>
              </a:rPr>
              <a:t>	;Load </a:t>
            </a:r>
            <a:r>
              <a:rPr lang="en-US" sz="1600" dirty="0" err="1">
                <a:latin typeface="Times New Roman"/>
                <a:cs typeface="Times New Roman"/>
              </a:rPr>
              <a:t>ebx</a:t>
            </a:r>
            <a:r>
              <a:rPr lang="en-US" sz="1600" dirty="0">
                <a:latin typeface="Times New Roman"/>
                <a:cs typeface="Times New Roman"/>
              </a:rPr>
              <a:t>&lt;-B</a:t>
            </a:r>
          </a:p>
          <a:p>
            <a:r>
              <a:rPr lang="en-US" sz="1600" dirty="0">
                <a:latin typeface="Times New Roman" panose="02020603050405020304" pitchFamily="18" charset="0"/>
                <a:cs typeface="Times New Roman" panose="02020603050405020304" pitchFamily="18" charset="0"/>
              </a:rPr>
              <a:t>        	call     max		;</a:t>
            </a:r>
            <a:r>
              <a:rPr lang="en-US" sz="1600" dirty="0" err="1">
                <a:latin typeface="Times New Roman" panose="02020603050405020304" pitchFamily="18" charset="0"/>
                <a:cs typeface="Times New Roman" panose="02020603050405020304" pitchFamily="18" charset="0"/>
              </a:rPr>
              <a:t>eax</a:t>
            </a:r>
            <a:r>
              <a:rPr lang="en-US" sz="1600" dirty="0">
                <a:latin typeface="Times New Roman" panose="02020603050405020304" pitchFamily="18" charset="0"/>
                <a:cs typeface="Times New Roman" panose="02020603050405020304" pitchFamily="18" charset="0"/>
              </a:rPr>
              <a:t>=max(A,B)</a:t>
            </a:r>
          </a:p>
          <a:p>
            <a:r>
              <a:rPr lang="en-US" sz="1600" dirty="0">
                <a:latin typeface="Times New Roman"/>
                <a:cs typeface="Times New Roman"/>
              </a:rPr>
              <a:t>        	mov   R, </a:t>
            </a:r>
            <a:r>
              <a:rPr lang="en-US" sz="1600" dirty="0" err="1">
                <a:latin typeface="Times New Roman"/>
                <a:cs typeface="Times New Roman"/>
              </a:rPr>
              <a:t>eax</a:t>
            </a:r>
            <a:r>
              <a:rPr lang="en-US" sz="1600" dirty="0">
                <a:latin typeface="Times New Roman"/>
                <a:cs typeface="Times New Roman"/>
              </a:rPr>
              <a:t>	;R=max(A,B)</a:t>
            </a:r>
          </a:p>
          <a:p>
            <a:r>
              <a:rPr lang="en-US" sz="1600" dirty="0">
                <a:latin typeface="Times New Roman"/>
                <a:cs typeface="Times New Roman"/>
              </a:rPr>
              <a:t>        	mov	eax,5	;</a:t>
            </a:r>
            <a:r>
              <a:rPr lang="en-US" sz="1600" dirty="0" err="1">
                <a:latin typeface="Times New Roman"/>
                <a:cs typeface="Times New Roman"/>
              </a:rPr>
              <a:t>eax</a:t>
            </a:r>
            <a:r>
              <a:rPr lang="en-US" sz="1600" dirty="0">
                <a:latin typeface="Times New Roman"/>
                <a:cs typeface="Times New Roman"/>
              </a:rPr>
              <a:t>=5</a:t>
            </a:r>
          </a:p>
          <a:p>
            <a:r>
              <a:rPr lang="en-US" sz="1600" dirty="0">
                <a:latin typeface="Times New Roman"/>
                <a:cs typeface="Times New Roman"/>
              </a:rPr>
              <a:t>	mov	</a:t>
            </a:r>
            <a:r>
              <a:rPr lang="en-US" sz="1600" dirty="0" err="1">
                <a:latin typeface="Times New Roman"/>
                <a:cs typeface="Times New Roman"/>
              </a:rPr>
              <a:t>ebx,A</a:t>
            </a:r>
            <a:endParaRPr lang="en-US" sz="1600" dirty="0">
              <a:latin typeface="Times New Roman"/>
              <a:cs typeface="Times New Roman"/>
            </a:endParaRPr>
          </a:p>
          <a:p>
            <a:r>
              <a:rPr lang="en-US" sz="1600" dirty="0">
                <a:latin typeface="Times New Roman" panose="02020603050405020304" pitchFamily="18" charset="0"/>
                <a:cs typeface="Times New Roman" panose="02020603050405020304" pitchFamily="18" charset="0"/>
              </a:rPr>
              <a:t>	sub	ebx,1	;</a:t>
            </a:r>
            <a:r>
              <a:rPr lang="en-US" sz="1600" dirty="0" err="1">
                <a:latin typeface="Times New Roman" panose="02020603050405020304" pitchFamily="18" charset="0"/>
                <a:cs typeface="Times New Roman" panose="02020603050405020304" pitchFamily="18" charset="0"/>
              </a:rPr>
              <a:t>ebx</a:t>
            </a:r>
            <a:r>
              <a:rPr lang="en-US" sz="1600" dirty="0">
                <a:latin typeface="Times New Roman" panose="02020603050405020304" pitchFamily="18" charset="0"/>
                <a:cs typeface="Times New Roman" panose="02020603050405020304" pitchFamily="18" charset="0"/>
              </a:rPr>
              <a:t>=a-1</a:t>
            </a:r>
          </a:p>
          <a:p>
            <a:r>
              <a:rPr lang="en-US" sz="1600" dirty="0">
                <a:latin typeface="Times New Roman" panose="02020603050405020304" pitchFamily="18" charset="0"/>
                <a:cs typeface="Times New Roman" panose="02020603050405020304" pitchFamily="18" charset="0"/>
              </a:rPr>
              <a:t>	call	max	;</a:t>
            </a:r>
            <a:r>
              <a:rPr lang="en-US" sz="1600" dirty="0" err="1">
                <a:latin typeface="Times New Roman" panose="02020603050405020304" pitchFamily="18" charset="0"/>
                <a:cs typeface="Times New Roman" panose="02020603050405020304" pitchFamily="18" charset="0"/>
              </a:rPr>
              <a:t>eax</a:t>
            </a:r>
            <a:r>
              <a:rPr lang="en-US" sz="1600" dirty="0">
                <a:latin typeface="Times New Roman" panose="02020603050405020304" pitchFamily="18" charset="0"/>
                <a:cs typeface="Times New Roman" panose="02020603050405020304" pitchFamily="18" charset="0"/>
              </a:rPr>
              <a:t>=max(5,A-1)</a:t>
            </a:r>
          </a:p>
          <a:p>
            <a:r>
              <a:rPr lang="en-US" sz="1600" dirty="0">
                <a:latin typeface="Times New Roman" panose="02020603050405020304" pitchFamily="18" charset="0"/>
                <a:cs typeface="Times New Roman" panose="02020603050405020304" pitchFamily="18" charset="0"/>
              </a:rPr>
              <a:t>	add	</a:t>
            </a:r>
            <a:r>
              <a:rPr lang="en-US" sz="1600" dirty="0" err="1">
                <a:latin typeface="Times New Roman" panose="02020603050405020304" pitchFamily="18" charset="0"/>
                <a:cs typeface="Times New Roman" panose="02020603050405020304" pitchFamily="18" charset="0"/>
              </a:rPr>
              <a:t>R,eax</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Invoke ExitProcess,0</a:t>
            </a:r>
          </a:p>
          <a:p>
            <a:r>
              <a:rPr lang="en-US" sz="1600" dirty="0">
                <a:latin typeface="Times New Roman" panose="02020603050405020304" pitchFamily="18" charset="0"/>
                <a:cs typeface="Times New Roman" panose="02020603050405020304" pitchFamily="18" charset="0"/>
              </a:rPr>
              <a:t> ;Subroutine </a:t>
            </a:r>
            <a:r>
              <a:rPr lang="en-US" sz="1600" dirty="0" err="1">
                <a:latin typeface="Times New Roman" panose="02020603050405020304" pitchFamily="18" charset="0"/>
                <a:cs typeface="Times New Roman" panose="02020603050405020304" pitchFamily="18" charset="0"/>
              </a:rPr>
              <a:t>eax</a:t>
            </a:r>
            <a:r>
              <a:rPr lang="en-US" sz="1600" dirty="0">
                <a:latin typeface="Times New Roman" panose="02020603050405020304" pitchFamily="18" charset="0"/>
                <a:cs typeface="Times New Roman" panose="02020603050405020304" pitchFamily="18" charset="0"/>
              </a:rPr>
              <a:t>=max(</a:t>
            </a:r>
            <a:r>
              <a:rPr lang="en-US" sz="1600" dirty="0" err="1">
                <a:latin typeface="Times New Roman" panose="02020603050405020304" pitchFamily="18" charset="0"/>
                <a:cs typeface="Times New Roman" panose="02020603050405020304" pitchFamily="18" charset="0"/>
              </a:rPr>
              <a:t>eax</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ebx</a:t>
            </a:r>
            <a:r>
              <a:rPr lang="en-US" sz="1600" dirty="0">
                <a:latin typeface="Times New Roman" panose="02020603050405020304" pitchFamily="18" charset="0"/>
                <a:cs typeface="Times New Roman" panose="02020603050405020304" pitchFamily="18" charset="0"/>
              </a:rPr>
              <a:t>)</a:t>
            </a:r>
          </a:p>
          <a:p>
            <a:r>
              <a:rPr lang="en-US" sz="1600" dirty="0">
                <a:latin typeface="Times New Roman"/>
                <a:cs typeface="Times New Roman"/>
              </a:rPr>
              <a:t>max	proc</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cmp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eax,ebx</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eax-ebx</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jge</a:t>
            </a:r>
            <a:r>
              <a:rPr lang="en-US" sz="1600" dirty="0">
                <a:latin typeface="Times New Roman" panose="02020603050405020304" pitchFamily="18" charset="0"/>
                <a:cs typeface="Times New Roman" panose="02020603050405020304" pitchFamily="18" charset="0"/>
              </a:rPr>
              <a:t>	max1	;if </a:t>
            </a:r>
            <a:r>
              <a:rPr lang="en-US" sz="1600" dirty="0" err="1">
                <a:latin typeface="Times New Roman" panose="02020603050405020304" pitchFamily="18" charset="0"/>
                <a:cs typeface="Times New Roman" panose="02020603050405020304" pitchFamily="18" charset="0"/>
              </a:rPr>
              <a:t>eax</a:t>
            </a:r>
            <a:r>
              <a:rPr lang="en-US" sz="1600" dirty="0">
                <a:latin typeface="Times New Roman" panose="02020603050405020304" pitchFamily="18" charset="0"/>
                <a:cs typeface="Times New Roman" panose="02020603050405020304" pitchFamily="18" charset="0"/>
              </a:rPr>
              <a:t>&gt;=</a:t>
            </a:r>
            <a:r>
              <a:rPr lang="en-US" sz="1600" dirty="0" err="1">
                <a:latin typeface="Times New Roman" panose="02020603050405020304" pitchFamily="18" charset="0"/>
                <a:cs typeface="Times New Roman" panose="02020603050405020304" pitchFamily="18" charset="0"/>
              </a:rPr>
              <a:t>ebx</a:t>
            </a:r>
            <a:r>
              <a:rPr lang="en-US" sz="1600" dirty="0">
                <a:latin typeface="Times New Roman" panose="02020603050405020304" pitchFamily="18" charset="0"/>
                <a:cs typeface="Times New Roman" panose="02020603050405020304" pitchFamily="18" charset="0"/>
              </a:rPr>
              <a:t> max1</a:t>
            </a:r>
          </a:p>
          <a:p>
            <a:r>
              <a:rPr lang="en-US" sz="1600" dirty="0">
                <a:latin typeface="Times New Roman"/>
                <a:cs typeface="Times New Roman"/>
              </a:rPr>
              <a:t>	mov	</a:t>
            </a:r>
            <a:r>
              <a:rPr lang="en-US" sz="1600" dirty="0" err="1">
                <a:latin typeface="Times New Roman"/>
                <a:cs typeface="Times New Roman"/>
              </a:rPr>
              <a:t>eax,ebx</a:t>
            </a:r>
            <a:r>
              <a:rPr lang="en-US" sz="1600" dirty="0">
                <a:latin typeface="Times New Roman"/>
                <a:cs typeface="Times New Roman"/>
              </a:rPr>
              <a:t>	;if </a:t>
            </a:r>
            <a:r>
              <a:rPr lang="en-US" sz="1600" dirty="0" err="1">
                <a:latin typeface="Times New Roman"/>
                <a:cs typeface="Times New Roman"/>
              </a:rPr>
              <a:t>ebx</a:t>
            </a:r>
            <a:r>
              <a:rPr lang="en-US" sz="1600" dirty="0">
                <a:latin typeface="Times New Roman"/>
                <a:cs typeface="Times New Roman"/>
              </a:rPr>
              <a:t>&gt;</a:t>
            </a:r>
            <a:r>
              <a:rPr lang="en-US" sz="1600" dirty="0" err="1">
                <a:latin typeface="Times New Roman"/>
                <a:cs typeface="Times New Roman"/>
              </a:rPr>
              <a:t>eax</a:t>
            </a:r>
            <a:r>
              <a:rPr lang="en-US" sz="1600" dirty="0">
                <a:latin typeface="Times New Roman"/>
                <a:cs typeface="Times New Roman"/>
              </a:rPr>
              <a:t> </a:t>
            </a:r>
            <a:r>
              <a:rPr lang="en-US" sz="1600" dirty="0" err="1">
                <a:latin typeface="Times New Roman"/>
                <a:cs typeface="Times New Roman"/>
              </a:rPr>
              <a:t>eax</a:t>
            </a:r>
            <a:r>
              <a:rPr lang="en-US" sz="1600" dirty="0">
                <a:latin typeface="Times New Roman"/>
                <a:cs typeface="Times New Roman"/>
              </a:rPr>
              <a:t>=</a:t>
            </a:r>
            <a:r>
              <a:rPr lang="en-US" sz="1600" dirty="0" err="1">
                <a:latin typeface="Times New Roman"/>
                <a:cs typeface="Times New Roman"/>
              </a:rPr>
              <a:t>ebx</a:t>
            </a:r>
            <a:endParaRPr lang="en-US" sz="1600" dirty="0">
              <a:latin typeface="Times New Roman"/>
              <a:cs typeface="Times New Roman"/>
            </a:endParaRPr>
          </a:p>
          <a:p>
            <a:r>
              <a:rPr lang="en-US" sz="1600" dirty="0">
                <a:latin typeface="Times New Roman" panose="02020603050405020304" pitchFamily="18" charset="0"/>
                <a:cs typeface="Times New Roman" panose="02020603050405020304" pitchFamily="18" charset="0"/>
              </a:rPr>
              <a:t>max1:	ret</a:t>
            </a:r>
          </a:p>
          <a:p>
            <a:r>
              <a:rPr lang="en-US" sz="1600" dirty="0">
                <a:latin typeface="Times New Roman" panose="02020603050405020304" pitchFamily="18" charset="0"/>
                <a:cs typeface="Times New Roman" panose="02020603050405020304" pitchFamily="18" charset="0"/>
              </a:rPr>
              <a:t>max	</a:t>
            </a:r>
            <a:r>
              <a:rPr lang="en-US" sz="1600" dirty="0" err="1">
                <a:latin typeface="Times New Roman" panose="02020603050405020304" pitchFamily="18" charset="0"/>
                <a:cs typeface="Times New Roman" panose="02020603050405020304" pitchFamily="18" charset="0"/>
              </a:rPr>
              <a:t>endp</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end     start</a:t>
            </a:r>
          </a:p>
        </p:txBody>
      </p:sp>
    </p:spTree>
    <p:extLst>
      <p:ext uri="{BB962C8B-B14F-4D97-AF65-F5344CB8AC3E}">
        <p14:creationId xmlns:p14="http://schemas.microsoft.com/office/powerpoint/2010/main" val="14031852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0"/>
            <a:ext cx="8640960" cy="6858000"/>
          </a:xfrm>
        </p:spPr>
        <p:txBody>
          <a:bodyPr>
            <a:noAutofit/>
          </a:bodyPr>
          <a:lstStyle/>
          <a:p>
            <a:pPr marL="0" indent="0">
              <a:spcBef>
                <a:spcPts val="0"/>
              </a:spcBef>
              <a:buNone/>
            </a:pPr>
            <a:r>
              <a:rPr lang="en-US" sz="15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.text</a:t>
            </a:r>
          </a:p>
          <a:p>
            <a:pPr marL="0" indent="0">
              <a:spcBef>
                <a:spcPts val="0"/>
              </a:spcBef>
              <a:buNone/>
            </a:pPr>
            <a:r>
              <a:rPr lang="en-US" sz="1600" dirty="0">
                <a:latin typeface="Times New Roman" panose="02020603050405020304" pitchFamily="18" charset="0"/>
                <a:cs typeface="Times New Roman" panose="02020603050405020304" pitchFamily="18" charset="0"/>
              </a:rPr>
              <a:t>	.global	start</a:t>
            </a:r>
          </a:p>
          <a:p>
            <a:pPr marL="0" indent="0">
              <a:spcBef>
                <a:spcPts val="0"/>
              </a:spcBef>
              <a:buNone/>
            </a:pPr>
            <a:r>
              <a:rPr lang="en-US" sz="1600" dirty="0">
                <a:latin typeface="Times New Roman" panose="02020603050405020304" pitchFamily="18" charset="0"/>
                <a:cs typeface="Times New Roman" panose="02020603050405020304" pitchFamily="18" charset="0"/>
              </a:rPr>
              <a:t>start:  </a:t>
            </a:r>
          </a:p>
          <a:p>
            <a:pPr marL="0" indent="0">
              <a:spcBef>
                <a:spcPts val="0"/>
              </a:spcBef>
              <a:buNone/>
            </a:pPr>
            <a:r>
              <a:rPr lang="en-US" sz="1600" dirty="0">
                <a:latin typeface="Times New Roman" panose="02020603050405020304" pitchFamily="18" charset="0"/>
                <a:cs typeface="Times New Roman" panose="02020603050405020304" pitchFamily="18" charset="0"/>
              </a:rPr>
              <a:t>       	LDR     	R1,=A	@</a:t>
            </a:r>
            <a:r>
              <a:rPr lang="en-US" sz="1600" dirty="0" err="1">
                <a:latin typeface="Times New Roman" panose="02020603050405020304" pitchFamily="18" charset="0"/>
                <a:cs typeface="Times New Roman" panose="02020603050405020304" pitchFamily="18" charset="0"/>
              </a:rPr>
              <a:t>addr</a:t>
            </a:r>
            <a:r>
              <a:rPr lang="en-US" sz="1600" dirty="0">
                <a:latin typeface="Times New Roman" panose="02020603050405020304" pitchFamily="18" charset="0"/>
                <a:cs typeface="Times New Roman" panose="02020603050405020304" pitchFamily="18" charset="0"/>
              </a:rPr>
              <a:t>. A-&gt;R1</a:t>
            </a:r>
          </a:p>
          <a:p>
            <a:pPr marL="0" indent="0">
              <a:spcBef>
                <a:spcPts val="0"/>
              </a:spcBef>
              <a:buNone/>
            </a:pPr>
            <a:r>
              <a:rPr lang="en-US" sz="1600" dirty="0">
                <a:latin typeface="Times New Roman" panose="02020603050405020304" pitchFamily="18" charset="0"/>
                <a:cs typeface="Times New Roman" panose="02020603050405020304" pitchFamily="18" charset="0"/>
              </a:rPr>
              <a:t>	LDR     	R1,[R1]   	@A-&gt;R1</a:t>
            </a:r>
          </a:p>
          <a:p>
            <a:pPr marL="0" indent="0">
              <a:spcBef>
                <a:spcPts val="0"/>
              </a:spcBef>
              <a:buNone/>
            </a:pPr>
            <a:r>
              <a:rPr lang="en-US" sz="1600" dirty="0">
                <a:latin typeface="Times New Roman" panose="02020603050405020304" pitchFamily="18" charset="0"/>
                <a:cs typeface="Times New Roman" panose="02020603050405020304" pitchFamily="18" charset="0"/>
              </a:rPr>
              <a:t>        	LDR     	R2,=B	@</a:t>
            </a:r>
            <a:r>
              <a:rPr lang="en-US" sz="1600" dirty="0" err="1">
                <a:latin typeface="Times New Roman" panose="02020603050405020304" pitchFamily="18" charset="0"/>
                <a:cs typeface="Times New Roman" panose="02020603050405020304" pitchFamily="18" charset="0"/>
              </a:rPr>
              <a:t>addr</a:t>
            </a:r>
            <a:r>
              <a:rPr lang="en-US" sz="1600" dirty="0">
                <a:latin typeface="Times New Roman" panose="02020603050405020304" pitchFamily="18" charset="0"/>
                <a:cs typeface="Times New Roman" panose="02020603050405020304" pitchFamily="18" charset="0"/>
              </a:rPr>
              <a:t>. B-&gt;R2</a:t>
            </a:r>
          </a:p>
          <a:p>
            <a:pPr marL="0" indent="0">
              <a:spcBef>
                <a:spcPts val="0"/>
              </a:spcBef>
              <a:buNone/>
            </a:pPr>
            <a:r>
              <a:rPr lang="en-US" sz="1600" dirty="0">
                <a:latin typeface="Times New Roman" panose="02020603050405020304" pitchFamily="18" charset="0"/>
                <a:cs typeface="Times New Roman" panose="02020603050405020304" pitchFamily="18" charset="0"/>
              </a:rPr>
              <a:t>	LDR     	R2,[R2]   	@B-&gt;R2</a:t>
            </a:r>
          </a:p>
          <a:p>
            <a:pPr marL="0" indent="0">
              <a:spcBef>
                <a:spcPts val="0"/>
              </a:spcBef>
              <a:buNone/>
            </a:pPr>
            <a:r>
              <a:rPr lang="en-US" sz="1600" dirty="0">
                <a:latin typeface="Times New Roman" panose="02020603050405020304" pitchFamily="18" charset="0"/>
                <a:cs typeface="Times New Roman" panose="02020603050405020304" pitchFamily="18" charset="0"/>
              </a:rPr>
              <a:t>	LDR     	R3,=R	@</a:t>
            </a:r>
            <a:r>
              <a:rPr lang="en-US" sz="1600" dirty="0" err="1">
                <a:latin typeface="Times New Roman" panose="02020603050405020304" pitchFamily="18" charset="0"/>
                <a:cs typeface="Times New Roman" panose="02020603050405020304" pitchFamily="18" charset="0"/>
              </a:rPr>
              <a:t>addr</a:t>
            </a:r>
            <a:r>
              <a:rPr lang="en-US" sz="1600" dirty="0">
                <a:latin typeface="Times New Roman" panose="02020603050405020304" pitchFamily="18" charset="0"/>
                <a:cs typeface="Times New Roman" panose="02020603050405020304" pitchFamily="18" charset="0"/>
              </a:rPr>
              <a:t>. R-&gt;R3</a:t>
            </a:r>
          </a:p>
          <a:p>
            <a:pPr marL="0" indent="0">
              <a:spcBef>
                <a:spcPts val="0"/>
              </a:spcBef>
              <a:buNone/>
            </a:pPr>
            <a:r>
              <a:rPr lang="en-US" sz="1600" dirty="0">
                <a:latin typeface="Times New Roman" panose="02020603050405020304" pitchFamily="18" charset="0"/>
                <a:cs typeface="Times New Roman" panose="02020603050405020304" pitchFamily="18" charset="0"/>
              </a:rPr>
              <a:t>	BL	max	@R1=max(A,B)</a:t>
            </a:r>
          </a:p>
          <a:p>
            <a:pPr marL="0" indent="0">
              <a:spcBef>
                <a:spcPts val="0"/>
              </a:spcBef>
              <a:buNone/>
            </a:pPr>
            <a:r>
              <a:rPr lang="en-US" sz="1600" dirty="0">
                <a:latin typeface="Times New Roman" panose="02020603050405020304" pitchFamily="18" charset="0"/>
                <a:cs typeface="Times New Roman" panose="02020603050405020304" pitchFamily="18" charset="0"/>
              </a:rPr>
              <a:t>	STR	R1,[R3]	@R=max(A,B)</a:t>
            </a:r>
          </a:p>
          <a:p>
            <a:pPr marL="0" indent="0">
              <a:spcBef>
                <a:spcPts val="0"/>
              </a:spcBef>
              <a:buNone/>
            </a:pPr>
            <a:r>
              <a:rPr lang="en-US" sz="1600" dirty="0">
                <a:latin typeface="Times New Roman" panose="02020603050405020304" pitchFamily="18" charset="0"/>
                <a:cs typeface="Times New Roman" panose="02020603050405020304" pitchFamily="18" charset="0"/>
              </a:rPr>
              <a:t>	MOV	R1,#5</a:t>
            </a:r>
          </a:p>
          <a:p>
            <a:pPr marL="0" indent="0">
              <a:spcBef>
                <a:spcPts val="0"/>
              </a:spcBef>
              <a:buNone/>
            </a:pPr>
            <a:r>
              <a:rPr lang="en-US" sz="1600" dirty="0">
                <a:latin typeface="Times New Roman" panose="02020603050405020304" pitchFamily="18" charset="0"/>
                <a:cs typeface="Times New Roman" panose="02020603050405020304" pitchFamily="18" charset="0"/>
              </a:rPr>
              <a:t>	LDR     	R2,=A	@</a:t>
            </a:r>
            <a:r>
              <a:rPr lang="en-US" sz="1600" dirty="0" err="1">
                <a:latin typeface="Times New Roman" panose="02020603050405020304" pitchFamily="18" charset="0"/>
                <a:cs typeface="Times New Roman" panose="02020603050405020304" pitchFamily="18" charset="0"/>
              </a:rPr>
              <a:t>addr</a:t>
            </a:r>
            <a:r>
              <a:rPr lang="en-US" sz="1600" dirty="0">
                <a:latin typeface="Times New Roman" panose="02020603050405020304" pitchFamily="18" charset="0"/>
                <a:cs typeface="Times New Roman" panose="02020603050405020304" pitchFamily="18" charset="0"/>
              </a:rPr>
              <a:t>. A-&gt;R2</a:t>
            </a:r>
          </a:p>
          <a:p>
            <a:pPr marL="0" indent="0">
              <a:spcBef>
                <a:spcPts val="0"/>
              </a:spcBef>
              <a:buNone/>
            </a:pPr>
            <a:r>
              <a:rPr lang="en-US" sz="1600" dirty="0">
                <a:latin typeface="Times New Roman" panose="02020603050405020304" pitchFamily="18" charset="0"/>
                <a:cs typeface="Times New Roman" panose="02020603050405020304" pitchFamily="18" charset="0"/>
              </a:rPr>
              <a:t>	LDR     	R2,[R2]   	@A-&gt;R2</a:t>
            </a:r>
          </a:p>
          <a:p>
            <a:pPr marL="0" indent="0">
              <a:spcBef>
                <a:spcPts val="0"/>
              </a:spcBef>
              <a:buNone/>
            </a:pPr>
            <a:r>
              <a:rPr lang="en-US" sz="1600" dirty="0">
                <a:latin typeface="Times New Roman" panose="02020603050405020304" pitchFamily="18" charset="0"/>
                <a:cs typeface="Times New Roman" panose="02020603050405020304" pitchFamily="18" charset="0"/>
              </a:rPr>
              <a:t>	SUB     	R2,R2,#1	@R2=A-1</a:t>
            </a:r>
          </a:p>
          <a:p>
            <a:pPr marL="0" indent="0">
              <a:spcBef>
                <a:spcPts val="0"/>
              </a:spcBef>
              <a:buNone/>
            </a:pPr>
            <a:r>
              <a:rPr lang="en-US" sz="1600" dirty="0">
                <a:latin typeface="Times New Roman" panose="02020603050405020304" pitchFamily="18" charset="0"/>
                <a:cs typeface="Times New Roman" panose="02020603050405020304" pitchFamily="18" charset="0"/>
              </a:rPr>
              <a:t>	BL	max	@R1=max(5,A-1)</a:t>
            </a:r>
          </a:p>
          <a:p>
            <a:pPr marL="0" indent="0">
              <a:spcBef>
                <a:spcPts val="0"/>
              </a:spcBef>
              <a:buNone/>
            </a:pPr>
            <a:r>
              <a:rPr lang="en-US" sz="1600" dirty="0">
                <a:latin typeface="Times New Roman" panose="02020603050405020304" pitchFamily="18" charset="0"/>
                <a:cs typeface="Times New Roman" panose="02020603050405020304" pitchFamily="18" charset="0"/>
              </a:rPr>
              <a:t>	LDR	R4,[R3]	@R-&gt;R4</a:t>
            </a:r>
          </a:p>
          <a:p>
            <a:pPr marL="0" indent="0">
              <a:spcBef>
                <a:spcPts val="0"/>
              </a:spcBef>
              <a:buNone/>
            </a:pPr>
            <a:r>
              <a:rPr lang="en-US" sz="1600" dirty="0">
                <a:latin typeface="Times New Roman" panose="02020603050405020304" pitchFamily="18" charset="0"/>
                <a:cs typeface="Times New Roman" panose="02020603050405020304" pitchFamily="18" charset="0"/>
              </a:rPr>
              <a:t>	ADD           R4,R4,R1	@R4=R+R1=max(A,B)+max(5,A-1)</a:t>
            </a:r>
          </a:p>
          <a:p>
            <a:pPr marL="0" indent="0">
              <a:spcBef>
                <a:spcPts val="0"/>
              </a:spcBef>
              <a:buNone/>
            </a:pPr>
            <a:r>
              <a:rPr lang="en-US" sz="1600" dirty="0">
                <a:latin typeface="Times New Roman" panose="02020603050405020304" pitchFamily="18" charset="0"/>
                <a:cs typeface="Times New Roman" panose="02020603050405020304" pitchFamily="18" charset="0"/>
              </a:rPr>
              <a:t>	STR	R4,[R3]	@R=max(A,B)+max(5,A-1)</a:t>
            </a:r>
          </a:p>
          <a:p>
            <a:pPr marL="0" indent="0">
              <a:spcBef>
                <a:spcPts val="0"/>
              </a:spcBef>
              <a:buNone/>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swi</a:t>
            </a:r>
            <a:r>
              <a:rPr lang="en-US" sz="1600" dirty="0">
                <a:latin typeface="Times New Roman" panose="02020603050405020304" pitchFamily="18" charset="0"/>
                <a:cs typeface="Times New Roman" panose="02020603050405020304" pitchFamily="18" charset="0"/>
              </a:rPr>
              <a:t>	0x11</a:t>
            </a:r>
          </a:p>
          <a:p>
            <a:pPr marL="0" indent="0">
              <a:spcBef>
                <a:spcPts val="0"/>
              </a:spcBef>
              <a:buNone/>
            </a:pPr>
            <a:r>
              <a:rPr lang="en-US" sz="1600" dirty="0">
                <a:latin typeface="Times New Roman" panose="02020603050405020304" pitchFamily="18" charset="0"/>
                <a:cs typeface="Times New Roman" panose="02020603050405020304" pitchFamily="18" charset="0"/>
              </a:rPr>
              <a:t> max:	CMP	R1,R2	@R1-R2</a:t>
            </a:r>
          </a:p>
          <a:p>
            <a:pPr marL="0" indent="0">
              <a:spcBef>
                <a:spcPts val="0"/>
              </a:spcBef>
              <a:buNone/>
            </a:pPr>
            <a:r>
              <a:rPr lang="en-US" sz="1600" dirty="0">
                <a:latin typeface="Times New Roman" panose="02020603050405020304" pitchFamily="18" charset="0"/>
                <a:cs typeface="Times New Roman" panose="02020603050405020304" pitchFamily="18" charset="0"/>
              </a:rPr>
              <a:t>	BGE	max1	@if R1&gt;=R2 max1</a:t>
            </a:r>
          </a:p>
          <a:p>
            <a:pPr marL="0" indent="0">
              <a:spcBef>
                <a:spcPts val="0"/>
              </a:spcBef>
              <a:buNone/>
            </a:pPr>
            <a:r>
              <a:rPr lang="en-US" sz="1600" dirty="0">
                <a:latin typeface="Times New Roman" panose="02020603050405020304" pitchFamily="18" charset="0"/>
                <a:cs typeface="Times New Roman" panose="02020603050405020304" pitchFamily="18" charset="0"/>
              </a:rPr>
              <a:t>	MOV         R1,R2	@if R2&gt;R1 R1=R2</a:t>
            </a:r>
          </a:p>
          <a:p>
            <a:pPr marL="0" indent="0">
              <a:spcBef>
                <a:spcPts val="0"/>
              </a:spcBef>
              <a:buNone/>
            </a:pPr>
            <a:r>
              <a:rPr lang="en-US" sz="1600" dirty="0">
                <a:latin typeface="Times New Roman" panose="02020603050405020304" pitchFamily="18" charset="0"/>
                <a:cs typeface="Times New Roman" panose="02020603050405020304" pitchFamily="18" charset="0"/>
              </a:rPr>
              <a:t>max1:	BX	LR	@return </a:t>
            </a:r>
          </a:p>
          <a:p>
            <a:pPr marL="0" indent="0">
              <a:spcBef>
                <a:spcPts val="0"/>
              </a:spcBef>
              <a:buNone/>
            </a:pPr>
            <a:r>
              <a:rPr lang="en-US" sz="1600" dirty="0">
                <a:latin typeface="Times New Roman" panose="02020603050405020304" pitchFamily="18" charset="0"/>
                <a:cs typeface="Times New Roman" panose="02020603050405020304" pitchFamily="18" charset="0"/>
              </a:rPr>
              <a:t> 	.data</a:t>
            </a:r>
          </a:p>
          <a:p>
            <a:pPr marL="0" indent="0">
              <a:spcBef>
                <a:spcPts val="0"/>
              </a:spcBef>
              <a:buNone/>
            </a:pPr>
            <a:r>
              <a:rPr lang="en-US" sz="1600" dirty="0">
                <a:latin typeface="Times New Roman" panose="02020603050405020304" pitchFamily="18" charset="0"/>
                <a:cs typeface="Times New Roman" panose="02020603050405020304" pitchFamily="18" charset="0"/>
              </a:rPr>
              <a:t>A:   	.word      5		@A value</a:t>
            </a:r>
          </a:p>
          <a:p>
            <a:pPr marL="0" indent="0">
              <a:spcBef>
                <a:spcPts val="0"/>
              </a:spcBef>
              <a:buNone/>
            </a:pPr>
            <a:r>
              <a:rPr lang="en-US" sz="1600" dirty="0">
                <a:latin typeface="Times New Roman" panose="02020603050405020304" pitchFamily="18" charset="0"/>
                <a:cs typeface="Times New Roman" panose="02020603050405020304" pitchFamily="18" charset="0"/>
              </a:rPr>
              <a:t>B:     	.word      -15	@B value</a:t>
            </a:r>
          </a:p>
          <a:p>
            <a:pPr marL="0" indent="0">
              <a:spcBef>
                <a:spcPts val="0"/>
              </a:spcBef>
              <a:buNone/>
            </a:pPr>
            <a:r>
              <a:rPr lang="en-US" sz="1600" dirty="0">
                <a:latin typeface="Times New Roman" panose="02020603050405020304" pitchFamily="18" charset="0"/>
                <a:cs typeface="Times New Roman" panose="02020603050405020304" pitchFamily="18" charset="0"/>
              </a:rPr>
              <a:t>R:   	.word      0  	@Result - must be max(5,-15)+max(5,4)=10</a:t>
            </a:r>
          </a:p>
          <a:p>
            <a:pPr marL="0" indent="0">
              <a:spcBef>
                <a:spcPts val="0"/>
              </a:spcBef>
              <a:buNone/>
            </a:pPr>
            <a:r>
              <a:rPr lang="en-US" sz="1600" dirty="0">
                <a:latin typeface="Times New Roman" panose="02020603050405020304" pitchFamily="18" charset="0"/>
                <a:cs typeface="Times New Roman" panose="02020603050405020304" pitchFamily="18" charset="0"/>
              </a:rPr>
              <a:t>	.end     </a:t>
            </a:r>
          </a:p>
        </p:txBody>
      </p:sp>
    </p:spTree>
    <p:extLst>
      <p:ext uri="{BB962C8B-B14F-4D97-AF65-F5344CB8AC3E}">
        <p14:creationId xmlns:p14="http://schemas.microsoft.com/office/powerpoint/2010/main" val="9807561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ED9EC3-B97C-459A-A74C-249FAC86313D}"/>
              </a:ext>
            </a:extLst>
          </p:cNvPr>
          <p:cNvSpPr txBox="1"/>
          <p:nvPr/>
        </p:nvSpPr>
        <p:spPr>
          <a:xfrm>
            <a:off x="683568" y="1556792"/>
            <a:ext cx="7416824" cy="2308324"/>
          </a:xfrm>
          <a:prstGeom prst="rect">
            <a:avLst/>
          </a:prstGeom>
          <a:noFill/>
        </p:spPr>
        <p:txBody>
          <a:bodyPr wrap="square" rtlCol="0">
            <a:spAutoFit/>
          </a:bodyPr>
          <a:lstStyle/>
          <a:p>
            <a:r>
              <a:rPr lang="bg-BG" b="1" dirty="0">
                <a:latin typeface="Times New Roman" panose="02020603050405020304" pitchFamily="18" charset="0"/>
                <a:cs typeface="Times New Roman" panose="02020603050405020304" pitchFamily="18" charset="0"/>
              </a:rPr>
              <a:t>Задача 2: Дадени са променливите A=1, B=2, R=3 са поставени в стека, процедурата променя техните стойности на според адресите:</a:t>
            </a:r>
          </a:p>
          <a:p>
            <a:endParaRPr lang="bg-BG" b="1" dirty="0">
              <a:latin typeface="Times New Roman" panose="02020603050405020304" pitchFamily="18" charset="0"/>
              <a:cs typeface="Times New Roman" panose="02020603050405020304" pitchFamily="18" charset="0"/>
            </a:endParaRPr>
          </a:p>
          <a:p>
            <a:endParaRPr lang="bg-BG" b="1" dirty="0">
              <a:latin typeface="Times New Roman" panose="02020603050405020304" pitchFamily="18" charset="0"/>
              <a:cs typeface="Times New Roman" panose="02020603050405020304" pitchFamily="18" charset="0"/>
            </a:endParaRPr>
          </a:p>
          <a:p>
            <a:endParaRPr lang="bg-BG" b="1" dirty="0">
              <a:latin typeface="Times New Roman" panose="02020603050405020304" pitchFamily="18" charset="0"/>
              <a:cs typeface="Times New Roman" panose="02020603050405020304" pitchFamily="18" charset="0"/>
            </a:endParaRPr>
          </a:p>
          <a:p>
            <a:endParaRPr lang="bg-BG" b="1" dirty="0">
              <a:latin typeface="Times New Roman" panose="02020603050405020304" pitchFamily="18" charset="0"/>
              <a:cs typeface="Times New Roman" panose="02020603050405020304" pitchFamily="18" charset="0"/>
            </a:endParaRPr>
          </a:p>
          <a:p>
            <a:r>
              <a:rPr lang="bg-BG" b="1" dirty="0">
                <a:latin typeface="Times New Roman" panose="02020603050405020304" pitchFamily="18" charset="0"/>
                <a:cs typeface="Times New Roman" panose="02020603050405020304" pitchFamily="18" charset="0"/>
              </a:rPr>
              <a:t>След извикване на процедурата извличаме резултатите от работата</a:t>
            </a:r>
          </a:p>
          <a:p>
            <a:r>
              <a:rPr lang="bg-BG" b="1" dirty="0">
                <a:latin typeface="Times New Roman" panose="02020603050405020304" pitchFamily="18" charset="0"/>
                <a:cs typeface="Times New Roman" panose="02020603050405020304" pitchFamily="18" charset="0"/>
              </a:rPr>
              <a:t>в променливи RR, BB, AA</a:t>
            </a:r>
            <a:r>
              <a:rPr lang="ru-RU" b="1" dirty="0">
                <a:latin typeface="Times New Roman" panose="02020603050405020304" pitchFamily="18" charset="0"/>
                <a:cs typeface="Times New Roman" panose="02020603050405020304" pitchFamily="18" charset="0"/>
              </a:rPr>
              <a:t>.</a:t>
            </a:r>
            <a:r>
              <a:rPr lang="bg-BG" b="1"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76EB788-1CEA-4ECE-8D98-1DDA816BC235}"/>
              </a:ext>
            </a:extLst>
          </p:cNvPr>
          <p:cNvPicPr>
            <a:picLocks noChangeAspect="1"/>
          </p:cNvPicPr>
          <p:nvPr/>
        </p:nvPicPr>
        <p:blipFill>
          <a:blip r:embed="rId2"/>
          <a:stretch>
            <a:fillRect/>
          </a:stretch>
        </p:blipFill>
        <p:spPr>
          <a:xfrm>
            <a:off x="938685" y="2348880"/>
            <a:ext cx="6906589" cy="666843"/>
          </a:xfrm>
          <a:prstGeom prst="rect">
            <a:avLst/>
          </a:prstGeom>
        </p:spPr>
      </p:pic>
    </p:spTree>
    <p:extLst>
      <p:ext uri="{BB962C8B-B14F-4D97-AF65-F5344CB8AC3E}">
        <p14:creationId xmlns:p14="http://schemas.microsoft.com/office/powerpoint/2010/main" val="19373642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472228D-EEB6-4673-B4B0-413F54D9ABC4}"/>
              </a:ext>
            </a:extLst>
          </p:cNvPr>
          <p:cNvSpPr/>
          <p:nvPr/>
        </p:nvSpPr>
        <p:spPr>
          <a:xfrm>
            <a:off x="562454" y="217351"/>
            <a:ext cx="8568952" cy="6613349"/>
          </a:xfrm>
          <a:prstGeom prst="rect">
            <a:avLst/>
          </a:prstGeom>
        </p:spPr>
        <p:txBody>
          <a:bodyPr wrap="square">
            <a:spAutoFit/>
          </a:bodyPr>
          <a:lstStyle/>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.486</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.model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flat,stdcall</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includelib</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\masm32\lib\kernel32.lib</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ExitProcess</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proto:DWORD</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.data</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 DD 1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t>
            </a:r>
            <a:r>
              <a:rPr lang="en-US" sz="11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Инициализиране</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на</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входe</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н</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парамет</a:t>
            </a:r>
            <a:r>
              <a:rPr lang="bg-BG" sz="1100" b="1" kern="0" dirty="0" err="1">
                <a:latin typeface="Times New Roman" panose="02020603050405020304" pitchFamily="18" charset="0"/>
                <a:ea typeface="Times New Roman" panose="02020603050405020304" pitchFamily="18" charset="0"/>
                <a:cs typeface="Times New Roman" panose="02020603050405020304" pitchFamily="18" charset="0"/>
              </a:rPr>
              <a:t>ър</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B DD 2</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Инициализиране</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на</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входe</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н</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парамет</a:t>
            </a:r>
            <a:r>
              <a:rPr lang="bg-BG" sz="1100" b="1" kern="0" dirty="0" err="1">
                <a:latin typeface="Times New Roman" panose="02020603050405020304" pitchFamily="18" charset="0"/>
                <a:ea typeface="Times New Roman" panose="02020603050405020304" pitchFamily="18" charset="0"/>
                <a:cs typeface="Times New Roman" panose="02020603050405020304" pitchFamily="18" charset="0"/>
              </a:rPr>
              <a:t>ър</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B</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R DD 3</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Инициализиране</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на</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входe</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н</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парамет</a:t>
            </a:r>
            <a:r>
              <a:rPr lang="bg-BG" sz="1100" b="1" kern="0" dirty="0" err="1">
                <a:latin typeface="Times New Roman" panose="02020603050405020304" pitchFamily="18" charset="0"/>
                <a:ea typeface="Times New Roman" panose="02020603050405020304" pitchFamily="18" charset="0"/>
                <a:cs typeface="Times New Roman" panose="02020603050405020304" pitchFamily="18" charset="0"/>
              </a:rPr>
              <a:t>ър</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R</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AA DD ?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Изходен параметър АА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BB DD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Изходен параметър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BB</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RR DD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Изходен параметър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RR</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.code</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start:</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PUSH A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Поместваме  входният параметър в стека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PUSH B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Поместваме  входният параметър в стека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PUSH R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Поместваме  входният параметър в стека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CALL Calc</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100" dirty="0">
                <a:latin typeface="Times New Roman" panose="02020603050405020304" pitchFamily="18" charset="0"/>
                <a:ea typeface="Calibri" panose="020F0502020204030204" pitchFamily="34" charset="0"/>
                <a:cs typeface="Times New Roman" panose="02020603050405020304" pitchFamily="18" charset="0"/>
              </a:rPr>
              <a:t> Инструкцията за обръщение (извикване) на CALL. </a:t>
            </a:r>
            <a:r>
              <a:rPr lang="ru-RU" sz="1100" b="1" kern="100" dirty="0" err="1">
                <a:latin typeface="Times New Roman" panose="02020603050405020304" pitchFamily="18" charset="0"/>
                <a:ea typeface="Calibri" panose="020F0502020204030204" pitchFamily="34" charset="0"/>
                <a:cs typeface="Times New Roman" panose="02020603050405020304" pitchFamily="18" charset="0"/>
              </a:rPr>
              <a:t>записва</a:t>
            </a:r>
            <a:r>
              <a:rPr lang="ru-RU" sz="1100" b="1" kern="100" dirty="0">
                <a:latin typeface="Times New Roman" panose="02020603050405020304" pitchFamily="18" charset="0"/>
                <a:ea typeface="Calibri" panose="020F0502020204030204" pitchFamily="34" charset="0"/>
                <a:cs typeface="Times New Roman" panose="02020603050405020304" pitchFamily="18" charset="0"/>
              </a:rPr>
              <a:t> </a:t>
            </a:r>
            <a:r>
              <a:rPr lang="ru-RU" sz="1100" b="1" kern="100" dirty="0" err="1">
                <a:latin typeface="Times New Roman" panose="02020603050405020304" pitchFamily="18" charset="0"/>
                <a:ea typeface="Calibri" panose="020F0502020204030204" pitchFamily="34" charset="0"/>
                <a:cs typeface="Times New Roman" panose="02020603050405020304" pitchFamily="18" charset="0"/>
              </a:rPr>
              <a:t>съдържанието</a:t>
            </a:r>
            <a:r>
              <a:rPr lang="ru-RU" sz="1100" b="1" kern="100" dirty="0">
                <a:latin typeface="Times New Roman" panose="02020603050405020304" pitchFamily="18" charset="0"/>
                <a:ea typeface="Calibri" panose="020F0502020204030204" pitchFamily="34" charset="0"/>
                <a:cs typeface="Times New Roman" panose="02020603050405020304" pitchFamily="18" charset="0"/>
              </a:rPr>
              <a:t> на </a:t>
            </a:r>
            <a:r>
              <a:rPr lang="ru-RU" sz="1100" b="1" kern="100" dirty="0" err="1">
                <a:latin typeface="Times New Roman" panose="02020603050405020304" pitchFamily="18" charset="0"/>
                <a:ea typeface="Calibri" panose="020F0502020204030204" pitchFamily="34" charset="0"/>
                <a:cs typeface="Times New Roman" panose="02020603050405020304" pitchFamily="18" charset="0"/>
              </a:rPr>
              <a:t>програмния</a:t>
            </a:r>
            <a:r>
              <a:rPr lang="ru-RU" sz="1100" b="1" kern="100" dirty="0">
                <a:latin typeface="Times New Roman" panose="02020603050405020304" pitchFamily="18" charset="0"/>
                <a:ea typeface="Calibri" panose="020F0502020204030204" pitchFamily="34" charset="0"/>
                <a:cs typeface="Times New Roman" panose="02020603050405020304" pitchFamily="18" charset="0"/>
              </a:rPr>
              <a:t> </a:t>
            </a:r>
            <a:r>
              <a:rPr lang="ru-RU" sz="1100" b="1" kern="100" dirty="0" err="1">
                <a:latin typeface="Times New Roman" panose="02020603050405020304" pitchFamily="18" charset="0"/>
                <a:ea typeface="Calibri" panose="020F0502020204030204" pitchFamily="34" charset="0"/>
                <a:cs typeface="Times New Roman" panose="02020603050405020304" pitchFamily="18" charset="0"/>
              </a:rPr>
              <a:t>брояч</a:t>
            </a:r>
            <a:r>
              <a:rPr lang="ru-RU" sz="1100" b="1" kern="100" dirty="0">
                <a:latin typeface="Times New Roman" panose="02020603050405020304" pitchFamily="18" charset="0"/>
                <a:ea typeface="Calibri" panose="020F0502020204030204" pitchFamily="34" charset="0"/>
                <a:cs typeface="Times New Roman" panose="02020603050405020304" pitchFamily="18" charset="0"/>
              </a:rPr>
              <a:t>.</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POP RR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Извличаме от стека изходните параметри</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POP BB</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POP AA</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ADD ESP, 12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Освобождаваме  от стека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12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байт</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Arial" panose="020B0604020202020204" pitchFamily="34" charset="0"/>
              </a:rPr>
              <a:t>Invoke ExitProcess,0</a:t>
            </a:r>
            <a:endParaRPr lang="en-US" sz="1100" kern="1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Calc PROC</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Подпрограма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MOV EAX, [ESP+4]</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ESP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стеков брояч  </a:t>
            </a:r>
            <a:r>
              <a:rPr lang="bg-BG" sz="1100" b="1"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плюс 4 байта за изместване на адреса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ADD EAX, 10</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Промяна на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R</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MOV [ESP+4], EAX</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В регистър ЕА</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X,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се поставя изчислението 13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0D</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MOV EAX, [ESP+8]</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ESP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стеков брояч  </a:t>
            </a:r>
            <a:r>
              <a:rPr lang="bg-BG" sz="1100" b="1"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плюс 8 байта за изместване на адреса за следващата клетка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ADD EAX, 100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Промяна на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B</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MOV [ESP+8], EAX</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MOV EAX, [ESP+12]</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ESP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стеков брояч  </a:t>
            </a:r>
            <a:r>
              <a:rPr lang="bg-BG" sz="1100" b="1"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плюс 12 байта за изместване на адреса за следващата клетка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ADD EAX, 1000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Промяна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ru-RU" altLang="en-US" sz="1100" b="1" dirty="0">
                <a:latin typeface="Times New Roman" panose="02020603050405020304" pitchFamily="18" charset="0"/>
                <a:cs typeface="Times New Roman" panose="02020603050405020304" pitchFamily="18" charset="0"/>
              </a:rPr>
              <a:t>; </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MOV [ESP+12], EAX</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RET</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Връщане</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Calc ENDP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Край за подпрограма </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Arial" panose="020B0604020202020204" pitchFamily="34" charset="0"/>
              </a:rPr>
              <a:t>end start</a:t>
            </a:r>
            <a:endParaRPr lang="en-US" sz="1100" kern="1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568117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043608"/>
            <a:ext cx="8605464" cy="5570975"/>
          </a:xfrm>
        </p:spPr>
        <p:txBody>
          <a:bodyPr>
            <a:noAutofit/>
          </a:bodyPr>
          <a:lstStyle/>
          <a:p>
            <a:pPr algn="just">
              <a:lnSpc>
                <a:spcPts val="3000"/>
              </a:lnSpc>
              <a:spcBef>
                <a:spcPts val="0"/>
              </a:spcBef>
            </a:pPr>
            <a:endParaRPr lang="en-US" sz="2100" dirty="0">
              <a:latin typeface="Times New Roman" pitchFamily="18" charset="0"/>
              <a:cs typeface="Times New Roman" pitchFamily="18" charset="0"/>
            </a:endParaRPr>
          </a:p>
          <a:p>
            <a:pPr algn="just">
              <a:lnSpc>
                <a:spcPts val="3000"/>
              </a:lnSpc>
              <a:spcBef>
                <a:spcPts val="0"/>
              </a:spcBef>
            </a:pPr>
            <a:endParaRPr lang="en-US" sz="2100" dirty="0">
              <a:latin typeface="Times New Roman" pitchFamily="18" charset="0"/>
              <a:cs typeface="Times New Roman" pitchFamily="18" charset="0"/>
            </a:endParaRPr>
          </a:p>
          <a:p>
            <a:pPr algn="just">
              <a:lnSpc>
                <a:spcPts val="3000"/>
              </a:lnSpc>
              <a:spcBef>
                <a:spcPts val="0"/>
              </a:spcBef>
            </a:pPr>
            <a:endParaRPr lang="en-US" sz="2100" dirty="0">
              <a:latin typeface="Times New Roman" pitchFamily="18" charset="0"/>
              <a:cs typeface="Times New Roman" pitchFamily="18" charset="0"/>
            </a:endParaRPr>
          </a:p>
          <a:p>
            <a:pPr algn="just">
              <a:lnSpc>
                <a:spcPts val="3000"/>
              </a:lnSpc>
              <a:spcBef>
                <a:spcPts val="0"/>
              </a:spcBef>
            </a:pPr>
            <a:endParaRPr lang="en-US" sz="2100" dirty="0">
              <a:latin typeface="Times New Roman" pitchFamily="18" charset="0"/>
              <a:cs typeface="Times New Roman" pitchFamily="18" charset="0"/>
            </a:endParaRPr>
          </a:p>
          <a:p>
            <a:pPr lvl="0"/>
            <a:r>
              <a:rPr lang="bg-BG" b="1" dirty="0">
                <a:latin typeface="Times New Roman" pitchFamily="18" charset="0"/>
                <a:cs typeface="Times New Roman" pitchFamily="18" charset="0"/>
              </a:rPr>
              <a:t>Задача</a:t>
            </a:r>
            <a:r>
              <a:rPr lang="en-US" b="1" dirty="0">
                <a:latin typeface="Times New Roman" pitchFamily="18" charset="0"/>
                <a:cs typeface="Times New Roman" pitchFamily="18" charset="0"/>
              </a:rPr>
              <a:t> 3.</a:t>
            </a:r>
            <a:r>
              <a:rPr lang="bg-BG" b="1" dirty="0">
                <a:latin typeface="Times New Roman" pitchFamily="18" charset="0"/>
                <a:cs typeface="Times New Roman" pitchFamily="18" charset="0"/>
              </a:rPr>
              <a:t> В паметта са дефинирани 3 цели - 32b числа със знак  A, B, C.</a:t>
            </a:r>
            <a:endParaRPr lang="en-US" b="1" dirty="0">
              <a:latin typeface="Times New Roman" panose="02020603050405020304" pitchFamily="18" charset="0"/>
              <a:cs typeface="Times New Roman" panose="02020603050405020304" pitchFamily="18" charset="0"/>
            </a:endParaRPr>
          </a:p>
          <a:p>
            <a:r>
              <a:rPr lang="bg-BG" b="1" dirty="0">
                <a:latin typeface="Times New Roman" panose="02020603050405020304" pitchFamily="18" charset="0"/>
                <a:cs typeface="Times New Roman" panose="02020603050405020304" pitchFamily="18" charset="0"/>
              </a:rPr>
              <a:t>Запишете в паметта в клетка MIN </a:t>
            </a:r>
            <a:r>
              <a:rPr lang="en-US" b="1" dirty="0">
                <a:latin typeface="Times New Roman" panose="02020603050405020304" pitchFamily="18" charset="0"/>
                <a:cs typeface="Times New Roman" panose="02020603050405020304" pitchFamily="18" charset="0"/>
              </a:rPr>
              <a:t>- </a:t>
            </a:r>
            <a:r>
              <a:rPr lang="bg-BG" b="1" dirty="0">
                <a:latin typeface="Times New Roman" panose="02020603050405020304" pitchFamily="18" charset="0"/>
                <a:cs typeface="Times New Roman" panose="02020603050405020304" pitchFamily="18" charset="0"/>
              </a:rPr>
              <a:t>най-малкото от тях, а в клетка MAX - най-голямото от тях.</a:t>
            </a:r>
            <a:endParaRPr lang="en-US" b="1" dirty="0">
              <a:latin typeface="Times New Roman" panose="02020603050405020304" pitchFamily="18" charset="0"/>
              <a:cs typeface="Times New Roman" panose="02020603050405020304" pitchFamily="18" charset="0"/>
            </a:endParaRPr>
          </a:p>
          <a:p>
            <a:pPr algn="just"/>
            <a:r>
              <a:rPr lang="bg-BG" b="1" dirty="0">
                <a:latin typeface="Times New Roman" panose="02020603050405020304" pitchFamily="18" charset="0"/>
                <a:cs typeface="Times New Roman" panose="02020603050405020304" pitchFamily="18" charset="0"/>
              </a:rPr>
              <a:t>За целта и</a:t>
            </a:r>
            <a:r>
              <a:rPr lang="en-US" b="1" dirty="0" err="1">
                <a:latin typeface="Times New Roman" panose="02020603050405020304" pitchFamily="18" charset="0"/>
                <a:cs typeface="Times New Roman" panose="02020603050405020304" pitchFamily="18" charset="0"/>
              </a:rPr>
              <a:t>зползва</a:t>
            </a:r>
            <a:r>
              <a:rPr lang="bg-BG" b="1" dirty="0">
                <a:latin typeface="Times New Roman" panose="02020603050405020304" pitchFamily="18" charset="0"/>
                <a:cs typeface="Times New Roman" panose="02020603050405020304" pitchFamily="18" charset="0"/>
              </a:rPr>
              <a:t>йте</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подпрограма</a:t>
            </a:r>
            <a:r>
              <a:rPr lang="bg-BG"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493204" y="188640"/>
            <a:ext cx="8229600" cy="854968"/>
          </a:xfrm>
        </p:spPr>
        <p:txBody>
          <a:bodyPr>
            <a:normAutofit/>
          </a:bodyPr>
          <a:lstStyle/>
          <a:p>
            <a:r>
              <a:rPr lang="en-US" sz="4000" dirty="0">
                <a:latin typeface="Times New Roman" pitchFamily="18" charset="0"/>
                <a:cs typeface="Times New Roman" pitchFamily="18" charset="0"/>
              </a:rPr>
              <a:t> </a:t>
            </a:r>
            <a:endParaRPr lang="bg-BG" sz="4000" b="1" dirty="0"/>
          </a:p>
        </p:txBody>
      </p:sp>
    </p:spTree>
    <p:extLst>
      <p:ext uri="{BB962C8B-B14F-4D97-AF65-F5344CB8AC3E}">
        <p14:creationId xmlns:p14="http://schemas.microsoft.com/office/powerpoint/2010/main" val="24801769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472228D-EEB6-4673-B4B0-413F54D9ABC4}"/>
              </a:ext>
            </a:extLst>
          </p:cNvPr>
          <p:cNvSpPr/>
          <p:nvPr/>
        </p:nvSpPr>
        <p:spPr>
          <a:xfrm>
            <a:off x="562454" y="217351"/>
            <a:ext cx="8568952" cy="6613349"/>
          </a:xfrm>
          <a:prstGeom prst="rect">
            <a:avLst/>
          </a:prstGeom>
        </p:spPr>
        <p:txBody>
          <a:bodyPr wrap="square">
            <a:spAutoFit/>
          </a:bodyPr>
          <a:lstStyle/>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.486</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.model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flat,stdcall</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includelib</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\masm32\lib\kernel32.lib</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ExitProcess</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proto:DWORD</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.data</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 DD 1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t>
            </a:r>
            <a:r>
              <a:rPr lang="en-US" sz="11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Инициализиране</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на</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входe</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н</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парамет</a:t>
            </a:r>
            <a:r>
              <a:rPr lang="bg-BG" sz="1100" b="1" kern="0" dirty="0" err="1">
                <a:latin typeface="Times New Roman" panose="02020603050405020304" pitchFamily="18" charset="0"/>
                <a:ea typeface="Times New Roman" panose="02020603050405020304" pitchFamily="18" charset="0"/>
                <a:cs typeface="Times New Roman" panose="02020603050405020304" pitchFamily="18" charset="0"/>
              </a:rPr>
              <a:t>ър</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B DD 2</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Инициализиране</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на</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входe</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н</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парамет</a:t>
            </a:r>
            <a:r>
              <a:rPr lang="bg-BG" sz="1100" b="1" kern="0" dirty="0" err="1">
                <a:latin typeface="Times New Roman" panose="02020603050405020304" pitchFamily="18" charset="0"/>
                <a:ea typeface="Times New Roman" panose="02020603050405020304" pitchFamily="18" charset="0"/>
                <a:cs typeface="Times New Roman" panose="02020603050405020304" pitchFamily="18" charset="0"/>
              </a:rPr>
              <a:t>ър</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B</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R DD 3</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Инициализиране</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на</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входe</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н</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парамет</a:t>
            </a:r>
            <a:r>
              <a:rPr lang="bg-BG" sz="1100" b="1" kern="0" dirty="0" err="1">
                <a:latin typeface="Times New Roman" panose="02020603050405020304" pitchFamily="18" charset="0"/>
                <a:ea typeface="Times New Roman" panose="02020603050405020304" pitchFamily="18" charset="0"/>
                <a:cs typeface="Times New Roman" panose="02020603050405020304" pitchFamily="18" charset="0"/>
              </a:rPr>
              <a:t>ър</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R</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AA DD ?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Изходен параметър АА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BB DD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Изходен параметър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BB</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RR DD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Изходен параметър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RR</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.code</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start:</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PUSH A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Поместваме  входният параметър в стека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PUSH B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Поместваме  входният параметър в стека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PUSH R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Поместваме  входният параметър в стека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CALL Calc</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100" dirty="0">
                <a:latin typeface="Times New Roman" panose="02020603050405020304" pitchFamily="18" charset="0"/>
                <a:ea typeface="Calibri" panose="020F0502020204030204" pitchFamily="34" charset="0"/>
                <a:cs typeface="Times New Roman" panose="02020603050405020304" pitchFamily="18" charset="0"/>
              </a:rPr>
              <a:t> Инструкцията за обръщение (извикване) на CALL. </a:t>
            </a:r>
            <a:r>
              <a:rPr lang="ru-RU" sz="1100" b="1" kern="100" dirty="0" err="1">
                <a:latin typeface="Times New Roman" panose="02020603050405020304" pitchFamily="18" charset="0"/>
                <a:ea typeface="Calibri" panose="020F0502020204030204" pitchFamily="34" charset="0"/>
                <a:cs typeface="Times New Roman" panose="02020603050405020304" pitchFamily="18" charset="0"/>
              </a:rPr>
              <a:t>записва</a:t>
            </a:r>
            <a:r>
              <a:rPr lang="ru-RU" sz="1100" b="1" kern="100" dirty="0">
                <a:latin typeface="Times New Roman" panose="02020603050405020304" pitchFamily="18" charset="0"/>
                <a:ea typeface="Calibri" panose="020F0502020204030204" pitchFamily="34" charset="0"/>
                <a:cs typeface="Times New Roman" panose="02020603050405020304" pitchFamily="18" charset="0"/>
              </a:rPr>
              <a:t> </a:t>
            </a:r>
            <a:r>
              <a:rPr lang="ru-RU" sz="1100" b="1" kern="100" dirty="0" err="1">
                <a:latin typeface="Times New Roman" panose="02020603050405020304" pitchFamily="18" charset="0"/>
                <a:ea typeface="Calibri" panose="020F0502020204030204" pitchFamily="34" charset="0"/>
                <a:cs typeface="Times New Roman" panose="02020603050405020304" pitchFamily="18" charset="0"/>
              </a:rPr>
              <a:t>съдържанието</a:t>
            </a:r>
            <a:r>
              <a:rPr lang="ru-RU" sz="1100" b="1" kern="100" dirty="0">
                <a:latin typeface="Times New Roman" panose="02020603050405020304" pitchFamily="18" charset="0"/>
                <a:ea typeface="Calibri" panose="020F0502020204030204" pitchFamily="34" charset="0"/>
                <a:cs typeface="Times New Roman" panose="02020603050405020304" pitchFamily="18" charset="0"/>
              </a:rPr>
              <a:t> на </a:t>
            </a:r>
            <a:r>
              <a:rPr lang="ru-RU" sz="1100" b="1" kern="100" dirty="0" err="1">
                <a:latin typeface="Times New Roman" panose="02020603050405020304" pitchFamily="18" charset="0"/>
                <a:ea typeface="Calibri" panose="020F0502020204030204" pitchFamily="34" charset="0"/>
                <a:cs typeface="Times New Roman" panose="02020603050405020304" pitchFamily="18" charset="0"/>
              </a:rPr>
              <a:t>програмния</a:t>
            </a:r>
            <a:r>
              <a:rPr lang="ru-RU" sz="1100" b="1" kern="100" dirty="0">
                <a:latin typeface="Times New Roman" panose="02020603050405020304" pitchFamily="18" charset="0"/>
                <a:ea typeface="Calibri" panose="020F0502020204030204" pitchFamily="34" charset="0"/>
                <a:cs typeface="Times New Roman" panose="02020603050405020304" pitchFamily="18" charset="0"/>
              </a:rPr>
              <a:t> </a:t>
            </a:r>
            <a:r>
              <a:rPr lang="ru-RU" sz="1100" b="1" kern="100" dirty="0" err="1">
                <a:latin typeface="Times New Roman" panose="02020603050405020304" pitchFamily="18" charset="0"/>
                <a:ea typeface="Calibri" panose="020F0502020204030204" pitchFamily="34" charset="0"/>
                <a:cs typeface="Times New Roman" panose="02020603050405020304" pitchFamily="18" charset="0"/>
              </a:rPr>
              <a:t>брояч</a:t>
            </a:r>
            <a:r>
              <a:rPr lang="ru-RU" sz="1100" b="1" kern="100" dirty="0">
                <a:latin typeface="Times New Roman" panose="02020603050405020304" pitchFamily="18" charset="0"/>
                <a:ea typeface="Calibri" panose="020F0502020204030204" pitchFamily="34" charset="0"/>
                <a:cs typeface="Times New Roman" panose="02020603050405020304" pitchFamily="18" charset="0"/>
              </a:rPr>
              <a:t>.</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POP RR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Извличаме от стека изходните параметри</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POP BB</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POP AA</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ADD ESP, 12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Освобождаваме  от стека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12 </a:t>
            </a:r>
            <a:r>
              <a:rPr lang="en-US" sz="1100" b="1" kern="0" dirty="0" err="1">
                <a:latin typeface="Times New Roman" panose="02020603050405020304" pitchFamily="18" charset="0"/>
                <a:ea typeface="Times New Roman" panose="02020603050405020304" pitchFamily="18" charset="0"/>
                <a:cs typeface="Times New Roman" panose="02020603050405020304" pitchFamily="18" charset="0"/>
              </a:rPr>
              <a:t>байт</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Arial" panose="020B0604020202020204" pitchFamily="34" charset="0"/>
              </a:rPr>
              <a:t>Invoke ExitProcess,0</a:t>
            </a:r>
            <a:endParaRPr lang="en-US" sz="1100" kern="1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Calc PROC</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Подпрограма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MOV EAX, [ESP+4]</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ESP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стеков брояч  </a:t>
            </a:r>
            <a:r>
              <a:rPr lang="bg-BG" sz="1100" b="1"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плюс 4 байта за изместване на адреса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ADD EAX, 10</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Промяна на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R</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MOV [ESP+4], EAX</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В регистър ЕА</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X,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се поставя изчислението 13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0D</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MOV EAX, [ESP+8]</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ESP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стеков брояч  </a:t>
            </a:r>
            <a:r>
              <a:rPr lang="bg-BG" sz="1100" b="1"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плюс 8 байта за изместване на адреса за следващата клетка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ADD EAX, 100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Промяна на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B</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MOV [ESP+8], EAX</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MOV EAX, [ESP+12]</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ESP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стеков брояч  </a:t>
            </a:r>
            <a:r>
              <a:rPr lang="bg-BG" sz="1100" b="1"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плюс 12 байта за изместване на адреса за следващата клетка</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ADD EAX, 1000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Промяна </a:t>
            </a: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 A</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ru-RU" altLang="en-US" sz="1100" b="1" dirty="0">
                <a:latin typeface="Times New Roman" panose="02020603050405020304" pitchFamily="18" charset="0"/>
                <a:cs typeface="Times New Roman" panose="02020603050405020304" pitchFamily="18" charset="0"/>
              </a:rPr>
              <a:t>; </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MOV [ESP+12], EAX</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RET</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Връщане</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1100" b="1" kern="0" dirty="0">
                <a:latin typeface="Times New Roman" panose="02020603050405020304" pitchFamily="18" charset="0"/>
                <a:ea typeface="Times New Roman" panose="02020603050405020304" pitchFamily="18" charset="0"/>
                <a:cs typeface="Times New Roman" panose="02020603050405020304" pitchFamily="18" charset="0"/>
              </a:rPr>
              <a:t>Calc ENDP   </a:t>
            </a:r>
            <a:r>
              <a:rPr lang="bg-BG" sz="1100" b="1" kern="0" dirty="0">
                <a:latin typeface="Times New Roman" panose="02020603050405020304" pitchFamily="18" charset="0"/>
                <a:ea typeface="Times New Roman" panose="02020603050405020304" pitchFamily="18" charset="0"/>
                <a:cs typeface="Times New Roman" panose="02020603050405020304" pitchFamily="18" charset="0"/>
              </a:rPr>
              <a:t>	; Край за подпрограма </a:t>
            </a:r>
            <a:endParaRPr lang="en-US" sz="1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100" b="1" kern="0" dirty="0">
                <a:latin typeface="Times New Roman" panose="02020603050405020304" pitchFamily="18" charset="0"/>
                <a:ea typeface="Times New Roman" panose="02020603050405020304" pitchFamily="18" charset="0"/>
                <a:cs typeface="Arial" panose="020B0604020202020204" pitchFamily="34" charset="0"/>
              </a:rPr>
              <a:t>end start</a:t>
            </a:r>
            <a:endParaRPr lang="en-US" sz="1100" kern="1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3781327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Документ" ma:contentTypeID="0x0101002815A41C86513B4096C6BAC35CB04A7C" ma:contentTypeVersion="11" ma:contentTypeDescription="Създаване на нов документ" ma:contentTypeScope="" ma:versionID="aeaffb348d2b52f24d410ae28bdf175e">
  <xsd:schema xmlns:xsd="http://www.w3.org/2001/XMLSchema" xmlns:xs="http://www.w3.org/2001/XMLSchema" xmlns:p="http://schemas.microsoft.com/office/2006/metadata/properties" xmlns:ns2="1170580e-cc85-4814-90d0-7c45caf95435" xmlns:ns3="fa43d559-56ce-40e4-b5e0-b1d2f1c6a948" targetNamespace="http://schemas.microsoft.com/office/2006/metadata/properties" ma:root="true" ma:fieldsID="2b6c80141cda9f3fb17d02d04063fe73" ns2:_="" ns3:_="">
    <xsd:import namespace="1170580e-cc85-4814-90d0-7c45caf95435"/>
    <xsd:import namespace="fa43d559-56ce-40e4-b5e0-b1d2f1c6a94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70580e-cc85-4814-90d0-7c45caf954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Етикети за изображения" ma:readOnly="false" ma:fieldId="{5cf76f15-5ced-4ddc-b409-7134ff3c332f}" ma:taxonomyMulti="true" ma:sspId="f94169f7-4ae2-4031-b8fa-636baa109d8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43d559-56ce-40e4-b5e0-b1d2f1c6a94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8ac84de-a7dc-4418-88f8-8ba02af593f2}" ma:internalName="TaxCatchAll" ma:showField="CatchAllData" ma:web="fa43d559-56ce-40e4-b5e0-b1d2f1c6a94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съдържание"/>
        <xsd:element ref="dc:title" minOccurs="0" maxOccurs="1" ma:index="4" ma:displayName="Заглав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a43d559-56ce-40e4-b5e0-b1d2f1c6a948" xsi:nil="true"/>
    <lcf76f155ced4ddcb4097134ff3c332f xmlns="1170580e-cc85-4814-90d0-7c45caf9543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1C90D56-0C63-4A70-AEDE-AAB0CA6AED29}">
  <ds:schemaRefs>
    <ds:schemaRef ds:uri="http://schemas.microsoft.com/sharepoint/v3/contenttype/forms"/>
  </ds:schemaRefs>
</ds:datastoreItem>
</file>

<file path=customXml/itemProps2.xml><?xml version="1.0" encoding="utf-8"?>
<ds:datastoreItem xmlns:ds="http://schemas.openxmlformats.org/officeDocument/2006/customXml" ds:itemID="{556599EF-EB57-433C-81FA-A5010972C0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70580e-cc85-4814-90d0-7c45caf95435"/>
    <ds:schemaRef ds:uri="fa43d559-56ce-40e4-b5e0-b1d2f1c6a9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9DF1941-6C8F-43C5-B860-116BCC503A07}">
  <ds:schemaRefs>
    <ds:schemaRef ds:uri="http://schemas.microsoft.com/office/2006/metadata/properties"/>
    <ds:schemaRef ds:uri="http://schemas.microsoft.com/office/infopath/2007/PartnerControls"/>
    <ds:schemaRef ds:uri="fa43d559-56ce-40e4-b5e0-b1d2f1c6a948"/>
    <ds:schemaRef ds:uri="1170580e-cc85-4814-90d0-7c45caf95435"/>
  </ds:schemaRefs>
</ds:datastoreItem>
</file>

<file path=docProps/app.xml><?xml version="1.0" encoding="utf-8"?>
<Properties xmlns="http://schemas.openxmlformats.org/officeDocument/2006/extended-properties" xmlns:vt="http://schemas.openxmlformats.org/officeDocument/2006/docPropsVTypes">
  <Template>Flow</Template>
  <TotalTime>11222</TotalTime>
  <Words>4076</Words>
  <Application>Microsoft Office PowerPoint</Application>
  <PresentationFormat>Презентация на цял екран (4:3)</PresentationFormat>
  <Paragraphs>461</Paragraphs>
  <Slides>45</Slides>
  <Notes>2</Notes>
  <HiddenSlides>0</HiddenSlides>
  <MMClips>0</MMClips>
  <ScaleCrop>false</ScaleCrop>
  <HeadingPairs>
    <vt:vector size="4" baseType="variant">
      <vt:variant>
        <vt:lpstr>Тема</vt:lpstr>
      </vt:variant>
      <vt:variant>
        <vt:i4>1</vt:i4>
      </vt:variant>
      <vt:variant>
        <vt:lpstr>Заглавия на слайдовете</vt:lpstr>
      </vt:variant>
      <vt:variant>
        <vt:i4>45</vt:i4>
      </vt:variant>
    </vt:vector>
  </HeadingPairs>
  <TitlesOfParts>
    <vt:vector size="46" baseType="lpstr">
      <vt:lpstr>Flow</vt:lpstr>
      <vt:lpstr>Подпрограми. Предаване на параметрите. Стек и работа със стека.</vt:lpstr>
      <vt:lpstr>Подпрограми</vt:lpstr>
      <vt:lpstr>Подпрограми</vt:lpstr>
      <vt:lpstr>Подпрограми</vt:lpstr>
      <vt:lpstr>Подпрограми</vt:lpstr>
      <vt:lpstr>Подпрограми</vt:lpstr>
      <vt:lpstr> Обръщение към процедура и връщане от процедура </vt:lpstr>
      <vt:lpstr> Обръщение към процедура и връщане от процедура </vt:lpstr>
      <vt:lpstr>Обръщение към процедура и връщане от процедура</vt:lpstr>
      <vt:lpstr>Предаване на параметрите.</vt:lpstr>
      <vt:lpstr>Предаване на параметрите.</vt:lpstr>
      <vt:lpstr>Предаване на параметрите.</vt:lpstr>
      <vt:lpstr>Предаване на параметрите.</vt:lpstr>
      <vt:lpstr>Предаване на параметрите.</vt:lpstr>
      <vt:lpstr>Предаване на параметрите.</vt:lpstr>
      <vt:lpstr>Стек и работа със стека.</vt:lpstr>
      <vt:lpstr>Стек и работа със стека.</vt:lpstr>
      <vt:lpstr>Презентация на PowerPoint</vt:lpstr>
      <vt:lpstr>Презентация на PowerPoint</vt:lpstr>
      <vt:lpstr> </vt:lpstr>
      <vt:lpstr> </vt:lpstr>
      <vt:lpstr>Предаване на параметрите.</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 </vt:lpstr>
      <vt:lpstr> </vt:lpstr>
      <vt:lpstr>Презентация на PowerPoint</vt:lpstr>
      <vt:lpstr>Презентация на PowerPoint</vt:lpstr>
      <vt:lpstr>Презентация на PowerPoint</vt:lpstr>
      <vt:lpstr> </vt:lpstr>
      <vt:lpstr>Презентация на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Програмен модел на микропроцесор IA-32. Методи за адресация. Формати на данните. Структура на паметта. Таблица с инструкции за микропроцесора.</dc:title>
  <dc:creator>Desi</dc:creator>
  <cp:lastModifiedBy>Jordanova</cp:lastModifiedBy>
  <cp:revision>573</cp:revision>
  <dcterms:created xsi:type="dcterms:W3CDTF">2024-02-15T19:55:55Z</dcterms:created>
  <dcterms:modified xsi:type="dcterms:W3CDTF">2024-05-08T18:00:11Z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0x0101002815A41C86513B4096C6BAC35CB04A7C</vt:lpwstr>
  </property>
  <property fmtid="{D5CDD505-2E9C-101B-9397-08002B2CF9AE}" pid="3" name="MediaServiceImageTags">
    <vt:lpwstr/>
  </property>
</Properties>
</file>
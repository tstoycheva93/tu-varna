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3"/>
  </p:notesMasterIdLst>
  <p:sldIdLst>
    <p:sldId id="256" r:id="rId5"/>
    <p:sldId id="381" r:id="rId6"/>
    <p:sldId id="382" r:id="rId7"/>
    <p:sldId id="321" r:id="rId8"/>
    <p:sldId id="380" r:id="rId9"/>
    <p:sldId id="261" r:id="rId10"/>
    <p:sldId id="324" r:id="rId11"/>
    <p:sldId id="383" r:id="rId12"/>
    <p:sldId id="384" r:id="rId13"/>
    <p:sldId id="385" r:id="rId14"/>
    <p:sldId id="387" r:id="rId15"/>
    <p:sldId id="386" r:id="rId16"/>
    <p:sldId id="388" r:id="rId17"/>
    <p:sldId id="403" r:id="rId18"/>
    <p:sldId id="389" r:id="rId19"/>
    <p:sldId id="390" r:id="rId20"/>
    <p:sldId id="391" r:id="rId21"/>
    <p:sldId id="392" r:id="rId22"/>
    <p:sldId id="393" r:id="rId23"/>
    <p:sldId id="402" r:id="rId24"/>
    <p:sldId id="401" r:id="rId25"/>
    <p:sldId id="395" r:id="rId26"/>
    <p:sldId id="394" r:id="rId27"/>
    <p:sldId id="396" r:id="rId28"/>
    <p:sldId id="397" r:id="rId29"/>
    <p:sldId id="398" r:id="rId30"/>
    <p:sldId id="399" r:id="rId31"/>
    <p:sldId id="400" r:id="rId32"/>
  </p:sldIdLst>
  <p:sldSz cx="9144000" cy="6858000" type="screen4x3"/>
  <p:notesSz cx="6858000" cy="9144000"/>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ЯНА  АМПОВА СИТ 2к - 22621751" userId="S::s22621751@onlineedu.tu-varna.bg::e3fef173-1d60-411b-802f-d8b58aa20486" providerId="AD" clId="Web-{DA6049C3-977C-4F8F-BFF2-D9AD6360F745}"/>
    <pc:docChg chg="modSld">
      <pc:chgData name="ЯНА  АМПОВА СИТ 2к - 22621751" userId="S::s22621751@onlineedu.tu-varna.bg::e3fef173-1d60-411b-802f-d8b58aa20486" providerId="AD" clId="Web-{DA6049C3-977C-4F8F-BFF2-D9AD6360F745}" dt="2024-03-24T15:37:02.590" v="0" actId="1076"/>
      <pc:docMkLst>
        <pc:docMk/>
      </pc:docMkLst>
      <pc:sldChg chg="modSp">
        <pc:chgData name="ЯНА  АМПОВА СИТ 2к - 22621751" userId="S::s22621751@onlineedu.tu-varna.bg::e3fef173-1d60-411b-802f-d8b58aa20486" providerId="AD" clId="Web-{DA6049C3-977C-4F8F-BFF2-D9AD6360F745}" dt="2024-03-24T15:37:02.590" v="0" actId="1076"/>
        <pc:sldMkLst>
          <pc:docMk/>
          <pc:sldMk cId="2164731633" sldId="393"/>
        </pc:sldMkLst>
        <pc:picChg chg="mod">
          <ac:chgData name="ЯНА  АМПОВА СИТ 2к - 22621751" userId="S::s22621751@onlineedu.tu-varna.bg::e3fef173-1d60-411b-802f-d8b58aa20486" providerId="AD" clId="Web-{DA6049C3-977C-4F8F-BFF2-D9AD6360F745}" dt="2024-03-24T15:37:02.590" v="0" actId="1076"/>
          <ac:picMkLst>
            <pc:docMk/>
            <pc:sldMk cId="2164731633" sldId="393"/>
            <ac:picMk id="2" creationId="{00000000-0000-0000-0000-000000000000}"/>
          </ac:picMkLst>
        </pc:picChg>
      </pc:sldChg>
    </pc:docChg>
  </pc:docChgLst>
  <pc:docChgLst>
    <pc:chgData name="ЯНА  АМПОВА СИТ 2к - 22621751" userId="S::s22621751@onlineedu.tu-varna.bg::e3fef173-1d60-411b-802f-d8b58aa20486" providerId="AD" clId="Web-{C71B01AB-9BAA-4A91-99CF-AF3A6BAAF960}"/>
    <pc:docChg chg="modSld">
      <pc:chgData name="ЯНА  АМПОВА СИТ 2к - 22621751" userId="S::s22621751@onlineedu.tu-varna.bg::e3fef173-1d60-411b-802f-d8b58aa20486" providerId="AD" clId="Web-{C71B01AB-9BAA-4A91-99CF-AF3A6BAAF960}" dt="2024-03-25T09:02:35.727" v="0" actId="1076"/>
      <pc:docMkLst>
        <pc:docMk/>
      </pc:docMkLst>
      <pc:sldChg chg="modSp">
        <pc:chgData name="ЯНА  АМПОВА СИТ 2к - 22621751" userId="S::s22621751@onlineedu.tu-varna.bg::e3fef173-1d60-411b-802f-d8b58aa20486" providerId="AD" clId="Web-{C71B01AB-9BAA-4A91-99CF-AF3A6BAAF960}" dt="2024-03-25T09:02:35.727" v="0" actId="1076"/>
        <pc:sldMkLst>
          <pc:docMk/>
          <pc:sldMk cId="1011817708" sldId="401"/>
        </pc:sldMkLst>
        <pc:picChg chg="mod">
          <ac:chgData name="ЯНА  АМПОВА СИТ 2к - 22621751" userId="S::s22621751@onlineedu.tu-varna.bg::e3fef173-1d60-411b-802f-d8b58aa20486" providerId="AD" clId="Web-{C71B01AB-9BAA-4A91-99CF-AF3A6BAAF960}" dt="2024-03-25T09:02:35.727" v="0" actId="1076"/>
          <ac:picMkLst>
            <pc:docMk/>
            <pc:sldMk cId="1011817708" sldId="401"/>
            <ac:picMk id="5" creationId="{00000000-0000-0000-0000-000000000000}"/>
          </ac:picMkLst>
        </pc:picChg>
      </pc:sldChg>
    </pc:docChg>
  </pc:docChgLst>
  <pc:docChgLst>
    <pc:chgData name="НИЯ КИРИЛОВА ПЕНЧЕВА СИТ 2к - 22621665" userId="S::s22621665@onlineedu.tu-varna.bg::e79f06bd-da24-4e82-8c1a-f0adaf4ff472" providerId="AD" clId="Web-{AC498BEF-558F-4F9D-B642-A4BA9B4B47F3}"/>
    <pc:docChg chg="modSld">
      <pc:chgData name="НИЯ КИРИЛОВА ПЕНЧЕВА СИТ 2к - 22621665" userId="S::s22621665@onlineedu.tu-varna.bg::e79f06bd-da24-4e82-8c1a-f0adaf4ff472" providerId="AD" clId="Web-{AC498BEF-558F-4F9D-B642-A4BA9B4B47F3}" dt="2024-03-20T17:57:12.354" v="2" actId="20577"/>
      <pc:docMkLst>
        <pc:docMk/>
      </pc:docMkLst>
      <pc:sldChg chg="modSp">
        <pc:chgData name="НИЯ КИРИЛОВА ПЕНЧЕВА СИТ 2к - 22621665" userId="S::s22621665@onlineedu.tu-varna.bg::e79f06bd-da24-4e82-8c1a-f0adaf4ff472" providerId="AD" clId="Web-{AC498BEF-558F-4F9D-B642-A4BA9B4B47F3}" dt="2024-03-20T17:57:12.354" v="2" actId="20577"/>
        <pc:sldMkLst>
          <pc:docMk/>
          <pc:sldMk cId="1877022188" sldId="400"/>
        </pc:sldMkLst>
        <pc:spChg chg="mod">
          <ac:chgData name="НИЯ КИРИЛОВА ПЕНЧЕВА СИТ 2к - 22621665" userId="S::s22621665@onlineedu.tu-varna.bg::e79f06bd-da24-4e82-8c1a-f0adaf4ff472" providerId="AD" clId="Web-{AC498BEF-558F-4F9D-B642-A4BA9B4B47F3}" dt="2024-03-20T17:57:12.354" v="2" actId="20577"/>
          <ac:spMkLst>
            <pc:docMk/>
            <pc:sldMk cId="1877022188" sldId="400"/>
            <ac:spMk id="3" creationId="{00000000-0000-0000-0000-000000000000}"/>
          </ac:spMkLst>
        </pc:spChg>
      </pc:sldChg>
    </pc:docChg>
  </pc:docChgLst>
  <pc:docChgLst>
    <pc:chgData name="БОЯН ВЛАДИМИРОВ КИРЯКОВ СИТ 2к - 22621618" userId="S::s22621618@onlineedu.tu-varna.bg::959b8596-d9cb-46fc-be57-66227617aa8a" providerId="AD" clId="Web-{3ABF88E9-6FD9-4BCA-88D7-B17A4E4741AC}"/>
    <pc:docChg chg="addSld delSld modSld">
      <pc:chgData name="БОЯН ВЛАДИМИРОВ КИРЯКОВ СИТ 2к - 22621618" userId="S::s22621618@onlineedu.tu-varna.bg::959b8596-d9cb-46fc-be57-66227617aa8a" providerId="AD" clId="Web-{3ABF88E9-6FD9-4BCA-88D7-B17A4E4741AC}" dt="2024-04-02T17:47:33.462" v="4" actId="20577"/>
      <pc:docMkLst>
        <pc:docMk/>
      </pc:docMkLst>
      <pc:sldChg chg="modSp">
        <pc:chgData name="БОЯН ВЛАДИМИРОВ КИРЯКОВ СИТ 2к - 22621618" userId="S::s22621618@onlineedu.tu-varna.bg::959b8596-d9cb-46fc-be57-66227617aa8a" providerId="AD" clId="Web-{3ABF88E9-6FD9-4BCA-88D7-B17A4E4741AC}" dt="2024-04-02T17:47:33.462" v="4" actId="20577"/>
        <pc:sldMkLst>
          <pc:docMk/>
          <pc:sldMk cId="3299122377" sldId="389"/>
        </pc:sldMkLst>
        <pc:spChg chg="mod">
          <ac:chgData name="БОЯН ВЛАДИМИРОВ КИРЯКОВ СИТ 2к - 22621618" userId="S::s22621618@onlineedu.tu-varna.bg::959b8596-d9cb-46fc-be57-66227617aa8a" providerId="AD" clId="Web-{3ABF88E9-6FD9-4BCA-88D7-B17A4E4741AC}" dt="2024-04-02T17:47:33.462" v="4" actId="20577"/>
          <ac:spMkLst>
            <pc:docMk/>
            <pc:sldMk cId="3299122377" sldId="389"/>
            <ac:spMk id="3" creationId="{00000000-0000-0000-0000-000000000000}"/>
          </ac:spMkLst>
        </pc:spChg>
      </pc:sldChg>
      <pc:sldChg chg="new del">
        <pc:chgData name="БОЯН ВЛАДИМИРОВ КИРЯКОВ СИТ 2к - 22621618" userId="S::s22621618@onlineedu.tu-varna.bg::959b8596-d9cb-46fc-be57-66227617aa8a" providerId="AD" clId="Web-{3ABF88E9-6FD9-4BCA-88D7-B17A4E4741AC}" dt="2024-04-02T17:47:17.852" v="1"/>
        <pc:sldMkLst>
          <pc:docMk/>
          <pc:sldMk cId="3472938444" sldId="404"/>
        </pc:sldMkLst>
      </pc:sldChg>
    </pc:docChg>
  </pc:docChgLst>
  <pc:docChgLst>
    <pc:chgData name="ГАБРИЕЛА ДИМИТРОВА ЯНЕВА СИТ 2к - 22621642" userId="S::s22621642@onlineedu.tu-varna.bg::ee91c493-7883-450f-b7df-0cfe6b810640" providerId="AD" clId="Web-{BC6904CA-5375-B1B0-19FE-88635081EF89}"/>
    <pc:docChg chg="sldOrd">
      <pc:chgData name="ГАБРИЕЛА ДИМИТРОВА ЯНЕВА СИТ 2к - 22621642" userId="S::s22621642@onlineedu.tu-varna.bg::ee91c493-7883-450f-b7df-0cfe6b810640" providerId="AD" clId="Web-{BC6904CA-5375-B1B0-19FE-88635081EF89}" dt="2024-03-28T17:47:03.553" v="0"/>
      <pc:docMkLst>
        <pc:docMk/>
      </pc:docMkLst>
      <pc:sldChg chg="ord">
        <pc:chgData name="ГАБРИЕЛА ДИМИТРОВА ЯНЕВА СИТ 2к - 22621642" userId="S::s22621642@onlineedu.tu-varna.bg::ee91c493-7883-450f-b7df-0cfe6b810640" providerId="AD" clId="Web-{BC6904CA-5375-B1B0-19FE-88635081EF89}" dt="2024-03-28T17:47:03.553" v="0"/>
        <pc:sldMkLst>
          <pc:docMk/>
          <pc:sldMk cId="360720290" sldId="395"/>
        </pc:sldMkLst>
      </pc:sldChg>
    </pc:docChg>
  </pc:docChgLst>
  <pc:docChgLst>
    <pc:chgData name="СЕЛИН СИНАН КАБИЛ СИТ 2к - 22621625" userId="S::s22621625@onlineedu.tu-varna.bg::feef1a5c-a44a-472f-98fa-720e029ca41a" providerId="AD" clId="Web-{5E2EAE2C-210C-4EBC-B783-123A8180D5F9}"/>
    <pc:docChg chg="addSld delSld">
      <pc:chgData name="СЕЛИН СИНАН КАБИЛ СИТ 2к - 22621625" userId="S::s22621625@onlineedu.tu-varna.bg::feef1a5c-a44a-472f-98fa-720e029ca41a" providerId="AD" clId="Web-{5E2EAE2C-210C-4EBC-B783-123A8180D5F9}" dt="2024-03-27T16:54:46.404" v="1"/>
      <pc:docMkLst>
        <pc:docMk/>
      </pc:docMkLst>
      <pc:sldChg chg="add del">
        <pc:chgData name="СЕЛИН СИНАН КАБИЛ СИТ 2к - 22621625" userId="S::s22621625@onlineedu.tu-varna.bg::feef1a5c-a44a-472f-98fa-720e029ca41a" providerId="AD" clId="Web-{5E2EAE2C-210C-4EBC-B783-123A8180D5F9}" dt="2024-03-27T16:54:46.404" v="1"/>
        <pc:sldMkLst>
          <pc:docMk/>
          <pc:sldMk cId="1011817708" sldId="401"/>
        </pc:sldMkLst>
      </pc:sldChg>
    </pc:docChg>
  </pc:docChgLst>
  <pc:docChgLst>
    <pc:chgData name="ЛЪЧЕЗАР ЙОРДАНОВ РАДУШЕВ СИТ 2к - 22621679" userId="S::s22621679@onlineedu.tu-varna.bg::2857b464-4fcf-4a6e-b549-87a1475ec596" providerId="AD" clId="Web-{42303131-3EAA-74DB-3367-F6197AF12560}"/>
    <pc:docChg chg="modSld">
      <pc:chgData name="ЛЪЧЕЗАР ЙОРДАНОВ РАДУШЕВ СИТ 2к - 22621679" userId="S::s22621679@onlineedu.tu-varna.bg::2857b464-4fcf-4a6e-b549-87a1475ec596" providerId="AD" clId="Web-{42303131-3EAA-74DB-3367-F6197AF12560}" dt="2024-04-03T11:31:48.990" v="2" actId="20577"/>
      <pc:docMkLst>
        <pc:docMk/>
      </pc:docMkLst>
      <pc:sldChg chg="modSp">
        <pc:chgData name="ЛЪЧЕЗАР ЙОРДАНОВ РАДУШЕВ СИТ 2к - 22621679" userId="S::s22621679@onlineedu.tu-varna.bg::2857b464-4fcf-4a6e-b549-87a1475ec596" providerId="AD" clId="Web-{42303131-3EAA-74DB-3367-F6197AF12560}" dt="2024-04-03T11:31:47.630" v="1" actId="20577"/>
        <pc:sldMkLst>
          <pc:docMk/>
          <pc:sldMk cId="4154239485" sldId="321"/>
        </pc:sldMkLst>
        <pc:spChg chg="mod">
          <ac:chgData name="ЛЪЧЕЗАР ЙОРДАНОВ РАДУШЕВ СИТ 2к - 22621679" userId="S::s22621679@onlineedu.tu-varna.bg::2857b464-4fcf-4a6e-b549-87a1475ec596" providerId="AD" clId="Web-{42303131-3EAA-74DB-3367-F6197AF12560}" dt="2024-04-03T11:31:47.630" v="1" actId="20577"/>
          <ac:spMkLst>
            <pc:docMk/>
            <pc:sldMk cId="4154239485" sldId="321"/>
            <ac:spMk id="3" creationId="{00000000-0000-0000-0000-000000000000}"/>
          </ac:spMkLst>
        </pc:spChg>
      </pc:sldChg>
      <pc:sldChg chg="modSp">
        <pc:chgData name="ЛЪЧЕЗАР ЙОРДАНОВ РАДУШЕВ СИТ 2к - 22621679" userId="S::s22621679@onlineedu.tu-varna.bg::2857b464-4fcf-4a6e-b549-87a1475ec596" providerId="AD" clId="Web-{42303131-3EAA-74DB-3367-F6197AF12560}" dt="2024-04-03T11:31:48.990" v="2" actId="20577"/>
        <pc:sldMkLst>
          <pc:docMk/>
          <pc:sldMk cId="2101476544" sldId="380"/>
        </pc:sldMkLst>
        <pc:spChg chg="mod">
          <ac:chgData name="ЛЪЧЕЗАР ЙОРДАНОВ РАДУШЕВ СИТ 2к - 22621679" userId="S::s22621679@onlineedu.tu-varna.bg::2857b464-4fcf-4a6e-b549-87a1475ec596" providerId="AD" clId="Web-{42303131-3EAA-74DB-3367-F6197AF12560}" dt="2024-04-03T11:31:48.990" v="2" actId="20577"/>
          <ac:spMkLst>
            <pc:docMk/>
            <pc:sldMk cId="2101476544" sldId="380"/>
            <ac:spMk id="3" creationId="{00000000-0000-0000-0000-000000000000}"/>
          </ac:spMkLst>
        </pc:spChg>
      </pc:sldChg>
      <pc:sldChg chg="modSp">
        <pc:chgData name="ЛЪЧЕЗАР ЙОРДАНОВ РАДУШЕВ СИТ 2к - 22621679" userId="S::s22621679@onlineedu.tu-varna.bg::2857b464-4fcf-4a6e-b549-87a1475ec596" providerId="AD" clId="Web-{42303131-3EAA-74DB-3367-F6197AF12560}" dt="2024-04-03T11:31:42.911" v="0" actId="20577"/>
        <pc:sldMkLst>
          <pc:docMk/>
          <pc:sldMk cId="2755045368" sldId="381"/>
        </pc:sldMkLst>
        <pc:spChg chg="mod">
          <ac:chgData name="ЛЪЧЕЗАР ЙОРДАНОВ РАДУШЕВ СИТ 2к - 22621679" userId="S::s22621679@onlineedu.tu-varna.bg::2857b464-4fcf-4a6e-b549-87a1475ec596" providerId="AD" clId="Web-{42303131-3EAA-74DB-3367-F6197AF12560}" dt="2024-04-03T11:31:42.911" v="0" actId="20577"/>
          <ac:spMkLst>
            <pc:docMk/>
            <pc:sldMk cId="2755045368" sldId="381"/>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bg-BG"/>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192332A-55AF-4551-8E83-32AC6773F37C}" type="datetimeFigureOut">
              <a:rPr lang="bg-BG" smtClean="0"/>
              <a:pPr/>
              <a:t>7.5.2024 г.</a:t>
            </a:fld>
            <a:endParaRPr lang="bg-BG"/>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bg-BG"/>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bg-BG"/>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A78BE4E-C978-4DDD-BFFE-20E7B8E0D29B}" type="slidenum">
              <a:rPr lang="bg-BG" smtClean="0"/>
              <a:pPr/>
              <a:t>‹#›</a:t>
            </a:fld>
            <a:endParaRPr lang="bg-BG"/>
          </a:p>
        </p:txBody>
      </p:sp>
    </p:spTree>
    <p:extLst>
      <p:ext uri="{BB962C8B-B14F-4D97-AF65-F5344CB8AC3E}">
        <p14:creationId xmlns:p14="http://schemas.microsoft.com/office/powerpoint/2010/main" val="3989593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BCD2AA38-B623-4529-8E38-4C26B6BE11C2}" type="datetimeFigureOut">
              <a:rPr lang="bg-BG" smtClean="0"/>
              <a:pPr/>
              <a:t>7.5.2024 г.</a:t>
            </a:fld>
            <a:endParaRPr lang="bg-BG"/>
          </a:p>
        </p:txBody>
      </p:sp>
      <p:sp>
        <p:nvSpPr>
          <p:cNvPr id="19" name="Footer Placeholder 18"/>
          <p:cNvSpPr>
            <a:spLocks noGrp="1"/>
          </p:cNvSpPr>
          <p:nvPr>
            <p:ph type="ftr" sz="quarter" idx="11"/>
          </p:nvPr>
        </p:nvSpPr>
        <p:spPr/>
        <p:txBody>
          <a:bodyPr/>
          <a:lstStyle/>
          <a:p>
            <a:endParaRPr lang="bg-BG"/>
          </a:p>
        </p:txBody>
      </p:sp>
      <p:sp>
        <p:nvSpPr>
          <p:cNvPr id="27" name="Slide Number Placeholder 26"/>
          <p:cNvSpPr>
            <a:spLocks noGrp="1"/>
          </p:cNvSpPr>
          <p:nvPr>
            <p:ph type="sldNum" sz="quarter" idx="12"/>
          </p:nvPr>
        </p:nvSpPr>
        <p:spPr/>
        <p:txBody>
          <a:bodyPr/>
          <a:lstStyle/>
          <a:p>
            <a:fld id="{24109040-8F74-4CAF-B14B-2C048A8F2A9A}" type="slidenum">
              <a:rPr lang="bg-BG" smtClean="0"/>
              <a:pPr/>
              <a:t>‹#›</a:t>
            </a:fld>
            <a:endParaRPr lang="bg-BG"/>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CD2AA38-B623-4529-8E38-4C26B6BE11C2}" type="datetimeFigureOut">
              <a:rPr lang="bg-BG" smtClean="0"/>
              <a:pPr/>
              <a:t>7.5.2024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CD2AA38-B623-4529-8E38-4C26B6BE11C2}" type="datetimeFigureOut">
              <a:rPr lang="bg-BG" smtClean="0"/>
              <a:pPr/>
              <a:t>7.5.2024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CD2AA38-B623-4529-8E38-4C26B6BE11C2}" type="datetimeFigureOut">
              <a:rPr lang="bg-BG" smtClean="0"/>
              <a:pPr/>
              <a:t>7.5.2024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BCD2AA38-B623-4529-8E38-4C26B6BE11C2}" type="datetimeFigureOut">
              <a:rPr lang="bg-BG" smtClean="0"/>
              <a:pPr/>
              <a:t>7.5.2024 г.</a:t>
            </a:fld>
            <a:endParaRPr lang="bg-BG"/>
          </a:p>
        </p:txBody>
      </p:sp>
      <p:sp>
        <p:nvSpPr>
          <p:cNvPr id="8" name="Footer Placeholder 7"/>
          <p:cNvSpPr>
            <a:spLocks noGrp="1"/>
          </p:cNvSpPr>
          <p:nvPr>
            <p:ph type="ftr" sz="quarter" idx="11"/>
          </p:nvPr>
        </p:nvSpPr>
        <p:spPr/>
        <p:txBody>
          <a:bodyPr/>
          <a:lstStyle/>
          <a:p>
            <a:endParaRPr lang="bg-BG"/>
          </a:p>
        </p:txBody>
      </p:sp>
      <p:sp>
        <p:nvSpPr>
          <p:cNvPr id="9" name="Slide Number Placeholder 8"/>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BCD2AA38-B623-4529-8E38-4C26B6BE11C2}" type="datetimeFigureOut">
              <a:rPr lang="bg-BG" smtClean="0"/>
              <a:pPr/>
              <a:t>7.5.2024 г.</a:t>
            </a:fld>
            <a:endParaRPr lang="bg-BG"/>
          </a:p>
        </p:txBody>
      </p:sp>
      <p:sp>
        <p:nvSpPr>
          <p:cNvPr id="4" name="Footer Placeholder 3"/>
          <p:cNvSpPr>
            <a:spLocks noGrp="1"/>
          </p:cNvSpPr>
          <p:nvPr>
            <p:ph type="ftr" sz="quarter" idx="11"/>
          </p:nvPr>
        </p:nvSpPr>
        <p:spPr/>
        <p:txBody>
          <a:bodyPr/>
          <a:lstStyle/>
          <a:p>
            <a:endParaRPr lang="bg-BG"/>
          </a:p>
        </p:txBody>
      </p:sp>
      <p:sp>
        <p:nvSpPr>
          <p:cNvPr id="5" name="Slide Number Placeholder 4"/>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D2AA38-B623-4529-8E38-4C26B6BE11C2}" type="datetimeFigureOut">
              <a:rPr lang="bg-BG" smtClean="0"/>
              <a:pPr/>
              <a:t>7.5.2024 г.</a:t>
            </a:fld>
            <a:endParaRPr lang="bg-BG"/>
          </a:p>
        </p:txBody>
      </p:sp>
      <p:sp>
        <p:nvSpPr>
          <p:cNvPr id="3" name="Footer Placeholder 2"/>
          <p:cNvSpPr>
            <a:spLocks noGrp="1"/>
          </p:cNvSpPr>
          <p:nvPr>
            <p:ph type="ftr" sz="quarter" idx="11"/>
          </p:nvPr>
        </p:nvSpPr>
        <p:spPr/>
        <p:txBody>
          <a:bodyPr/>
          <a:lstStyle/>
          <a:p>
            <a:endParaRPr lang="bg-BG"/>
          </a:p>
        </p:txBody>
      </p:sp>
      <p:sp>
        <p:nvSpPr>
          <p:cNvPr id="4" name="Slide Number Placeholder 3"/>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CD2AA38-B623-4529-8E38-4C26B6BE11C2}" type="datetimeFigureOut">
              <a:rPr lang="bg-BG" smtClean="0"/>
              <a:pPr/>
              <a:t>7.5.2024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BCD2AA38-B623-4529-8E38-4C26B6BE11C2}" type="datetimeFigureOut">
              <a:rPr lang="bg-BG" smtClean="0"/>
              <a:pPr/>
              <a:t>7.5.2024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a:xfrm>
            <a:off x="8077200" y="6356350"/>
            <a:ext cx="609600" cy="365125"/>
          </a:xfrm>
        </p:spPr>
        <p:txBody>
          <a:bodyPr/>
          <a:lstStyle/>
          <a:p>
            <a:fld id="{24109040-8F74-4CAF-B14B-2C048A8F2A9A}" type="slidenum">
              <a:rPr lang="bg-BG" smtClean="0"/>
              <a:pPr/>
              <a:t>‹#›</a:t>
            </a:fld>
            <a:endParaRPr lang="bg-BG"/>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CD2AA38-B623-4529-8E38-4C26B6BE11C2}" type="datetimeFigureOut">
              <a:rPr lang="bg-BG" smtClean="0"/>
              <a:pPr/>
              <a:t>7.5.2024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CD2AA38-B623-4529-8E38-4C26B6BE11C2}" type="datetimeFigureOut">
              <a:rPr lang="bg-BG" smtClean="0"/>
              <a:pPr/>
              <a:t>7.5.2024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BCD2AA38-B623-4529-8E38-4C26B6BE11C2}" type="datetimeFigureOut">
              <a:rPr lang="bg-BG" smtClean="0"/>
              <a:pPr/>
              <a:t>7.5.2024 г.</a:t>
            </a:fld>
            <a:endParaRPr lang="bg-BG"/>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bg-BG"/>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24109040-8F74-4CAF-B14B-2C048A8F2A9A}" type="slidenum">
              <a:rPr lang="bg-BG" smtClean="0"/>
              <a:pPr/>
              <a:t>‹#›</a:t>
            </a:fld>
            <a:endParaRPr lang="bg-BG"/>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1472" y="928670"/>
            <a:ext cx="7851648" cy="5186386"/>
          </a:xfrm>
        </p:spPr>
        <p:txBody>
          <a:bodyPr rIns="0">
            <a:noAutofit/>
          </a:bodyPr>
          <a:lstStyle/>
          <a:p>
            <a:r>
              <a:rPr lang="bg-BG" sz="4500">
                <a:effectLst/>
                <a:latin typeface="Times New Roman" pitchFamily="18" charset="0"/>
                <a:cs typeface="Times New Roman" pitchFamily="18" charset="0"/>
              </a:rPr>
              <a:t>Създаване, транслиране и изпълнение на асемблерна програма</a:t>
            </a:r>
            <a:r>
              <a:rPr lang="bg-BG" sz="4500">
                <a:latin typeface="Times New Roman" pitchFamily="18" charset="0"/>
                <a:cs typeface="Times New Roman" pitchFamily="18" charset="0"/>
              </a:rPr>
              <a:t>.</a:t>
            </a:r>
            <a:br>
              <a:rPr lang="bg-BG" sz="4500">
                <a:latin typeface="Times New Roman" pitchFamily="18" charset="0"/>
                <a:cs typeface="Times New Roman" pitchFamily="18" charset="0"/>
              </a:rPr>
            </a:br>
            <a:r>
              <a:rPr lang="bg-BG" sz="4500">
                <a:latin typeface="Times New Roman" pitchFamily="18" charset="0"/>
                <a:cs typeface="Times New Roman" pitchFamily="18" charset="0"/>
              </a:rPr>
              <a:t>Структура на програмата.</a:t>
            </a:r>
            <a:br>
              <a:rPr lang="bg-BG" sz="4500">
                <a:latin typeface="Times New Roman" pitchFamily="18" charset="0"/>
                <a:cs typeface="Times New Roman" pitchFamily="18" charset="0"/>
              </a:rPr>
            </a:br>
            <a:r>
              <a:rPr lang="bg-BG" sz="4500" err="1">
                <a:latin typeface="Times New Roman" pitchFamily="18" charset="0"/>
                <a:cs typeface="Times New Roman" pitchFamily="18" charset="0"/>
              </a:rPr>
              <a:t>Дебъгер</a:t>
            </a:r>
            <a:r>
              <a:rPr lang="bg-BG" sz="4500">
                <a:latin typeface="Times New Roman" pitchFamily="18" charset="0"/>
                <a:cs typeface="Times New Roman" pitchFamily="18" charset="0"/>
              </a:rPr>
              <a:t>, настройка и изпълнение.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484784"/>
            <a:ext cx="8643998" cy="4929222"/>
          </a:xfrm>
        </p:spPr>
        <p:txBody>
          <a:bodyPr vert="horz" lIns="91440" tIns="45720" rIns="91440" bIns="45720" anchor="t">
            <a:noAutofit/>
          </a:bodyPr>
          <a:lstStyle/>
          <a:p>
            <a:pPr algn="just">
              <a:lnSpc>
                <a:spcPct val="130621"/>
              </a:lnSpc>
              <a:spcBef>
                <a:spcPts val="0"/>
              </a:spcBef>
            </a:pPr>
            <a:r>
              <a:rPr lang="ru-RU" sz="2300" err="1">
                <a:latin typeface="Times New Roman" pitchFamily="18" charset="0"/>
                <a:cs typeface="Times New Roman" pitchFamily="18" charset="0"/>
              </a:rPr>
              <a:t>Езикът</a:t>
            </a:r>
            <a:r>
              <a:rPr lang="ru-RU" sz="2300">
                <a:latin typeface="Times New Roman" pitchFamily="18" charset="0"/>
                <a:cs typeface="Times New Roman" pitchFamily="18" charset="0"/>
              </a:rPr>
              <a:t> за </a:t>
            </a:r>
            <a:r>
              <a:rPr lang="ru-RU" sz="2300" err="1">
                <a:latin typeface="Times New Roman" pitchFamily="18" charset="0"/>
                <a:cs typeface="Times New Roman" pitchFamily="18" charset="0"/>
              </a:rPr>
              <a:t>програмиране</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ниско</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ниво</a:t>
            </a:r>
            <a:r>
              <a:rPr lang="ru-RU" sz="2300">
                <a:latin typeface="Times New Roman" pitchFamily="18" charset="0"/>
                <a:cs typeface="Times New Roman" pitchFamily="18" charset="0"/>
              </a:rPr>
              <a:t> е </a:t>
            </a:r>
            <a:r>
              <a:rPr lang="ru-RU" sz="2300" err="1">
                <a:latin typeface="Times New Roman" pitchFamily="18" charset="0"/>
                <a:cs typeface="Times New Roman" pitchFamily="18" charset="0"/>
              </a:rPr>
              <a:t>език</a:t>
            </a:r>
            <a:r>
              <a:rPr lang="ru-RU" sz="2300">
                <a:latin typeface="Times New Roman" pitchFamily="18" charset="0"/>
                <a:cs typeface="Times New Roman" pitchFamily="18" charset="0"/>
              </a:rPr>
              <a:t> за </a:t>
            </a:r>
            <a:r>
              <a:rPr lang="ru-RU" sz="2300" err="1">
                <a:latin typeface="Times New Roman" pitchFamily="18" charset="0"/>
                <a:cs typeface="Times New Roman" pitchFamily="18" charset="0"/>
              </a:rPr>
              <a:t>програмиране</a:t>
            </a:r>
            <a:r>
              <a:rPr lang="ru-RU" sz="2300">
                <a:latin typeface="Times New Roman" pitchFamily="18" charset="0"/>
                <a:cs typeface="Times New Roman" pitchFamily="18" charset="0"/>
              </a:rPr>
              <a:t>, при </a:t>
            </a:r>
            <a:r>
              <a:rPr lang="ru-RU" sz="2300" err="1">
                <a:latin typeface="Times New Roman" pitchFamily="18" charset="0"/>
                <a:cs typeface="Times New Roman" pitchFamily="18" charset="0"/>
              </a:rPr>
              <a:t>който</a:t>
            </a:r>
            <a:r>
              <a:rPr lang="ru-RU" sz="2300">
                <a:latin typeface="Times New Roman" pitchFamily="18" charset="0"/>
                <a:cs typeface="Times New Roman" pitchFamily="18" charset="0"/>
              </a:rPr>
              <a:t> има малка или </a:t>
            </a:r>
            <a:r>
              <a:rPr lang="ru-RU" sz="2300" err="1">
                <a:latin typeface="Times New Roman" pitchFamily="18" charset="0"/>
                <a:cs typeface="Times New Roman" pitchFamily="18" charset="0"/>
              </a:rPr>
              <a:t>съвсем</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липсва</a:t>
            </a:r>
            <a:r>
              <a:rPr lang="ru-RU" sz="2300">
                <a:latin typeface="Times New Roman" pitchFamily="18" charset="0"/>
                <a:cs typeface="Times New Roman" pitchFamily="18" charset="0"/>
              </a:rPr>
              <a:t> абстракция от </a:t>
            </a:r>
            <a:r>
              <a:rPr lang="ru-RU" sz="2300" err="1">
                <a:latin typeface="Times New Roman" pitchFamily="18" charset="0"/>
                <a:cs typeface="Times New Roman" pitchFamily="18" charset="0"/>
              </a:rPr>
              <a:t>архитектурата</a:t>
            </a:r>
            <a:r>
              <a:rPr lang="ru-RU" sz="2300">
                <a:latin typeface="Times New Roman" pitchFamily="18" charset="0"/>
                <a:cs typeface="Times New Roman" pitchFamily="18" charset="0"/>
              </a:rPr>
              <a:t> на набора от инструкции на </a:t>
            </a:r>
            <a:r>
              <a:rPr lang="ru-RU" sz="2300" err="1">
                <a:latin typeface="Times New Roman" pitchFamily="18" charset="0"/>
                <a:cs typeface="Times New Roman" pitchFamily="18" charset="0"/>
              </a:rPr>
              <a:t>компютъра</a:t>
            </a:r>
            <a:r>
              <a:rPr lang="ru-RU" sz="2300">
                <a:latin typeface="Times New Roman" pitchFamily="18" charset="0"/>
                <a:cs typeface="Times New Roman" pitchFamily="18" charset="0"/>
              </a:rPr>
              <a:t> – </a:t>
            </a:r>
            <a:r>
              <a:rPr lang="ru-RU" sz="2300" err="1">
                <a:latin typeface="Times New Roman" pitchFamily="18" charset="0"/>
                <a:cs typeface="Times New Roman" pitchFamily="18" charset="0"/>
              </a:rPr>
              <a:t>команди</a:t>
            </a:r>
            <a:r>
              <a:rPr lang="ru-RU" sz="2300">
                <a:latin typeface="Times New Roman" pitchFamily="18" charset="0"/>
                <a:cs typeface="Times New Roman" pitchFamily="18" charset="0"/>
              </a:rPr>
              <a:t> или функции в </a:t>
            </a:r>
            <a:r>
              <a:rPr lang="ru-RU" sz="2300" err="1">
                <a:latin typeface="Times New Roman" pitchFamily="18" charset="0"/>
                <a:cs typeface="Times New Roman" pitchFamily="18" charset="0"/>
              </a:rPr>
              <a:t>езиковата</a:t>
            </a:r>
            <a:r>
              <a:rPr lang="ru-RU" sz="2300">
                <a:latin typeface="Times New Roman" pitchFamily="18" charset="0"/>
                <a:cs typeface="Times New Roman" pitchFamily="18" charset="0"/>
              </a:rPr>
              <a:t> карта, които са структурно </a:t>
            </a:r>
            <a:r>
              <a:rPr lang="ru-RU" sz="2300" err="1">
                <a:latin typeface="Times New Roman" pitchFamily="18" charset="0"/>
                <a:cs typeface="Times New Roman" pitchFamily="18" charset="0"/>
              </a:rPr>
              <a:t>подобни</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инструкциите</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процесора</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Обикновено</a:t>
            </a:r>
            <a:r>
              <a:rPr lang="ru-RU" sz="2300">
                <a:latin typeface="Times New Roman" pitchFamily="18" charset="0"/>
                <a:cs typeface="Times New Roman" pitchFamily="18" charset="0"/>
              </a:rPr>
              <a:t> това е в сила или за </a:t>
            </a:r>
            <a:r>
              <a:rPr lang="ru-RU" sz="2300" err="1">
                <a:latin typeface="Times New Roman" pitchFamily="18" charset="0"/>
                <a:cs typeface="Times New Roman" pitchFamily="18" charset="0"/>
              </a:rPr>
              <a:t>машинен</a:t>
            </a:r>
            <a:r>
              <a:rPr lang="ru-RU" sz="2300">
                <a:latin typeface="Times New Roman" pitchFamily="18" charset="0"/>
                <a:cs typeface="Times New Roman" pitchFamily="18" charset="0"/>
              </a:rPr>
              <a:t> код, или за </a:t>
            </a:r>
            <a:r>
              <a:rPr lang="ru-RU" sz="2300" err="1">
                <a:latin typeface="Times New Roman" pitchFamily="18" charset="0"/>
                <a:cs typeface="Times New Roman" pitchFamily="18" charset="0"/>
              </a:rPr>
              <a:t>асемблерен</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език</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Поради</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ниската</a:t>
            </a:r>
            <a:r>
              <a:rPr lang="ru-RU" sz="2300">
                <a:latin typeface="Times New Roman" pitchFamily="18" charset="0"/>
                <a:cs typeface="Times New Roman" pitchFamily="18" charset="0"/>
              </a:rPr>
              <a:t> степен (</a:t>
            </a:r>
            <a:r>
              <a:rPr lang="ru-RU" sz="2300" err="1">
                <a:latin typeface="Times New Roman" pitchFamily="18" charset="0"/>
                <a:cs typeface="Times New Roman" pitchFamily="18" charset="0"/>
              </a:rPr>
              <a:t>оттук</a:t>
            </a:r>
            <a:r>
              <a:rPr lang="ru-RU" sz="2300">
                <a:latin typeface="Times New Roman" pitchFamily="18" charset="0"/>
                <a:cs typeface="Times New Roman" pitchFamily="18" charset="0"/>
              </a:rPr>
              <a:t> и </a:t>
            </a:r>
            <a:r>
              <a:rPr lang="ru-RU" sz="2300" err="1">
                <a:latin typeface="Times New Roman" pitchFamily="18" charset="0"/>
                <a:cs typeface="Times New Roman" pitchFamily="18" charset="0"/>
              </a:rPr>
              <a:t>думата</a:t>
            </a:r>
            <a:r>
              <a:rPr lang="ru-RU" sz="2300">
                <a:latin typeface="Times New Roman" pitchFamily="18" charset="0"/>
                <a:cs typeface="Times New Roman" pitchFamily="18" charset="0"/>
              </a:rPr>
              <a:t>) на абстракция между </a:t>
            </a:r>
            <a:r>
              <a:rPr lang="ru-RU" sz="2300" err="1">
                <a:latin typeface="Times New Roman" pitchFamily="18" charset="0"/>
                <a:cs typeface="Times New Roman" pitchFamily="18" charset="0"/>
              </a:rPr>
              <a:t>разговорния</a:t>
            </a:r>
            <a:r>
              <a:rPr lang="ru-RU" sz="2300">
                <a:latin typeface="Times New Roman" pitchFamily="18" charset="0"/>
                <a:cs typeface="Times New Roman" pitchFamily="18" charset="0"/>
              </a:rPr>
              <a:t> и </a:t>
            </a:r>
            <a:r>
              <a:rPr lang="ru-RU" sz="2300" err="1">
                <a:latin typeface="Times New Roman" pitchFamily="18" charset="0"/>
                <a:cs typeface="Times New Roman" pitchFamily="18" charset="0"/>
              </a:rPr>
              <a:t>машинния</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език</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езиците</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ниско</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ниво</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понякога</a:t>
            </a:r>
            <a:r>
              <a:rPr lang="ru-RU" sz="2300">
                <a:latin typeface="Times New Roman" pitchFamily="18" charset="0"/>
                <a:cs typeface="Times New Roman" pitchFamily="18" charset="0"/>
              </a:rPr>
              <a:t> се </a:t>
            </a:r>
            <a:r>
              <a:rPr lang="ru-RU" sz="2300" err="1">
                <a:latin typeface="Times New Roman" pitchFamily="18" charset="0"/>
                <a:cs typeface="Times New Roman" pitchFamily="18" charset="0"/>
              </a:rPr>
              <a:t>описват</a:t>
            </a:r>
            <a:r>
              <a:rPr lang="ru-RU" sz="2300">
                <a:latin typeface="Times New Roman" pitchFamily="18" charset="0"/>
                <a:cs typeface="Times New Roman" pitchFamily="18" charset="0"/>
              </a:rPr>
              <a:t> като „близки до </a:t>
            </a:r>
            <a:r>
              <a:rPr lang="ru-RU" sz="2300" err="1">
                <a:latin typeface="Times New Roman" pitchFamily="18" charset="0"/>
                <a:cs typeface="Times New Roman" pitchFamily="18" charset="0"/>
              </a:rPr>
              <a:t>хардуера</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Програмите</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написани</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езици</a:t>
            </a:r>
            <a:r>
              <a:rPr lang="ru-RU" sz="2300">
                <a:latin typeface="Times New Roman" pitchFamily="18" charset="0"/>
                <a:cs typeface="Times New Roman" pitchFamily="18" charset="0"/>
              </a:rPr>
              <a:t> от </a:t>
            </a:r>
            <a:r>
              <a:rPr lang="ru-RU" sz="2300" err="1">
                <a:latin typeface="Times New Roman" pitchFamily="18" charset="0"/>
                <a:cs typeface="Times New Roman" pitchFamily="18" charset="0"/>
              </a:rPr>
              <a:t>ниско</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ниво</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обикновено</a:t>
            </a:r>
            <a:r>
              <a:rPr lang="ru-RU" sz="2300">
                <a:latin typeface="Times New Roman" pitchFamily="18" charset="0"/>
                <a:cs typeface="Times New Roman" pitchFamily="18" charset="0"/>
              </a:rPr>
              <a:t> са </a:t>
            </a:r>
            <a:r>
              <a:rPr lang="ru-RU" sz="2300" err="1">
                <a:latin typeface="Times New Roman" pitchFamily="18" charset="0"/>
                <a:cs typeface="Times New Roman" pitchFamily="18" charset="0"/>
              </a:rPr>
              <a:t>относително</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непреносими</a:t>
            </a:r>
            <a:r>
              <a:rPr lang="ru-RU" sz="2300">
                <a:latin typeface="Times New Roman" pitchFamily="18" charset="0"/>
                <a:cs typeface="Times New Roman" pitchFamily="18" charset="0"/>
              </a:rPr>
              <a:t>, защото са </a:t>
            </a:r>
            <a:r>
              <a:rPr lang="ru-RU" sz="2300" err="1">
                <a:latin typeface="Times New Roman" pitchFamily="18" charset="0"/>
                <a:cs typeface="Times New Roman" pitchFamily="18" charset="0"/>
              </a:rPr>
              <a:t>оптимизирани</a:t>
            </a:r>
            <a:r>
              <a:rPr lang="ru-RU" sz="2300">
                <a:latin typeface="Times New Roman" pitchFamily="18" charset="0"/>
                <a:cs typeface="Times New Roman" pitchFamily="18" charset="0"/>
              </a:rPr>
              <a:t> за определен тип </a:t>
            </a:r>
            <a:r>
              <a:rPr lang="ru-RU" sz="2300" err="1">
                <a:latin typeface="Times New Roman" pitchFamily="18" charset="0"/>
                <a:cs typeface="Times New Roman" pitchFamily="18" charset="0"/>
              </a:rPr>
              <a:t>компютърна</a:t>
            </a:r>
            <a:r>
              <a:rPr lang="ru-RU" sz="2300">
                <a:latin typeface="Times New Roman" pitchFamily="18" charset="0"/>
                <a:cs typeface="Times New Roman" pitchFamily="18" charset="0"/>
              </a:rPr>
              <a:t> архитектура.</a:t>
            </a:r>
            <a:endParaRPr lang="en-US"/>
          </a:p>
        </p:txBody>
      </p:sp>
      <p:sp>
        <p:nvSpPr>
          <p:cNvPr id="4" name="Title 1"/>
          <p:cNvSpPr>
            <a:spLocks noGrp="1"/>
          </p:cNvSpPr>
          <p:nvPr>
            <p:ph type="title"/>
          </p:nvPr>
        </p:nvSpPr>
        <p:spPr>
          <a:xfrm>
            <a:off x="395536" y="116632"/>
            <a:ext cx="8229600" cy="1143000"/>
          </a:xfrm>
        </p:spPr>
        <p:txBody>
          <a:bodyPr>
            <a:normAutofit fontScale="90000"/>
          </a:bodyPr>
          <a:lstStyle/>
          <a:p>
            <a:r>
              <a:rPr lang="en-US" sz="5400">
                <a:latin typeface="Times New Roman" pitchFamily="18" charset="0"/>
                <a:cs typeface="Times New Roman" pitchFamily="18" charset="0"/>
              </a:rPr>
              <a:t>  </a:t>
            </a:r>
            <a:r>
              <a:rPr lang="bg-BG" sz="4000" b="1">
                <a:latin typeface="Times New Roman" pitchFamily="18" charset="0"/>
                <a:cs typeface="Times New Roman" pitchFamily="18" charset="0"/>
              </a:rPr>
              <a:t>Език за програмиране на ниско ниво</a:t>
            </a:r>
            <a:endParaRPr lang="bg-BG" sz="4000" b="1"/>
          </a:p>
        </p:txBody>
      </p:sp>
    </p:spTree>
    <p:extLst>
      <p:ext uri="{BB962C8B-B14F-4D97-AF65-F5344CB8AC3E}">
        <p14:creationId xmlns:p14="http://schemas.microsoft.com/office/powerpoint/2010/main" val="2755045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484784"/>
            <a:ext cx="8643998" cy="4929222"/>
          </a:xfrm>
        </p:spPr>
        <p:txBody>
          <a:bodyPr>
            <a:noAutofit/>
          </a:bodyPr>
          <a:lstStyle/>
          <a:p>
            <a:pPr algn="just">
              <a:spcBef>
                <a:spcPts val="0"/>
              </a:spcBef>
            </a:pPr>
            <a:r>
              <a:rPr lang="ru-RU" sz="2300">
                <a:latin typeface="Times New Roman" pitchFamily="18" charset="0"/>
                <a:cs typeface="Times New Roman" pitchFamily="18" charset="0"/>
              </a:rPr>
              <a:t>Езиците от ниско ниво могат да се преобразуват в машинен код без компилатор или интерпретатор – езиците за програмиране от второ поколение използват по-прост процесор, наречен асемблер – и полученият код се изпълнява директно от процесора. Програма, написана на език от ниско ниво, може да бъде накарана да работи много бързо, с малко потребление на ресурси памет. Еквивалентна програма на език от високо ниво може да бъде по-малко ефективна и да използва повече памет. Езиците от ниско ниво са прости, но се считат трудни за използване, поради множество технически подробности, които програмистът трябва да запомни. За сравнение, езикът за програмиране от високо ниво изолира семантиката на изпълнение на компютърната архитектура от спецификацията на програмата, което опростява разработката.</a:t>
            </a:r>
          </a:p>
        </p:txBody>
      </p:sp>
      <p:sp>
        <p:nvSpPr>
          <p:cNvPr id="4" name="Title 1"/>
          <p:cNvSpPr>
            <a:spLocks noGrp="1"/>
          </p:cNvSpPr>
          <p:nvPr>
            <p:ph type="title"/>
          </p:nvPr>
        </p:nvSpPr>
        <p:spPr>
          <a:xfrm>
            <a:off x="395536" y="116632"/>
            <a:ext cx="8229600" cy="1143000"/>
          </a:xfrm>
        </p:spPr>
        <p:txBody>
          <a:bodyPr>
            <a:normAutofit fontScale="90000"/>
          </a:bodyPr>
          <a:lstStyle/>
          <a:p>
            <a:r>
              <a:rPr lang="en-US" sz="5400">
                <a:latin typeface="Times New Roman" pitchFamily="18" charset="0"/>
                <a:cs typeface="Times New Roman" pitchFamily="18" charset="0"/>
              </a:rPr>
              <a:t>  </a:t>
            </a:r>
            <a:r>
              <a:rPr lang="bg-BG" sz="4000" b="1">
                <a:latin typeface="Times New Roman" pitchFamily="18" charset="0"/>
                <a:cs typeface="Times New Roman" pitchFamily="18" charset="0"/>
              </a:rPr>
              <a:t>Език за програмиране на ниско ниво</a:t>
            </a:r>
            <a:endParaRPr lang="bg-BG" sz="4000" b="1"/>
          </a:p>
        </p:txBody>
      </p:sp>
    </p:spTree>
    <p:extLst>
      <p:ext uri="{BB962C8B-B14F-4D97-AF65-F5344CB8AC3E}">
        <p14:creationId xmlns:p14="http://schemas.microsoft.com/office/powerpoint/2010/main" val="979113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1643050"/>
            <a:ext cx="8643998" cy="4929222"/>
          </a:xfrm>
        </p:spPr>
        <p:txBody>
          <a:bodyPr vert="horz" lIns="91440" tIns="45720" rIns="91440" bIns="45720" anchor="t">
            <a:noAutofit/>
          </a:bodyPr>
          <a:lstStyle/>
          <a:p>
            <a:pPr algn="just">
              <a:lnSpc>
                <a:spcPct val="125178"/>
              </a:lnSpc>
              <a:spcBef>
                <a:spcPts val="0"/>
              </a:spcBef>
            </a:pPr>
            <a:r>
              <a:rPr lang="ru-RU" sz="2400">
                <a:latin typeface="Times New Roman" pitchFamily="18" charset="0"/>
                <a:cs typeface="Times New Roman" pitchFamily="18" charset="0"/>
              </a:rPr>
              <a:t>Асемблерен език е език за програмиране от ниско ниво, който е свързан с конкретен процесор и не може да бъде пренесен без значителни изменения към машина с различна компютърна архитектура и набор от инструкции. Това е в контраст с повечето езици за програмиране от високо ниво, които са съвместими с различни архитектури, но изискват превеждане или компилиране. </a:t>
            </a:r>
            <a:endParaRPr lang="en-US"/>
          </a:p>
          <a:p>
            <a:pPr algn="just">
              <a:lnSpc>
                <a:spcPct val="125178"/>
              </a:lnSpc>
              <a:spcBef>
                <a:spcPts val="0"/>
              </a:spcBef>
            </a:pPr>
            <a:r>
              <a:rPr lang="ru-RU" sz="2400">
                <a:latin typeface="Times New Roman" pitchFamily="18" charset="0"/>
                <a:cs typeface="Times New Roman" pitchFamily="18" charset="0"/>
              </a:rPr>
              <a:t>Можем </a:t>
            </a:r>
            <a:r>
              <a:rPr lang="ru-RU" sz="2400"/>
              <a:t>да го произведем до изходен код от език за програмиране на високо ниво или сами да го напишем.</a:t>
            </a:r>
            <a:endParaRPr lang="ru-RU" sz="2400">
              <a:latin typeface="Times New Roman" pitchFamily="18" charset="0"/>
              <a:cs typeface="Times New Roman" pitchFamily="18" charset="0"/>
            </a:endParaRPr>
          </a:p>
          <a:p>
            <a:pPr algn="just">
              <a:lnSpc>
                <a:spcPct val="125178"/>
              </a:lnSpc>
              <a:spcBef>
                <a:spcPts val="0"/>
              </a:spcBef>
            </a:pPr>
            <a:r>
              <a:rPr lang="ru-RU" sz="2400">
                <a:latin typeface="Times New Roman" pitchFamily="18" charset="0"/>
                <a:cs typeface="Times New Roman" pitchFamily="18" charset="0"/>
              </a:rPr>
              <a:t> На свой ред можем да преобразуваме написаният от нас асемблерен код в машинен код, използвайки асемблер.</a:t>
            </a:r>
          </a:p>
        </p:txBody>
      </p:sp>
      <p:sp>
        <p:nvSpPr>
          <p:cNvPr id="4" name="Title 1"/>
          <p:cNvSpPr>
            <a:spLocks noGrp="1"/>
          </p:cNvSpPr>
          <p:nvPr>
            <p:ph type="title"/>
          </p:nvPr>
        </p:nvSpPr>
        <p:spPr>
          <a:xfrm>
            <a:off x="395536" y="116632"/>
            <a:ext cx="8229600" cy="1143000"/>
          </a:xfrm>
        </p:spPr>
        <p:txBody>
          <a:bodyPr>
            <a:normAutofit/>
          </a:bodyPr>
          <a:lstStyle/>
          <a:p>
            <a:r>
              <a:rPr lang="en-US" sz="5400">
                <a:latin typeface="Times New Roman" pitchFamily="18" charset="0"/>
                <a:cs typeface="Times New Roman" pitchFamily="18" charset="0"/>
              </a:rPr>
              <a:t>  </a:t>
            </a:r>
            <a:r>
              <a:rPr lang="bg-BG" sz="4000" b="1">
                <a:latin typeface="Times New Roman" pitchFamily="18" charset="0"/>
                <a:cs typeface="Times New Roman" pitchFamily="18" charset="0"/>
              </a:rPr>
              <a:t>Асемблерен език</a:t>
            </a:r>
            <a:endParaRPr lang="bg-BG" sz="4000" b="1"/>
          </a:p>
        </p:txBody>
      </p:sp>
    </p:spTree>
    <p:extLst>
      <p:ext uri="{BB962C8B-B14F-4D97-AF65-F5344CB8AC3E}">
        <p14:creationId xmlns:p14="http://schemas.microsoft.com/office/powerpoint/2010/main" val="4154239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1643050"/>
            <a:ext cx="8643998" cy="4929222"/>
          </a:xfrm>
        </p:spPr>
        <p:txBody>
          <a:bodyPr vert="horz" lIns="91440" tIns="45720" rIns="91440" bIns="45720" anchor="t">
            <a:noAutofit/>
          </a:bodyPr>
          <a:lstStyle/>
          <a:p>
            <a:pPr algn="just">
              <a:lnSpc>
                <a:spcPct val="125178"/>
              </a:lnSpc>
              <a:spcBef>
                <a:spcPts val="0"/>
              </a:spcBef>
            </a:pPr>
            <a:r>
              <a:rPr lang="ru-RU" sz="2400">
                <a:latin typeface="Times New Roman" pitchFamily="18" charset="0"/>
                <a:cs typeface="Times New Roman" pitchFamily="18" charset="0"/>
              </a:rPr>
              <a:t>Асемблерът е софтуер, който преобразува код на асемблер в машинен код. Той приема основни компютърни команди и ги преобразува в двоичен код, който процесорът на компютъра може да използва, за да изпълнява своите основни операции. Тези инструкции са </a:t>
            </a:r>
            <a:r>
              <a:rPr lang="bg-BG" sz="2400">
                <a:latin typeface="Times New Roman" pitchFamily="18" charset="0"/>
                <a:cs typeface="Times New Roman" pitchFamily="18" charset="0"/>
              </a:rPr>
              <a:t>на</a:t>
            </a:r>
            <a:r>
              <a:rPr lang="en-US" sz="2400">
                <a:latin typeface="Times New Roman" pitchFamily="18" charset="0"/>
                <a:cs typeface="Times New Roman" pitchFamily="18" charset="0"/>
              </a:rPr>
              <a:t> </a:t>
            </a:r>
            <a:r>
              <a:rPr lang="ru-RU" sz="2400">
                <a:latin typeface="Times New Roman" pitchFamily="18" charset="0"/>
                <a:cs typeface="Times New Roman" pitchFamily="18" charset="0"/>
              </a:rPr>
              <a:t>асемблерен език.</a:t>
            </a:r>
            <a:endParaRPr lang="en-US"/>
          </a:p>
          <a:p>
            <a:pPr algn="just">
              <a:lnSpc>
                <a:spcPct val="125178"/>
              </a:lnSpc>
              <a:spcBef>
                <a:spcPts val="0"/>
              </a:spcBef>
            </a:pPr>
            <a:r>
              <a:rPr lang="ru-RU" sz="2400">
                <a:latin typeface="Times New Roman" pitchFamily="18" charset="0"/>
                <a:cs typeface="Times New Roman" pitchFamily="18" charset="0"/>
              </a:rPr>
              <a:t>Можем също да назовем асемблер</a:t>
            </a:r>
            <a:r>
              <a:rPr lang="bg-BG" sz="2400">
                <a:latin typeface="Times New Roman" pitchFamily="18" charset="0"/>
                <a:cs typeface="Times New Roman" pitchFamily="18" charset="0"/>
              </a:rPr>
              <a:t>а</a:t>
            </a:r>
            <a:r>
              <a:rPr lang="ru-RU" sz="2400">
                <a:latin typeface="Times New Roman" pitchFamily="18" charset="0"/>
                <a:cs typeface="Times New Roman" pitchFamily="18" charset="0"/>
              </a:rPr>
              <a:t> и компилатор на асемблер. Това е така, защото компилаторът преобразува езика от високо ниво в машинен език. От друга страна, асемблерът изпълнява същата задача, и за асемблерния език той е компилатор на асемблерен език.</a:t>
            </a:r>
          </a:p>
          <a:p>
            <a:pPr marL="0" algn="just">
              <a:spcBef>
                <a:spcPts val="0"/>
              </a:spcBef>
            </a:pPr>
            <a:endParaRPr lang="ru-RU" sz="2300">
              <a:latin typeface="Times New Roman" pitchFamily="18" charset="0"/>
              <a:cs typeface="Times New Roman" pitchFamily="18" charset="0"/>
            </a:endParaRPr>
          </a:p>
        </p:txBody>
      </p:sp>
      <p:sp>
        <p:nvSpPr>
          <p:cNvPr id="4" name="Title 1"/>
          <p:cNvSpPr>
            <a:spLocks noGrp="1"/>
          </p:cNvSpPr>
          <p:nvPr>
            <p:ph type="title"/>
          </p:nvPr>
        </p:nvSpPr>
        <p:spPr>
          <a:xfrm>
            <a:off x="428596" y="428604"/>
            <a:ext cx="8229600" cy="1143000"/>
          </a:xfrm>
        </p:spPr>
        <p:txBody>
          <a:bodyPr>
            <a:normAutofit/>
          </a:bodyPr>
          <a:lstStyle/>
          <a:p>
            <a:r>
              <a:rPr lang="en-US" sz="5400">
                <a:latin typeface="Times New Roman" pitchFamily="18" charset="0"/>
                <a:cs typeface="Times New Roman" pitchFamily="18" charset="0"/>
              </a:rPr>
              <a:t>  </a:t>
            </a:r>
            <a:r>
              <a:rPr lang="bg-BG" sz="6400" b="1">
                <a:latin typeface="Times New Roman" pitchFamily="18" charset="0"/>
                <a:cs typeface="Times New Roman" pitchFamily="18" charset="0"/>
              </a:rPr>
              <a:t>Асемблер</a:t>
            </a:r>
            <a:endParaRPr lang="bg-BG" sz="6400" b="1"/>
          </a:p>
        </p:txBody>
      </p:sp>
    </p:spTree>
    <p:extLst>
      <p:ext uri="{BB962C8B-B14F-4D97-AF65-F5344CB8AC3E}">
        <p14:creationId xmlns:p14="http://schemas.microsoft.com/office/powerpoint/2010/main" val="2101476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1331640"/>
            <a:ext cx="8643998" cy="5240632"/>
          </a:xfrm>
        </p:spPr>
        <p:txBody>
          <a:bodyPr>
            <a:normAutofit fontScale="92500"/>
          </a:bodyPr>
          <a:lstStyle/>
          <a:p>
            <a:pPr marL="0" algn="just">
              <a:spcBef>
                <a:spcPts val="0"/>
              </a:spcBef>
            </a:pPr>
            <a:r>
              <a:rPr lang="ru-RU" sz="2400">
                <a:latin typeface="Times New Roman" pitchFamily="18" charset="0"/>
                <a:cs typeface="Times New Roman" pitchFamily="18" charset="0"/>
              </a:rPr>
              <a:t>Има</a:t>
            </a:r>
            <a:r>
              <a:rPr lang="ru-RU" sz="2400" b="1">
                <a:latin typeface="Times New Roman" pitchFamily="18" charset="0"/>
                <a:cs typeface="Times New Roman" pitchFamily="18" charset="0"/>
              </a:rPr>
              <a:t> </a:t>
            </a:r>
            <a:r>
              <a:rPr lang="ru-RU" sz="2400">
                <a:latin typeface="Times New Roman" pitchFamily="18" charset="0"/>
                <a:cs typeface="Times New Roman" pitchFamily="18" charset="0"/>
              </a:rPr>
              <a:t>две </a:t>
            </a:r>
            <a:r>
              <a:rPr lang="ru-RU" sz="2400" err="1">
                <a:latin typeface="Times New Roman" pitchFamily="18" charset="0"/>
                <a:cs typeface="Times New Roman" pitchFamily="18" charset="0"/>
              </a:rPr>
              <a:t>основни</a:t>
            </a:r>
            <a:r>
              <a:rPr lang="ru-RU" sz="2400">
                <a:latin typeface="Times New Roman" pitchFamily="18" charset="0"/>
                <a:cs typeface="Times New Roman" pitchFamily="18" charset="0"/>
              </a:rPr>
              <a:t> причини, </a:t>
            </a:r>
            <a:r>
              <a:rPr lang="ru-RU" sz="2400" err="1">
                <a:latin typeface="Times New Roman" pitchFamily="18" charset="0"/>
                <a:cs typeface="Times New Roman" pitchFamily="18" charset="0"/>
              </a:rPr>
              <a:t>поради</a:t>
            </a:r>
            <a:r>
              <a:rPr lang="ru-RU" sz="2400">
                <a:latin typeface="Times New Roman" pitchFamily="18" charset="0"/>
                <a:cs typeface="Times New Roman" pitchFamily="18" charset="0"/>
              </a:rPr>
              <a:t> които </a:t>
            </a:r>
            <a:r>
              <a:rPr lang="ru-RU" sz="2400" err="1">
                <a:latin typeface="Times New Roman" pitchFamily="18" charset="0"/>
                <a:cs typeface="Times New Roman" pitchFamily="18" charset="0"/>
              </a:rPr>
              <a:t>програмирането</a:t>
            </a:r>
            <a:r>
              <a:rPr lang="ru-RU" sz="2400">
                <a:latin typeface="Times New Roman" pitchFamily="18" charset="0"/>
                <a:cs typeface="Times New Roman" pitchFamily="18" charset="0"/>
              </a:rPr>
              <a:t> все </a:t>
            </a:r>
            <a:r>
              <a:rPr lang="ru-RU" sz="2400" err="1">
                <a:latin typeface="Times New Roman" pitchFamily="18" charset="0"/>
                <a:cs typeface="Times New Roman" pitchFamily="18" charset="0"/>
              </a:rPr>
              <a:t>още</a:t>
            </a:r>
            <a:r>
              <a:rPr lang="ru-RU" sz="2400">
                <a:latin typeface="Times New Roman" pitchFamily="18" charset="0"/>
                <a:cs typeface="Times New Roman" pitchFamily="18" charset="0"/>
              </a:rPr>
              <a:t> се </a:t>
            </a:r>
            <a:r>
              <a:rPr lang="ru-RU" sz="2400" err="1">
                <a:latin typeface="Times New Roman" pitchFamily="18" charset="0"/>
                <a:cs typeface="Times New Roman" pitchFamily="18" charset="0"/>
              </a:rPr>
              <a:t>извършва</a:t>
            </a:r>
            <a:r>
              <a:rPr lang="ru-RU" sz="2400">
                <a:latin typeface="Times New Roman" pitchFamily="18" charset="0"/>
                <a:cs typeface="Times New Roman" pitchFamily="18" charset="0"/>
              </a:rPr>
              <a:t> на </a:t>
            </a:r>
            <a:r>
              <a:rPr lang="ru-RU" sz="2400" err="1">
                <a:latin typeface="Times New Roman" pitchFamily="18" charset="0"/>
                <a:cs typeface="Times New Roman" pitchFamily="18" charset="0"/>
              </a:rPr>
              <a:t>асемблерен</a:t>
            </a:r>
            <a:r>
              <a:rPr lang="ru-RU" sz="2400">
                <a:latin typeface="Times New Roman" pitchFamily="18" charset="0"/>
                <a:cs typeface="Times New Roman" pitchFamily="18" charset="0"/>
              </a:rPr>
              <a:t> </a:t>
            </a:r>
            <a:r>
              <a:rPr lang="ru-RU" sz="2400" err="1">
                <a:latin typeface="Times New Roman" pitchFamily="18" charset="0"/>
                <a:cs typeface="Times New Roman" pitchFamily="18" charset="0"/>
              </a:rPr>
              <a:t>език</a:t>
            </a:r>
            <a:r>
              <a:rPr lang="ru-RU" sz="2400">
                <a:latin typeface="Times New Roman" pitchFamily="18" charset="0"/>
                <a:cs typeface="Times New Roman" pitchFamily="18" charset="0"/>
              </a:rPr>
              <a:t>:</a:t>
            </a:r>
          </a:p>
          <a:p>
            <a:pPr marL="0" algn="just">
              <a:spcBef>
                <a:spcPts val="0"/>
              </a:spcBef>
            </a:pPr>
            <a:r>
              <a:rPr lang="ru-RU" sz="2400">
                <a:latin typeface="Times New Roman" pitchFamily="18" charset="0"/>
                <a:cs typeface="Times New Roman" pitchFamily="18" charset="0"/>
              </a:rPr>
              <a:t>- </a:t>
            </a:r>
            <a:r>
              <a:rPr lang="ru-RU" sz="2400" err="1">
                <a:latin typeface="Times New Roman" pitchFamily="18" charset="0"/>
                <a:cs typeface="Times New Roman" pitchFamily="18" charset="0"/>
              </a:rPr>
              <a:t>Ефективност</a:t>
            </a:r>
            <a:endParaRPr lang="ru-RU" sz="2400">
              <a:latin typeface="Times New Roman" pitchFamily="18" charset="0"/>
              <a:cs typeface="Times New Roman" pitchFamily="18" charset="0"/>
            </a:endParaRPr>
          </a:p>
          <a:p>
            <a:pPr marL="365760" lvl="1" algn="just">
              <a:spcBef>
                <a:spcPts val="0"/>
              </a:spcBef>
            </a:pPr>
            <a:r>
              <a:rPr lang="ru-RU" err="1">
                <a:latin typeface="Times New Roman" pitchFamily="18" charset="0"/>
                <a:cs typeface="Times New Roman" pitchFamily="18" charset="0"/>
              </a:rPr>
              <a:t>Пространствена</a:t>
            </a:r>
            <a:r>
              <a:rPr lang="ru-RU">
                <a:latin typeface="Times New Roman" pitchFamily="18" charset="0"/>
                <a:cs typeface="Times New Roman" pitchFamily="18" charset="0"/>
              </a:rPr>
              <a:t> </a:t>
            </a:r>
            <a:r>
              <a:rPr lang="ru-RU" err="1">
                <a:latin typeface="Times New Roman" pitchFamily="18" charset="0"/>
                <a:cs typeface="Times New Roman" pitchFamily="18" charset="0"/>
              </a:rPr>
              <a:t>ефективност</a:t>
            </a:r>
            <a:r>
              <a:rPr lang="ru-RU">
                <a:latin typeface="Times New Roman" pitchFamily="18" charset="0"/>
                <a:cs typeface="Times New Roman" pitchFamily="18" charset="0"/>
              </a:rPr>
              <a:t>, </a:t>
            </a:r>
            <a:r>
              <a:rPr lang="ru-RU" err="1">
                <a:latin typeface="Times New Roman" pitchFamily="18" charset="0"/>
                <a:cs typeface="Times New Roman" pitchFamily="18" charset="0"/>
              </a:rPr>
              <a:t>която</a:t>
            </a:r>
            <a:r>
              <a:rPr lang="ru-RU">
                <a:latin typeface="Times New Roman" pitchFamily="18" charset="0"/>
                <a:cs typeface="Times New Roman" pitchFamily="18" charset="0"/>
              </a:rPr>
              <a:t> се </a:t>
            </a:r>
            <a:r>
              <a:rPr lang="ru-RU" err="1">
                <a:latin typeface="Times New Roman" pitchFamily="18" charset="0"/>
                <a:cs typeface="Times New Roman" pitchFamily="18" charset="0"/>
              </a:rPr>
              <a:t>отнася</a:t>
            </a:r>
            <a:r>
              <a:rPr lang="ru-RU">
                <a:latin typeface="Times New Roman" pitchFamily="18" charset="0"/>
                <a:cs typeface="Times New Roman" pitchFamily="18" charset="0"/>
              </a:rPr>
              <a:t> до </a:t>
            </a:r>
            <a:r>
              <a:rPr lang="ru-RU" err="1">
                <a:latin typeface="Times New Roman" pitchFamily="18" charset="0"/>
                <a:cs typeface="Times New Roman" pitchFamily="18" charset="0"/>
              </a:rPr>
              <a:t>изискванията</a:t>
            </a:r>
            <a:r>
              <a:rPr lang="ru-RU">
                <a:latin typeface="Times New Roman" pitchFamily="18" charset="0"/>
                <a:cs typeface="Times New Roman" pitchFamily="18" charset="0"/>
              </a:rPr>
              <a:t> за </a:t>
            </a:r>
            <a:r>
              <a:rPr lang="ru-RU" err="1">
                <a:latin typeface="Times New Roman" pitchFamily="18" charset="0"/>
                <a:cs typeface="Times New Roman" pitchFamily="18" charset="0"/>
              </a:rPr>
              <a:t>паметта</a:t>
            </a:r>
            <a:r>
              <a:rPr lang="ru-RU">
                <a:latin typeface="Times New Roman" pitchFamily="18" charset="0"/>
                <a:cs typeface="Times New Roman" pitchFamily="18" charset="0"/>
              </a:rPr>
              <a:t> на </a:t>
            </a:r>
            <a:r>
              <a:rPr lang="ru-RU" err="1">
                <a:latin typeface="Times New Roman" pitchFamily="18" charset="0"/>
                <a:cs typeface="Times New Roman" pitchFamily="18" charset="0"/>
              </a:rPr>
              <a:t>програмата</a:t>
            </a:r>
            <a:r>
              <a:rPr lang="ru-RU">
                <a:latin typeface="Times New Roman" pitchFamily="18" charset="0"/>
                <a:cs typeface="Times New Roman" pitchFamily="18" charset="0"/>
              </a:rPr>
              <a:t>, т.е. размера на </a:t>
            </a:r>
            <a:r>
              <a:rPr lang="ru-RU" err="1">
                <a:latin typeface="Times New Roman" pitchFamily="18" charset="0"/>
                <a:cs typeface="Times New Roman" pitchFamily="18" charset="0"/>
              </a:rPr>
              <a:t>изпълнимия</a:t>
            </a:r>
            <a:r>
              <a:rPr lang="ru-RU">
                <a:latin typeface="Times New Roman" pitchFamily="18" charset="0"/>
                <a:cs typeface="Times New Roman" pitchFamily="18" charset="0"/>
              </a:rPr>
              <a:t> код. – </a:t>
            </a:r>
            <a:r>
              <a:rPr lang="ru-RU" err="1">
                <a:latin typeface="Times New Roman" pitchFamily="18" charset="0"/>
                <a:cs typeface="Times New Roman" pitchFamily="18" charset="0"/>
              </a:rPr>
              <a:t>Програмите</a:t>
            </a:r>
            <a:r>
              <a:rPr lang="ru-RU">
                <a:latin typeface="Times New Roman" pitchFamily="18" charset="0"/>
                <a:cs typeface="Times New Roman" pitchFamily="18" charset="0"/>
              </a:rPr>
              <a:t> </a:t>
            </a:r>
            <a:r>
              <a:rPr lang="ru-RU" err="1">
                <a:latin typeface="Times New Roman" pitchFamily="18" charset="0"/>
                <a:cs typeface="Times New Roman" pitchFamily="18" charset="0"/>
              </a:rPr>
              <a:t>написани</a:t>
            </a:r>
            <a:r>
              <a:rPr lang="ru-RU">
                <a:latin typeface="Times New Roman" pitchFamily="18" charset="0"/>
                <a:cs typeface="Times New Roman" pitchFamily="18" charset="0"/>
              </a:rPr>
              <a:t> на </a:t>
            </a:r>
            <a:r>
              <a:rPr lang="ru-RU" err="1">
                <a:latin typeface="Times New Roman" pitchFamily="18" charset="0"/>
                <a:cs typeface="Times New Roman" pitchFamily="18" charset="0"/>
              </a:rPr>
              <a:t>асемблер</a:t>
            </a:r>
            <a:r>
              <a:rPr lang="ru-RU">
                <a:latin typeface="Times New Roman" pitchFamily="18" charset="0"/>
                <a:cs typeface="Times New Roman" pitchFamily="18" charset="0"/>
              </a:rPr>
              <a:t> </a:t>
            </a:r>
            <a:r>
              <a:rPr lang="ru-RU" err="1">
                <a:latin typeface="Times New Roman" pitchFamily="18" charset="0"/>
                <a:cs typeface="Times New Roman" pitchFamily="18" charset="0"/>
              </a:rPr>
              <a:t>обикновено</a:t>
            </a:r>
            <a:r>
              <a:rPr lang="ru-RU">
                <a:latin typeface="Times New Roman" pitchFamily="18" charset="0"/>
                <a:cs typeface="Times New Roman" pitchFamily="18" charset="0"/>
              </a:rPr>
              <a:t> са </a:t>
            </a:r>
            <a:r>
              <a:rPr lang="ru-RU" err="1">
                <a:latin typeface="Times New Roman" pitchFamily="18" charset="0"/>
                <a:cs typeface="Times New Roman" pitchFamily="18" charset="0"/>
              </a:rPr>
              <a:t>по-компактни</a:t>
            </a:r>
            <a:r>
              <a:rPr lang="ru-RU">
                <a:latin typeface="Times New Roman" pitchFamily="18" charset="0"/>
                <a:cs typeface="Times New Roman" pitchFamily="18" charset="0"/>
              </a:rPr>
              <a:t> от тези, </a:t>
            </a:r>
            <a:r>
              <a:rPr lang="ru-RU" err="1">
                <a:latin typeface="Times New Roman" pitchFamily="18" charset="0"/>
                <a:cs typeface="Times New Roman" pitchFamily="18" charset="0"/>
              </a:rPr>
              <a:t>написани</a:t>
            </a:r>
            <a:r>
              <a:rPr lang="ru-RU">
                <a:latin typeface="Times New Roman" pitchFamily="18" charset="0"/>
                <a:cs typeface="Times New Roman" pitchFamily="18" charset="0"/>
              </a:rPr>
              <a:t> на </a:t>
            </a:r>
            <a:r>
              <a:rPr lang="ru-RU" err="1">
                <a:latin typeface="Times New Roman" pitchFamily="18" charset="0"/>
                <a:cs typeface="Times New Roman" pitchFamily="18" charset="0"/>
              </a:rPr>
              <a:t>език</a:t>
            </a:r>
            <a:r>
              <a:rPr lang="ru-RU">
                <a:latin typeface="Times New Roman" pitchFamily="18" charset="0"/>
                <a:cs typeface="Times New Roman" pitchFamily="18" charset="0"/>
              </a:rPr>
              <a:t> от </a:t>
            </a:r>
            <a:r>
              <a:rPr lang="ru-RU" err="1">
                <a:latin typeface="Times New Roman" pitchFamily="18" charset="0"/>
                <a:cs typeface="Times New Roman" pitchFamily="18" charset="0"/>
              </a:rPr>
              <a:t>високо</a:t>
            </a:r>
            <a:r>
              <a:rPr lang="ru-RU">
                <a:latin typeface="Times New Roman" pitchFamily="18" charset="0"/>
                <a:cs typeface="Times New Roman" pitchFamily="18" charset="0"/>
              </a:rPr>
              <a:t> </a:t>
            </a:r>
            <a:r>
              <a:rPr lang="ru-RU" err="1">
                <a:latin typeface="Times New Roman" pitchFamily="18" charset="0"/>
                <a:cs typeface="Times New Roman" pitchFamily="18" charset="0"/>
              </a:rPr>
              <a:t>ниво</a:t>
            </a:r>
            <a:r>
              <a:rPr lang="ru-RU">
                <a:latin typeface="Times New Roman" pitchFamily="18" charset="0"/>
                <a:cs typeface="Times New Roman" pitchFamily="18" charset="0"/>
              </a:rPr>
              <a:t>.</a:t>
            </a:r>
          </a:p>
          <a:p>
            <a:pPr marL="365760" lvl="1" algn="just">
              <a:spcBef>
                <a:spcPts val="0"/>
              </a:spcBef>
            </a:pPr>
            <a:r>
              <a:rPr lang="ru-RU" err="1">
                <a:latin typeface="Times New Roman" pitchFamily="18" charset="0"/>
                <a:cs typeface="Times New Roman" pitchFamily="18" charset="0"/>
              </a:rPr>
              <a:t>Времева</a:t>
            </a:r>
            <a:r>
              <a:rPr lang="ru-RU">
                <a:latin typeface="Times New Roman" pitchFamily="18" charset="0"/>
                <a:cs typeface="Times New Roman" pitchFamily="18" charset="0"/>
              </a:rPr>
              <a:t> </a:t>
            </a:r>
            <a:r>
              <a:rPr lang="ru-RU" err="1">
                <a:latin typeface="Times New Roman" pitchFamily="18" charset="0"/>
                <a:cs typeface="Times New Roman" pitchFamily="18" charset="0"/>
              </a:rPr>
              <a:t>ефективност</a:t>
            </a:r>
            <a:r>
              <a:rPr lang="ru-RU">
                <a:latin typeface="Times New Roman" pitchFamily="18" charset="0"/>
                <a:cs typeface="Times New Roman" pitchFamily="18" charset="0"/>
              </a:rPr>
              <a:t> – </a:t>
            </a:r>
            <a:r>
              <a:rPr lang="ru-RU" err="1">
                <a:latin typeface="Times New Roman" pitchFamily="18" charset="0"/>
                <a:cs typeface="Times New Roman" pitchFamily="18" charset="0"/>
              </a:rPr>
              <a:t>отнася</a:t>
            </a:r>
            <a:r>
              <a:rPr lang="ru-RU">
                <a:latin typeface="Times New Roman" pitchFamily="18" charset="0"/>
                <a:cs typeface="Times New Roman" pitchFamily="18" charset="0"/>
              </a:rPr>
              <a:t> се до </a:t>
            </a:r>
            <a:r>
              <a:rPr lang="ru-RU" err="1">
                <a:latin typeface="Times New Roman" pitchFamily="18" charset="0"/>
                <a:cs typeface="Times New Roman" pitchFamily="18" charset="0"/>
              </a:rPr>
              <a:t>времето</a:t>
            </a:r>
            <a:r>
              <a:rPr lang="ru-RU">
                <a:latin typeface="Times New Roman" pitchFamily="18" charset="0"/>
                <a:cs typeface="Times New Roman" pitchFamily="18" charset="0"/>
              </a:rPr>
              <a:t>, необходимо за </a:t>
            </a:r>
            <a:r>
              <a:rPr lang="ru-RU" err="1">
                <a:latin typeface="Times New Roman" pitchFamily="18" charset="0"/>
                <a:cs typeface="Times New Roman" pitchFamily="18" charset="0"/>
              </a:rPr>
              <a:t>изпълнение</a:t>
            </a:r>
            <a:r>
              <a:rPr lang="ru-RU">
                <a:latin typeface="Times New Roman" pitchFamily="18" charset="0"/>
                <a:cs typeface="Times New Roman" pitchFamily="18" charset="0"/>
              </a:rPr>
              <a:t> на дадена </a:t>
            </a:r>
            <a:r>
              <a:rPr lang="ru-RU" err="1">
                <a:latin typeface="Times New Roman" pitchFamily="18" charset="0"/>
                <a:cs typeface="Times New Roman" pitchFamily="18" charset="0"/>
              </a:rPr>
              <a:t>програма</a:t>
            </a:r>
            <a:r>
              <a:rPr lang="ru-RU">
                <a:latin typeface="Times New Roman" pitchFamily="18" charset="0"/>
                <a:cs typeface="Times New Roman" pitchFamily="18" charset="0"/>
              </a:rPr>
              <a:t>. Добре </a:t>
            </a:r>
            <a:r>
              <a:rPr lang="ru-RU" err="1">
                <a:latin typeface="Times New Roman" pitchFamily="18" charset="0"/>
                <a:cs typeface="Times New Roman" pitchFamily="18" charset="0"/>
              </a:rPr>
              <a:t>изработените</a:t>
            </a:r>
            <a:r>
              <a:rPr lang="ru-RU">
                <a:latin typeface="Times New Roman" pitchFamily="18" charset="0"/>
                <a:cs typeface="Times New Roman" pitchFamily="18" charset="0"/>
              </a:rPr>
              <a:t> </a:t>
            </a:r>
            <a:r>
              <a:rPr lang="ru-RU" err="1">
                <a:latin typeface="Times New Roman" pitchFamily="18" charset="0"/>
                <a:cs typeface="Times New Roman" pitchFamily="18" charset="0"/>
              </a:rPr>
              <a:t>програми</a:t>
            </a:r>
            <a:r>
              <a:rPr lang="ru-RU">
                <a:latin typeface="Times New Roman" pitchFamily="18" charset="0"/>
                <a:cs typeface="Times New Roman" pitchFamily="18" charset="0"/>
              </a:rPr>
              <a:t> на </a:t>
            </a:r>
            <a:r>
              <a:rPr lang="ru-RU" err="1">
                <a:latin typeface="Times New Roman" pitchFamily="18" charset="0"/>
                <a:cs typeface="Times New Roman" pitchFamily="18" charset="0"/>
              </a:rPr>
              <a:t>асемблерен</a:t>
            </a:r>
            <a:r>
              <a:rPr lang="ru-RU">
                <a:latin typeface="Times New Roman" pitchFamily="18" charset="0"/>
                <a:cs typeface="Times New Roman" pitchFamily="18" charset="0"/>
              </a:rPr>
              <a:t> </a:t>
            </a:r>
            <a:r>
              <a:rPr lang="ru-RU" err="1">
                <a:latin typeface="Times New Roman" pitchFamily="18" charset="0"/>
                <a:cs typeface="Times New Roman" pitchFamily="18" charset="0"/>
              </a:rPr>
              <a:t>език</a:t>
            </a:r>
            <a:r>
              <a:rPr lang="ru-RU">
                <a:latin typeface="Times New Roman" pitchFamily="18" charset="0"/>
                <a:cs typeface="Times New Roman" pitchFamily="18" charset="0"/>
              </a:rPr>
              <a:t> са </a:t>
            </a:r>
            <a:r>
              <a:rPr lang="ru-RU" err="1">
                <a:latin typeface="Times New Roman" pitchFamily="18" charset="0"/>
                <a:cs typeface="Times New Roman" pitchFamily="18" charset="0"/>
              </a:rPr>
              <a:t>склонни</a:t>
            </a:r>
            <a:r>
              <a:rPr lang="ru-RU">
                <a:latin typeface="Times New Roman" pitchFamily="18" charset="0"/>
                <a:cs typeface="Times New Roman" pitchFamily="18" charset="0"/>
              </a:rPr>
              <a:t> да работят </a:t>
            </a:r>
            <a:r>
              <a:rPr lang="ru-RU" err="1">
                <a:latin typeface="Times New Roman" pitchFamily="18" charset="0"/>
                <a:cs typeface="Times New Roman" pitchFamily="18" charset="0"/>
              </a:rPr>
              <a:t>по-бързо</a:t>
            </a:r>
            <a:r>
              <a:rPr lang="ru-RU">
                <a:latin typeface="Times New Roman" pitchFamily="18" charset="0"/>
                <a:cs typeface="Times New Roman" pitchFamily="18" charset="0"/>
              </a:rPr>
              <a:t> от техните </a:t>
            </a:r>
            <a:r>
              <a:rPr lang="ru-RU" err="1">
                <a:latin typeface="Times New Roman" pitchFamily="18" charset="0"/>
                <a:cs typeface="Times New Roman" pitchFamily="18" charset="0"/>
              </a:rPr>
              <a:t>аналози</a:t>
            </a:r>
            <a:r>
              <a:rPr lang="ru-RU">
                <a:latin typeface="Times New Roman" pitchFamily="18" charset="0"/>
                <a:cs typeface="Times New Roman" pitchFamily="18" charset="0"/>
              </a:rPr>
              <a:t> на </a:t>
            </a:r>
            <a:r>
              <a:rPr lang="ru-RU" err="1">
                <a:latin typeface="Times New Roman" pitchFamily="18" charset="0"/>
                <a:cs typeface="Times New Roman" pitchFamily="18" charset="0"/>
              </a:rPr>
              <a:t>език</a:t>
            </a:r>
            <a:r>
              <a:rPr lang="ru-RU">
                <a:latin typeface="Times New Roman" pitchFamily="18" charset="0"/>
                <a:cs typeface="Times New Roman" pitchFamily="18" charset="0"/>
              </a:rPr>
              <a:t> от </a:t>
            </a:r>
            <a:r>
              <a:rPr lang="ru-RU" err="1">
                <a:latin typeface="Times New Roman" pitchFamily="18" charset="0"/>
                <a:cs typeface="Times New Roman" pitchFamily="18" charset="0"/>
              </a:rPr>
              <a:t>високо</a:t>
            </a:r>
            <a:r>
              <a:rPr lang="ru-RU">
                <a:latin typeface="Times New Roman" pitchFamily="18" charset="0"/>
                <a:cs typeface="Times New Roman" pitchFamily="18" charset="0"/>
              </a:rPr>
              <a:t> </a:t>
            </a:r>
            <a:r>
              <a:rPr lang="ru-RU" err="1">
                <a:latin typeface="Times New Roman" pitchFamily="18" charset="0"/>
                <a:cs typeface="Times New Roman" pitchFamily="18" charset="0"/>
              </a:rPr>
              <a:t>ниво</a:t>
            </a:r>
            <a:r>
              <a:rPr lang="ru-RU">
                <a:latin typeface="Times New Roman" pitchFamily="18" charset="0"/>
                <a:cs typeface="Times New Roman" pitchFamily="18" charset="0"/>
              </a:rPr>
              <a:t>.</a:t>
            </a:r>
          </a:p>
          <a:p>
            <a:pPr marL="0" algn="just">
              <a:spcBef>
                <a:spcPts val="0"/>
              </a:spcBef>
            </a:pPr>
            <a:r>
              <a:rPr lang="ru-RU" sz="2400">
                <a:latin typeface="Times New Roman" pitchFamily="18" charset="0"/>
                <a:cs typeface="Times New Roman" pitchFamily="18" charset="0"/>
              </a:rPr>
              <a:t>- </a:t>
            </a:r>
            <a:r>
              <a:rPr lang="ru-RU" sz="2400" err="1">
                <a:latin typeface="Times New Roman" pitchFamily="18" charset="0"/>
                <a:cs typeface="Times New Roman" pitchFamily="18" charset="0"/>
              </a:rPr>
              <a:t>Достъпност</a:t>
            </a:r>
            <a:r>
              <a:rPr lang="ru-RU" sz="2400">
                <a:latin typeface="Times New Roman" pitchFamily="18" charset="0"/>
                <a:cs typeface="Times New Roman" pitchFamily="18" charset="0"/>
              </a:rPr>
              <a:t> до </a:t>
            </a:r>
            <a:r>
              <a:rPr lang="ru-RU" sz="2400" err="1">
                <a:latin typeface="Times New Roman" pitchFamily="18" charset="0"/>
                <a:cs typeface="Times New Roman" pitchFamily="18" charset="0"/>
              </a:rPr>
              <a:t>системния</a:t>
            </a:r>
            <a:r>
              <a:rPr lang="ru-RU" sz="2400">
                <a:latin typeface="Times New Roman" pitchFamily="18" charset="0"/>
                <a:cs typeface="Times New Roman" pitchFamily="18" charset="0"/>
              </a:rPr>
              <a:t> </a:t>
            </a:r>
            <a:r>
              <a:rPr lang="ru-RU" sz="2400" err="1">
                <a:latin typeface="Times New Roman" pitchFamily="18" charset="0"/>
                <a:cs typeface="Times New Roman" pitchFamily="18" charset="0"/>
              </a:rPr>
              <a:t>хардуер</a:t>
            </a:r>
            <a:r>
              <a:rPr lang="ru-RU" sz="2400">
                <a:latin typeface="Times New Roman" pitchFamily="18" charset="0"/>
                <a:cs typeface="Times New Roman" pitchFamily="18" charset="0"/>
              </a:rPr>
              <a:t>. </a:t>
            </a:r>
            <a:r>
              <a:rPr lang="ru-RU" sz="2400" err="1">
                <a:latin typeface="Times New Roman" pitchFamily="18" charset="0"/>
                <a:cs typeface="Times New Roman" pitchFamily="18" charset="0"/>
              </a:rPr>
              <a:t>Асемблерният</a:t>
            </a:r>
            <a:r>
              <a:rPr lang="ru-RU" sz="2400">
                <a:latin typeface="Times New Roman" pitchFamily="18" charset="0"/>
                <a:cs typeface="Times New Roman" pitchFamily="18" charset="0"/>
              </a:rPr>
              <a:t> </a:t>
            </a:r>
            <a:r>
              <a:rPr lang="ru-RU" sz="2400" err="1">
                <a:latin typeface="Times New Roman" pitchFamily="18" charset="0"/>
                <a:cs typeface="Times New Roman" pitchFamily="18" charset="0"/>
              </a:rPr>
              <a:t>език</a:t>
            </a:r>
            <a:r>
              <a:rPr lang="ru-RU" sz="2400">
                <a:latin typeface="Times New Roman" pitchFamily="18" charset="0"/>
                <a:cs typeface="Times New Roman" pitchFamily="18" charset="0"/>
              </a:rPr>
              <a:t> не </a:t>
            </a:r>
            <a:r>
              <a:rPr lang="ru-RU" sz="2400" err="1">
                <a:latin typeface="Times New Roman" pitchFamily="18" charset="0"/>
                <a:cs typeface="Times New Roman" pitchFamily="18" charset="0"/>
              </a:rPr>
              <a:t>налага</a:t>
            </a:r>
            <a:r>
              <a:rPr lang="ru-RU" sz="2400">
                <a:latin typeface="Times New Roman" pitchFamily="18" charset="0"/>
                <a:cs typeface="Times New Roman" pitchFamily="18" charset="0"/>
              </a:rPr>
              <a:t> </a:t>
            </a:r>
            <a:r>
              <a:rPr lang="ru-RU" sz="2400" err="1">
                <a:latin typeface="Times New Roman" pitchFamily="18" charset="0"/>
                <a:cs typeface="Times New Roman" pitchFamily="18" charset="0"/>
              </a:rPr>
              <a:t>никакви</a:t>
            </a:r>
            <a:r>
              <a:rPr lang="ru-RU" sz="2400">
                <a:latin typeface="Times New Roman" pitchFamily="18" charset="0"/>
                <a:cs typeface="Times New Roman" pitchFamily="18" charset="0"/>
              </a:rPr>
              <a:t> ограничения и можете да </a:t>
            </a:r>
            <a:r>
              <a:rPr lang="ru-RU" sz="2400" err="1">
                <a:latin typeface="Times New Roman" pitchFamily="18" charset="0"/>
                <a:cs typeface="Times New Roman" pitchFamily="18" charset="0"/>
              </a:rPr>
              <a:t>имате</a:t>
            </a:r>
            <a:r>
              <a:rPr lang="ru-RU" sz="2400">
                <a:latin typeface="Times New Roman" pitchFamily="18" charset="0"/>
                <a:cs typeface="Times New Roman" pitchFamily="18" charset="0"/>
              </a:rPr>
              <a:t> </a:t>
            </a:r>
            <a:r>
              <a:rPr lang="ru-RU" sz="2400" err="1">
                <a:latin typeface="Times New Roman" pitchFamily="18" charset="0"/>
                <a:cs typeface="Times New Roman" pitchFamily="18" charset="0"/>
              </a:rPr>
              <a:t>директен</a:t>
            </a:r>
            <a:r>
              <a:rPr lang="ru-RU" sz="2400">
                <a:latin typeface="Times New Roman" pitchFamily="18" charset="0"/>
                <a:cs typeface="Times New Roman" pitchFamily="18" charset="0"/>
              </a:rPr>
              <a:t> </a:t>
            </a:r>
            <a:r>
              <a:rPr lang="ru-RU" sz="2400" err="1">
                <a:latin typeface="Times New Roman" pitchFamily="18" charset="0"/>
                <a:cs typeface="Times New Roman" pitchFamily="18" charset="0"/>
              </a:rPr>
              <a:t>контрол</a:t>
            </a:r>
            <a:r>
              <a:rPr lang="ru-RU" sz="2400">
                <a:latin typeface="Times New Roman" pitchFamily="18" charset="0"/>
                <a:cs typeface="Times New Roman" pitchFamily="18" charset="0"/>
              </a:rPr>
              <a:t> </a:t>
            </a:r>
            <a:r>
              <a:rPr lang="ru-RU" sz="2400" err="1">
                <a:latin typeface="Times New Roman" pitchFamily="18" charset="0"/>
                <a:cs typeface="Times New Roman" pitchFamily="18" charset="0"/>
              </a:rPr>
              <a:t>върху</a:t>
            </a:r>
            <a:r>
              <a:rPr lang="ru-RU" sz="2400">
                <a:latin typeface="Times New Roman" pitchFamily="18" charset="0"/>
                <a:cs typeface="Times New Roman" pitchFamily="18" charset="0"/>
              </a:rPr>
              <a:t> </a:t>
            </a:r>
            <a:r>
              <a:rPr lang="ru-RU" sz="2400" err="1">
                <a:latin typeface="Times New Roman" pitchFamily="18" charset="0"/>
                <a:cs typeface="Times New Roman" pitchFamily="18" charset="0"/>
              </a:rPr>
              <a:t>хардуера</a:t>
            </a:r>
            <a:r>
              <a:rPr lang="ru-RU" sz="2400">
                <a:latin typeface="Times New Roman" pitchFamily="18" charset="0"/>
                <a:cs typeface="Times New Roman" pitchFamily="18" charset="0"/>
              </a:rPr>
              <a:t> на </a:t>
            </a:r>
            <a:r>
              <a:rPr lang="ru-RU" sz="2400" err="1">
                <a:latin typeface="Times New Roman" pitchFamily="18" charset="0"/>
                <a:cs typeface="Times New Roman" pitchFamily="18" charset="0"/>
              </a:rPr>
              <a:t>системата</a:t>
            </a:r>
            <a:r>
              <a:rPr lang="ru-RU" sz="2400">
                <a:latin typeface="Times New Roman" pitchFamily="18" charset="0"/>
                <a:cs typeface="Times New Roman" pitchFamily="18" charset="0"/>
              </a:rPr>
              <a:t>. Ако </a:t>
            </a:r>
            <a:r>
              <a:rPr lang="ru-RU" sz="2400" err="1">
                <a:latin typeface="Times New Roman" pitchFamily="18" charset="0"/>
                <a:cs typeface="Times New Roman" pitchFamily="18" charset="0"/>
              </a:rPr>
              <a:t>разработвате</a:t>
            </a:r>
            <a:r>
              <a:rPr lang="ru-RU" sz="2400">
                <a:latin typeface="Times New Roman" pitchFamily="18" charset="0"/>
                <a:cs typeface="Times New Roman" pitchFamily="18" charset="0"/>
              </a:rPr>
              <a:t> системен софтуер, не можете да избегнете </a:t>
            </a:r>
            <a:r>
              <a:rPr lang="ru-RU" sz="2400" err="1">
                <a:latin typeface="Times New Roman" pitchFamily="18" charset="0"/>
                <a:cs typeface="Times New Roman" pitchFamily="18" charset="0"/>
              </a:rPr>
              <a:t>писането</a:t>
            </a:r>
            <a:r>
              <a:rPr lang="ru-RU" sz="2400">
                <a:latin typeface="Times New Roman" pitchFamily="18" charset="0"/>
                <a:cs typeface="Times New Roman" pitchFamily="18" charset="0"/>
              </a:rPr>
              <a:t> на </a:t>
            </a:r>
            <a:r>
              <a:rPr lang="ru-RU" sz="2400" err="1">
                <a:latin typeface="Times New Roman" pitchFamily="18" charset="0"/>
                <a:cs typeface="Times New Roman" pitchFamily="18" charset="0"/>
              </a:rPr>
              <a:t>програми</a:t>
            </a:r>
            <a:r>
              <a:rPr lang="ru-RU" sz="2400">
                <a:latin typeface="Times New Roman" pitchFamily="18" charset="0"/>
                <a:cs typeface="Times New Roman" pitchFamily="18" charset="0"/>
              </a:rPr>
              <a:t> на </a:t>
            </a:r>
            <a:r>
              <a:rPr lang="ru-RU" sz="2400" err="1">
                <a:latin typeface="Times New Roman" pitchFamily="18" charset="0"/>
                <a:cs typeface="Times New Roman" pitchFamily="18" charset="0"/>
              </a:rPr>
              <a:t>асемблер</a:t>
            </a:r>
            <a:r>
              <a:rPr lang="ru-RU" sz="2400">
                <a:latin typeface="Times New Roman" pitchFamily="18" charset="0"/>
                <a:cs typeface="Times New Roman" pitchFamily="18" charset="0"/>
              </a:rPr>
              <a:t>.</a:t>
            </a:r>
          </a:p>
        </p:txBody>
      </p:sp>
      <p:sp>
        <p:nvSpPr>
          <p:cNvPr id="4" name="Title 1"/>
          <p:cNvSpPr>
            <a:spLocks noGrp="1"/>
          </p:cNvSpPr>
          <p:nvPr>
            <p:ph type="title"/>
          </p:nvPr>
        </p:nvSpPr>
        <p:spPr>
          <a:xfrm>
            <a:off x="285720" y="188640"/>
            <a:ext cx="8643998" cy="1143000"/>
          </a:xfrm>
        </p:spPr>
        <p:txBody>
          <a:bodyPr>
            <a:noAutofit/>
          </a:bodyPr>
          <a:lstStyle/>
          <a:p>
            <a:r>
              <a:rPr lang="bg-BG" sz="3600">
                <a:latin typeface="Times New Roman" pitchFamily="18" charset="0"/>
                <a:cs typeface="Times New Roman" pitchFamily="18" charset="0"/>
              </a:rPr>
              <a:t>Защо да програмираме на асемблерен език?</a:t>
            </a:r>
            <a:endParaRPr lang="bg-BG" sz="3600" b="1"/>
          </a:p>
        </p:txBody>
      </p:sp>
    </p:spTree>
    <p:extLst>
      <p:ext uri="{BB962C8B-B14F-4D97-AF65-F5344CB8AC3E}">
        <p14:creationId xmlns:p14="http://schemas.microsoft.com/office/powerpoint/2010/main" val="4154239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64" y="1772816"/>
            <a:ext cx="8643998" cy="4643470"/>
          </a:xfrm>
        </p:spPr>
        <p:txBody>
          <a:bodyPr>
            <a:noAutofit/>
          </a:bodyPr>
          <a:lstStyle/>
          <a:p>
            <a:pPr marL="0" algn="just">
              <a:spcBef>
                <a:spcPts val="0"/>
              </a:spcBef>
            </a:pPr>
            <a:r>
              <a:rPr lang="ru-RU" sz="1800" err="1">
                <a:latin typeface="Times New Roman" pitchFamily="18" charset="0"/>
                <a:cs typeface="Times New Roman" pitchFamily="18" charset="0"/>
              </a:rPr>
              <a:t>Създаването</a:t>
            </a:r>
            <a:r>
              <a:rPr lang="ru-RU" sz="1800">
                <a:latin typeface="Times New Roman" pitchFamily="18" charset="0"/>
                <a:cs typeface="Times New Roman" pitchFamily="18" charset="0"/>
              </a:rPr>
              <a:t> на </a:t>
            </a:r>
            <a:r>
              <a:rPr lang="ru-RU" sz="1800" err="1">
                <a:latin typeface="Times New Roman" pitchFamily="18" charset="0"/>
                <a:cs typeface="Times New Roman" pitchFamily="18" charset="0"/>
              </a:rPr>
              <a:t>програма</a:t>
            </a:r>
            <a:r>
              <a:rPr lang="ru-RU" sz="1800">
                <a:latin typeface="Times New Roman" pitchFamily="18" charset="0"/>
                <a:cs typeface="Times New Roman" pitchFamily="18" charset="0"/>
              </a:rPr>
              <a:t> на </a:t>
            </a:r>
            <a:r>
              <a:rPr lang="ru-RU" sz="1800" err="1">
                <a:latin typeface="Times New Roman" pitchFamily="18" charset="0"/>
                <a:cs typeface="Times New Roman" pitchFamily="18" charset="0"/>
              </a:rPr>
              <a:t>асемблер</a:t>
            </a:r>
            <a:r>
              <a:rPr lang="ru-RU" sz="1800">
                <a:latin typeface="Times New Roman" pitchFamily="18" charset="0"/>
                <a:cs typeface="Times New Roman" pitchFamily="18" charset="0"/>
              </a:rPr>
              <a:t> е по </a:t>
            </a:r>
            <a:r>
              <a:rPr lang="ru-RU" sz="1800" err="1">
                <a:latin typeface="Times New Roman" pitchFamily="18" charset="0"/>
                <a:cs typeface="Times New Roman" pitchFamily="18" charset="0"/>
              </a:rPr>
              <a:t>същество</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същото</a:t>
            </a:r>
            <a:r>
              <a:rPr lang="ru-RU" sz="1800">
                <a:latin typeface="Times New Roman" pitchFamily="18" charset="0"/>
                <a:cs typeface="Times New Roman" pitchFamily="18" charset="0"/>
              </a:rPr>
              <a:t> като </a:t>
            </a:r>
            <a:r>
              <a:rPr lang="ru-RU" sz="1800" err="1">
                <a:latin typeface="Times New Roman" pitchFamily="18" charset="0"/>
                <a:cs typeface="Times New Roman" pitchFamily="18" charset="0"/>
              </a:rPr>
              <a:t>създаването</a:t>
            </a:r>
            <a:r>
              <a:rPr lang="ru-RU" sz="1800">
                <a:latin typeface="Times New Roman" pitchFamily="18" charset="0"/>
                <a:cs typeface="Times New Roman" pitchFamily="18" charset="0"/>
              </a:rPr>
              <a:t> на </a:t>
            </a:r>
            <a:r>
              <a:rPr lang="ru-RU" sz="1800" err="1">
                <a:latin typeface="Times New Roman" pitchFamily="18" charset="0"/>
                <a:cs typeface="Times New Roman" pitchFamily="18" charset="0"/>
              </a:rPr>
              <a:t>такава</a:t>
            </a:r>
            <a:r>
              <a:rPr lang="ru-RU" sz="1800">
                <a:latin typeface="Times New Roman" pitchFamily="18" charset="0"/>
                <a:cs typeface="Times New Roman" pitchFamily="18" charset="0"/>
              </a:rPr>
              <a:t> на </a:t>
            </a:r>
            <a:r>
              <a:rPr lang="ru-RU" sz="1800" err="1">
                <a:latin typeface="Times New Roman" pitchFamily="18" charset="0"/>
                <a:cs typeface="Times New Roman" pitchFamily="18" charset="0"/>
              </a:rPr>
              <a:t>компилиран</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език</a:t>
            </a:r>
            <a:r>
              <a:rPr lang="ru-RU" sz="1800">
                <a:latin typeface="Times New Roman" pitchFamily="18" charset="0"/>
                <a:cs typeface="Times New Roman" pitchFamily="18" charset="0"/>
              </a:rPr>
              <a:t> от </a:t>
            </a:r>
            <a:r>
              <a:rPr lang="ru-RU" sz="1800" err="1">
                <a:latin typeface="Times New Roman" pitchFamily="18" charset="0"/>
                <a:cs typeface="Times New Roman" pitchFamily="18" charset="0"/>
              </a:rPr>
              <a:t>високо</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ниво</a:t>
            </a:r>
            <a:r>
              <a:rPr lang="en-US" sz="1800">
                <a:latin typeface="Times New Roman" pitchFamily="18" charset="0"/>
                <a:cs typeface="Times New Roman" pitchFamily="18" charset="0"/>
              </a:rPr>
              <a:t>.</a:t>
            </a:r>
          </a:p>
          <a:p>
            <a:pPr marL="0" algn="just">
              <a:spcBef>
                <a:spcPts val="0"/>
              </a:spcBef>
            </a:pPr>
            <a:r>
              <a:rPr lang="ru-RU" sz="1800" err="1">
                <a:latin typeface="Times New Roman" pitchFamily="18" charset="0"/>
                <a:cs typeface="Times New Roman" pitchFamily="18" charset="0"/>
              </a:rPr>
              <a:t>Асемблерният</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език</a:t>
            </a:r>
            <a:r>
              <a:rPr lang="ru-RU" sz="1800">
                <a:latin typeface="Times New Roman" pitchFamily="18" charset="0"/>
                <a:cs typeface="Times New Roman" pitchFamily="18" charset="0"/>
              </a:rPr>
              <a:t> позволява на </a:t>
            </a:r>
            <a:r>
              <a:rPr lang="ru-RU" sz="1800" err="1">
                <a:latin typeface="Times New Roman" pitchFamily="18" charset="0"/>
                <a:cs typeface="Times New Roman" pitchFamily="18" charset="0"/>
              </a:rPr>
              <a:t>програмиста</a:t>
            </a:r>
            <a:r>
              <a:rPr lang="ru-RU" sz="1800">
                <a:latin typeface="Times New Roman" pitchFamily="18" charset="0"/>
                <a:cs typeface="Times New Roman" pitchFamily="18" charset="0"/>
              </a:rPr>
              <a:t> да </a:t>
            </a:r>
            <a:r>
              <a:rPr lang="ru-RU" sz="1800" err="1">
                <a:latin typeface="Times New Roman" pitchFamily="18" charset="0"/>
                <a:cs typeface="Times New Roman" pitchFamily="18" charset="0"/>
              </a:rPr>
              <a:t>програмира</a:t>
            </a:r>
            <a:r>
              <a:rPr lang="ru-RU" sz="1800">
                <a:latin typeface="Times New Roman" pitchFamily="18" charset="0"/>
                <a:cs typeface="Times New Roman" pitchFamily="18" charset="0"/>
              </a:rPr>
              <a:t> от </a:t>
            </a:r>
            <a:r>
              <a:rPr lang="ru-RU" sz="1800" err="1">
                <a:latin typeface="Times New Roman" pitchFamily="18" charset="0"/>
                <a:cs typeface="Times New Roman" pitchFamily="18" charset="0"/>
              </a:rPr>
              <a:t>гледна</a:t>
            </a:r>
            <a:r>
              <a:rPr lang="ru-RU" sz="1800">
                <a:latin typeface="Times New Roman" pitchFamily="18" charset="0"/>
                <a:cs typeface="Times New Roman" pitchFamily="18" charset="0"/>
              </a:rPr>
              <a:t> точка на </a:t>
            </a:r>
            <a:r>
              <a:rPr lang="ru-RU" sz="1800" err="1">
                <a:latin typeface="Times New Roman" pitchFamily="18" charset="0"/>
                <a:cs typeface="Times New Roman" pitchFamily="18" charset="0"/>
              </a:rPr>
              <a:t>машинните</a:t>
            </a:r>
            <a:r>
              <a:rPr lang="ru-RU" sz="1800">
                <a:latin typeface="Times New Roman" pitchFamily="18" charset="0"/>
                <a:cs typeface="Times New Roman" pitchFamily="18" charset="0"/>
              </a:rPr>
              <a:t> инструкции, които конкретен </a:t>
            </a:r>
            <a:r>
              <a:rPr lang="ru-RU" sz="1800" err="1">
                <a:latin typeface="Times New Roman" pitchFamily="18" charset="0"/>
                <a:cs typeface="Times New Roman" pitchFamily="18" charset="0"/>
              </a:rPr>
              <a:t>процесор</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може</a:t>
            </a:r>
            <a:r>
              <a:rPr lang="ru-RU" sz="1800">
                <a:latin typeface="Times New Roman" pitchFamily="18" charset="0"/>
                <a:cs typeface="Times New Roman" pitchFamily="18" charset="0"/>
              </a:rPr>
              <a:t> да </a:t>
            </a:r>
            <a:r>
              <a:rPr lang="ru-RU" sz="1800" err="1">
                <a:latin typeface="Times New Roman" pitchFamily="18" charset="0"/>
                <a:cs typeface="Times New Roman" pitchFamily="18" charset="0"/>
              </a:rPr>
              <a:t>изпълнява</a:t>
            </a:r>
            <a:r>
              <a:rPr lang="ru-RU" sz="1800">
                <a:latin typeface="Times New Roman" pitchFamily="18" charset="0"/>
                <a:cs typeface="Times New Roman" pitchFamily="18" charset="0"/>
              </a:rPr>
              <a:t>. Тъй като </a:t>
            </a:r>
            <a:r>
              <a:rPr lang="ru-RU" sz="1800" err="1">
                <a:latin typeface="Times New Roman" pitchFamily="18" charset="0"/>
                <a:cs typeface="Times New Roman" pitchFamily="18" charset="0"/>
              </a:rPr>
              <a:t>инструкциите</a:t>
            </a:r>
            <a:r>
              <a:rPr lang="ru-RU" sz="1800">
                <a:latin typeface="Times New Roman" pitchFamily="18" charset="0"/>
                <a:cs typeface="Times New Roman" pitchFamily="18" charset="0"/>
              </a:rPr>
              <a:t> на </a:t>
            </a:r>
            <a:r>
              <a:rPr lang="ru-RU" sz="1800" err="1">
                <a:latin typeface="Times New Roman" pitchFamily="18" charset="0"/>
                <a:cs typeface="Times New Roman" pitchFamily="18" charset="0"/>
              </a:rPr>
              <a:t>двоичния</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машинен</a:t>
            </a:r>
            <a:r>
              <a:rPr lang="ru-RU" sz="1800">
                <a:latin typeface="Times New Roman" pitchFamily="18" charset="0"/>
                <a:cs typeface="Times New Roman" pitchFamily="18" charset="0"/>
              </a:rPr>
              <a:t> код са </a:t>
            </a:r>
            <a:r>
              <a:rPr lang="ru-RU" sz="1800" err="1">
                <a:latin typeface="Times New Roman" pitchFamily="18" charset="0"/>
                <a:cs typeface="Times New Roman" pitchFamily="18" charset="0"/>
              </a:rPr>
              <a:t>трудни</a:t>
            </a:r>
            <a:r>
              <a:rPr lang="ru-RU" sz="1800">
                <a:latin typeface="Times New Roman" pitchFamily="18" charset="0"/>
                <a:cs typeface="Times New Roman" pitchFamily="18" charset="0"/>
              </a:rPr>
              <a:t> за </a:t>
            </a:r>
            <a:r>
              <a:rPr lang="ru-RU" sz="1800" err="1">
                <a:latin typeface="Times New Roman" pitchFamily="18" charset="0"/>
                <a:cs typeface="Times New Roman" pitchFamily="18" charset="0"/>
              </a:rPr>
              <a:t>директно</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разбиране</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програмите</a:t>
            </a:r>
            <a:r>
              <a:rPr lang="ru-RU" sz="1800">
                <a:latin typeface="Times New Roman" pitchFamily="18" charset="0"/>
                <a:cs typeface="Times New Roman" pitchFamily="18" charset="0"/>
              </a:rPr>
              <a:t> на </a:t>
            </a:r>
            <a:r>
              <a:rPr lang="ru-RU" sz="1800" err="1">
                <a:latin typeface="Times New Roman" pitchFamily="18" charset="0"/>
                <a:cs typeface="Times New Roman" pitchFamily="18" charset="0"/>
              </a:rPr>
              <a:t>асемблерния</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език</a:t>
            </a:r>
            <a:r>
              <a:rPr lang="ru-RU" sz="1800">
                <a:latin typeface="Times New Roman" pitchFamily="18" charset="0"/>
                <a:cs typeface="Times New Roman" pitchFamily="18" charset="0"/>
              </a:rPr>
              <a:t> се </a:t>
            </a:r>
            <a:r>
              <a:rPr lang="ru-RU" sz="1800" err="1">
                <a:latin typeface="Times New Roman" pitchFamily="18" charset="0"/>
                <a:cs typeface="Times New Roman" pitchFamily="18" charset="0"/>
              </a:rPr>
              <a:t>изразяват</a:t>
            </a:r>
            <a:r>
              <a:rPr lang="ru-RU" sz="1800">
                <a:latin typeface="Times New Roman" pitchFamily="18" charset="0"/>
                <a:cs typeface="Times New Roman" pitchFamily="18" charset="0"/>
              </a:rPr>
              <a:t> в </a:t>
            </a:r>
            <a:r>
              <a:rPr lang="ru-RU" sz="1800" err="1">
                <a:latin typeface="Times New Roman" pitchFamily="18" charset="0"/>
                <a:cs typeface="Times New Roman" pitchFamily="18" charset="0"/>
              </a:rPr>
              <a:t>символна</a:t>
            </a:r>
            <a:r>
              <a:rPr lang="ru-RU" sz="1800">
                <a:latin typeface="Times New Roman" pitchFamily="18" charset="0"/>
                <a:cs typeface="Times New Roman" pitchFamily="18" charset="0"/>
              </a:rPr>
              <a:t> нотация. Има </a:t>
            </a:r>
            <a:r>
              <a:rPr lang="ru-RU" sz="1800" err="1">
                <a:latin typeface="Times New Roman" pitchFamily="18" charset="0"/>
                <a:cs typeface="Times New Roman" pitchFamily="18" charset="0"/>
              </a:rPr>
              <a:t>съответствие</a:t>
            </a:r>
            <a:r>
              <a:rPr lang="ru-RU" sz="1800">
                <a:latin typeface="Times New Roman" pitchFamily="18" charset="0"/>
                <a:cs typeface="Times New Roman" pitchFamily="18" charset="0"/>
              </a:rPr>
              <a:t> едно </a:t>
            </a:r>
            <a:r>
              <a:rPr lang="ru-RU" sz="1800" err="1">
                <a:latin typeface="Times New Roman" pitchFamily="18" charset="0"/>
                <a:cs typeface="Times New Roman" pitchFamily="18" charset="0"/>
              </a:rPr>
              <a:t>към</a:t>
            </a:r>
            <a:r>
              <a:rPr lang="ru-RU" sz="1800">
                <a:latin typeface="Times New Roman" pitchFamily="18" charset="0"/>
                <a:cs typeface="Times New Roman" pitchFamily="18" charset="0"/>
              </a:rPr>
              <a:t> едно между всяка инструкция на </a:t>
            </a:r>
            <a:r>
              <a:rPr lang="ru-RU" sz="1800" err="1">
                <a:latin typeface="Times New Roman" pitchFamily="18" charset="0"/>
                <a:cs typeface="Times New Roman" pitchFamily="18" charset="0"/>
              </a:rPr>
              <a:t>асемблерния</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език</a:t>
            </a:r>
            <a:r>
              <a:rPr lang="ru-RU" sz="1800">
                <a:latin typeface="Times New Roman" pitchFamily="18" charset="0"/>
                <a:cs typeface="Times New Roman" pitchFamily="18" charset="0"/>
              </a:rPr>
              <a:t> и инструкция на </a:t>
            </a:r>
            <a:r>
              <a:rPr lang="ru-RU" sz="1800" err="1">
                <a:latin typeface="Times New Roman" pitchFamily="18" charset="0"/>
                <a:cs typeface="Times New Roman" pitchFamily="18" charset="0"/>
              </a:rPr>
              <a:t>машинен</a:t>
            </a:r>
            <a:r>
              <a:rPr lang="ru-RU" sz="1800">
                <a:latin typeface="Times New Roman" pitchFamily="18" charset="0"/>
                <a:cs typeface="Times New Roman" pitchFamily="18" charset="0"/>
              </a:rPr>
              <a:t> код.</a:t>
            </a:r>
            <a:endParaRPr lang="en-US" sz="1800">
              <a:latin typeface="Times New Roman" pitchFamily="18" charset="0"/>
              <a:cs typeface="Times New Roman" pitchFamily="18" charset="0"/>
            </a:endParaRPr>
          </a:p>
          <a:p>
            <a:pPr marL="0" algn="just">
              <a:spcBef>
                <a:spcPts val="0"/>
              </a:spcBef>
            </a:pPr>
            <a:r>
              <a:rPr lang="ru-RU" sz="1800">
                <a:latin typeface="Times New Roman" pitchFamily="18" charset="0"/>
                <a:cs typeface="Times New Roman" pitchFamily="18" charset="0"/>
              </a:rPr>
              <a:t>Програмите на асемблерни езици трябва да бъдат написани от гледна точка на набора от инструкции и архитектура на конкретния процесор, като например регистри на процесора, места в паметта и регистри на входно/изходно устройство. </a:t>
            </a:r>
            <a:r>
              <a:rPr lang="ru-RU" sz="1800" err="1">
                <a:latin typeface="Times New Roman" pitchFamily="18" charset="0"/>
                <a:cs typeface="Times New Roman" pitchFamily="18" charset="0"/>
              </a:rPr>
              <a:t>Освен</a:t>
            </a:r>
            <a:r>
              <a:rPr lang="ru-RU" sz="1800">
                <a:latin typeface="Times New Roman" pitchFamily="18" charset="0"/>
                <a:cs typeface="Times New Roman" pitchFamily="18" charset="0"/>
              </a:rPr>
              <a:t> това </a:t>
            </a:r>
            <a:r>
              <a:rPr lang="ru-RU" sz="1800" err="1">
                <a:latin typeface="Times New Roman" pitchFamily="18" charset="0"/>
                <a:cs typeface="Times New Roman" pitchFamily="18" charset="0"/>
              </a:rPr>
              <a:t>паметта</a:t>
            </a:r>
            <a:r>
              <a:rPr lang="ru-RU" sz="1800">
                <a:latin typeface="Times New Roman" pitchFamily="18" charset="0"/>
                <a:cs typeface="Times New Roman" pitchFamily="18" charset="0"/>
              </a:rPr>
              <a:t> за </a:t>
            </a:r>
            <a:r>
              <a:rPr lang="ru-RU" sz="1800" err="1">
                <a:latin typeface="Times New Roman" pitchFamily="18" charset="0"/>
                <a:cs typeface="Times New Roman" pitchFamily="18" charset="0"/>
              </a:rPr>
              <a:t>съхранение</a:t>
            </a:r>
            <a:r>
              <a:rPr lang="ru-RU" sz="1800">
                <a:latin typeface="Times New Roman" pitchFamily="18" charset="0"/>
                <a:cs typeface="Times New Roman" pitchFamily="18" charset="0"/>
              </a:rPr>
              <a:t> трябва да </a:t>
            </a:r>
            <a:r>
              <a:rPr lang="ru-RU" sz="1800" err="1">
                <a:latin typeface="Times New Roman" pitchFamily="18" charset="0"/>
                <a:cs typeface="Times New Roman" pitchFamily="18" charset="0"/>
              </a:rPr>
              <a:t>бъде</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изрично</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разпределена</a:t>
            </a:r>
            <a:r>
              <a:rPr lang="ru-RU" sz="1800">
                <a:latin typeface="Times New Roman" pitchFamily="18" charset="0"/>
                <a:cs typeface="Times New Roman" pitchFamily="18" charset="0"/>
              </a:rPr>
              <a:t> за </a:t>
            </a:r>
            <a:r>
              <a:rPr lang="ru-RU" sz="1800" err="1">
                <a:latin typeface="Times New Roman" pitchFamily="18" charset="0"/>
                <a:cs typeface="Times New Roman" pitchFamily="18" charset="0"/>
              </a:rPr>
              <a:t>обекти</a:t>
            </a:r>
            <a:r>
              <a:rPr lang="ru-RU" sz="1800">
                <a:latin typeface="Times New Roman" pitchFamily="18" charset="0"/>
                <a:cs typeface="Times New Roman" pitchFamily="18" charset="0"/>
              </a:rPr>
              <a:t> с данни, </a:t>
            </a:r>
            <a:r>
              <a:rPr lang="ru-RU" sz="1800" err="1">
                <a:latin typeface="Times New Roman" pitchFamily="18" charset="0"/>
                <a:cs typeface="Times New Roman" pitchFamily="18" charset="0"/>
              </a:rPr>
              <a:t>използващи</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примитивни</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типове</a:t>
            </a:r>
            <a:r>
              <a:rPr lang="ru-RU" sz="1800">
                <a:latin typeface="Times New Roman" pitchFamily="18" charset="0"/>
                <a:cs typeface="Times New Roman" pitchFamily="18" charset="0"/>
              </a:rPr>
              <a:t> данни. </a:t>
            </a:r>
            <a:endParaRPr lang="en-US" sz="1800">
              <a:latin typeface="Times New Roman" pitchFamily="18" charset="0"/>
              <a:cs typeface="Times New Roman" pitchFamily="18" charset="0"/>
            </a:endParaRPr>
          </a:p>
          <a:p>
            <a:pPr marL="0" algn="just">
              <a:spcBef>
                <a:spcPts val="0"/>
              </a:spcBef>
            </a:pPr>
            <a:r>
              <a:rPr lang="ru-RU" sz="1800" err="1">
                <a:latin typeface="Times New Roman" pitchFamily="18" charset="0"/>
                <a:cs typeface="Times New Roman" pitchFamily="18" charset="0"/>
              </a:rPr>
              <a:t>Асемблерният</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език</a:t>
            </a:r>
            <a:r>
              <a:rPr lang="ru-RU" sz="1800">
                <a:latin typeface="Times New Roman" pitchFamily="18" charset="0"/>
                <a:cs typeface="Times New Roman" pitchFamily="18" charset="0"/>
              </a:rPr>
              <a:t> използва мнемоника за всяка инструкция на </a:t>
            </a:r>
            <a:r>
              <a:rPr lang="ru-RU" sz="1800" err="1">
                <a:latin typeface="Times New Roman" pitchFamily="18" charset="0"/>
                <a:cs typeface="Times New Roman" pitchFamily="18" charset="0"/>
              </a:rPr>
              <a:t>ниво</a:t>
            </a:r>
            <a:r>
              <a:rPr lang="ru-RU" sz="1800">
                <a:latin typeface="Times New Roman" pitchFamily="18" charset="0"/>
                <a:cs typeface="Times New Roman" pitchFamily="18" charset="0"/>
              </a:rPr>
              <a:t> машина. </a:t>
            </a:r>
            <a:r>
              <a:rPr lang="ru-RU" sz="1800" err="1">
                <a:latin typeface="Times New Roman" pitchFamily="18" charset="0"/>
                <a:cs typeface="Times New Roman" pitchFamily="18" charset="0"/>
              </a:rPr>
              <a:t>Мнемониката</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обикновено</a:t>
            </a:r>
            <a:r>
              <a:rPr lang="ru-RU" sz="1800">
                <a:latin typeface="Times New Roman" pitchFamily="18" charset="0"/>
                <a:cs typeface="Times New Roman" pitchFamily="18" charset="0"/>
              </a:rPr>
              <a:t> е специфична за един </a:t>
            </a:r>
            <a:r>
              <a:rPr lang="ru-RU" sz="1800" err="1">
                <a:latin typeface="Times New Roman" pitchFamily="18" charset="0"/>
                <a:cs typeface="Times New Roman" pitchFamily="18" charset="0"/>
              </a:rPr>
              <a:t>процесор</a:t>
            </a:r>
            <a:r>
              <a:rPr lang="ru-RU" sz="1800">
                <a:latin typeface="Times New Roman" pitchFamily="18" charset="0"/>
                <a:cs typeface="Times New Roman" pitchFamily="18" charset="0"/>
              </a:rPr>
              <a:t> или семейство от </a:t>
            </a:r>
            <a:r>
              <a:rPr lang="ru-RU" sz="1800" err="1">
                <a:latin typeface="Times New Roman" pitchFamily="18" charset="0"/>
                <a:cs typeface="Times New Roman" pitchFamily="18" charset="0"/>
              </a:rPr>
              <a:t>процесори</a:t>
            </a:r>
            <a:r>
              <a:rPr lang="ru-RU" sz="1800">
                <a:latin typeface="Times New Roman" pitchFamily="18" charset="0"/>
                <a:cs typeface="Times New Roman" pitchFamily="18" charset="0"/>
              </a:rPr>
              <a:t> и е избрана така, че </a:t>
            </a:r>
            <a:r>
              <a:rPr lang="ru-RU" sz="1800" err="1">
                <a:latin typeface="Times New Roman" pitchFamily="18" charset="0"/>
                <a:cs typeface="Times New Roman" pitchFamily="18" charset="0"/>
              </a:rPr>
              <a:t>функцията</a:t>
            </a:r>
            <a:r>
              <a:rPr lang="ru-RU" sz="1800">
                <a:latin typeface="Times New Roman" pitchFamily="18" charset="0"/>
                <a:cs typeface="Times New Roman" pitchFamily="18" charset="0"/>
              </a:rPr>
              <a:t> на </a:t>
            </a:r>
            <a:r>
              <a:rPr lang="ru-RU" sz="1800" err="1">
                <a:latin typeface="Times New Roman" pitchFamily="18" charset="0"/>
                <a:cs typeface="Times New Roman" pitchFamily="18" charset="0"/>
              </a:rPr>
              <a:t>инструкцията</a:t>
            </a:r>
            <a:r>
              <a:rPr lang="ru-RU" sz="1800">
                <a:latin typeface="Times New Roman" pitchFamily="18" charset="0"/>
                <a:cs typeface="Times New Roman" pitchFamily="18" charset="0"/>
              </a:rPr>
              <a:t> да е </a:t>
            </a:r>
            <a:r>
              <a:rPr lang="ru-RU" sz="1800" err="1">
                <a:latin typeface="Times New Roman" pitchFamily="18" charset="0"/>
                <a:cs typeface="Times New Roman" pitchFamily="18" charset="0"/>
              </a:rPr>
              <a:t>доста</a:t>
            </a:r>
            <a:r>
              <a:rPr lang="ru-RU" sz="1800">
                <a:latin typeface="Times New Roman" pitchFamily="18" charset="0"/>
                <a:cs typeface="Times New Roman" pitchFamily="18" charset="0"/>
              </a:rPr>
              <a:t> очевидна (напр. ADD, SUB, MOV и т.н.). В </a:t>
            </a:r>
            <a:r>
              <a:rPr lang="ru-RU" sz="1800" err="1">
                <a:latin typeface="Times New Roman" pitchFamily="18" charset="0"/>
                <a:cs typeface="Times New Roman" pitchFamily="18" charset="0"/>
              </a:rPr>
              <a:t>допълнение</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потребителят</a:t>
            </a:r>
            <a:r>
              <a:rPr lang="ru-RU" sz="1800">
                <a:latin typeface="Times New Roman" pitchFamily="18" charset="0"/>
                <a:cs typeface="Times New Roman" pitchFamily="18" charset="0"/>
              </a:rPr>
              <a:t> трябва да </a:t>
            </a:r>
            <a:r>
              <a:rPr lang="ru-RU" sz="1800" err="1">
                <a:latin typeface="Times New Roman" pitchFamily="18" charset="0"/>
                <a:cs typeface="Times New Roman" pitchFamily="18" charset="0"/>
              </a:rPr>
              <a:t>дефинира</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символни</a:t>
            </a:r>
            <a:r>
              <a:rPr lang="ru-RU" sz="1800">
                <a:latin typeface="Times New Roman" pitchFamily="18" charset="0"/>
                <a:cs typeface="Times New Roman" pitchFamily="18" charset="0"/>
              </a:rPr>
              <a:t> имена за </a:t>
            </a:r>
            <a:r>
              <a:rPr lang="ru-RU" sz="1800" err="1">
                <a:latin typeface="Times New Roman" pitchFamily="18" charset="0"/>
                <a:cs typeface="Times New Roman" pitchFamily="18" charset="0"/>
              </a:rPr>
              <a:t>обекти</a:t>
            </a:r>
            <a:r>
              <a:rPr lang="ru-RU" sz="1800">
                <a:latin typeface="Times New Roman" pitchFamily="18" charset="0"/>
                <a:cs typeface="Times New Roman" pitchFamily="18" charset="0"/>
              </a:rPr>
              <a:t> с данни като </a:t>
            </a:r>
            <a:r>
              <a:rPr lang="ru-RU" sz="1800" err="1">
                <a:latin typeface="Times New Roman" pitchFamily="18" charset="0"/>
                <a:cs typeface="Times New Roman" pitchFamily="18" charset="0"/>
              </a:rPr>
              <a:t>променливи</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адреси</a:t>
            </a:r>
            <a:r>
              <a:rPr lang="ru-RU" sz="1800">
                <a:latin typeface="Times New Roman" pitchFamily="18" charset="0"/>
                <a:cs typeface="Times New Roman" pitchFamily="18" charset="0"/>
              </a:rPr>
              <a:t> на </a:t>
            </a:r>
            <a:r>
              <a:rPr lang="ru-RU" sz="1800" err="1">
                <a:latin typeface="Times New Roman" pitchFamily="18" charset="0"/>
                <a:cs typeface="Times New Roman" pitchFamily="18" charset="0"/>
              </a:rPr>
              <a:t>паметта</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константи</a:t>
            </a:r>
            <a:r>
              <a:rPr lang="ru-RU" sz="1800">
                <a:latin typeface="Times New Roman" pitchFamily="18" charset="0"/>
                <a:cs typeface="Times New Roman" pitchFamily="18" charset="0"/>
              </a:rPr>
              <a:t> на данни и </a:t>
            </a:r>
            <a:r>
              <a:rPr lang="ru-RU" sz="1800" err="1">
                <a:latin typeface="Times New Roman" pitchFamily="18" charset="0"/>
                <a:cs typeface="Times New Roman" pitchFamily="18" charset="0"/>
              </a:rPr>
              <a:t>етикети</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кодови</a:t>
            </a:r>
            <a:r>
              <a:rPr lang="ru-RU" sz="1800">
                <a:latin typeface="Times New Roman" pitchFamily="18" charset="0"/>
                <a:cs typeface="Times New Roman" pitchFamily="18" charset="0"/>
              </a:rPr>
              <a:t> местоположения).</a:t>
            </a:r>
            <a:endParaRPr lang="en-US" sz="1800">
              <a:latin typeface="Times New Roman" pitchFamily="18" charset="0"/>
              <a:cs typeface="Times New Roman" pitchFamily="18" charset="0"/>
            </a:endParaRPr>
          </a:p>
        </p:txBody>
      </p:sp>
      <p:sp>
        <p:nvSpPr>
          <p:cNvPr id="4" name="Title 1"/>
          <p:cNvSpPr>
            <a:spLocks noGrp="1"/>
          </p:cNvSpPr>
          <p:nvPr>
            <p:ph type="title"/>
          </p:nvPr>
        </p:nvSpPr>
        <p:spPr>
          <a:xfrm>
            <a:off x="498733" y="548680"/>
            <a:ext cx="8429684" cy="1143000"/>
          </a:xfrm>
        </p:spPr>
        <p:txBody>
          <a:bodyPr>
            <a:normAutofit/>
          </a:bodyPr>
          <a:lstStyle/>
          <a:p>
            <a:r>
              <a:rPr lang="bg-BG" sz="2900">
                <a:latin typeface="Times New Roman" pitchFamily="18" charset="0"/>
                <a:cs typeface="Times New Roman" pitchFamily="18" charset="0"/>
              </a:rPr>
              <a:t>Създаване, транслиране и изпълнение на асемблерна програма.</a:t>
            </a:r>
            <a:endParaRPr lang="bg-BG" sz="2900" b="1"/>
          </a:p>
        </p:txBody>
      </p:sp>
    </p:spTree>
    <p:extLst>
      <p:ext uri="{BB962C8B-B14F-4D97-AF65-F5344CB8AC3E}">
        <p14:creationId xmlns:p14="http://schemas.microsoft.com/office/powerpoint/2010/main" val="4154239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64" y="1772816"/>
            <a:ext cx="8643998" cy="4643470"/>
          </a:xfrm>
        </p:spPr>
        <p:txBody>
          <a:bodyPr>
            <a:noAutofit/>
          </a:bodyPr>
          <a:lstStyle/>
          <a:p>
            <a:pPr marL="0" algn="just">
              <a:spcBef>
                <a:spcPts val="0"/>
              </a:spcBef>
            </a:pPr>
            <a:r>
              <a:rPr lang="ru-RU" sz="1800" err="1">
                <a:latin typeface="Times New Roman" pitchFamily="18" charset="0"/>
                <a:cs typeface="Times New Roman" pitchFamily="18" charset="0"/>
              </a:rPr>
              <a:t>Кодът</a:t>
            </a:r>
            <a:r>
              <a:rPr lang="ru-RU" sz="1800">
                <a:latin typeface="Times New Roman" pitchFamily="18" charset="0"/>
                <a:cs typeface="Times New Roman" pitchFamily="18" charset="0"/>
              </a:rPr>
              <a:t> от </a:t>
            </a:r>
            <a:r>
              <a:rPr lang="ru-RU" sz="1800" err="1">
                <a:latin typeface="Times New Roman" pitchFamily="18" charset="0"/>
                <a:cs typeface="Times New Roman" pitchFamily="18" charset="0"/>
              </a:rPr>
              <a:t>ниско</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ниво</a:t>
            </a:r>
            <a:r>
              <a:rPr lang="ru-RU" sz="1800">
                <a:latin typeface="Times New Roman" pitchFamily="18" charset="0"/>
                <a:cs typeface="Times New Roman" pitchFamily="18" charset="0"/>
              </a:rPr>
              <a:t> се </a:t>
            </a:r>
            <a:r>
              <a:rPr lang="ru-RU" sz="1800" err="1">
                <a:latin typeface="Times New Roman" pitchFamily="18" charset="0"/>
                <a:cs typeface="Times New Roman" pitchFamily="18" charset="0"/>
              </a:rPr>
              <a:t>превежда</a:t>
            </a:r>
            <a:r>
              <a:rPr lang="ru-RU" sz="1800">
                <a:latin typeface="Times New Roman" pitchFamily="18" charset="0"/>
                <a:cs typeface="Times New Roman" pitchFamily="18" charset="0"/>
              </a:rPr>
              <a:t> в </a:t>
            </a:r>
            <a:r>
              <a:rPr lang="ru-RU" sz="1800" err="1">
                <a:latin typeface="Times New Roman" pitchFamily="18" charset="0"/>
                <a:cs typeface="Times New Roman" pitchFamily="18" charset="0"/>
              </a:rPr>
              <a:t>машинен</a:t>
            </a:r>
            <a:r>
              <a:rPr lang="ru-RU" sz="1800">
                <a:latin typeface="Times New Roman" pitchFamily="18" charset="0"/>
                <a:cs typeface="Times New Roman" pitchFamily="18" charset="0"/>
              </a:rPr>
              <a:t> код чрез прост процес на транслитерация, </a:t>
            </a:r>
            <a:r>
              <a:rPr lang="ru-RU" sz="1800" err="1">
                <a:latin typeface="Times New Roman" pitchFamily="18" charset="0"/>
                <a:cs typeface="Times New Roman" pitchFamily="18" charset="0"/>
              </a:rPr>
              <a:t>който</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обикновено</a:t>
            </a:r>
            <a:r>
              <a:rPr lang="ru-RU" sz="1800">
                <a:latin typeface="Times New Roman" pitchFamily="18" charset="0"/>
                <a:cs typeface="Times New Roman" pitchFamily="18" charset="0"/>
              </a:rPr>
              <a:t> се </a:t>
            </a:r>
            <a:r>
              <a:rPr lang="ru-RU" sz="1800" err="1">
                <a:latin typeface="Times New Roman" pitchFamily="18" charset="0"/>
                <a:cs typeface="Times New Roman" pitchFamily="18" charset="0"/>
              </a:rPr>
              <a:t>извършва</a:t>
            </a:r>
            <a:r>
              <a:rPr lang="ru-RU" sz="1800">
                <a:latin typeface="Times New Roman" pitchFamily="18" charset="0"/>
                <a:cs typeface="Times New Roman" pitchFamily="18" charset="0"/>
              </a:rPr>
              <a:t> от </a:t>
            </a:r>
            <a:r>
              <a:rPr lang="ru-RU" sz="1800" err="1">
                <a:latin typeface="Times New Roman" pitchFamily="18" charset="0"/>
                <a:cs typeface="Times New Roman" pitchFamily="18" charset="0"/>
              </a:rPr>
              <a:t>програма</a:t>
            </a:r>
            <a:r>
              <a:rPr lang="ru-RU" sz="1800">
                <a:latin typeface="Times New Roman" pitchFamily="18" charset="0"/>
                <a:cs typeface="Times New Roman" pitchFamily="18" charset="0"/>
              </a:rPr>
              <a:t>, известна като </a:t>
            </a:r>
            <a:r>
              <a:rPr lang="ru-RU" sz="1800" err="1">
                <a:latin typeface="Times New Roman" pitchFamily="18" charset="0"/>
                <a:cs typeface="Times New Roman" pitchFamily="18" charset="0"/>
              </a:rPr>
              <a:t>асемблер</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Асемблерът</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проверява</a:t>
            </a:r>
            <a:r>
              <a:rPr lang="ru-RU" sz="1800">
                <a:latin typeface="Times New Roman" pitchFamily="18" charset="0"/>
                <a:cs typeface="Times New Roman" pitchFamily="18" charset="0"/>
              </a:rPr>
              <a:t> синтаксиса и използването на всяка от </a:t>
            </a:r>
            <a:r>
              <a:rPr lang="ru-RU" sz="1800" err="1">
                <a:latin typeface="Times New Roman" pitchFamily="18" charset="0"/>
                <a:cs typeface="Times New Roman" pitchFamily="18" charset="0"/>
              </a:rPr>
              <a:t>инструкциите</a:t>
            </a:r>
            <a:r>
              <a:rPr lang="ru-RU" sz="1800">
                <a:latin typeface="Times New Roman" pitchFamily="18" charset="0"/>
                <a:cs typeface="Times New Roman" pitchFamily="18" charset="0"/>
              </a:rPr>
              <a:t> в </a:t>
            </a:r>
            <a:r>
              <a:rPr lang="ru-RU" sz="1800" err="1">
                <a:latin typeface="Times New Roman" pitchFamily="18" charset="0"/>
                <a:cs typeface="Times New Roman" pitchFamily="18" charset="0"/>
              </a:rPr>
              <a:t>изходния</a:t>
            </a:r>
            <a:r>
              <a:rPr lang="ru-RU" sz="1800">
                <a:latin typeface="Times New Roman" pitchFamily="18" charset="0"/>
                <a:cs typeface="Times New Roman" pitchFamily="18" charset="0"/>
              </a:rPr>
              <a:t> текст („</a:t>
            </a:r>
            <a:r>
              <a:rPr lang="ru-RU" sz="1800" err="1">
                <a:latin typeface="Times New Roman" pitchFamily="18" charset="0"/>
                <a:cs typeface="Times New Roman" pitchFamily="18" charset="0"/>
              </a:rPr>
              <a:t>изходния</a:t>
            </a:r>
            <a:r>
              <a:rPr lang="ru-RU" sz="1800">
                <a:latin typeface="Times New Roman" pitchFamily="18" charset="0"/>
                <a:cs typeface="Times New Roman" pitchFamily="18" charset="0"/>
              </a:rPr>
              <a:t> код“) и </a:t>
            </a:r>
            <a:r>
              <a:rPr lang="ru-RU" sz="1800" err="1">
                <a:latin typeface="Times New Roman" pitchFamily="18" charset="0"/>
                <a:cs typeface="Times New Roman" pitchFamily="18" charset="0"/>
              </a:rPr>
              <a:t>създава</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кръстосани</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препратки</a:t>
            </a:r>
            <a:r>
              <a:rPr lang="ru-RU" sz="1800">
                <a:latin typeface="Times New Roman" pitchFamily="18" charset="0"/>
                <a:cs typeface="Times New Roman" pitchFamily="18" charset="0"/>
              </a:rPr>
              <a:t> за </a:t>
            </a:r>
            <a:r>
              <a:rPr lang="ru-RU" sz="1800" err="1">
                <a:latin typeface="Times New Roman" pitchFamily="18" charset="0"/>
                <a:cs typeface="Times New Roman" pitchFamily="18" charset="0"/>
              </a:rPr>
              <a:t>всякакви</a:t>
            </a:r>
            <a:r>
              <a:rPr lang="ru-RU" sz="1800">
                <a:latin typeface="Times New Roman" pitchFamily="18" charset="0"/>
                <a:cs typeface="Times New Roman" pitchFamily="18" charset="0"/>
              </a:rPr>
              <a:t> инструкции за </a:t>
            </a:r>
            <a:r>
              <a:rPr lang="ru-RU" sz="1800" err="1">
                <a:latin typeface="Times New Roman" pitchFamily="18" charset="0"/>
                <a:cs typeface="Times New Roman" pitchFamily="18" charset="0"/>
              </a:rPr>
              <a:t>прескачане</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разклоняване</a:t>
            </a:r>
            <a:r>
              <a:rPr lang="ru-RU" sz="1800">
                <a:latin typeface="Times New Roman" pitchFamily="18" charset="0"/>
                <a:cs typeface="Times New Roman" pitchFamily="18" charset="0"/>
              </a:rPr>
              <a:t> или </a:t>
            </a:r>
            <a:r>
              <a:rPr lang="ru-RU" sz="1800" err="1">
                <a:latin typeface="Times New Roman" pitchFamily="18" charset="0"/>
                <a:cs typeface="Times New Roman" pitchFamily="18" charset="0"/>
              </a:rPr>
              <a:t>достъп</a:t>
            </a:r>
            <a:r>
              <a:rPr lang="ru-RU" sz="1800">
                <a:latin typeface="Times New Roman" pitchFamily="18" charset="0"/>
                <a:cs typeface="Times New Roman" pitchFamily="18" charset="0"/>
              </a:rPr>
              <a:t> до данни.</a:t>
            </a:r>
            <a:endParaRPr lang="en-US" sz="1800">
              <a:latin typeface="Times New Roman" pitchFamily="18" charset="0"/>
              <a:cs typeface="Times New Roman" pitchFamily="18" charset="0"/>
            </a:endParaRPr>
          </a:p>
          <a:p>
            <a:pPr marL="0" algn="just">
              <a:spcBef>
                <a:spcPts val="0"/>
              </a:spcBef>
            </a:pPr>
            <a:r>
              <a:rPr lang="ru-RU" sz="1800" err="1">
                <a:latin typeface="Times New Roman" pitchFamily="18" charset="0"/>
                <a:cs typeface="Times New Roman" pitchFamily="18" charset="0"/>
              </a:rPr>
              <a:t>Инструкцията</a:t>
            </a:r>
            <a:r>
              <a:rPr lang="ru-RU" sz="1800">
                <a:latin typeface="Times New Roman" pitchFamily="18" charset="0"/>
                <a:cs typeface="Times New Roman" pitchFamily="18" charset="0"/>
              </a:rPr>
              <a:t> на </a:t>
            </a:r>
            <a:r>
              <a:rPr lang="ru-RU" sz="1800" err="1">
                <a:latin typeface="Times New Roman" pitchFamily="18" charset="0"/>
                <a:cs typeface="Times New Roman" pitchFamily="18" charset="0"/>
              </a:rPr>
              <a:t>асемблерния</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език</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казва</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същото</a:t>
            </a:r>
            <a:r>
              <a:rPr lang="ru-RU" sz="1800">
                <a:latin typeface="Times New Roman" pitchFamily="18" charset="0"/>
                <a:cs typeface="Times New Roman" pitchFamily="18" charset="0"/>
              </a:rPr>
              <a:t> като </a:t>
            </a:r>
            <a:r>
              <a:rPr lang="ru-RU" sz="1800" err="1">
                <a:latin typeface="Times New Roman" pitchFamily="18" charset="0"/>
                <a:cs typeface="Times New Roman" pitchFamily="18" charset="0"/>
              </a:rPr>
              <a:t>инструкцията</a:t>
            </a:r>
            <a:r>
              <a:rPr lang="ru-RU" sz="1800">
                <a:latin typeface="Times New Roman" pitchFamily="18" charset="0"/>
                <a:cs typeface="Times New Roman" pitchFamily="18" charset="0"/>
              </a:rPr>
              <a:t> на </a:t>
            </a:r>
            <a:r>
              <a:rPr lang="ru-RU" sz="1800" err="1">
                <a:latin typeface="Times New Roman" pitchFamily="18" charset="0"/>
                <a:cs typeface="Times New Roman" pitchFamily="18" charset="0"/>
              </a:rPr>
              <a:t>машинния</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език</a:t>
            </a:r>
            <a:r>
              <a:rPr lang="ru-RU" sz="1800">
                <a:latin typeface="Times New Roman" pitchFamily="18" charset="0"/>
                <a:cs typeface="Times New Roman" pitchFamily="18" charset="0"/>
              </a:rPr>
              <a:t>, но трябва да </a:t>
            </a:r>
            <a:r>
              <a:rPr lang="ru-RU" sz="1800" err="1">
                <a:latin typeface="Times New Roman" pitchFamily="18" charset="0"/>
                <a:cs typeface="Times New Roman" pitchFamily="18" charset="0"/>
              </a:rPr>
              <a:t>бъде</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преведена</a:t>
            </a:r>
            <a:r>
              <a:rPr lang="ru-RU" sz="1800">
                <a:latin typeface="Times New Roman" pitchFamily="18" charset="0"/>
                <a:cs typeface="Times New Roman" pitchFamily="18" charset="0"/>
              </a:rPr>
              <a:t> в битов </a:t>
            </a:r>
            <a:r>
              <a:rPr lang="ru-RU" sz="1800" err="1">
                <a:latin typeface="Times New Roman" pitchFamily="18" charset="0"/>
                <a:cs typeface="Times New Roman" pitchFamily="18" charset="0"/>
              </a:rPr>
              <a:t>модел</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преди</a:t>
            </a:r>
            <a:r>
              <a:rPr lang="ru-RU" sz="1800">
                <a:latin typeface="Times New Roman" pitchFamily="18" charset="0"/>
                <a:cs typeface="Times New Roman" pitchFamily="18" charset="0"/>
              </a:rPr>
              <a:t> да </a:t>
            </a:r>
            <a:r>
              <a:rPr lang="ru-RU" sz="1800" err="1">
                <a:latin typeface="Times New Roman" pitchFamily="18" charset="0"/>
                <a:cs typeface="Times New Roman" pitchFamily="18" charset="0"/>
              </a:rPr>
              <a:t>може</a:t>
            </a:r>
            <a:r>
              <a:rPr lang="ru-RU" sz="1800">
                <a:latin typeface="Times New Roman" pitchFamily="18" charset="0"/>
                <a:cs typeface="Times New Roman" pitchFamily="18" charset="0"/>
              </a:rPr>
              <a:t> да </a:t>
            </a:r>
            <a:r>
              <a:rPr lang="ru-RU" sz="1800" err="1">
                <a:latin typeface="Times New Roman" pitchFamily="18" charset="0"/>
                <a:cs typeface="Times New Roman" pitchFamily="18" charset="0"/>
              </a:rPr>
              <a:t>бъде</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изпълнена</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Програмата</a:t>
            </a:r>
            <a:r>
              <a:rPr lang="ru-RU" sz="1800">
                <a:latin typeface="Times New Roman" pitchFamily="18" charset="0"/>
                <a:cs typeface="Times New Roman" pitchFamily="18" charset="0"/>
              </a:rPr>
              <a:t> на </a:t>
            </a:r>
            <a:r>
              <a:rPr lang="ru-RU" sz="1800" err="1">
                <a:latin typeface="Times New Roman" pitchFamily="18" charset="0"/>
                <a:cs typeface="Times New Roman" pitchFamily="18" charset="0"/>
              </a:rPr>
              <a:t>асемблерния</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език</a:t>
            </a:r>
            <a:r>
              <a:rPr lang="ru-RU" sz="1800">
                <a:latin typeface="Times New Roman" pitchFamily="18" charset="0"/>
                <a:cs typeface="Times New Roman" pitchFamily="18" charset="0"/>
              </a:rPr>
              <a:t> се </a:t>
            </a:r>
            <a:r>
              <a:rPr lang="ru-RU" sz="1800" err="1">
                <a:latin typeface="Times New Roman" pitchFamily="18" charset="0"/>
                <a:cs typeface="Times New Roman" pitchFamily="18" charset="0"/>
              </a:rPr>
              <a:t>състои</a:t>
            </a:r>
            <a:r>
              <a:rPr lang="ru-RU" sz="1800">
                <a:latin typeface="Times New Roman" pitchFamily="18" charset="0"/>
                <a:cs typeface="Times New Roman" pitchFamily="18" charset="0"/>
              </a:rPr>
              <a:t> от </a:t>
            </a:r>
            <a:r>
              <a:rPr lang="ru-RU" sz="1800" err="1">
                <a:latin typeface="Times New Roman" pitchFamily="18" charset="0"/>
                <a:cs typeface="Times New Roman" pitchFamily="18" charset="0"/>
              </a:rPr>
              <a:t>изрази</a:t>
            </a:r>
            <a:r>
              <a:rPr lang="ru-RU" sz="1800">
                <a:latin typeface="Times New Roman" pitchFamily="18" charset="0"/>
                <a:cs typeface="Times New Roman" pitchFamily="18" charset="0"/>
              </a:rPr>
              <a:t> на </a:t>
            </a:r>
            <a:r>
              <a:rPr lang="ru-RU" sz="1800" err="1">
                <a:latin typeface="Times New Roman" pitchFamily="18" charset="0"/>
                <a:cs typeface="Times New Roman" pitchFamily="18" charset="0"/>
              </a:rPr>
              <a:t>асемблерния</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език</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изрази</a:t>
            </a:r>
            <a:r>
              <a:rPr lang="ru-RU" sz="1800">
                <a:latin typeface="Times New Roman" pitchFamily="18" charset="0"/>
                <a:cs typeface="Times New Roman" pitchFamily="18" charset="0"/>
              </a:rPr>
              <a:t>, които </a:t>
            </a:r>
            <a:r>
              <a:rPr lang="ru-RU" sz="1800" err="1">
                <a:latin typeface="Times New Roman" pitchFamily="18" charset="0"/>
                <a:cs typeface="Times New Roman" pitchFamily="18" charset="0"/>
              </a:rPr>
              <a:t>дефинират</a:t>
            </a:r>
            <a:r>
              <a:rPr lang="ru-RU" sz="1800">
                <a:latin typeface="Times New Roman" pitchFamily="18" charset="0"/>
                <a:cs typeface="Times New Roman" pitchFamily="18" charset="0"/>
              </a:rPr>
              <a:t> данни и </a:t>
            </a:r>
            <a:r>
              <a:rPr lang="ru-RU" sz="1800" err="1">
                <a:latin typeface="Times New Roman" pitchFamily="18" charset="0"/>
                <a:cs typeface="Times New Roman" pitchFamily="18" charset="0"/>
              </a:rPr>
              <a:t>допълнителна</a:t>
            </a:r>
            <a:r>
              <a:rPr lang="ru-RU" sz="1800">
                <a:latin typeface="Times New Roman" pitchFamily="18" charset="0"/>
                <a:cs typeface="Times New Roman" pitchFamily="18" charset="0"/>
              </a:rPr>
              <a:t> информация, </a:t>
            </a:r>
            <a:r>
              <a:rPr lang="ru-RU" sz="1800" err="1">
                <a:latin typeface="Times New Roman" pitchFamily="18" charset="0"/>
                <a:cs typeface="Times New Roman" pitchFamily="18" charset="0"/>
              </a:rPr>
              <a:t>която</a:t>
            </a:r>
            <a:r>
              <a:rPr lang="ru-RU" sz="1800">
                <a:latin typeface="Times New Roman" pitchFamily="18" charset="0"/>
                <a:cs typeface="Times New Roman" pitchFamily="18" charset="0"/>
              </a:rPr>
              <a:t> помага при </a:t>
            </a:r>
            <a:r>
              <a:rPr lang="ru-RU" sz="1800" err="1">
                <a:latin typeface="Times New Roman" pitchFamily="18" charset="0"/>
                <a:cs typeface="Times New Roman" pitchFamily="18" charset="0"/>
              </a:rPr>
              <a:t>превода</a:t>
            </a:r>
            <a:r>
              <a:rPr lang="en-US" sz="1800">
                <a:latin typeface="Times New Roman" pitchFamily="18" charset="0"/>
                <a:cs typeface="Times New Roman" pitchFamily="18" charset="0"/>
              </a:rPr>
              <a:t>.</a:t>
            </a:r>
          </a:p>
          <a:p>
            <a:pPr marL="0" algn="just">
              <a:spcBef>
                <a:spcPts val="0"/>
              </a:spcBef>
            </a:pPr>
            <a:endParaRPr lang="en-US" sz="1800">
              <a:latin typeface="Times New Roman" pitchFamily="18" charset="0"/>
              <a:cs typeface="Times New Roman" pitchFamily="18" charset="0"/>
            </a:endParaRPr>
          </a:p>
        </p:txBody>
      </p:sp>
      <p:sp>
        <p:nvSpPr>
          <p:cNvPr id="4" name="Title 1"/>
          <p:cNvSpPr>
            <a:spLocks noGrp="1"/>
          </p:cNvSpPr>
          <p:nvPr>
            <p:ph type="title"/>
          </p:nvPr>
        </p:nvSpPr>
        <p:spPr>
          <a:xfrm>
            <a:off x="498733" y="548680"/>
            <a:ext cx="8429684" cy="1143000"/>
          </a:xfrm>
        </p:spPr>
        <p:txBody>
          <a:bodyPr>
            <a:normAutofit/>
          </a:bodyPr>
          <a:lstStyle/>
          <a:p>
            <a:r>
              <a:rPr lang="bg-BG" sz="2900">
                <a:latin typeface="Times New Roman" pitchFamily="18" charset="0"/>
                <a:cs typeface="Times New Roman" pitchFamily="18" charset="0"/>
              </a:rPr>
              <a:t>Създаване, транслиране и изпълнение на асемблерна програма.</a:t>
            </a:r>
            <a:endParaRPr lang="bg-BG" sz="2900" b="1"/>
          </a:p>
        </p:txBody>
      </p:sp>
      <p:pic>
        <p:nvPicPr>
          <p:cNvPr id="2" name="Картина 1"/>
          <p:cNvPicPr>
            <a:picLocks noChangeAspect="1"/>
          </p:cNvPicPr>
          <p:nvPr/>
        </p:nvPicPr>
        <p:blipFill>
          <a:blip r:embed="rId2" cstate="print"/>
          <a:stretch>
            <a:fillRect/>
          </a:stretch>
        </p:blipFill>
        <p:spPr>
          <a:xfrm>
            <a:off x="688845" y="4581128"/>
            <a:ext cx="7421059" cy="1728192"/>
          </a:xfrm>
          <a:prstGeom prst="rect">
            <a:avLst/>
          </a:prstGeom>
        </p:spPr>
      </p:pic>
    </p:spTree>
    <p:extLst>
      <p:ext uri="{BB962C8B-B14F-4D97-AF65-F5344CB8AC3E}">
        <p14:creationId xmlns:p14="http://schemas.microsoft.com/office/powerpoint/2010/main" val="1837738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64" y="1772816"/>
            <a:ext cx="8643998" cy="4643470"/>
          </a:xfrm>
        </p:spPr>
        <p:txBody>
          <a:bodyPr>
            <a:noAutofit/>
          </a:bodyPr>
          <a:lstStyle/>
          <a:p>
            <a:pPr marL="0" algn="just">
              <a:spcBef>
                <a:spcPts val="0"/>
              </a:spcBef>
            </a:pPr>
            <a:r>
              <a:rPr lang="ru-RU" sz="2200">
                <a:latin typeface="Times New Roman" pitchFamily="18" charset="0"/>
                <a:cs typeface="Times New Roman" pitchFamily="18" charset="0"/>
              </a:rPr>
              <a:t>Има два </a:t>
            </a:r>
            <a:r>
              <a:rPr lang="ru-RU" sz="2200" err="1">
                <a:latin typeface="Times New Roman" pitchFamily="18" charset="0"/>
                <a:cs typeface="Times New Roman" pitchFamily="18" charset="0"/>
              </a:rPr>
              <a:t>основни</a:t>
            </a:r>
            <a:r>
              <a:rPr lang="ru-RU" sz="2200">
                <a:latin typeface="Times New Roman" pitchFamily="18" charset="0"/>
                <a:cs typeface="Times New Roman" pitchFamily="18" charset="0"/>
              </a:rPr>
              <a:t> типа </a:t>
            </a:r>
            <a:r>
              <a:rPr lang="ru-RU" sz="2200" err="1">
                <a:latin typeface="Times New Roman" pitchFamily="18" charset="0"/>
                <a:cs typeface="Times New Roman" pitchFamily="18" charset="0"/>
              </a:rPr>
              <a:t>асемблери</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едноходови</a:t>
            </a:r>
            <a:r>
              <a:rPr lang="ru-RU" sz="2200">
                <a:latin typeface="Times New Roman" pitchFamily="18" charset="0"/>
                <a:cs typeface="Times New Roman" pitchFamily="18" charset="0"/>
              </a:rPr>
              <a:t> и </a:t>
            </a:r>
            <a:r>
              <a:rPr lang="ru-RU" sz="2200" err="1">
                <a:latin typeface="Times New Roman" pitchFamily="18" charset="0"/>
                <a:cs typeface="Times New Roman" pitchFamily="18" charset="0"/>
              </a:rPr>
              <a:t>многоходови</a:t>
            </a:r>
            <a:r>
              <a:rPr lang="ru-RU" sz="2200">
                <a:latin typeface="Times New Roman" pitchFamily="18" charset="0"/>
                <a:cs typeface="Times New Roman" pitchFamily="18" charset="0"/>
              </a:rPr>
              <a:t>, които </a:t>
            </a:r>
            <a:r>
              <a:rPr lang="ru-RU" sz="2200" err="1">
                <a:latin typeface="Times New Roman" pitchFamily="18" charset="0"/>
                <a:cs typeface="Times New Roman" pitchFamily="18" charset="0"/>
              </a:rPr>
              <a:t>функционират</a:t>
            </a:r>
            <a:r>
              <a:rPr lang="ru-RU" sz="2200">
                <a:latin typeface="Times New Roman" pitchFamily="18" charset="0"/>
                <a:cs typeface="Times New Roman" pitchFamily="18" charset="0"/>
              </a:rPr>
              <a:t> по различен начин при </a:t>
            </a:r>
            <a:r>
              <a:rPr lang="ru-RU" sz="2200" err="1">
                <a:latin typeface="Times New Roman" pitchFamily="18" charset="0"/>
                <a:cs typeface="Times New Roman" pitchFamily="18" charset="0"/>
              </a:rPr>
              <a:t>превода</a:t>
            </a:r>
            <a:r>
              <a:rPr lang="ru-RU" sz="2200">
                <a:latin typeface="Times New Roman" pitchFamily="18" charset="0"/>
                <a:cs typeface="Times New Roman" pitchFamily="18" charset="0"/>
              </a:rPr>
              <a:t> на </a:t>
            </a:r>
            <a:r>
              <a:rPr lang="ru-RU" sz="2200" err="1">
                <a:latin typeface="Times New Roman" pitchFamily="18" charset="0"/>
                <a:cs typeface="Times New Roman" pitchFamily="18" charset="0"/>
              </a:rPr>
              <a:t>асемблерен</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език</a:t>
            </a:r>
            <a:r>
              <a:rPr lang="ru-RU" sz="2200">
                <a:latin typeface="Times New Roman" pitchFamily="18" charset="0"/>
                <a:cs typeface="Times New Roman" pitchFamily="18" charset="0"/>
              </a:rPr>
              <a:t> в </a:t>
            </a:r>
            <a:r>
              <a:rPr lang="ru-RU" sz="2200" err="1">
                <a:latin typeface="Times New Roman" pitchFamily="18" charset="0"/>
                <a:cs typeface="Times New Roman" pitchFamily="18" charset="0"/>
              </a:rPr>
              <a:t>машинен</a:t>
            </a:r>
            <a:r>
              <a:rPr lang="ru-RU" sz="2200">
                <a:latin typeface="Times New Roman" pitchFamily="18" charset="0"/>
                <a:cs typeface="Times New Roman" pitchFamily="18" charset="0"/>
              </a:rPr>
              <a:t> код.</a:t>
            </a:r>
          </a:p>
          <a:p>
            <a:pPr marL="0" algn="just">
              <a:spcBef>
                <a:spcPts val="0"/>
              </a:spcBef>
            </a:pP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Едноходовият</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асемблер</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сканира</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изходния</a:t>
            </a:r>
            <a:r>
              <a:rPr lang="ru-RU" sz="2200">
                <a:latin typeface="Times New Roman" pitchFamily="18" charset="0"/>
                <a:cs typeface="Times New Roman" pitchFamily="18" charset="0"/>
              </a:rPr>
              <a:t> код само </a:t>
            </a:r>
            <a:r>
              <a:rPr lang="ru-RU" sz="2200" err="1">
                <a:latin typeface="Times New Roman" pitchFamily="18" charset="0"/>
                <a:cs typeface="Times New Roman" pitchFamily="18" charset="0"/>
              </a:rPr>
              <a:t>веднъж</a:t>
            </a:r>
            <a:r>
              <a:rPr lang="ru-RU" sz="2200">
                <a:latin typeface="Times New Roman" pitchFamily="18" charset="0"/>
                <a:cs typeface="Times New Roman" pitchFamily="18" charset="0"/>
              </a:rPr>
              <a:t>, за да </a:t>
            </a:r>
            <a:r>
              <a:rPr lang="ru-RU" sz="2200" err="1">
                <a:latin typeface="Times New Roman" pitchFamily="18" charset="0"/>
                <a:cs typeface="Times New Roman" pitchFamily="18" charset="0"/>
              </a:rPr>
              <a:t>го</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преведе</a:t>
            </a:r>
            <a:r>
              <a:rPr lang="ru-RU" sz="2200">
                <a:latin typeface="Times New Roman" pitchFamily="18" charset="0"/>
                <a:cs typeface="Times New Roman" pitchFamily="18" charset="0"/>
              </a:rPr>
              <a:t> в </a:t>
            </a:r>
            <a:r>
              <a:rPr lang="ru-RU" sz="2200" err="1">
                <a:latin typeface="Times New Roman" pitchFamily="18" charset="0"/>
                <a:cs typeface="Times New Roman" pitchFamily="18" charset="0"/>
              </a:rPr>
              <a:t>машинен</a:t>
            </a:r>
            <a:r>
              <a:rPr lang="ru-RU" sz="2200">
                <a:latin typeface="Times New Roman" pitchFamily="18" charset="0"/>
                <a:cs typeface="Times New Roman" pitchFamily="18" charset="0"/>
              </a:rPr>
              <a:t> код. По време на това единично </a:t>
            </a:r>
            <a:r>
              <a:rPr lang="ru-RU" sz="2200" err="1">
                <a:latin typeface="Times New Roman" pitchFamily="18" charset="0"/>
                <a:cs typeface="Times New Roman" pitchFamily="18" charset="0"/>
              </a:rPr>
              <a:t>преминаване</a:t>
            </a:r>
            <a:r>
              <a:rPr lang="ru-RU" sz="2200">
                <a:latin typeface="Times New Roman" pitchFamily="18" charset="0"/>
                <a:cs typeface="Times New Roman" pitchFamily="18" charset="0"/>
              </a:rPr>
              <a:t> той чете </a:t>
            </a:r>
            <a:r>
              <a:rPr lang="ru-RU" sz="2200" err="1">
                <a:latin typeface="Times New Roman" pitchFamily="18" charset="0"/>
                <a:cs typeface="Times New Roman" pitchFamily="18" charset="0"/>
              </a:rPr>
              <a:t>изходния</a:t>
            </a:r>
            <a:r>
              <a:rPr lang="ru-RU" sz="2200">
                <a:latin typeface="Times New Roman" pitchFamily="18" charset="0"/>
                <a:cs typeface="Times New Roman" pitchFamily="18" charset="0"/>
              </a:rPr>
              <a:t> код </a:t>
            </a:r>
            <a:r>
              <a:rPr lang="ru-RU" sz="2200" err="1">
                <a:latin typeface="Times New Roman" pitchFamily="18" charset="0"/>
                <a:cs typeface="Times New Roman" pitchFamily="18" charset="0"/>
              </a:rPr>
              <a:t>ред</a:t>
            </a:r>
            <a:r>
              <a:rPr lang="ru-RU" sz="2200">
                <a:latin typeface="Times New Roman" pitchFamily="18" charset="0"/>
                <a:cs typeface="Times New Roman" pitchFamily="18" charset="0"/>
              </a:rPr>
              <a:t> по </a:t>
            </a:r>
            <a:r>
              <a:rPr lang="ru-RU" sz="2200" err="1">
                <a:latin typeface="Times New Roman" pitchFamily="18" charset="0"/>
                <a:cs typeface="Times New Roman" pitchFamily="18" charset="0"/>
              </a:rPr>
              <a:t>ред</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превежда</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всеки</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ред</a:t>
            </a:r>
            <a:r>
              <a:rPr lang="ru-RU" sz="2200">
                <a:latin typeface="Times New Roman" pitchFamily="18" charset="0"/>
                <a:cs typeface="Times New Roman" pitchFamily="18" charset="0"/>
              </a:rPr>
              <a:t> в </a:t>
            </a:r>
            <a:r>
              <a:rPr lang="ru-RU" sz="2200" err="1">
                <a:latin typeface="Times New Roman" pitchFamily="18" charset="0"/>
                <a:cs typeface="Times New Roman" pitchFamily="18" charset="0"/>
              </a:rPr>
              <a:t>машинен</a:t>
            </a:r>
            <a:r>
              <a:rPr lang="ru-RU" sz="2200">
                <a:latin typeface="Times New Roman" pitchFamily="18" charset="0"/>
                <a:cs typeface="Times New Roman" pitchFamily="18" charset="0"/>
              </a:rPr>
              <a:t> код и </a:t>
            </a:r>
            <a:r>
              <a:rPr lang="ru-RU" sz="2200" err="1">
                <a:latin typeface="Times New Roman" pitchFamily="18" charset="0"/>
                <a:cs typeface="Times New Roman" pitchFamily="18" charset="0"/>
              </a:rPr>
              <a:t>директно</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извежда</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резултата</a:t>
            </a:r>
            <a:r>
              <a:rPr lang="ru-RU" sz="2200">
                <a:latin typeface="Times New Roman" pitchFamily="18" charset="0"/>
                <a:cs typeface="Times New Roman" pitchFamily="18" charset="0"/>
              </a:rPr>
              <a:t>. Този тип </a:t>
            </a:r>
            <a:r>
              <a:rPr lang="ru-RU" sz="2200" err="1">
                <a:latin typeface="Times New Roman" pitchFamily="18" charset="0"/>
                <a:cs typeface="Times New Roman" pitchFamily="18" charset="0"/>
              </a:rPr>
              <a:t>асемблер</a:t>
            </a:r>
            <a:r>
              <a:rPr lang="ru-RU" sz="2200">
                <a:latin typeface="Times New Roman" pitchFamily="18" charset="0"/>
                <a:cs typeface="Times New Roman" pitchFamily="18" charset="0"/>
              </a:rPr>
              <a:t> е </a:t>
            </a:r>
            <a:r>
              <a:rPr lang="ru-RU" sz="2200" err="1">
                <a:latin typeface="Times New Roman" pitchFamily="18" charset="0"/>
                <a:cs typeface="Times New Roman" pitchFamily="18" charset="0"/>
              </a:rPr>
              <a:t>доста</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ефективен</a:t>
            </a:r>
            <a:r>
              <a:rPr lang="ru-RU" sz="2200">
                <a:latin typeface="Times New Roman" pitchFamily="18" charset="0"/>
                <a:cs typeface="Times New Roman" pitchFamily="18" charset="0"/>
              </a:rPr>
              <a:t> по отношение на </a:t>
            </a:r>
            <a:r>
              <a:rPr lang="ru-RU" sz="2200" err="1">
                <a:latin typeface="Times New Roman" pitchFamily="18" charset="0"/>
                <a:cs typeface="Times New Roman" pitchFamily="18" charset="0"/>
              </a:rPr>
              <a:t>скоростта</a:t>
            </a:r>
            <a:r>
              <a:rPr lang="ru-RU" sz="2200">
                <a:latin typeface="Times New Roman" pitchFamily="18" charset="0"/>
                <a:cs typeface="Times New Roman" pitchFamily="18" charset="0"/>
              </a:rPr>
              <a:t>, тъй като трябва да прочете </a:t>
            </a:r>
            <a:r>
              <a:rPr lang="ru-RU" sz="2200" err="1">
                <a:latin typeface="Times New Roman" pitchFamily="18" charset="0"/>
                <a:cs typeface="Times New Roman" pitchFamily="18" charset="0"/>
              </a:rPr>
              <a:t>изходния</a:t>
            </a:r>
            <a:r>
              <a:rPr lang="ru-RU" sz="2200">
                <a:latin typeface="Times New Roman" pitchFamily="18" charset="0"/>
                <a:cs typeface="Times New Roman" pitchFamily="18" charset="0"/>
              </a:rPr>
              <a:t> код само </a:t>
            </a:r>
            <a:r>
              <a:rPr lang="ru-RU" sz="2200" err="1">
                <a:latin typeface="Times New Roman" pitchFamily="18" charset="0"/>
                <a:cs typeface="Times New Roman" pitchFamily="18" charset="0"/>
              </a:rPr>
              <a:t>веднъж</a:t>
            </a:r>
            <a:r>
              <a:rPr lang="ru-RU" sz="2200">
                <a:latin typeface="Times New Roman" pitchFamily="18" charset="0"/>
                <a:cs typeface="Times New Roman" pitchFamily="18" charset="0"/>
              </a:rPr>
              <a:t>. Той </a:t>
            </a:r>
            <a:r>
              <a:rPr lang="ru-RU" sz="2200" err="1">
                <a:latin typeface="Times New Roman" pitchFamily="18" charset="0"/>
                <a:cs typeface="Times New Roman" pitchFamily="18" charset="0"/>
              </a:rPr>
              <a:t>обаче</a:t>
            </a:r>
            <a:r>
              <a:rPr lang="ru-RU" sz="2200">
                <a:latin typeface="Times New Roman" pitchFamily="18" charset="0"/>
                <a:cs typeface="Times New Roman" pitchFamily="18" charset="0"/>
              </a:rPr>
              <a:t> има ограничение, тъй като </a:t>
            </a:r>
            <a:r>
              <a:rPr lang="ru-RU" sz="2200" err="1">
                <a:latin typeface="Times New Roman" pitchFamily="18" charset="0"/>
                <a:cs typeface="Times New Roman" pitchFamily="18" charset="0"/>
              </a:rPr>
              <a:t>изисква</a:t>
            </a:r>
            <a:r>
              <a:rPr lang="ru-RU" sz="2200">
                <a:latin typeface="Times New Roman" pitchFamily="18" charset="0"/>
                <a:cs typeface="Times New Roman" pitchFamily="18" charset="0"/>
              </a:rPr>
              <a:t> всички </a:t>
            </a:r>
            <a:r>
              <a:rPr lang="ru-RU" sz="2200" err="1">
                <a:latin typeface="Times New Roman" pitchFamily="18" charset="0"/>
                <a:cs typeface="Times New Roman" pitchFamily="18" charset="0"/>
              </a:rPr>
              <a:t>символи</a:t>
            </a:r>
            <a:r>
              <a:rPr lang="ru-RU" sz="2200">
                <a:latin typeface="Times New Roman" pitchFamily="18" charset="0"/>
                <a:cs typeface="Times New Roman" pitchFamily="18" charset="0"/>
              </a:rPr>
              <a:t> (като </a:t>
            </a:r>
            <a:r>
              <a:rPr lang="ru-RU" sz="2200" err="1">
                <a:latin typeface="Times New Roman" pitchFamily="18" charset="0"/>
                <a:cs typeface="Times New Roman" pitchFamily="18" charset="0"/>
              </a:rPr>
              <a:t>променливи</a:t>
            </a:r>
            <a:r>
              <a:rPr lang="ru-RU" sz="2200">
                <a:latin typeface="Times New Roman" pitchFamily="18" charset="0"/>
                <a:cs typeface="Times New Roman" pitchFamily="18" charset="0"/>
              </a:rPr>
              <a:t> и </a:t>
            </a:r>
            <a:r>
              <a:rPr lang="ru-RU" sz="2200" err="1">
                <a:latin typeface="Times New Roman" pitchFamily="18" charset="0"/>
                <a:cs typeface="Times New Roman" pitchFamily="18" charset="0"/>
              </a:rPr>
              <a:t>етикети</a:t>
            </a:r>
            <a:r>
              <a:rPr lang="ru-RU" sz="2200">
                <a:latin typeface="Times New Roman" pitchFamily="18" charset="0"/>
                <a:cs typeface="Times New Roman" pitchFamily="18" charset="0"/>
              </a:rPr>
              <a:t>) да </a:t>
            </a:r>
            <a:r>
              <a:rPr lang="ru-RU" sz="2200" err="1">
                <a:latin typeface="Times New Roman" pitchFamily="18" charset="0"/>
                <a:cs typeface="Times New Roman" pitchFamily="18" charset="0"/>
              </a:rPr>
              <a:t>бъдат</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дефинирани</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преди</a:t>
            </a:r>
            <a:r>
              <a:rPr lang="ru-RU" sz="2200">
                <a:latin typeface="Times New Roman" pitchFamily="18" charset="0"/>
                <a:cs typeface="Times New Roman" pitchFamily="18" charset="0"/>
              </a:rPr>
              <a:t> да </a:t>
            </a:r>
            <a:r>
              <a:rPr lang="ru-RU" sz="2200" err="1">
                <a:latin typeface="Times New Roman" pitchFamily="18" charset="0"/>
                <a:cs typeface="Times New Roman" pitchFamily="18" charset="0"/>
              </a:rPr>
              <a:t>бъдат</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използвани</a:t>
            </a:r>
            <a:r>
              <a:rPr lang="ru-RU" sz="2200">
                <a:latin typeface="Times New Roman" pitchFamily="18" charset="0"/>
                <a:cs typeface="Times New Roman" pitchFamily="18" charset="0"/>
              </a:rPr>
              <a:t>. Това </a:t>
            </a:r>
            <a:r>
              <a:rPr lang="ru-RU" sz="2200" err="1">
                <a:latin typeface="Times New Roman" pitchFamily="18" charset="0"/>
                <a:cs typeface="Times New Roman" pitchFamily="18" charset="0"/>
              </a:rPr>
              <a:t>означава</a:t>
            </a:r>
            <a:r>
              <a:rPr lang="ru-RU" sz="2200">
                <a:latin typeface="Times New Roman" pitchFamily="18" charset="0"/>
                <a:cs typeface="Times New Roman" pitchFamily="18" charset="0"/>
              </a:rPr>
              <a:t>, че ако даден символ се използва </a:t>
            </a:r>
            <a:r>
              <a:rPr lang="ru-RU" sz="2200" err="1">
                <a:latin typeface="Times New Roman" pitchFamily="18" charset="0"/>
                <a:cs typeface="Times New Roman" pitchFamily="18" charset="0"/>
              </a:rPr>
              <a:t>преди</a:t>
            </a:r>
            <a:r>
              <a:rPr lang="ru-RU" sz="2200">
                <a:latin typeface="Times New Roman" pitchFamily="18" charset="0"/>
                <a:cs typeface="Times New Roman" pitchFamily="18" charset="0"/>
              </a:rPr>
              <a:t> да </a:t>
            </a:r>
            <a:r>
              <a:rPr lang="ru-RU" sz="2200" err="1">
                <a:latin typeface="Times New Roman" pitchFamily="18" charset="0"/>
                <a:cs typeface="Times New Roman" pitchFamily="18" charset="0"/>
              </a:rPr>
              <a:t>бъде</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дефиниран</a:t>
            </a:r>
            <a:r>
              <a:rPr lang="ru-RU" sz="2200">
                <a:latin typeface="Times New Roman" pitchFamily="18" charset="0"/>
                <a:cs typeface="Times New Roman" pitchFamily="18" charset="0"/>
              </a:rPr>
              <a:t> в кода, </a:t>
            </a:r>
            <a:r>
              <a:rPr lang="ru-RU" sz="2200" err="1">
                <a:latin typeface="Times New Roman" pitchFamily="18" charset="0"/>
                <a:cs typeface="Times New Roman" pitchFamily="18" charset="0"/>
              </a:rPr>
              <a:t>асемблерът</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няма</a:t>
            </a:r>
            <a:r>
              <a:rPr lang="ru-RU" sz="2200">
                <a:latin typeface="Times New Roman" pitchFamily="18" charset="0"/>
                <a:cs typeface="Times New Roman" pitchFamily="18" charset="0"/>
              </a:rPr>
              <a:t> да </a:t>
            </a:r>
            <a:r>
              <a:rPr lang="ru-RU" sz="2200" err="1">
                <a:latin typeface="Times New Roman" pitchFamily="18" charset="0"/>
                <a:cs typeface="Times New Roman" pitchFamily="18" charset="0"/>
              </a:rPr>
              <a:t>може</a:t>
            </a:r>
            <a:r>
              <a:rPr lang="ru-RU" sz="2200">
                <a:latin typeface="Times New Roman" pitchFamily="18" charset="0"/>
                <a:cs typeface="Times New Roman" pitchFamily="18" charset="0"/>
              </a:rPr>
              <a:t> да </a:t>
            </a:r>
            <a:r>
              <a:rPr lang="ru-RU" sz="2200" err="1">
                <a:latin typeface="Times New Roman" pitchFamily="18" charset="0"/>
                <a:cs typeface="Times New Roman" pitchFamily="18" charset="0"/>
              </a:rPr>
              <a:t>го</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преведе</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правилно</a:t>
            </a:r>
            <a:r>
              <a:rPr lang="ru-RU" sz="2200">
                <a:latin typeface="Times New Roman" pitchFamily="18" charset="0"/>
                <a:cs typeface="Times New Roman" pitchFamily="18" charset="0"/>
              </a:rPr>
              <a:t>, което води до грешки.</a:t>
            </a:r>
          </a:p>
        </p:txBody>
      </p:sp>
      <p:sp>
        <p:nvSpPr>
          <p:cNvPr id="4" name="Title 1"/>
          <p:cNvSpPr>
            <a:spLocks noGrp="1"/>
          </p:cNvSpPr>
          <p:nvPr>
            <p:ph type="title"/>
          </p:nvPr>
        </p:nvSpPr>
        <p:spPr>
          <a:xfrm>
            <a:off x="498733" y="548680"/>
            <a:ext cx="8429684" cy="1143000"/>
          </a:xfrm>
        </p:spPr>
        <p:txBody>
          <a:bodyPr>
            <a:normAutofit/>
          </a:bodyPr>
          <a:lstStyle/>
          <a:p>
            <a:r>
              <a:rPr lang="bg-BG" sz="2900">
                <a:latin typeface="Times New Roman" pitchFamily="18" charset="0"/>
                <a:cs typeface="Times New Roman" pitchFamily="18" charset="0"/>
              </a:rPr>
              <a:t>Създаване, транслиране и изпълнение на асемблерна програма.</a:t>
            </a:r>
            <a:endParaRPr lang="bg-BG" sz="2900" b="1"/>
          </a:p>
        </p:txBody>
      </p:sp>
    </p:spTree>
    <p:extLst>
      <p:ext uri="{BB962C8B-B14F-4D97-AF65-F5344CB8AC3E}">
        <p14:creationId xmlns:p14="http://schemas.microsoft.com/office/powerpoint/2010/main" val="3724417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64" y="1772816"/>
            <a:ext cx="8643998" cy="4643470"/>
          </a:xfrm>
        </p:spPr>
        <p:txBody>
          <a:bodyPr>
            <a:noAutofit/>
          </a:bodyPr>
          <a:lstStyle/>
          <a:p>
            <a:pPr marL="0" algn="just">
              <a:spcBef>
                <a:spcPts val="0"/>
              </a:spcBef>
            </a:pPr>
            <a:r>
              <a:rPr lang="ru-RU" sz="1800">
                <a:latin typeface="Times New Roman" pitchFamily="18" charset="0"/>
                <a:cs typeface="Times New Roman" pitchFamily="18" charset="0"/>
              </a:rPr>
              <a:t>- </a:t>
            </a:r>
            <a:r>
              <a:rPr lang="ru-RU" sz="2200" err="1">
                <a:latin typeface="Times New Roman" pitchFamily="18" charset="0"/>
                <a:cs typeface="Times New Roman" pitchFamily="18" charset="0"/>
              </a:rPr>
              <a:t>Многоходовият</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асемблер</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сканира</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изходния</a:t>
            </a:r>
            <a:r>
              <a:rPr lang="ru-RU" sz="2200">
                <a:latin typeface="Times New Roman" pitchFamily="18" charset="0"/>
                <a:cs typeface="Times New Roman" pitchFamily="18" charset="0"/>
              </a:rPr>
              <a:t> код многократно. При първото преминаване той прочита изходния код, за да изгради таблица със символи, която е структура от данни, съдържаща всички символи, използвани в кода, заедно с техните стойности или адреси. В следващите преминавания той превежда изходния код в машинен код, като използва таблицата със символи. Този тип </a:t>
            </a:r>
            <a:r>
              <a:rPr lang="ru-RU" sz="2200" err="1">
                <a:latin typeface="Times New Roman" pitchFamily="18" charset="0"/>
                <a:cs typeface="Times New Roman" pitchFamily="18" charset="0"/>
              </a:rPr>
              <a:t>асемблер</a:t>
            </a:r>
            <a:r>
              <a:rPr lang="ru-RU" sz="2200">
                <a:latin typeface="Times New Roman" pitchFamily="18" charset="0"/>
                <a:cs typeface="Times New Roman" pitchFamily="18" charset="0"/>
              </a:rPr>
              <a:t> е </a:t>
            </a:r>
            <a:r>
              <a:rPr lang="ru-RU" sz="2200" err="1">
                <a:latin typeface="Times New Roman" pitchFamily="18" charset="0"/>
                <a:cs typeface="Times New Roman" pitchFamily="18" charset="0"/>
              </a:rPr>
              <a:t>по-гъвкав</a:t>
            </a:r>
            <a:r>
              <a:rPr lang="ru-RU" sz="2200">
                <a:latin typeface="Times New Roman" pitchFamily="18" charset="0"/>
                <a:cs typeface="Times New Roman" pitchFamily="18" charset="0"/>
              </a:rPr>
              <a:t> от </a:t>
            </a:r>
            <a:r>
              <a:rPr lang="ru-RU" sz="2200" err="1">
                <a:latin typeface="Times New Roman" pitchFamily="18" charset="0"/>
                <a:cs typeface="Times New Roman" pitchFamily="18" charset="0"/>
              </a:rPr>
              <a:t>едноходовия</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асемблер</a:t>
            </a:r>
            <a:r>
              <a:rPr lang="ru-RU" sz="2200">
                <a:latin typeface="Times New Roman" pitchFamily="18" charset="0"/>
                <a:cs typeface="Times New Roman" pitchFamily="18" charset="0"/>
              </a:rPr>
              <a:t>, тъй като позволява </a:t>
            </a:r>
            <a:r>
              <a:rPr lang="ru-RU" sz="2200" err="1">
                <a:latin typeface="Times New Roman" pitchFamily="18" charset="0"/>
                <a:cs typeface="Times New Roman" pitchFamily="18" charset="0"/>
              </a:rPr>
              <a:t>символите</a:t>
            </a:r>
            <a:r>
              <a:rPr lang="ru-RU" sz="2200">
                <a:latin typeface="Times New Roman" pitchFamily="18" charset="0"/>
                <a:cs typeface="Times New Roman" pitchFamily="18" charset="0"/>
              </a:rPr>
              <a:t> да се използват </a:t>
            </a:r>
            <a:r>
              <a:rPr lang="ru-RU" sz="2200" err="1">
                <a:latin typeface="Times New Roman" pitchFamily="18" charset="0"/>
                <a:cs typeface="Times New Roman" pitchFamily="18" charset="0"/>
              </a:rPr>
              <a:t>преди</a:t>
            </a:r>
            <a:r>
              <a:rPr lang="ru-RU" sz="2200">
                <a:latin typeface="Times New Roman" pitchFamily="18" charset="0"/>
                <a:cs typeface="Times New Roman" pitchFamily="18" charset="0"/>
              </a:rPr>
              <a:t> да </a:t>
            </a:r>
            <a:r>
              <a:rPr lang="ru-RU" sz="2200" err="1">
                <a:latin typeface="Times New Roman" pitchFamily="18" charset="0"/>
                <a:cs typeface="Times New Roman" pitchFamily="18" charset="0"/>
              </a:rPr>
              <a:t>бъдат</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дефинирани</a:t>
            </a:r>
            <a:r>
              <a:rPr lang="ru-RU" sz="2200">
                <a:latin typeface="Times New Roman" pitchFamily="18" charset="0"/>
                <a:cs typeface="Times New Roman" pitchFamily="18" charset="0"/>
              </a:rPr>
              <a:t>. Той </a:t>
            </a:r>
            <a:r>
              <a:rPr lang="ru-RU" sz="2200" err="1">
                <a:latin typeface="Times New Roman" pitchFamily="18" charset="0"/>
                <a:cs typeface="Times New Roman" pitchFamily="18" charset="0"/>
              </a:rPr>
              <a:t>обаче</a:t>
            </a:r>
            <a:r>
              <a:rPr lang="ru-RU" sz="2200">
                <a:latin typeface="Times New Roman" pitchFamily="18" charset="0"/>
                <a:cs typeface="Times New Roman" pitchFamily="18" charset="0"/>
              </a:rPr>
              <a:t> е </a:t>
            </a:r>
            <a:r>
              <a:rPr lang="ru-RU" sz="2200" err="1">
                <a:latin typeface="Times New Roman" pitchFamily="18" charset="0"/>
                <a:cs typeface="Times New Roman" pitchFamily="18" charset="0"/>
              </a:rPr>
              <a:t>по-бавен</a:t>
            </a:r>
            <a:r>
              <a:rPr lang="ru-RU" sz="2200">
                <a:latin typeface="Times New Roman" pitchFamily="18" charset="0"/>
                <a:cs typeface="Times New Roman" pitchFamily="18" charset="0"/>
              </a:rPr>
              <a:t>, тъй като трябва да прочете </a:t>
            </a:r>
            <a:r>
              <a:rPr lang="ru-RU" sz="2200" err="1">
                <a:latin typeface="Times New Roman" pitchFamily="18" charset="0"/>
                <a:cs typeface="Times New Roman" pitchFamily="18" charset="0"/>
              </a:rPr>
              <a:t>изходния</a:t>
            </a:r>
            <a:r>
              <a:rPr lang="ru-RU" sz="2200">
                <a:latin typeface="Times New Roman" pitchFamily="18" charset="0"/>
                <a:cs typeface="Times New Roman" pitchFamily="18" charset="0"/>
              </a:rPr>
              <a:t> код </a:t>
            </a:r>
            <a:r>
              <a:rPr lang="ru-RU" sz="2200" err="1">
                <a:latin typeface="Times New Roman" pitchFamily="18" charset="0"/>
                <a:cs typeface="Times New Roman" pitchFamily="18" charset="0"/>
              </a:rPr>
              <a:t>няколко</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пъти</a:t>
            </a:r>
            <a:r>
              <a:rPr lang="ru-RU" sz="2200">
                <a:latin typeface="Times New Roman" pitchFamily="18" charset="0"/>
                <a:cs typeface="Times New Roman" pitchFamily="18" charset="0"/>
              </a:rPr>
              <a:t>.</a:t>
            </a:r>
          </a:p>
          <a:p>
            <a:pPr marL="0" algn="just">
              <a:spcBef>
                <a:spcPts val="0"/>
              </a:spcBef>
            </a:pPr>
            <a:r>
              <a:rPr lang="ru-RU" sz="2200">
                <a:latin typeface="Times New Roman" pitchFamily="18" charset="0"/>
                <a:cs typeface="Times New Roman" pitchFamily="18" charset="0"/>
              </a:rPr>
              <a:t>И </a:t>
            </a:r>
            <a:r>
              <a:rPr lang="ru-RU" sz="2200" err="1">
                <a:latin typeface="Times New Roman" pitchFamily="18" charset="0"/>
                <a:cs typeface="Times New Roman" pitchFamily="18" charset="0"/>
              </a:rPr>
              <a:t>двата</a:t>
            </a:r>
            <a:r>
              <a:rPr lang="ru-RU" sz="2200">
                <a:latin typeface="Times New Roman" pitchFamily="18" charset="0"/>
                <a:cs typeface="Times New Roman" pitchFamily="18" charset="0"/>
              </a:rPr>
              <a:t> вида </a:t>
            </a:r>
            <a:r>
              <a:rPr lang="ru-RU" sz="2200" err="1">
                <a:latin typeface="Times New Roman" pitchFamily="18" charset="0"/>
                <a:cs typeface="Times New Roman" pitchFamily="18" charset="0"/>
              </a:rPr>
              <a:t>асемблер</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имат</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своите</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предимства</a:t>
            </a:r>
            <a:r>
              <a:rPr lang="ru-RU" sz="2200">
                <a:latin typeface="Times New Roman" pitchFamily="18" charset="0"/>
                <a:cs typeface="Times New Roman" pitchFamily="18" charset="0"/>
              </a:rPr>
              <a:t> и </a:t>
            </a:r>
            <a:r>
              <a:rPr lang="ru-RU" sz="2200" err="1">
                <a:latin typeface="Times New Roman" pitchFamily="18" charset="0"/>
                <a:cs typeface="Times New Roman" pitchFamily="18" charset="0"/>
              </a:rPr>
              <a:t>недостатъци</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Едноходовите</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асемблери</a:t>
            </a:r>
            <a:r>
              <a:rPr lang="ru-RU" sz="2200">
                <a:latin typeface="Times New Roman" pitchFamily="18" charset="0"/>
                <a:cs typeface="Times New Roman" pitchFamily="18" charset="0"/>
              </a:rPr>
              <a:t> са </a:t>
            </a:r>
            <a:r>
              <a:rPr lang="ru-RU" sz="2200" err="1">
                <a:latin typeface="Times New Roman" pitchFamily="18" charset="0"/>
                <a:cs typeface="Times New Roman" pitchFamily="18" charset="0"/>
              </a:rPr>
              <a:t>по-бързи</a:t>
            </a:r>
            <a:r>
              <a:rPr lang="ru-RU" sz="2200">
                <a:latin typeface="Times New Roman" pitchFamily="18" charset="0"/>
                <a:cs typeface="Times New Roman" pitchFamily="18" charset="0"/>
              </a:rPr>
              <a:t>, но </a:t>
            </a:r>
            <a:r>
              <a:rPr lang="ru-RU" sz="2200" err="1">
                <a:latin typeface="Times New Roman" pitchFamily="18" charset="0"/>
                <a:cs typeface="Times New Roman" pitchFamily="18" charset="0"/>
              </a:rPr>
              <a:t>по-малко</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гъвкави</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докато</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многоходовите</a:t>
            </a:r>
            <a:r>
              <a:rPr lang="ru-RU" sz="2200">
                <a:latin typeface="Times New Roman" pitchFamily="18" charset="0"/>
                <a:cs typeface="Times New Roman" pitchFamily="18" charset="0"/>
              </a:rPr>
              <a:t> са </a:t>
            </a:r>
            <a:r>
              <a:rPr lang="ru-RU" sz="2200" err="1">
                <a:latin typeface="Times New Roman" pitchFamily="18" charset="0"/>
                <a:cs typeface="Times New Roman" pitchFamily="18" charset="0"/>
              </a:rPr>
              <a:t>по-гъвкави</a:t>
            </a:r>
            <a:r>
              <a:rPr lang="ru-RU" sz="2200">
                <a:latin typeface="Times New Roman" pitchFamily="18" charset="0"/>
                <a:cs typeface="Times New Roman" pitchFamily="18" charset="0"/>
              </a:rPr>
              <a:t>, но </a:t>
            </a:r>
            <a:r>
              <a:rPr lang="ru-RU" sz="2200" err="1">
                <a:latin typeface="Times New Roman" pitchFamily="18" charset="0"/>
                <a:cs typeface="Times New Roman" pitchFamily="18" charset="0"/>
              </a:rPr>
              <a:t>по-бавни</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Изборът</a:t>
            </a:r>
            <a:r>
              <a:rPr lang="ru-RU" sz="2200">
                <a:latin typeface="Times New Roman" pitchFamily="18" charset="0"/>
                <a:cs typeface="Times New Roman" pitchFamily="18" charset="0"/>
              </a:rPr>
              <a:t> между </a:t>
            </a:r>
            <a:r>
              <a:rPr lang="ru-RU" sz="2200" err="1">
                <a:latin typeface="Times New Roman" pitchFamily="18" charset="0"/>
                <a:cs typeface="Times New Roman" pitchFamily="18" charset="0"/>
              </a:rPr>
              <a:t>двете</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зависи</a:t>
            </a:r>
            <a:r>
              <a:rPr lang="ru-RU" sz="2200">
                <a:latin typeface="Times New Roman" pitchFamily="18" charset="0"/>
                <a:cs typeface="Times New Roman" pitchFamily="18" charset="0"/>
              </a:rPr>
              <a:t> от </a:t>
            </a:r>
            <a:r>
              <a:rPr lang="ru-RU" sz="2200" err="1">
                <a:latin typeface="Times New Roman" pitchFamily="18" charset="0"/>
                <a:cs typeface="Times New Roman" pitchFamily="18" charset="0"/>
              </a:rPr>
              <a:t>специфичните</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изисквания</a:t>
            </a:r>
            <a:r>
              <a:rPr lang="ru-RU" sz="2200">
                <a:latin typeface="Times New Roman" pitchFamily="18" charset="0"/>
                <a:cs typeface="Times New Roman" pitchFamily="18" charset="0"/>
              </a:rPr>
              <a:t> на </a:t>
            </a:r>
            <a:r>
              <a:rPr lang="ru-RU" sz="2200" err="1">
                <a:latin typeface="Times New Roman" pitchFamily="18" charset="0"/>
                <a:cs typeface="Times New Roman" pitchFamily="18" charset="0"/>
              </a:rPr>
              <a:t>асемблираната</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програма</a:t>
            </a:r>
            <a:r>
              <a:rPr lang="ru-RU" sz="2200">
                <a:latin typeface="Times New Roman" pitchFamily="18" charset="0"/>
                <a:cs typeface="Times New Roman" pitchFamily="18" charset="0"/>
              </a:rPr>
              <a:t>. </a:t>
            </a:r>
            <a:endParaRPr lang="en-US" sz="2200">
              <a:latin typeface="Times New Roman" pitchFamily="18" charset="0"/>
              <a:cs typeface="Times New Roman" pitchFamily="18" charset="0"/>
            </a:endParaRPr>
          </a:p>
        </p:txBody>
      </p:sp>
      <p:sp>
        <p:nvSpPr>
          <p:cNvPr id="4" name="Title 1"/>
          <p:cNvSpPr>
            <a:spLocks noGrp="1"/>
          </p:cNvSpPr>
          <p:nvPr>
            <p:ph type="title"/>
          </p:nvPr>
        </p:nvSpPr>
        <p:spPr>
          <a:xfrm>
            <a:off x="498733" y="548680"/>
            <a:ext cx="8429684" cy="1143000"/>
          </a:xfrm>
        </p:spPr>
        <p:txBody>
          <a:bodyPr>
            <a:normAutofit/>
          </a:bodyPr>
          <a:lstStyle/>
          <a:p>
            <a:r>
              <a:rPr lang="bg-BG" sz="2900">
                <a:latin typeface="Times New Roman" pitchFamily="18" charset="0"/>
                <a:cs typeface="Times New Roman" pitchFamily="18" charset="0"/>
              </a:rPr>
              <a:t>Създаване, транслиране и изпълнение на асемблерна програма.</a:t>
            </a:r>
            <a:endParaRPr lang="bg-BG" sz="2900" b="1"/>
          </a:p>
        </p:txBody>
      </p:sp>
    </p:spTree>
    <p:extLst>
      <p:ext uri="{BB962C8B-B14F-4D97-AF65-F5344CB8AC3E}">
        <p14:creationId xmlns:p14="http://schemas.microsoft.com/office/powerpoint/2010/main" val="39839737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4419" y="1547664"/>
            <a:ext cx="8643998" cy="4643470"/>
          </a:xfrm>
        </p:spPr>
        <p:txBody>
          <a:bodyPr>
            <a:noAutofit/>
          </a:bodyPr>
          <a:lstStyle/>
          <a:p>
            <a:pPr marL="0" algn="just">
              <a:spcBef>
                <a:spcPts val="0"/>
              </a:spcBef>
            </a:pPr>
            <a:r>
              <a:rPr lang="bg-BG" sz="1900">
                <a:latin typeface="Times New Roman" pitchFamily="18" charset="0"/>
                <a:cs typeface="Times New Roman" pitchFamily="18" charset="0"/>
              </a:rPr>
              <a:t>На следващият етап създадената асемблерна програма трябва да бъде свързана в едно цяло. За целта се използва </a:t>
            </a:r>
            <a:r>
              <a:rPr lang="bg-BG" sz="1900" err="1">
                <a:latin typeface="Times New Roman" pitchFamily="18" charset="0"/>
                <a:cs typeface="Times New Roman" pitchFamily="18" charset="0"/>
              </a:rPr>
              <a:t>линкер</a:t>
            </a:r>
            <a:r>
              <a:rPr lang="bg-BG" sz="1900">
                <a:latin typeface="Times New Roman" pitchFamily="18" charset="0"/>
                <a:cs typeface="Times New Roman" pitchFamily="18" charset="0"/>
              </a:rPr>
              <a:t>. </a:t>
            </a:r>
          </a:p>
          <a:p>
            <a:pPr marL="0" algn="just">
              <a:spcBef>
                <a:spcPts val="0"/>
              </a:spcBef>
            </a:pPr>
            <a:r>
              <a:rPr lang="ru-RU" sz="1900" err="1">
                <a:latin typeface="Times New Roman" pitchFamily="18" charset="0"/>
                <a:cs typeface="Times New Roman" pitchFamily="18" charset="0"/>
              </a:rPr>
              <a:t>Линкерът</a:t>
            </a:r>
            <a:r>
              <a:rPr lang="ru-RU" sz="1900">
                <a:latin typeface="Times New Roman" pitchFamily="18" charset="0"/>
                <a:cs typeface="Times New Roman" pitchFamily="18" charset="0"/>
              </a:rPr>
              <a:t>/</a:t>
            </a:r>
            <a:r>
              <a:rPr lang="ru-RU" sz="1900" err="1">
                <a:latin typeface="Times New Roman" pitchFamily="18" charset="0"/>
                <a:cs typeface="Times New Roman" pitchFamily="18" charset="0"/>
              </a:rPr>
              <a:t>свързващ</a:t>
            </a:r>
            <a:r>
              <a:rPr lang="ru-RU" sz="1900">
                <a:latin typeface="Times New Roman" pitchFamily="18" charset="0"/>
                <a:cs typeface="Times New Roman" pitchFamily="18" charset="0"/>
              </a:rPr>
              <a:t> редактор/ е </a:t>
            </a:r>
            <a:r>
              <a:rPr lang="ru-RU" sz="1900" err="1">
                <a:latin typeface="Times New Roman" pitchFamily="18" charset="0"/>
                <a:cs typeface="Times New Roman" pitchFamily="18" charset="0"/>
              </a:rPr>
              <a:t>основна</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компютърна</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програма</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чиято</a:t>
            </a:r>
            <a:r>
              <a:rPr lang="ru-RU" sz="1900">
                <a:latin typeface="Times New Roman" pitchFamily="18" charset="0"/>
                <a:cs typeface="Times New Roman" pitchFamily="18" charset="0"/>
              </a:rPr>
              <a:t> цел е да </a:t>
            </a:r>
            <a:r>
              <a:rPr lang="ru-RU" sz="1900" err="1">
                <a:latin typeface="Times New Roman" pitchFamily="18" charset="0"/>
                <a:cs typeface="Times New Roman" pitchFamily="18" charset="0"/>
              </a:rPr>
              <a:t>свърже</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компилирани</a:t>
            </a:r>
            <a:r>
              <a:rPr lang="ru-RU" sz="1900">
                <a:latin typeface="Times New Roman" pitchFamily="18" charset="0"/>
                <a:cs typeface="Times New Roman" pitchFamily="18" charset="0"/>
              </a:rPr>
              <a:t> в </a:t>
            </a:r>
            <a:r>
              <a:rPr lang="ru-RU" sz="1900" err="1">
                <a:latin typeface="Times New Roman" pitchFamily="18" charset="0"/>
                <a:cs typeface="Times New Roman" pitchFamily="18" charset="0"/>
              </a:rPr>
              <a:t>машинен</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език</a:t>
            </a:r>
            <a:r>
              <a:rPr lang="ru-RU" sz="1900">
                <a:latin typeface="Times New Roman" pitchFamily="18" charset="0"/>
                <a:cs typeface="Times New Roman" pitchFamily="18" charset="0"/>
              </a:rPr>
              <a:t> един или </a:t>
            </a:r>
            <a:r>
              <a:rPr lang="ru-RU" sz="1900" err="1">
                <a:latin typeface="Times New Roman" pitchFamily="18" charset="0"/>
                <a:cs typeface="Times New Roman" pitchFamily="18" charset="0"/>
              </a:rPr>
              <a:t>повече</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обектни</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файлове</a:t>
            </a:r>
            <a:r>
              <a:rPr lang="ru-RU" sz="1900">
                <a:latin typeface="Times New Roman" pitchFamily="18" charset="0"/>
                <a:cs typeface="Times New Roman" pitchFamily="18" charset="0"/>
              </a:rPr>
              <a:t> в </a:t>
            </a:r>
            <a:r>
              <a:rPr lang="ru-RU" sz="1900" err="1">
                <a:latin typeface="Times New Roman" pitchFamily="18" charset="0"/>
                <a:cs typeface="Times New Roman" pitchFamily="18" charset="0"/>
              </a:rPr>
              <a:t>една</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програма</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която</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може</a:t>
            </a:r>
            <a:r>
              <a:rPr lang="ru-RU" sz="1900">
                <a:latin typeface="Times New Roman" pitchFamily="18" charset="0"/>
                <a:cs typeface="Times New Roman" pitchFamily="18" charset="0"/>
              </a:rPr>
              <a:t> да се </a:t>
            </a:r>
            <a:r>
              <a:rPr lang="ru-RU" sz="1900" err="1">
                <a:latin typeface="Times New Roman" pitchFamily="18" charset="0"/>
                <a:cs typeface="Times New Roman" pitchFamily="18" charset="0"/>
              </a:rPr>
              <a:t>управлява</a:t>
            </a:r>
            <a:r>
              <a:rPr lang="ru-RU" sz="1900">
                <a:latin typeface="Times New Roman" pitchFamily="18" charset="0"/>
                <a:cs typeface="Times New Roman" pitchFamily="18" charset="0"/>
              </a:rPr>
              <a:t> от дадена </a:t>
            </a:r>
            <a:r>
              <a:rPr lang="ru-RU" sz="1900" err="1">
                <a:latin typeface="Times New Roman" pitchFamily="18" charset="0"/>
                <a:cs typeface="Times New Roman" pitchFamily="18" charset="0"/>
              </a:rPr>
              <a:t>операционна</a:t>
            </a:r>
            <a:r>
              <a:rPr lang="ru-RU" sz="1900">
                <a:latin typeface="Times New Roman" pitchFamily="18" charset="0"/>
                <a:cs typeface="Times New Roman" pitchFamily="18" charset="0"/>
              </a:rPr>
              <a:t> система. Той </a:t>
            </a:r>
            <a:r>
              <a:rPr lang="ru-RU" sz="1900" err="1">
                <a:latin typeface="Times New Roman" pitchFamily="18" charset="0"/>
                <a:cs typeface="Times New Roman" pitchFamily="18" charset="0"/>
              </a:rPr>
              <a:t>добавя</a:t>
            </a:r>
            <a:r>
              <a:rPr lang="ru-RU" sz="1900">
                <a:latin typeface="Times New Roman" pitchFamily="18" charset="0"/>
                <a:cs typeface="Times New Roman" pitchFamily="18" charset="0"/>
              </a:rPr>
              <a:t> всички </a:t>
            </a:r>
            <a:r>
              <a:rPr lang="ru-RU" sz="1900" err="1">
                <a:latin typeface="Times New Roman" pitchFamily="18" charset="0"/>
                <a:cs typeface="Times New Roman" pitchFamily="18" charset="0"/>
              </a:rPr>
              <a:t>необходими</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библиотечни</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подпрограми</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към</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създадените</a:t>
            </a:r>
            <a:r>
              <a:rPr lang="ru-RU" sz="1900">
                <a:latin typeface="Times New Roman" pitchFamily="18" charset="0"/>
                <a:cs typeface="Times New Roman" pitchFamily="18" charset="0"/>
              </a:rPr>
              <a:t> от </a:t>
            </a:r>
            <a:r>
              <a:rPr lang="ru-RU" sz="1900" err="1">
                <a:latin typeface="Times New Roman" pitchFamily="18" charset="0"/>
                <a:cs typeface="Times New Roman" pitchFamily="18" charset="0"/>
              </a:rPr>
              <a:t>компилатора</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обектни</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файлове</a:t>
            </a:r>
            <a:r>
              <a:rPr lang="ru-RU" sz="1900">
                <a:latin typeface="Times New Roman" pitchFamily="18" charset="0"/>
                <a:cs typeface="Times New Roman" pitchFamily="18" charset="0"/>
              </a:rPr>
              <a:t> и ги </a:t>
            </a:r>
            <a:r>
              <a:rPr lang="ru-RU" sz="1900" err="1">
                <a:latin typeface="Times New Roman" pitchFamily="18" charset="0"/>
                <a:cs typeface="Times New Roman" pitchFamily="18" charset="0"/>
              </a:rPr>
              <a:t>свързва</a:t>
            </a:r>
            <a:r>
              <a:rPr lang="ru-RU" sz="1900">
                <a:latin typeface="Times New Roman" pitchFamily="18" charset="0"/>
                <a:cs typeface="Times New Roman" pitchFamily="18" charset="0"/>
              </a:rPr>
              <a:t>, като </a:t>
            </a:r>
            <a:r>
              <a:rPr lang="ru-RU" sz="1900" err="1">
                <a:latin typeface="Times New Roman" pitchFamily="18" charset="0"/>
                <a:cs typeface="Times New Roman" pitchFamily="18" charset="0"/>
              </a:rPr>
              <a:t>създава</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изпълним</a:t>
            </a:r>
            <a:r>
              <a:rPr lang="ru-RU" sz="1900">
                <a:latin typeface="Times New Roman" pitchFamily="18" charset="0"/>
                <a:cs typeface="Times New Roman" pitchFamily="18" charset="0"/>
              </a:rPr>
              <a:t> файл (</a:t>
            </a:r>
            <a:r>
              <a:rPr lang="ru-RU" sz="1900" err="1">
                <a:latin typeface="Times New Roman" pitchFamily="18" charset="0"/>
                <a:cs typeface="Times New Roman" pitchFamily="18" charset="0"/>
              </a:rPr>
              <a:t>разширение</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exe</a:t>
            </a:r>
            <a:r>
              <a:rPr lang="ru-RU" sz="1900">
                <a:latin typeface="Times New Roman" pitchFamily="18" charset="0"/>
                <a:cs typeface="Times New Roman" pitchFamily="18" charset="0"/>
              </a:rPr>
              <a:t>’) или </a:t>
            </a:r>
            <a:r>
              <a:rPr lang="ru-RU" sz="1900" err="1">
                <a:latin typeface="Times New Roman" pitchFamily="18" charset="0"/>
                <a:cs typeface="Times New Roman" pitchFamily="18" charset="0"/>
              </a:rPr>
              <a:t>библиотечен</a:t>
            </a:r>
            <a:r>
              <a:rPr lang="ru-RU" sz="1900">
                <a:latin typeface="Times New Roman" pitchFamily="18" charset="0"/>
                <a:cs typeface="Times New Roman" pitchFamily="18" charset="0"/>
              </a:rPr>
              <a:t> файл (</a:t>
            </a:r>
            <a:r>
              <a:rPr lang="ru-RU" sz="1900" err="1">
                <a:latin typeface="Times New Roman" pitchFamily="18" charset="0"/>
                <a:cs typeface="Times New Roman" pitchFamily="18" charset="0"/>
              </a:rPr>
              <a:t>разширение</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dll</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Свързващият</a:t>
            </a:r>
            <a:r>
              <a:rPr lang="ru-RU" sz="1900">
                <a:latin typeface="Times New Roman" pitchFamily="18" charset="0"/>
                <a:cs typeface="Times New Roman" pitchFamily="18" charset="0"/>
              </a:rPr>
              <a:t> редактор </a:t>
            </a:r>
            <a:r>
              <a:rPr lang="ru-RU" sz="1900" err="1">
                <a:latin typeface="Times New Roman" pitchFamily="18" charset="0"/>
                <a:cs typeface="Times New Roman" pitchFamily="18" charset="0"/>
              </a:rPr>
              <a:t>проверява</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правилността</a:t>
            </a:r>
            <a:r>
              <a:rPr lang="ru-RU" sz="1900">
                <a:latin typeface="Times New Roman" pitchFamily="18" charset="0"/>
                <a:cs typeface="Times New Roman" pitchFamily="18" charset="0"/>
              </a:rPr>
              <a:t> на всички </a:t>
            </a:r>
            <a:r>
              <a:rPr lang="ru-RU" sz="1900" err="1">
                <a:latin typeface="Times New Roman" pitchFamily="18" charset="0"/>
                <a:cs typeface="Times New Roman" pitchFamily="18" charset="0"/>
              </a:rPr>
              <a:t>връзки</a:t>
            </a:r>
            <a:r>
              <a:rPr lang="ru-RU" sz="1900">
                <a:latin typeface="Times New Roman" pitchFamily="18" charset="0"/>
                <a:cs typeface="Times New Roman" pitchFamily="18" charset="0"/>
              </a:rPr>
              <a:t> между </a:t>
            </a:r>
            <a:r>
              <a:rPr lang="ru-RU" sz="1900" err="1">
                <a:latin typeface="Times New Roman" pitchFamily="18" charset="0"/>
                <a:cs typeface="Times New Roman" pitchFamily="18" charset="0"/>
              </a:rPr>
              <a:t>отделните</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обектни</a:t>
            </a:r>
            <a:r>
              <a:rPr lang="ru-RU" sz="1900">
                <a:latin typeface="Times New Roman" pitchFamily="18" charset="0"/>
                <a:cs typeface="Times New Roman" pitchFamily="18" charset="0"/>
              </a:rPr>
              <a:t> модули и </a:t>
            </a:r>
            <a:r>
              <a:rPr lang="ru-RU" sz="1900" err="1">
                <a:latin typeface="Times New Roman" pitchFamily="18" charset="0"/>
                <a:cs typeface="Times New Roman" pitchFamily="18" charset="0"/>
              </a:rPr>
              <a:t>генерира</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съобщения</a:t>
            </a:r>
            <a:r>
              <a:rPr lang="ru-RU" sz="1900">
                <a:latin typeface="Times New Roman" pitchFamily="18" charset="0"/>
                <a:cs typeface="Times New Roman" pitchFamily="18" charset="0"/>
              </a:rPr>
              <a:t>, ако има грешки.</a:t>
            </a:r>
          </a:p>
          <a:p>
            <a:pPr marL="0" algn="just">
              <a:spcBef>
                <a:spcPts val="0"/>
              </a:spcBef>
            </a:pPr>
            <a:r>
              <a:rPr lang="bg-BG" sz="1900">
                <a:latin typeface="Times New Roman" pitchFamily="18" charset="0"/>
                <a:cs typeface="Times New Roman" pitchFamily="18" charset="0"/>
              </a:rPr>
              <a:t>Л</a:t>
            </a:r>
            <a:r>
              <a:rPr lang="ru-RU" sz="1900" err="1">
                <a:latin typeface="Times New Roman" pitchFamily="18" charset="0"/>
                <a:cs typeface="Times New Roman" pitchFamily="18" charset="0"/>
              </a:rPr>
              <a:t>инкерът</a:t>
            </a:r>
            <a:r>
              <a:rPr lang="ru-RU" sz="1900">
                <a:latin typeface="Times New Roman" pitchFamily="18" charset="0"/>
                <a:cs typeface="Times New Roman" pitchFamily="18" charset="0"/>
              </a:rPr>
              <a:t> приема всички </a:t>
            </a:r>
            <a:r>
              <a:rPr lang="ru-RU" sz="1900" err="1">
                <a:latin typeface="Times New Roman" pitchFamily="18" charset="0"/>
                <a:cs typeface="Times New Roman" pitchFamily="18" charset="0"/>
              </a:rPr>
              <a:t>обектни</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файлове</a:t>
            </a:r>
            <a:r>
              <a:rPr lang="ru-RU" sz="1900">
                <a:latin typeface="Times New Roman" pitchFamily="18" charset="0"/>
                <a:cs typeface="Times New Roman" pitchFamily="18" charset="0"/>
              </a:rPr>
              <a:t> като вход, </a:t>
            </a:r>
            <a:r>
              <a:rPr lang="ru-RU" sz="1900" err="1">
                <a:latin typeface="Times New Roman" pitchFamily="18" charset="0"/>
                <a:cs typeface="Times New Roman" pitchFamily="18" charset="0"/>
              </a:rPr>
              <a:t>разрешава</a:t>
            </a:r>
            <a:r>
              <a:rPr lang="ru-RU" sz="1900">
                <a:latin typeface="Times New Roman" pitchFamily="18" charset="0"/>
                <a:cs typeface="Times New Roman" pitchFamily="18" charset="0"/>
              </a:rPr>
              <a:t> всички </a:t>
            </a:r>
            <a:r>
              <a:rPr lang="ru-RU" sz="1900" err="1">
                <a:latin typeface="Times New Roman" pitchFamily="18" charset="0"/>
                <a:cs typeface="Times New Roman" pitchFamily="18" charset="0"/>
              </a:rPr>
              <a:t>препратки</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към</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паметта</a:t>
            </a:r>
            <a:r>
              <a:rPr lang="ru-RU" sz="1900">
                <a:latin typeface="Times New Roman" pitchFamily="18" charset="0"/>
                <a:cs typeface="Times New Roman" pitchFamily="18" charset="0"/>
              </a:rPr>
              <a:t> и </a:t>
            </a:r>
            <a:r>
              <a:rPr lang="ru-RU" sz="1900" err="1">
                <a:latin typeface="Times New Roman" pitchFamily="18" charset="0"/>
                <a:cs typeface="Times New Roman" pitchFamily="18" charset="0"/>
              </a:rPr>
              <a:t>накрая</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обединява</a:t>
            </a:r>
            <a:r>
              <a:rPr lang="ru-RU" sz="1900">
                <a:latin typeface="Times New Roman" pitchFamily="18" charset="0"/>
                <a:cs typeface="Times New Roman" pitchFamily="18" charset="0"/>
              </a:rPr>
              <a:t> тези </a:t>
            </a:r>
            <a:r>
              <a:rPr lang="ru-RU" sz="1900" err="1">
                <a:latin typeface="Times New Roman" pitchFamily="18" charset="0"/>
                <a:cs typeface="Times New Roman" pitchFamily="18" charset="0"/>
              </a:rPr>
              <a:t>обектни</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файлове</a:t>
            </a:r>
            <a:r>
              <a:rPr lang="ru-RU" sz="1900">
                <a:latin typeface="Times New Roman" pitchFamily="18" charset="0"/>
                <a:cs typeface="Times New Roman" pitchFamily="18" charset="0"/>
              </a:rPr>
              <a:t>, за да направи </a:t>
            </a:r>
            <a:r>
              <a:rPr lang="ru-RU" sz="1900" err="1">
                <a:latin typeface="Times New Roman" pitchFamily="18" charset="0"/>
                <a:cs typeface="Times New Roman" pitchFamily="18" charset="0"/>
              </a:rPr>
              <a:t>изпълним</a:t>
            </a:r>
            <a:r>
              <a:rPr lang="ru-RU" sz="1900">
                <a:latin typeface="Times New Roman" pitchFamily="18" charset="0"/>
                <a:cs typeface="Times New Roman" pitchFamily="18" charset="0"/>
              </a:rPr>
              <a:t> файл</a:t>
            </a:r>
            <a:r>
              <a:rPr lang="bg-BG" sz="1900">
                <a:latin typeface="Times New Roman" pitchFamily="18" charset="0"/>
                <a:cs typeface="Times New Roman" pitchFamily="18" charset="0"/>
              </a:rPr>
              <a:t>. Той </a:t>
            </a:r>
            <a:r>
              <a:rPr lang="ru-RU" sz="1900">
                <a:latin typeface="Times New Roman" pitchFamily="18" charset="0"/>
                <a:cs typeface="Times New Roman" pitchFamily="18" charset="0"/>
              </a:rPr>
              <a:t>има две </a:t>
            </a:r>
            <a:r>
              <a:rPr lang="ru-RU" sz="1900" err="1">
                <a:latin typeface="Times New Roman" pitchFamily="18" charset="0"/>
                <a:cs typeface="Times New Roman" pitchFamily="18" charset="0"/>
              </a:rPr>
              <a:t>основни</a:t>
            </a:r>
            <a:r>
              <a:rPr lang="ru-RU" sz="1900">
                <a:latin typeface="Times New Roman" pitchFamily="18" charset="0"/>
                <a:cs typeface="Times New Roman" pitchFamily="18" charset="0"/>
              </a:rPr>
              <a:t> задачи:</a:t>
            </a:r>
          </a:p>
          <a:p>
            <a:pPr marL="0" algn="just">
              <a:spcBef>
                <a:spcPts val="0"/>
              </a:spcBef>
            </a:pPr>
            <a:r>
              <a:rPr lang="ru-RU" sz="1900">
                <a:latin typeface="Times New Roman" pitchFamily="18" charset="0"/>
                <a:cs typeface="Times New Roman" pitchFamily="18" charset="0"/>
              </a:rPr>
              <a:t> - да </a:t>
            </a:r>
            <a:r>
              <a:rPr lang="ru-RU" sz="1900" err="1">
                <a:latin typeface="Times New Roman" pitchFamily="18" charset="0"/>
                <a:cs typeface="Times New Roman" pitchFamily="18" charset="0"/>
              </a:rPr>
              <a:t>изследва</a:t>
            </a:r>
            <a:r>
              <a:rPr lang="ru-RU" sz="1900">
                <a:latin typeface="Times New Roman" pitchFamily="18" charset="0"/>
                <a:cs typeface="Times New Roman" pitchFamily="18" charset="0"/>
              </a:rPr>
              <a:t> и да </a:t>
            </a:r>
            <a:r>
              <a:rPr lang="ru-RU" sz="1900" err="1">
                <a:latin typeface="Times New Roman" pitchFamily="18" charset="0"/>
                <a:cs typeface="Times New Roman" pitchFamily="18" charset="0"/>
              </a:rPr>
              <a:t>намери</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реферирани</a:t>
            </a:r>
            <a:r>
              <a:rPr lang="ru-RU" sz="1900">
                <a:latin typeface="Times New Roman" pitchFamily="18" charset="0"/>
                <a:cs typeface="Times New Roman" pitchFamily="18" charset="0"/>
              </a:rPr>
              <a:t> модули или </a:t>
            </a:r>
            <a:r>
              <a:rPr lang="ru-RU" sz="1900" err="1">
                <a:latin typeface="Times New Roman" pitchFamily="18" charset="0"/>
                <a:cs typeface="Times New Roman" pitchFamily="18" charset="0"/>
              </a:rPr>
              <a:t>методи</a:t>
            </a:r>
            <a:r>
              <a:rPr lang="ru-RU" sz="1900">
                <a:latin typeface="Times New Roman" pitchFamily="18" charset="0"/>
                <a:cs typeface="Times New Roman" pitchFamily="18" charset="0"/>
              </a:rPr>
              <a:t> или </a:t>
            </a:r>
            <a:r>
              <a:rPr lang="ru-RU" sz="1900" err="1">
                <a:latin typeface="Times New Roman" pitchFamily="18" charset="0"/>
                <a:cs typeface="Times New Roman" pitchFamily="18" charset="0"/>
              </a:rPr>
              <a:t>променливи</a:t>
            </a:r>
            <a:r>
              <a:rPr lang="ru-RU" sz="1900">
                <a:latin typeface="Times New Roman" pitchFamily="18" charset="0"/>
                <a:cs typeface="Times New Roman" pitchFamily="18" charset="0"/>
              </a:rPr>
              <a:t> в </a:t>
            </a:r>
            <a:r>
              <a:rPr lang="ru-RU" sz="1900" err="1">
                <a:latin typeface="Times New Roman" pitchFamily="18" charset="0"/>
                <a:cs typeface="Times New Roman" pitchFamily="18" charset="0"/>
              </a:rPr>
              <a:t>нашата</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програма</a:t>
            </a:r>
            <a:r>
              <a:rPr lang="ru-RU" sz="1900">
                <a:latin typeface="Times New Roman" pitchFamily="18" charset="0"/>
                <a:cs typeface="Times New Roman" pitchFamily="18" charset="0"/>
              </a:rPr>
              <a:t>. </a:t>
            </a:r>
          </a:p>
          <a:p>
            <a:pPr marL="0" algn="just">
              <a:spcBef>
                <a:spcPts val="0"/>
              </a:spcBef>
            </a:pPr>
            <a:r>
              <a:rPr lang="ru-RU" sz="1900">
                <a:latin typeface="Times New Roman" pitchFamily="18" charset="0"/>
                <a:cs typeface="Times New Roman" pitchFamily="18" charset="0"/>
              </a:rPr>
              <a:t>- да се определи и разреши </a:t>
            </a:r>
            <a:r>
              <a:rPr lang="ru-RU" sz="1900" err="1">
                <a:latin typeface="Times New Roman" pitchFamily="18" charset="0"/>
                <a:cs typeface="Times New Roman" pitchFamily="18" charset="0"/>
              </a:rPr>
              <a:t>абсолютното</a:t>
            </a:r>
            <a:r>
              <a:rPr lang="ru-RU" sz="1900">
                <a:latin typeface="Times New Roman" pitchFamily="18" charset="0"/>
                <a:cs typeface="Times New Roman" pitchFamily="18" charset="0"/>
              </a:rPr>
              <a:t> място в </a:t>
            </a:r>
            <a:r>
              <a:rPr lang="ru-RU" sz="1900" err="1">
                <a:latin typeface="Times New Roman" pitchFamily="18" charset="0"/>
                <a:cs typeface="Times New Roman" pitchFamily="18" charset="0"/>
              </a:rPr>
              <a:t>паметта</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където</a:t>
            </a:r>
            <a:r>
              <a:rPr lang="ru-RU" sz="1900">
                <a:latin typeface="Times New Roman" pitchFamily="18" charset="0"/>
                <a:cs typeface="Times New Roman" pitchFamily="18" charset="0"/>
              </a:rPr>
              <a:t> тези </a:t>
            </a:r>
            <a:r>
              <a:rPr lang="ru-RU" sz="1900" err="1">
                <a:latin typeface="Times New Roman" pitchFamily="18" charset="0"/>
                <a:cs typeface="Times New Roman" pitchFamily="18" charset="0"/>
              </a:rPr>
              <a:t>кодове</a:t>
            </a:r>
            <a:r>
              <a:rPr lang="ru-RU" sz="1900">
                <a:latin typeface="Times New Roman" pitchFamily="18" charset="0"/>
                <a:cs typeface="Times New Roman" pitchFamily="18" charset="0"/>
              </a:rPr>
              <a:t> трябва да </a:t>
            </a:r>
            <a:r>
              <a:rPr lang="ru-RU" sz="1900" err="1">
                <a:latin typeface="Times New Roman" pitchFamily="18" charset="0"/>
                <a:cs typeface="Times New Roman" pitchFamily="18" charset="0"/>
              </a:rPr>
              <a:t>бъдат</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заредени</a:t>
            </a:r>
            <a:r>
              <a:rPr lang="ru-RU" sz="1900">
                <a:latin typeface="Times New Roman" pitchFamily="18" charset="0"/>
                <a:cs typeface="Times New Roman" pitchFamily="18" charset="0"/>
              </a:rPr>
              <a:t>.</a:t>
            </a:r>
          </a:p>
          <a:p>
            <a:pPr marL="0" algn="just">
              <a:spcBef>
                <a:spcPts val="0"/>
              </a:spcBef>
            </a:pPr>
            <a:endParaRPr lang="en-US" sz="2200">
              <a:latin typeface="Times New Roman" pitchFamily="18" charset="0"/>
              <a:cs typeface="Times New Roman" pitchFamily="18" charset="0"/>
            </a:endParaRPr>
          </a:p>
        </p:txBody>
      </p:sp>
      <p:sp>
        <p:nvSpPr>
          <p:cNvPr id="4" name="Title 1"/>
          <p:cNvSpPr>
            <a:spLocks noGrp="1"/>
          </p:cNvSpPr>
          <p:nvPr>
            <p:ph type="title"/>
          </p:nvPr>
        </p:nvSpPr>
        <p:spPr>
          <a:xfrm>
            <a:off x="498733" y="404664"/>
            <a:ext cx="8429684" cy="1143000"/>
          </a:xfrm>
        </p:spPr>
        <p:txBody>
          <a:bodyPr>
            <a:normAutofit/>
          </a:bodyPr>
          <a:lstStyle/>
          <a:p>
            <a:r>
              <a:rPr lang="bg-BG" sz="2900">
                <a:latin typeface="Times New Roman" pitchFamily="18" charset="0"/>
                <a:cs typeface="Times New Roman" pitchFamily="18" charset="0"/>
              </a:rPr>
              <a:t>Създаване, транслиране и изпълнение на асемблерна програма.</a:t>
            </a:r>
            <a:endParaRPr lang="bg-BG" sz="2900" b="1"/>
          </a:p>
        </p:txBody>
      </p:sp>
    </p:spTree>
    <p:extLst>
      <p:ext uri="{BB962C8B-B14F-4D97-AF65-F5344CB8AC3E}">
        <p14:creationId xmlns:p14="http://schemas.microsoft.com/office/powerpoint/2010/main" val="2943294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64" y="1169472"/>
            <a:ext cx="8643998" cy="5246814"/>
          </a:xfrm>
        </p:spPr>
        <p:txBody>
          <a:bodyPr>
            <a:noAutofit/>
          </a:bodyPr>
          <a:lstStyle/>
          <a:p>
            <a:pPr marL="0" algn="just">
              <a:spcBef>
                <a:spcPts val="0"/>
              </a:spcBef>
            </a:pPr>
            <a:r>
              <a:rPr lang="ru-RU" sz="2400">
                <a:latin typeface="Times New Roman" panose="02020603050405020304" pitchFamily="18" charset="0"/>
                <a:cs typeface="Times New Roman" panose="02020603050405020304" pitchFamily="18" charset="0"/>
              </a:rPr>
              <a:t>В </a:t>
            </a:r>
            <a:r>
              <a:rPr lang="ru-RU" sz="2400" err="1">
                <a:latin typeface="Times New Roman" panose="02020603050405020304" pitchFamily="18" charset="0"/>
                <a:cs typeface="Times New Roman" panose="02020603050405020304" pitchFamily="18" charset="0"/>
              </a:rPr>
              <a:t>асемблерната</a:t>
            </a:r>
            <a:r>
              <a:rPr lang="ru-RU" sz="2400">
                <a:latin typeface="Times New Roman" panose="02020603050405020304" pitchFamily="18" charset="0"/>
                <a:cs typeface="Times New Roman" panose="02020603050405020304" pitchFamily="18" charset="0"/>
              </a:rPr>
              <a:t> </a:t>
            </a:r>
            <a:r>
              <a:rPr lang="ru-RU" sz="2400" err="1">
                <a:latin typeface="Times New Roman" panose="02020603050405020304" pitchFamily="18" charset="0"/>
                <a:cs typeface="Times New Roman" panose="02020603050405020304" pitchFamily="18" charset="0"/>
              </a:rPr>
              <a:t>програма</a:t>
            </a:r>
            <a:r>
              <a:rPr lang="ru-RU" sz="2400">
                <a:latin typeface="Times New Roman" panose="02020603050405020304" pitchFamily="18" charset="0"/>
                <a:cs typeface="Times New Roman" panose="02020603050405020304" pitchFamily="18" charset="0"/>
              </a:rPr>
              <a:t> </a:t>
            </a:r>
            <a:r>
              <a:rPr lang="ru-RU" sz="2400" err="1">
                <a:latin typeface="Times New Roman" panose="02020603050405020304" pitchFamily="18" charset="0"/>
                <a:cs typeface="Times New Roman" panose="02020603050405020304" pitchFamily="18" charset="0"/>
              </a:rPr>
              <a:t>кодът</a:t>
            </a:r>
            <a:r>
              <a:rPr lang="ru-RU" sz="2400">
                <a:latin typeface="Times New Roman" panose="02020603050405020304" pitchFamily="18" charset="0"/>
                <a:cs typeface="Times New Roman" panose="02020603050405020304" pitchFamily="18" charset="0"/>
              </a:rPr>
              <a:t>, </a:t>
            </a:r>
            <a:r>
              <a:rPr lang="ru-RU" sz="2400" err="1">
                <a:latin typeface="Times New Roman" panose="02020603050405020304" pitchFamily="18" charset="0"/>
                <a:cs typeface="Times New Roman" panose="02020603050405020304" pitchFamily="18" charset="0"/>
              </a:rPr>
              <a:t>данните</a:t>
            </a:r>
            <a:r>
              <a:rPr lang="ru-RU" sz="2400">
                <a:latin typeface="Times New Roman" panose="02020603050405020304" pitchFamily="18" charset="0"/>
                <a:cs typeface="Times New Roman" panose="02020603050405020304" pitchFamily="18" charset="0"/>
              </a:rPr>
              <a:t> и </a:t>
            </a:r>
            <a:r>
              <a:rPr lang="ru-RU" sz="2400" err="1">
                <a:latin typeface="Times New Roman" panose="02020603050405020304" pitchFamily="18" charset="0"/>
                <a:cs typeface="Times New Roman" panose="02020603050405020304" pitchFamily="18" charset="0"/>
              </a:rPr>
              <a:t>стекът</a:t>
            </a:r>
            <a:r>
              <a:rPr lang="ru-RU" sz="2400">
                <a:latin typeface="Times New Roman" panose="02020603050405020304" pitchFamily="18" charset="0"/>
                <a:cs typeface="Times New Roman" panose="02020603050405020304" pitchFamily="18" charset="0"/>
              </a:rPr>
              <a:t> са </a:t>
            </a:r>
            <a:r>
              <a:rPr lang="ru-RU" sz="2400" err="1">
                <a:latin typeface="Times New Roman" panose="02020603050405020304" pitchFamily="18" charset="0"/>
                <a:cs typeface="Times New Roman" panose="02020603050405020304" pitchFamily="18" charset="0"/>
              </a:rPr>
              <a:t>структурирани</a:t>
            </a:r>
            <a:r>
              <a:rPr lang="ru-RU" sz="2400">
                <a:latin typeface="Times New Roman" panose="02020603050405020304" pitchFamily="18" charset="0"/>
                <a:cs typeface="Times New Roman" panose="02020603050405020304" pitchFamily="18" charset="0"/>
              </a:rPr>
              <a:t> като </a:t>
            </a:r>
            <a:r>
              <a:rPr lang="ru-RU" sz="2400" err="1">
                <a:latin typeface="Times New Roman" panose="02020603050405020304" pitchFamily="18" charset="0"/>
                <a:cs typeface="Times New Roman" panose="02020603050405020304" pitchFamily="18" charset="0"/>
              </a:rPr>
              <a:t>програмни</a:t>
            </a:r>
            <a:r>
              <a:rPr lang="ru-RU" sz="2400">
                <a:latin typeface="Times New Roman" panose="02020603050405020304" pitchFamily="18" charset="0"/>
                <a:cs typeface="Times New Roman" panose="02020603050405020304" pitchFamily="18" charset="0"/>
              </a:rPr>
              <a:t> </a:t>
            </a:r>
            <a:r>
              <a:rPr lang="ru-RU" sz="2400" err="1">
                <a:latin typeface="Times New Roman" panose="02020603050405020304" pitchFamily="18" charset="0"/>
                <a:cs typeface="Times New Roman" panose="02020603050405020304" pitchFamily="18" charset="0"/>
              </a:rPr>
              <a:t>сегменти</a:t>
            </a:r>
            <a:r>
              <a:rPr lang="ru-RU" sz="2400">
                <a:latin typeface="Times New Roman" panose="02020603050405020304" pitchFamily="18" charset="0"/>
                <a:cs typeface="Times New Roman" panose="02020603050405020304" pitchFamily="18" charset="0"/>
              </a:rPr>
              <a:t>.</a:t>
            </a:r>
            <a:r>
              <a:rPr lang="en-US" sz="2400">
                <a:latin typeface="Times New Roman" panose="02020603050405020304" pitchFamily="18" charset="0"/>
                <a:cs typeface="Times New Roman" panose="02020603050405020304" pitchFamily="18" charset="0"/>
              </a:rPr>
              <a:t> </a:t>
            </a:r>
            <a:r>
              <a:rPr lang="ru-RU" sz="2400" err="1">
                <a:latin typeface="Times New Roman" panose="02020603050405020304" pitchFamily="18" charset="0"/>
                <a:cs typeface="Times New Roman" panose="02020603050405020304" pitchFamily="18" charset="0"/>
              </a:rPr>
              <a:t>Всеки</a:t>
            </a:r>
            <a:r>
              <a:rPr lang="ru-RU" sz="2400">
                <a:latin typeface="Times New Roman" panose="02020603050405020304" pitchFamily="18" charset="0"/>
                <a:cs typeface="Times New Roman" panose="02020603050405020304" pitchFamily="18" charset="0"/>
              </a:rPr>
              <a:t> сегмент се </a:t>
            </a:r>
            <a:r>
              <a:rPr lang="ru-RU" sz="2400" err="1">
                <a:latin typeface="Times New Roman" panose="02020603050405020304" pitchFamily="18" charset="0"/>
                <a:cs typeface="Times New Roman" panose="02020603050405020304" pitchFamily="18" charset="0"/>
              </a:rPr>
              <a:t>транслира</a:t>
            </a:r>
            <a:r>
              <a:rPr lang="ru-RU" sz="2400">
                <a:latin typeface="Times New Roman" panose="02020603050405020304" pitchFamily="18" charset="0"/>
                <a:cs typeface="Times New Roman" panose="02020603050405020304" pitchFamily="18" charset="0"/>
              </a:rPr>
              <a:t> в сегмент на </a:t>
            </a:r>
            <a:r>
              <a:rPr lang="ru-RU" sz="2400" err="1">
                <a:latin typeface="Times New Roman" panose="02020603050405020304" pitchFamily="18" charset="0"/>
                <a:cs typeface="Times New Roman" panose="02020603050405020304" pitchFamily="18" charset="0"/>
              </a:rPr>
              <a:t>паметта</a:t>
            </a:r>
            <a:r>
              <a:rPr lang="ru-RU" sz="2400">
                <a:latin typeface="Times New Roman" panose="02020603050405020304" pitchFamily="18" charset="0"/>
                <a:cs typeface="Times New Roman" panose="02020603050405020304" pitchFamily="18" charset="0"/>
              </a:rPr>
              <a:t> от </a:t>
            </a:r>
            <a:r>
              <a:rPr lang="ru-RU" sz="2400" err="1">
                <a:latin typeface="Times New Roman" panose="02020603050405020304" pitchFamily="18" charset="0"/>
                <a:cs typeface="Times New Roman" panose="02020603050405020304" pitchFamily="18" charset="0"/>
              </a:rPr>
              <a:t>асемблера</a:t>
            </a:r>
            <a:r>
              <a:rPr lang="ru-RU" sz="2400">
                <a:latin typeface="Times New Roman" panose="02020603050405020304" pitchFamily="18" charset="0"/>
                <a:cs typeface="Times New Roman" panose="02020603050405020304" pitchFamily="18" charset="0"/>
              </a:rPr>
              <a:t>.</a:t>
            </a:r>
          </a:p>
          <a:p>
            <a:pPr marL="0" algn="just">
              <a:spcBef>
                <a:spcPts val="0"/>
              </a:spcBef>
            </a:pPr>
            <a:r>
              <a:rPr lang="ru-RU" sz="2400">
                <a:latin typeface="Times New Roman" panose="02020603050405020304" pitchFamily="18" charset="0"/>
                <a:cs typeface="Times New Roman" panose="02020603050405020304" pitchFamily="18" charset="0"/>
              </a:rPr>
              <a:t>Структура на </a:t>
            </a:r>
            <a:r>
              <a:rPr lang="ru-RU" sz="2400" err="1">
                <a:latin typeface="Times New Roman" panose="02020603050405020304" pitchFamily="18" charset="0"/>
                <a:cs typeface="Times New Roman" panose="02020603050405020304" pitchFamily="18" charset="0"/>
              </a:rPr>
              <a:t>програмата</a:t>
            </a:r>
            <a:r>
              <a:rPr lang="ru-RU" sz="2400">
                <a:latin typeface="Times New Roman" panose="02020603050405020304" pitchFamily="18" charset="0"/>
                <a:cs typeface="Times New Roman" panose="02020603050405020304" pitchFamily="18" charset="0"/>
              </a:rPr>
              <a:t> </a:t>
            </a:r>
          </a:p>
          <a:p>
            <a:pPr marL="0" algn="just">
              <a:spcBef>
                <a:spcPts val="0"/>
              </a:spcBef>
            </a:pPr>
            <a:r>
              <a:rPr lang="ru-RU" sz="2400">
                <a:latin typeface="Times New Roman" panose="02020603050405020304" pitchFamily="18" charset="0"/>
                <a:cs typeface="Times New Roman" panose="02020603050405020304" pitchFamily="18" charset="0"/>
              </a:rPr>
              <a:t> - </a:t>
            </a:r>
            <a:r>
              <a:rPr lang="ru-RU" sz="2400" err="1">
                <a:latin typeface="Times New Roman" panose="02020603050405020304" pitchFamily="18" charset="0"/>
                <a:cs typeface="Times New Roman" panose="02020603050405020304" pitchFamily="18" charset="0"/>
              </a:rPr>
              <a:t>Модел</a:t>
            </a:r>
            <a:r>
              <a:rPr lang="ru-RU" sz="2400">
                <a:latin typeface="Times New Roman" panose="02020603050405020304" pitchFamily="18" charset="0"/>
                <a:cs typeface="Times New Roman" panose="02020603050405020304" pitchFamily="18" charset="0"/>
              </a:rPr>
              <a:t> на </a:t>
            </a:r>
            <a:r>
              <a:rPr lang="ru-RU" sz="2400" err="1">
                <a:latin typeface="Times New Roman" panose="02020603050405020304" pitchFamily="18" charset="0"/>
                <a:cs typeface="Times New Roman" panose="02020603050405020304" pitchFamily="18" charset="0"/>
              </a:rPr>
              <a:t>паметта</a:t>
            </a:r>
            <a:r>
              <a:rPr lang="en-US" sz="2400">
                <a:latin typeface="Times New Roman" panose="02020603050405020304" pitchFamily="18" charset="0"/>
                <a:cs typeface="Times New Roman" panose="02020603050405020304" pitchFamily="18" charset="0"/>
              </a:rPr>
              <a:t>. </a:t>
            </a:r>
          </a:p>
          <a:p>
            <a:pPr marL="0" algn="just">
              <a:spcBef>
                <a:spcPts val="0"/>
              </a:spcBef>
            </a:pPr>
            <a:r>
              <a:rPr lang="ru-RU" sz="2400" err="1">
                <a:latin typeface="Times New Roman" panose="02020603050405020304" pitchFamily="18" charset="0"/>
                <a:cs typeface="Times New Roman" panose="02020603050405020304" pitchFamily="18" charset="0"/>
              </a:rPr>
              <a:t>Размерът</a:t>
            </a:r>
            <a:r>
              <a:rPr lang="ru-RU" sz="2400">
                <a:latin typeface="Times New Roman" panose="02020603050405020304" pitchFamily="18" charset="0"/>
                <a:cs typeface="Times New Roman" panose="02020603050405020304" pitchFamily="18" charset="0"/>
              </a:rPr>
              <a:t> на кода и </a:t>
            </a:r>
            <a:r>
              <a:rPr lang="ru-RU" sz="2400" err="1">
                <a:latin typeface="Times New Roman" panose="02020603050405020304" pitchFamily="18" charset="0"/>
                <a:cs typeface="Times New Roman" panose="02020603050405020304" pitchFamily="18" charset="0"/>
              </a:rPr>
              <a:t>данните</a:t>
            </a:r>
            <a:r>
              <a:rPr lang="ru-RU" sz="2400">
                <a:latin typeface="Times New Roman" panose="02020603050405020304" pitchFamily="18" charset="0"/>
                <a:cs typeface="Times New Roman" panose="02020603050405020304" pitchFamily="18" charset="0"/>
              </a:rPr>
              <a:t>, които </a:t>
            </a:r>
            <a:r>
              <a:rPr lang="ru-RU" sz="2400" err="1">
                <a:latin typeface="Times New Roman" panose="02020603050405020304" pitchFamily="18" charset="0"/>
                <a:cs typeface="Times New Roman" panose="02020603050405020304" pitchFamily="18" charset="0"/>
              </a:rPr>
              <a:t>една</a:t>
            </a:r>
            <a:r>
              <a:rPr lang="ru-RU" sz="2400">
                <a:latin typeface="Times New Roman" panose="02020603050405020304" pitchFamily="18" charset="0"/>
                <a:cs typeface="Times New Roman" panose="02020603050405020304" pitchFamily="18" charset="0"/>
              </a:rPr>
              <a:t> </a:t>
            </a:r>
            <a:r>
              <a:rPr lang="ru-RU" sz="2400" err="1">
                <a:latin typeface="Times New Roman" panose="02020603050405020304" pitchFamily="18" charset="0"/>
                <a:cs typeface="Times New Roman" panose="02020603050405020304" pitchFamily="18" charset="0"/>
              </a:rPr>
              <a:t>програма</a:t>
            </a:r>
            <a:r>
              <a:rPr lang="ru-RU" sz="2400">
                <a:latin typeface="Times New Roman" panose="02020603050405020304" pitchFamily="18" charset="0"/>
                <a:cs typeface="Times New Roman" panose="02020603050405020304" pitchFamily="18" charset="0"/>
              </a:rPr>
              <a:t> </a:t>
            </a:r>
            <a:r>
              <a:rPr lang="ru-RU" sz="2400" err="1">
                <a:latin typeface="Times New Roman" panose="02020603050405020304" pitchFamily="18" charset="0"/>
                <a:cs typeface="Times New Roman" panose="02020603050405020304" pitchFamily="18" charset="0"/>
              </a:rPr>
              <a:t>може</a:t>
            </a:r>
            <a:r>
              <a:rPr lang="ru-RU" sz="2400">
                <a:latin typeface="Times New Roman" panose="02020603050405020304" pitchFamily="18" charset="0"/>
                <a:cs typeface="Times New Roman" panose="02020603050405020304" pitchFamily="18" charset="0"/>
              </a:rPr>
              <a:t> да има, се </a:t>
            </a:r>
            <a:r>
              <a:rPr lang="ru-RU" sz="2400" err="1">
                <a:latin typeface="Times New Roman" panose="02020603050405020304" pitchFamily="18" charset="0"/>
                <a:cs typeface="Times New Roman" panose="02020603050405020304" pitchFamily="18" charset="0"/>
              </a:rPr>
              <a:t>определя</a:t>
            </a:r>
            <a:r>
              <a:rPr lang="ru-RU" sz="2400">
                <a:latin typeface="Times New Roman" panose="02020603050405020304" pitchFamily="18" charset="0"/>
                <a:cs typeface="Times New Roman" panose="02020603050405020304" pitchFamily="18" charset="0"/>
              </a:rPr>
              <a:t> чрез </a:t>
            </a:r>
            <a:r>
              <a:rPr lang="ru-RU" sz="2400" err="1">
                <a:latin typeface="Times New Roman" panose="02020603050405020304" pitchFamily="18" charset="0"/>
                <a:cs typeface="Times New Roman" panose="02020603050405020304" pitchFamily="18" charset="0"/>
              </a:rPr>
              <a:t>посочване</a:t>
            </a:r>
            <a:r>
              <a:rPr lang="ru-RU" sz="2400">
                <a:latin typeface="Times New Roman" panose="02020603050405020304" pitchFamily="18" charset="0"/>
                <a:cs typeface="Times New Roman" panose="02020603050405020304" pitchFamily="18" charset="0"/>
              </a:rPr>
              <a:t> на </a:t>
            </a:r>
            <a:r>
              <a:rPr lang="ru-RU" sz="2400" err="1">
                <a:latin typeface="Times New Roman" panose="02020603050405020304" pitchFamily="18" charset="0"/>
                <a:cs typeface="Times New Roman" panose="02020603050405020304" pitchFamily="18" charset="0"/>
              </a:rPr>
              <a:t>модел</a:t>
            </a:r>
            <a:r>
              <a:rPr lang="ru-RU" sz="2400">
                <a:latin typeface="Times New Roman" panose="02020603050405020304" pitchFamily="18" charset="0"/>
                <a:cs typeface="Times New Roman" panose="02020603050405020304" pitchFamily="18" charset="0"/>
              </a:rPr>
              <a:t> на </a:t>
            </a:r>
            <a:r>
              <a:rPr lang="ru-RU" sz="2400" err="1">
                <a:latin typeface="Times New Roman" panose="02020603050405020304" pitchFamily="18" charset="0"/>
                <a:cs typeface="Times New Roman" panose="02020603050405020304" pitchFamily="18" charset="0"/>
              </a:rPr>
              <a:t>паметта</a:t>
            </a:r>
            <a:r>
              <a:rPr lang="ru-RU" sz="2400">
                <a:latin typeface="Times New Roman" panose="02020603050405020304" pitchFamily="18" charset="0"/>
                <a:cs typeface="Times New Roman" panose="02020603050405020304" pitchFamily="18" charset="0"/>
              </a:rPr>
              <a:t> с помощта на директива .MODEL.</a:t>
            </a:r>
          </a:p>
          <a:p>
            <a:pPr marL="0" algn="just">
              <a:spcBef>
                <a:spcPts val="0"/>
              </a:spcBef>
            </a:pPr>
            <a:r>
              <a:rPr lang="en-US" sz="2400" b="1">
                <a:latin typeface="Times New Roman" panose="02020603050405020304" pitchFamily="18" charset="0"/>
                <a:cs typeface="Times New Roman" panose="02020603050405020304" pitchFamily="18" charset="0"/>
              </a:rPr>
              <a:t> .model </a:t>
            </a:r>
            <a:r>
              <a:rPr lang="en-US" sz="2400" b="1" err="1">
                <a:latin typeface="Times New Roman" panose="02020603050405020304" pitchFamily="18" charset="0"/>
                <a:cs typeface="Times New Roman" panose="02020603050405020304" pitchFamily="18" charset="0"/>
              </a:rPr>
              <a:t>memory_model</a:t>
            </a:r>
            <a:endParaRPr lang="ru-RU" sz="2400" b="1">
              <a:latin typeface="Times New Roman" panose="02020603050405020304" pitchFamily="18" charset="0"/>
              <a:cs typeface="Times New Roman" panose="02020603050405020304" pitchFamily="18" charset="0"/>
            </a:endParaRPr>
          </a:p>
          <a:p>
            <a:pPr marL="0" algn="just">
              <a:spcBef>
                <a:spcPts val="0"/>
              </a:spcBef>
            </a:pPr>
            <a:r>
              <a:rPr lang="ru-RU" sz="2400">
                <a:latin typeface="Times New Roman" panose="02020603050405020304" pitchFamily="18" charset="0"/>
                <a:cs typeface="Times New Roman" panose="02020603050405020304" pitchFamily="18" charset="0"/>
              </a:rPr>
              <a:t> </a:t>
            </a:r>
            <a:r>
              <a:rPr lang="ru-RU" sz="2400" err="1">
                <a:latin typeface="Times New Roman" panose="02020603050405020304" pitchFamily="18" charset="0"/>
                <a:cs typeface="Times New Roman" panose="02020603050405020304" pitchFamily="18" charset="0"/>
              </a:rPr>
              <a:t>Директивата</a:t>
            </a:r>
            <a:r>
              <a:rPr lang="ru-RU" sz="2400">
                <a:latin typeface="Times New Roman" panose="02020603050405020304" pitchFamily="18" charset="0"/>
                <a:cs typeface="Times New Roman" panose="02020603050405020304" pitchFamily="18" charset="0"/>
              </a:rPr>
              <a:t> MODEL трябва да е </a:t>
            </a:r>
            <a:r>
              <a:rPr lang="ru-RU" sz="2400" err="1">
                <a:latin typeface="Times New Roman" panose="02020603050405020304" pitchFamily="18" charset="0"/>
                <a:cs typeface="Times New Roman" panose="02020603050405020304" pitchFamily="18" charset="0"/>
              </a:rPr>
              <a:t>преди</a:t>
            </a:r>
            <a:r>
              <a:rPr lang="ru-RU" sz="2400">
                <a:latin typeface="Times New Roman" panose="02020603050405020304" pitchFamily="18" charset="0"/>
                <a:cs typeface="Times New Roman" panose="02020603050405020304" pitchFamily="18" charset="0"/>
              </a:rPr>
              <a:t> всяка дефиниция на сегмент.</a:t>
            </a:r>
            <a:endParaRPr lang="en-US" sz="2400">
              <a:latin typeface="Times New Roman" panose="02020603050405020304" pitchFamily="18" charset="0"/>
              <a:cs typeface="Times New Roman" panose="02020603050405020304" pitchFamily="18" charset="0"/>
            </a:endParaRPr>
          </a:p>
          <a:p>
            <a:pPr marL="0" algn="just">
              <a:spcBef>
                <a:spcPts val="0"/>
              </a:spcBef>
            </a:pPr>
            <a:r>
              <a:rPr lang="en-US" sz="2400" b="1">
                <a:latin typeface="Times New Roman" panose="02020603050405020304" pitchFamily="18" charset="0"/>
                <a:cs typeface="Times New Roman" panose="02020603050405020304" pitchFamily="18" charset="0"/>
              </a:rPr>
              <a:t>.model flat, </a:t>
            </a:r>
            <a:r>
              <a:rPr lang="en-US" sz="2400" b="1" err="1">
                <a:latin typeface="Times New Roman" panose="02020603050405020304" pitchFamily="18" charset="0"/>
                <a:cs typeface="Times New Roman" panose="02020603050405020304" pitchFamily="18" charset="0"/>
              </a:rPr>
              <a:t>stdcall</a:t>
            </a:r>
            <a:endParaRPr lang="en-US" sz="2400" b="1">
              <a:latin typeface="Times New Roman" panose="02020603050405020304" pitchFamily="18" charset="0"/>
              <a:cs typeface="Times New Roman" panose="02020603050405020304" pitchFamily="18" charset="0"/>
            </a:endParaRPr>
          </a:p>
          <a:p>
            <a:pPr marL="0" algn="just">
              <a:spcBef>
                <a:spcPts val="0"/>
              </a:spcBef>
            </a:pPr>
            <a:r>
              <a:rPr lang="en-US" sz="2200" b="1" err="1">
                <a:latin typeface="Times New Roman" pitchFamily="18" charset="0"/>
                <a:cs typeface="Times New Roman" pitchFamily="18" charset="0"/>
              </a:rPr>
              <a:t>icludelib</a:t>
            </a:r>
            <a:r>
              <a:rPr lang="bg-BG" sz="2200" b="1">
                <a:latin typeface="Times New Roman" pitchFamily="18" charset="0"/>
                <a:cs typeface="Times New Roman" pitchFamily="18" charset="0"/>
              </a:rPr>
              <a:t> </a:t>
            </a:r>
            <a:r>
              <a:rPr lang="en-US" sz="2200" b="1">
                <a:latin typeface="Times New Roman" pitchFamily="18" charset="0"/>
                <a:cs typeface="Times New Roman" pitchFamily="18" charset="0"/>
              </a:rPr>
              <a:t>c:\masm32\lib\kernel32.lib</a:t>
            </a:r>
          </a:p>
          <a:p>
            <a:pPr marL="0" algn="just">
              <a:spcBef>
                <a:spcPts val="0"/>
              </a:spcBef>
            </a:pPr>
            <a:r>
              <a:rPr lang="en-US" sz="2200" b="1" err="1">
                <a:latin typeface="Times New Roman" pitchFamily="18" charset="0"/>
                <a:cs typeface="Times New Roman" pitchFamily="18" charset="0"/>
              </a:rPr>
              <a:t>ExitProcess</a:t>
            </a:r>
            <a:r>
              <a:rPr lang="en-US" sz="2200" b="1">
                <a:latin typeface="Times New Roman" pitchFamily="18" charset="0"/>
                <a:cs typeface="Times New Roman" pitchFamily="18" charset="0"/>
              </a:rPr>
              <a:t> </a:t>
            </a:r>
            <a:r>
              <a:rPr lang="en-US" sz="2200" b="1" err="1">
                <a:latin typeface="Times New Roman" pitchFamily="18" charset="0"/>
                <a:cs typeface="Times New Roman" pitchFamily="18" charset="0"/>
              </a:rPr>
              <a:t>proto:DWORD</a:t>
            </a:r>
            <a:endParaRPr lang="en-US" sz="2200" b="1">
              <a:latin typeface="Times New Roman" pitchFamily="18" charset="0"/>
              <a:cs typeface="Times New Roman" pitchFamily="18" charset="0"/>
            </a:endParaRPr>
          </a:p>
        </p:txBody>
      </p:sp>
      <p:sp>
        <p:nvSpPr>
          <p:cNvPr id="4" name="Title 1"/>
          <p:cNvSpPr>
            <a:spLocks noGrp="1"/>
          </p:cNvSpPr>
          <p:nvPr>
            <p:ph type="title"/>
          </p:nvPr>
        </p:nvSpPr>
        <p:spPr>
          <a:xfrm>
            <a:off x="465878" y="26472"/>
            <a:ext cx="8429684" cy="1143000"/>
          </a:xfrm>
        </p:spPr>
        <p:txBody>
          <a:bodyPr>
            <a:normAutofit/>
          </a:bodyPr>
          <a:lstStyle/>
          <a:p>
            <a:r>
              <a:rPr lang="bg-BG" sz="2900">
                <a:latin typeface="Times New Roman" pitchFamily="18" charset="0"/>
                <a:cs typeface="Times New Roman" pitchFamily="18" charset="0"/>
              </a:rPr>
              <a:t>Структура на програмата</a:t>
            </a:r>
            <a:r>
              <a:rPr lang="en-US" sz="2900">
                <a:latin typeface="Times New Roman" pitchFamily="18" charset="0"/>
                <a:cs typeface="Times New Roman" pitchFamily="18" charset="0"/>
              </a:rPr>
              <a:t> </a:t>
            </a:r>
            <a:r>
              <a:rPr lang="bg-BG" sz="2900">
                <a:latin typeface="Times New Roman" pitchFamily="18" charset="0"/>
                <a:cs typeface="Times New Roman" pitchFamily="18" charset="0"/>
              </a:rPr>
              <a:t>з</a:t>
            </a:r>
            <a:r>
              <a:rPr lang="bg-BG" sz="3200">
                <a:latin typeface="Times New Roman" pitchFamily="18" charset="0"/>
                <a:cs typeface="Times New Roman" pitchFamily="18" charset="0"/>
              </a:rPr>
              <a:t>а </a:t>
            </a:r>
            <a:r>
              <a:rPr lang="en-US" sz="3200">
                <a:latin typeface="Times New Roman" pitchFamily="18" charset="0"/>
                <a:cs typeface="Times New Roman" pitchFamily="18" charset="0"/>
              </a:rPr>
              <a:t>IA-32 </a:t>
            </a:r>
            <a:endParaRPr lang="bg-BG" sz="2900" b="1"/>
          </a:p>
        </p:txBody>
      </p:sp>
    </p:spTree>
    <p:extLst>
      <p:ext uri="{BB962C8B-B14F-4D97-AF65-F5344CB8AC3E}">
        <p14:creationId xmlns:p14="http://schemas.microsoft.com/office/powerpoint/2010/main" val="1508504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64" y="1700808"/>
            <a:ext cx="8643998" cy="4715478"/>
          </a:xfrm>
        </p:spPr>
        <p:txBody>
          <a:bodyPr>
            <a:noAutofit/>
          </a:bodyPr>
          <a:lstStyle/>
          <a:p>
            <a:pPr marL="0" algn="just">
              <a:spcBef>
                <a:spcPts val="0"/>
              </a:spcBef>
            </a:pPr>
            <a:r>
              <a:rPr lang="bg-BG" sz="2400">
                <a:latin typeface="Times New Roman" panose="02020603050405020304" pitchFamily="18" charset="0"/>
                <a:cs typeface="Times New Roman" panose="02020603050405020304" pitchFamily="18" charset="0"/>
              </a:rPr>
              <a:t>Директивата </a:t>
            </a:r>
            <a:r>
              <a:rPr lang="en-US" sz="2400" b="1">
                <a:latin typeface="Times New Roman" panose="02020603050405020304" pitchFamily="18" charset="0"/>
                <a:cs typeface="Times New Roman" panose="02020603050405020304" pitchFamily="18" charset="0"/>
              </a:rPr>
              <a:t>.model flat</a:t>
            </a:r>
            <a:r>
              <a:rPr lang="bg-BG" sz="2400" b="1">
                <a:latin typeface="Times New Roman" panose="02020603050405020304" pitchFamily="18" charset="0"/>
                <a:cs typeface="Times New Roman" panose="02020603050405020304" pitchFamily="18" charset="0"/>
              </a:rPr>
              <a:t> </a:t>
            </a:r>
            <a:r>
              <a:rPr lang="bg-BG" sz="2400">
                <a:latin typeface="Times New Roman" panose="02020603050405020304" pitchFamily="18" charset="0"/>
                <a:cs typeface="Times New Roman" panose="02020603050405020304" pitchFamily="18" charset="0"/>
              </a:rPr>
              <a:t>определя плоския модел на паметта за нашата програма. Този модел памет се използва за програмиране под Windows</a:t>
            </a:r>
            <a:r>
              <a:rPr lang="en-US" sz="2400">
                <a:latin typeface="Times New Roman" panose="02020603050405020304" pitchFamily="18" charset="0"/>
                <a:cs typeface="Times New Roman" panose="02020603050405020304" pitchFamily="18" charset="0"/>
              </a:rPr>
              <a:t>.</a:t>
            </a:r>
            <a:r>
              <a:rPr lang="ru-RU" sz="2400">
                <a:latin typeface="Times New Roman" panose="02020603050405020304" pitchFamily="18" charset="0"/>
                <a:cs typeface="Times New Roman" panose="02020603050405020304" pitchFamily="18" charset="0"/>
              </a:rPr>
              <a:t> </a:t>
            </a:r>
            <a:r>
              <a:rPr lang="bg-BG" sz="2400">
                <a:latin typeface="Times New Roman" panose="02020603050405020304" pitchFamily="18" charset="0"/>
                <a:cs typeface="Times New Roman" panose="02020603050405020304" pitchFamily="18" charset="0"/>
              </a:rPr>
              <a:t>Моделът – определя набора и видовете сегменти. С 32-битово адресиране се използва единствено модел flat.</a:t>
            </a:r>
          </a:p>
          <a:p>
            <a:pPr marL="0" algn="just">
              <a:spcBef>
                <a:spcPts val="0"/>
              </a:spcBef>
            </a:pPr>
            <a:r>
              <a:rPr lang="en-US" sz="2400" b="1">
                <a:latin typeface="Times New Roman" panose="02020603050405020304" pitchFamily="18" charset="0"/>
                <a:cs typeface="Times New Roman" panose="02020603050405020304" pitchFamily="18" charset="0"/>
              </a:rPr>
              <a:t>s</a:t>
            </a:r>
            <a:r>
              <a:rPr lang="bg-BG" sz="2400" b="1">
                <a:latin typeface="Times New Roman" panose="02020603050405020304" pitchFamily="18" charset="0"/>
                <a:cs typeface="Times New Roman" panose="02020603050405020304" pitchFamily="18" charset="0"/>
              </a:rPr>
              <a:t>tdcall </a:t>
            </a:r>
            <a:r>
              <a:rPr lang="ru-RU" sz="2400" b="1"/>
              <a:t> </a:t>
            </a:r>
            <a:r>
              <a:rPr lang="ru-RU" sz="2400">
                <a:latin typeface="Times New Roman" panose="02020603050405020304" pitchFamily="18" charset="0"/>
                <a:cs typeface="Times New Roman" panose="02020603050405020304" pitchFamily="18" charset="0"/>
              </a:rPr>
              <a:t>е </a:t>
            </a:r>
            <a:r>
              <a:rPr lang="bg-BG" sz="2400">
                <a:latin typeface="Times New Roman" panose="02020603050405020304" pitchFamily="18" charset="0"/>
                <a:cs typeface="Times New Roman" panose="02020603050405020304" pitchFamily="18" charset="0"/>
              </a:rPr>
              <a:t>стандартната конвенция за Win32 API. В тази конвенция аргументите се предават от дясно на ляво до изчистването на стека. Стекът се използва за предаване на аргументи, върнатата стойност се записва в регистъра eax</a:t>
            </a:r>
            <a:r>
              <a:rPr lang="ru-RU" sz="2400">
                <a:latin typeface="Times New Roman" panose="02020603050405020304" pitchFamily="18" charset="0"/>
                <a:cs typeface="Times New Roman" panose="02020603050405020304" pitchFamily="18" charset="0"/>
              </a:rPr>
              <a:t>.</a:t>
            </a:r>
            <a:endParaRPr lang="bg-BG" sz="2400">
              <a:latin typeface="Times New Roman" panose="02020603050405020304" pitchFamily="18" charset="0"/>
              <a:cs typeface="Times New Roman" panose="02020603050405020304" pitchFamily="18" charset="0"/>
            </a:endParaRPr>
          </a:p>
          <a:p>
            <a:pPr marL="0" algn="just">
              <a:spcBef>
                <a:spcPts val="0"/>
              </a:spcBef>
            </a:pPr>
            <a:endParaRPr lang="en-US" sz="220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690712" y="-11151"/>
            <a:ext cx="8429684" cy="1143000"/>
          </a:xfrm>
        </p:spPr>
        <p:txBody>
          <a:bodyPr>
            <a:normAutofit/>
          </a:bodyPr>
          <a:lstStyle/>
          <a:p>
            <a:r>
              <a:rPr lang="bg-BG" sz="2900">
                <a:latin typeface="Times New Roman" pitchFamily="18" charset="0"/>
                <a:cs typeface="Times New Roman" pitchFamily="18" charset="0"/>
              </a:rPr>
              <a:t>Структура на програмата</a:t>
            </a:r>
            <a:r>
              <a:rPr lang="en-US" sz="2900">
                <a:latin typeface="Times New Roman" pitchFamily="18" charset="0"/>
                <a:cs typeface="Times New Roman" pitchFamily="18" charset="0"/>
              </a:rPr>
              <a:t> </a:t>
            </a:r>
            <a:r>
              <a:rPr lang="bg-BG" sz="2900">
                <a:latin typeface="Times New Roman" pitchFamily="18" charset="0"/>
                <a:cs typeface="Times New Roman" pitchFamily="18" charset="0"/>
              </a:rPr>
              <a:t>з</a:t>
            </a:r>
            <a:r>
              <a:rPr lang="bg-BG" sz="3200">
                <a:latin typeface="Times New Roman" pitchFamily="18" charset="0"/>
                <a:cs typeface="Times New Roman" pitchFamily="18" charset="0"/>
              </a:rPr>
              <a:t>а </a:t>
            </a:r>
            <a:r>
              <a:rPr lang="en-US" sz="3200">
                <a:latin typeface="Times New Roman" pitchFamily="18" charset="0"/>
                <a:cs typeface="Times New Roman" pitchFamily="18" charset="0"/>
              </a:rPr>
              <a:t>IA-32 </a:t>
            </a:r>
            <a:endParaRPr lang="bg-BG" sz="2900" b="1"/>
          </a:p>
        </p:txBody>
      </p:sp>
    </p:spTree>
    <p:extLst>
      <p:ext uri="{BB962C8B-B14F-4D97-AF65-F5344CB8AC3E}">
        <p14:creationId xmlns:p14="http://schemas.microsoft.com/office/powerpoint/2010/main" val="1568624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64" y="1484784"/>
            <a:ext cx="8643998" cy="4931502"/>
          </a:xfrm>
        </p:spPr>
        <p:txBody>
          <a:bodyPr>
            <a:noAutofit/>
          </a:bodyPr>
          <a:lstStyle/>
          <a:p>
            <a:pPr marL="0" algn="just">
              <a:spcBef>
                <a:spcPts val="0"/>
              </a:spcBef>
            </a:pPr>
            <a:r>
              <a:rPr lang="en-US" sz="2200">
                <a:latin typeface="Times New Roman" panose="02020603050405020304" pitchFamily="18" charset="0"/>
                <a:cs typeface="Times New Roman" panose="02020603050405020304" pitchFamily="18" charset="0"/>
              </a:rPr>
              <a:t>-</a:t>
            </a:r>
            <a:r>
              <a:rPr lang="ru-RU" sz="2200">
                <a:latin typeface="Times New Roman" panose="02020603050405020304" pitchFamily="18" charset="0"/>
                <a:cs typeface="Times New Roman" panose="02020603050405020304" pitchFamily="18" charset="0"/>
              </a:rPr>
              <a:t> Сегмент от данни</a:t>
            </a:r>
            <a:r>
              <a:rPr lang="en-US" sz="2200">
                <a:latin typeface="Times New Roman" panose="02020603050405020304" pitchFamily="18" charset="0"/>
                <a:cs typeface="Times New Roman" panose="02020603050405020304" pitchFamily="18" charset="0"/>
              </a:rPr>
              <a:t>. </a:t>
            </a:r>
          </a:p>
          <a:p>
            <a:pPr marL="0" algn="just">
              <a:spcBef>
                <a:spcPts val="0"/>
              </a:spcBef>
            </a:pPr>
            <a:r>
              <a:rPr lang="ru-RU" sz="2200" err="1">
                <a:latin typeface="Times New Roman" panose="02020603050405020304" pitchFamily="18" charset="0"/>
                <a:cs typeface="Times New Roman" panose="02020603050405020304" pitchFamily="18" charset="0"/>
              </a:rPr>
              <a:t>Сегментът</a:t>
            </a:r>
            <a:r>
              <a:rPr lang="ru-RU" sz="2200">
                <a:latin typeface="Times New Roman" panose="02020603050405020304" pitchFamily="18" charset="0"/>
                <a:cs typeface="Times New Roman" panose="02020603050405020304" pitchFamily="18" charset="0"/>
              </a:rPr>
              <a:t> с данни на </a:t>
            </a:r>
            <a:r>
              <a:rPr lang="ru-RU" sz="2200" err="1">
                <a:latin typeface="Times New Roman" panose="02020603050405020304" pitchFamily="18" charset="0"/>
                <a:cs typeface="Times New Roman" panose="02020603050405020304" pitchFamily="18" charset="0"/>
              </a:rPr>
              <a:t>програмата</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съдържа</a:t>
            </a:r>
            <a:r>
              <a:rPr lang="ru-RU" sz="2200">
                <a:latin typeface="Times New Roman" panose="02020603050405020304" pitchFamily="18" charset="0"/>
                <a:cs typeface="Times New Roman" panose="02020603050405020304" pitchFamily="18" charset="0"/>
              </a:rPr>
              <a:t> всички дефиниции на </a:t>
            </a:r>
            <a:r>
              <a:rPr lang="ru-RU" sz="2200" err="1">
                <a:latin typeface="Times New Roman" panose="02020603050405020304" pitchFamily="18" charset="0"/>
                <a:cs typeface="Times New Roman" panose="02020603050405020304" pitchFamily="18" charset="0"/>
              </a:rPr>
              <a:t>променливи</a:t>
            </a:r>
            <a:r>
              <a:rPr lang="ru-RU" sz="2200">
                <a:latin typeface="Times New Roman" panose="02020603050405020304" pitchFamily="18" charset="0"/>
                <a:cs typeface="Times New Roman" panose="02020603050405020304" pitchFamily="18" charset="0"/>
              </a:rPr>
              <a:t>.</a:t>
            </a:r>
            <a:r>
              <a:rPr lang="en-US" sz="2200">
                <a:latin typeface="Times New Roman" panose="02020603050405020304" pitchFamily="18" charset="0"/>
                <a:cs typeface="Times New Roman" panose="02020603050405020304" pitchFamily="18" charset="0"/>
              </a:rPr>
              <a:t> </a:t>
            </a:r>
            <a:r>
              <a:rPr lang="bg-BG" sz="2200">
                <a:latin typeface="Times New Roman" panose="02020603050405020304" pitchFamily="18" charset="0"/>
                <a:cs typeface="Times New Roman" panose="02020603050405020304" pitchFamily="18" charset="0"/>
              </a:rPr>
              <a:t>А също така и константи.</a:t>
            </a:r>
            <a:endParaRPr lang="ru-RU" sz="2200">
              <a:latin typeface="Times New Roman" panose="02020603050405020304" pitchFamily="18" charset="0"/>
              <a:cs typeface="Times New Roman" panose="02020603050405020304" pitchFamily="18" charset="0"/>
            </a:endParaRPr>
          </a:p>
          <a:p>
            <a:pPr marL="0" algn="just">
              <a:spcBef>
                <a:spcPts val="0"/>
              </a:spcBef>
            </a:pPr>
            <a:r>
              <a:rPr lang="ru-RU" sz="2200">
                <a:latin typeface="Times New Roman" panose="02020603050405020304" pitchFamily="18" charset="0"/>
                <a:cs typeface="Times New Roman" panose="02020603050405020304" pitchFamily="18" charset="0"/>
              </a:rPr>
              <a:t>За да </a:t>
            </a:r>
            <a:r>
              <a:rPr lang="ru-RU" sz="2200" err="1">
                <a:latin typeface="Times New Roman" panose="02020603050405020304" pitchFamily="18" charset="0"/>
                <a:cs typeface="Times New Roman" panose="02020603050405020304" pitchFamily="18" charset="0"/>
              </a:rPr>
              <a:t>декларираме</a:t>
            </a:r>
            <a:r>
              <a:rPr lang="ru-RU" sz="2200">
                <a:latin typeface="Times New Roman" panose="02020603050405020304" pitchFamily="18" charset="0"/>
                <a:cs typeface="Times New Roman" panose="02020603050405020304" pitchFamily="18" charset="0"/>
              </a:rPr>
              <a:t> сегмент от данни, </a:t>
            </a:r>
            <a:r>
              <a:rPr lang="ru-RU" sz="2200" err="1">
                <a:latin typeface="Times New Roman" panose="02020603050405020304" pitchFamily="18" charset="0"/>
                <a:cs typeface="Times New Roman" panose="02020603050405020304" pitchFamily="18" charset="0"/>
              </a:rPr>
              <a:t>използваме</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директивата</a:t>
            </a:r>
            <a:r>
              <a:rPr lang="ru-RU" sz="2200">
                <a:latin typeface="Times New Roman" panose="02020603050405020304" pitchFamily="18" charset="0"/>
                <a:cs typeface="Times New Roman" panose="02020603050405020304" pitchFamily="18" charset="0"/>
              </a:rPr>
              <a:t> .DATA, </a:t>
            </a:r>
            <a:r>
              <a:rPr lang="ru-RU" sz="2200" err="1">
                <a:latin typeface="Times New Roman" panose="02020603050405020304" pitchFamily="18" charset="0"/>
                <a:cs typeface="Times New Roman" panose="02020603050405020304" pitchFamily="18" charset="0"/>
              </a:rPr>
              <a:t>последвана</a:t>
            </a:r>
            <a:r>
              <a:rPr lang="ru-RU" sz="2200">
                <a:latin typeface="Times New Roman" panose="02020603050405020304" pitchFamily="18" charset="0"/>
                <a:cs typeface="Times New Roman" panose="02020603050405020304" pitchFamily="18" charset="0"/>
              </a:rPr>
              <a:t> от </a:t>
            </a:r>
            <a:r>
              <a:rPr lang="ru-RU" sz="2200" err="1">
                <a:latin typeface="Times New Roman" panose="02020603050405020304" pitchFamily="18" charset="0"/>
                <a:cs typeface="Times New Roman" panose="02020603050405020304" pitchFamily="18" charset="0"/>
              </a:rPr>
              <a:t>променливи</a:t>
            </a:r>
            <a:r>
              <a:rPr lang="ru-RU" sz="2200">
                <a:latin typeface="Times New Roman" panose="02020603050405020304" pitchFamily="18" charset="0"/>
                <a:cs typeface="Times New Roman" panose="02020603050405020304" pitchFamily="18" charset="0"/>
              </a:rPr>
              <a:t> и </a:t>
            </a:r>
            <a:r>
              <a:rPr lang="ru-RU" sz="2200" err="1">
                <a:latin typeface="Times New Roman" panose="02020603050405020304" pitchFamily="18" charset="0"/>
                <a:cs typeface="Times New Roman" panose="02020603050405020304" pitchFamily="18" charset="0"/>
              </a:rPr>
              <a:t>константи</a:t>
            </a:r>
            <a:r>
              <a:rPr lang="ru-RU" sz="2200">
                <a:latin typeface="Times New Roman" panose="02020603050405020304" pitchFamily="18" charset="0"/>
                <a:cs typeface="Times New Roman" panose="02020603050405020304" pitchFamily="18" charset="0"/>
              </a:rPr>
              <a:t>.</a:t>
            </a:r>
          </a:p>
          <a:p>
            <a:pPr marL="0" algn="just">
              <a:spcBef>
                <a:spcPts val="0"/>
              </a:spcBef>
            </a:pPr>
            <a:r>
              <a:rPr lang="en-US" sz="2200" b="1">
                <a:latin typeface="Times New Roman" panose="02020603050405020304" pitchFamily="18" charset="0"/>
                <a:cs typeface="Times New Roman" panose="02020603050405020304" pitchFamily="18" charset="0"/>
              </a:rPr>
              <a:t>.data</a:t>
            </a:r>
          </a:p>
          <a:p>
            <a:pPr marL="0" algn="just">
              <a:spcBef>
                <a:spcPts val="0"/>
              </a:spcBef>
            </a:pPr>
            <a:endParaRPr lang="en-US" sz="2200">
              <a:latin typeface="Times New Roman" panose="02020603050405020304" pitchFamily="18" charset="0"/>
              <a:cs typeface="Times New Roman" panose="02020603050405020304" pitchFamily="18" charset="0"/>
            </a:endParaRPr>
          </a:p>
          <a:p>
            <a:pPr marL="0" algn="just">
              <a:spcBef>
                <a:spcPts val="0"/>
              </a:spcBef>
            </a:pPr>
            <a:r>
              <a:rPr lang="ru-RU" sz="2200">
                <a:latin typeface="Times New Roman" panose="02020603050405020304" pitchFamily="18" charset="0"/>
                <a:cs typeface="Times New Roman" panose="02020603050405020304" pitchFamily="18" charset="0"/>
              </a:rPr>
              <a:t>- Сегмент на стека</a:t>
            </a:r>
            <a:endParaRPr lang="en-US" sz="2200">
              <a:latin typeface="Times New Roman" panose="02020603050405020304" pitchFamily="18" charset="0"/>
              <a:cs typeface="Times New Roman" panose="02020603050405020304" pitchFamily="18" charset="0"/>
            </a:endParaRPr>
          </a:p>
          <a:p>
            <a:pPr marL="0" algn="just">
              <a:spcBef>
                <a:spcPts val="0"/>
              </a:spcBef>
            </a:pPr>
            <a:r>
              <a:rPr lang="ru-RU" sz="2200" err="1">
                <a:latin typeface="Times New Roman" panose="02020603050405020304" pitchFamily="18" charset="0"/>
                <a:cs typeface="Times New Roman" panose="02020603050405020304" pitchFamily="18" charset="0"/>
              </a:rPr>
              <a:t>Целта</a:t>
            </a:r>
            <a:r>
              <a:rPr lang="ru-RU" sz="2200">
                <a:latin typeface="Times New Roman" panose="02020603050405020304" pitchFamily="18" charset="0"/>
                <a:cs typeface="Times New Roman" panose="02020603050405020304" pitchFamily="18" charset="0"/>
              </a:rPr>
              <a:t> на </a:t>
            </a:r>
            <a:r>
              <a:rPr lang="ru-RU" sz="2200" err="1">
                <a:latin typeface="Times New Roman" panose="02020603050405020304" pitchFamily="18" charset="0"/>
                <a:cs typeface="Times New Roman" panose="02020603050405020304" pitchFamily="18" charset="0"/>
              </a:rPr>
              <a:t>декларацията</a:t>
            </a:r>
            <a:r>
              <a:rPr lang="ru-RU" sz="2200">
                <a:latin typeface="Times New Roman" panose="02020603050405020304" pitchFamily="18" charset="0"/>
                <a:cs typeface="Times New Roman" panose="02020603050405020304" pitchFamily="18" charset="0"/>
              </a:rPr>
              <a:t> на сегмента на стека е да задели блок </a:t>
            </a:r>
            <a:r>
              <a:rPr lang="ru-RU" sz="2200" err="1">
                <a:latin typeface="Times New Roman" panose="02020603050405020304" pitchFamily="18" charset="0"/>
                <a:cs typeface="Times New Roman" panose="02020603050405020304" pitchFamily="18" charset="0"/>
              </a:rPr>
              <a:t>памет</a:t>
            </a:r>
            <a:r>
              <a:rPr lang="ru-RU" sz="2200">
                <a:latin typeface="Times New Roman" panose="02020603050405020304" pitchFamily="18" charset="0"/>
                <a:cs typeface="Times New Roman" panose="02020603050405020304" pitchFamily="18" charset="0"/>
              </a:rPr>
              <a:t> за </a:t>
            </a:r>
            <a:r>
              <a:rPr lang="ru-RU" sz="2200" err="1">
                <a:latin typeface="Times New Roman" panose="02020603050405020304" pitchFamily="18" charset="0"/>
                <a:cs typeface="Times New Roman" panose="02020603050405020304" pitchFamily="18" charset="0"/>
              </a:rPr>
              <a:t>съхранение</a:t>
            </a:r>
            <a:r>
              <a:rPr lang="ru-RU" sz="2200">
                <a:latin typeface="Times New Roman" panose="02020603050405020304" pitchFamily="18" charset="0"/>
                <a:cs typeface="Times New Roman" panose="02020603050405020304" pitchFamily="18" charset="0"/>
              </a:rPr>
              <a:t> на стека.</a:t>
            </a:r>
            <a:r>
              <a:rPr lang="en-US"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Площта</a:t>
            </a:r>
            <a:r>
              <a:rPr lang="ru-RU" sz="2200">
                <a:latin typeface="Times New Roman" panose="02020603050405020304" pitchFamily="18" charset="0"/>
                <a:cs typeface="Times New Roman" panose="02020603050405020304" pitchFamily="18" charset="0"/>
              </a:rPr>
              <a:t> на стека трябва да е </a:t>
            </a:r>
            <a:r>
              <a:rPr lang="ru-RU" sz="2200" err="1">
                <a:latin typeface="Times New Roman" panose="02020603050405020304" pitchFamily="18" charset="0"/>
                <a:cs typeface="Times New Roman" panose="02020603050405020304" pitchFamily="18" charset="0"/>
              </a:rPr>
              <a:t>достатъчно</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голяма</a:t>
            </a:r>
            <a:r>
              <a:rPr lang="ru-RU" sz="2200">
                <a:latin typeface="Times New Roman" panose="02020603050405020304" pitchFamily="18" charset="0"/>
                <a:cs typeface="Times New Roman" panose="02020603050405020304" pitchFamily="18" charset="0"/>
              </a:rPr>
              <a:t>, за да </a:t>
            </a:r>
            <a:r>
              <a:rPr lang="ru-RU" sz="2200" err="1">
                <a:latin typeface="Times New Roman" panose="02020603050405020304" pitchFamily="18" charset="0"/>
                <a:cs typeface="Times New Roman" panose="02020603050405020304" pitchFamily="18" charset="0"/>
              </a:rPr>
              <a:t>побере</a:t>
            </a:r>
            <a:r>
              <a:rPr lang="ru-RU" sz="2200">
                <a:latin typeface="Times New Roman" panose="02020603050405020304" pitchFamily="18" charset="0"/>
                <a:cs typeface="Times New Roman" panose="02020603050405020304" pitchFamily="18" charset="0"/>
              </a:rPr>
              <a:t> стека при </a:t>
            </a:r>
            <a:r>
              <a:rPr lang="ru-RU" sz="2200" err="1">
                <a:latin typeface="Times New Roman" panose="02020603050405020304" pitchFamily="18" charset="0"/>
                <a:cs typeface="Times New Roman" panose="02020603050405020304" pitchFamily="18" charset="0"/>
              </a:rPr>
              <a:t>максималния</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му</a:t>
            </a:r>
            <a:r>
              <a:rPr lang="ru-RU" sz="2200">
                <a:latin typeface="Times New Roman" panose="02020603050405020304" pitchFamily="18" charset="0"/>
                <a:cs typeface="Times New Roman" panose="02020603050405020304" pitchFamily="18" charset="0"/>
              </a:rPr>
              <a:t> размер.</a:t>
            </a:r>
            <a:endParaRPr lang="en-US" sz="2200">
              <a:latin typeface="Times New Roman" panose="02020603050405020304" pitchFamily="18" charset="0"/>
              <a:cs typeface="Times New Roman" panose="02020603050405020304" pitchFamily="18" charset="0"/>
            </a:endParaRPr>
          </a:p>
          <a:p>
            <a:pPr marL="0" algn="just">
              <a:spcBef>
                <a:spcPts val="0"/>
              </a:spcBef>
            </a:pPr>
            <a:r>
              <a:rPr lang="ru-RU" sz="2200" b="1">
                <a:latin typeface="Times New Roman" panose="02020603050405020304" pitchFamily="18" charset="0"/>
                <a:cs typeface="Times New Roman" panose="02020603050405020304" pitchFamily="18" charset="0"/>
              </a:rPr>
              <a:t>.STACK размер</a:t>
            </a:r>
            <a:r>
              <a:rPr lang="en-US" sz="2200">
                <a:latin typeface="Times New Roman" panose="02020603050405020304" pitchFamily="18" charset="0"/>
                <a:cs typeface="Times New Roman" panose="02020603050405020304" pitchFamily="18" charset="0"/>
              </a:rPr>
              <a:t>,</a:t>
            </a:r>
          </a:p>
          <a:p>
            <a:pPr marL="0" algn="just">
              <a:spcBef>
                <a:spcPts val="0"/>
              </a:spcBef>
            </a:pPr>
            <a:r>
              <a:rPr lang="en-US"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където</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размерът</a:t>
            </a:r>
            <a:r>
              <a:rPr lang="ru-RU" sz="2200">
                <a:latin typeface="Times New Roman" panose="02020603050405020304" pitchFamily="18" charset="0"/>
                <a:cs typeface="Times New Roman" panose="02020603050405020304" pitchFamily="18" charset="0"/>
              </a:rPr>
              <a:t> е </a:t>
            </a:r>
            <a:r>
              <a:rPr lang="ru-RU" sz="2200" err="1">
                <a:latin typeface="Times New Roman" panose="02020603050405020304" pitchFamily="18" charset="0"/>
                <a:cs typeface="Times New Roman" panose="02020603050405020304" pitchFamily="18" charset="0"/>
              </a:rPr>
              <a:t>незадължително</a:t>
            </a:r>
            <a:r>
              <a:rPr lang="ru-RU" sz="2200">
                <a:latin typeface="Times New Roman" panose="02020603050405020304" pitchFamily="18" charset="0"/>
                <a:cs typeface="Times New Roman" panose="02020603050405020304" pitchFamily="18" charset="0"/>
              </a:rPr>
              <a:t> число, което </a:t>
            </a:r>
            <a:r>
              <a:rPr lang="ru-RU" sz="2200" err="1">
                <a:latin typeface="Times New Roman" panose="02020603050405020304" pitchFamily="18" charset="0"/>
                <a:cs typeface="Times New Roman" panose="02020603050405020304" pitchFamily="18" charset="0"/>
              </a:rPr>
              <a:t>указва</a:t>
            </a:r>
            <a:r>
              <a:rPr lang="ru-RU" sz="2200">
                <a:latin typeface="Times New Roman" panose="02020603050405020304" pitchFamily="18" charset="0"/>
                <a:cs typeface="Times New Roman" panose="02020603050405020304" pitchFamily="18" charset="0"/>
              </a:rPr>
              <a:t> размера на </a:t>
            </a:r>
            <a:r>
              <a:rPr lang="ru-RU" sz="2200" err="1">
                <a:latin typeface="Times New Roman" panose="02020603050405020304" pitchFamily="18" charset="0"/>
                <a:cs typeface="Times New Roman" panose="02020603050405020304" pitchFamily="18" charset="0"/>
              </a:rPr>
              <a:t>областта</a:t>
            </a:r>
            <a:r>
              <a:rPr lang="ru-RU" sz="2200">
                <a:latin typeface="Times New Roman" panose="02020603050405020304" pitchFamily="18" charset="0"/>
                <a:cs typeface="Times New Roman" panose="02020603050405020304" pitchFamily="18" charset="0"/>
              </a:rPr>
              <a:t> на стека в </a:t>
            </a:r>
            <a:r>
              <a:rPr lang="ru-RU" sz="2200" err="1">
                <a:latin typeface="Times New Roman" panose="02020603050405020304" pitchFamily="18" charset="0"/>
                <a:cs typeface="Times New Roman" panose="02020603050405020304" pitchFamily="18" charset="0"/>
              </a:rPr>
              <a:t>байтове</a:t>
            </a:r>
            <a:r>
              <a:rPr lang="ru-RU" sz="2200">
                <a:latin typeface="Times New Roman" panose="02020603050405020304" pitchFamily="18" charset="0"/>
                <a:cs typeface="Times New Roman" panose="02020603050405020304" pitchFamily="18" charset="0"/>
              </a:rPr>
              <a:t>.</a:t>
            </a:r>
            <a:endParaRPr lang="en-US" sz="2200">
              <a:latin typeface="Times New Roman" panose="02020603050405020304" pitchFamily="18" charset="0"/>
              <a:cs typeface="Times New Roman" panose="02020603050405020304" pitchFamily="18" charset="0"/>
            </a:endParaRPr>
          </a:p>
          <a:p>
            <a:pPr marL="0" algn="just">
              <a:spcBef>
                <a:spcPts val="0"/>
              </a:spcBef>
            </a:pPr>
            <a:r>
              <a:rPr lang="ru-RU" sz="2200">
                <a:latin typeface="Times New Roman" panose="02020603050405020304" pitchFamily="18" charset="0"/>
                <a:cs typeface="Times New Roman" panose="02020603050405020304" pitchFamily="18" charset="0"/>
              </a:rPr>
              <a:t> Ако </a:t>
            </a:r>
            <a:r>
              <a:rPr lang="ru-RU" sz="2200" err="1">
                <a:latin typeface="Times New Roman" panose="02020603050405020304" pitchFamily="18" charset="0"/>
                <a:cs typeface="Times New Roman" panose="02020603050405020304" pitchFamily="18" charset="0"/>
              </a:rPr>
              <a:t>размерът</a:t>
            </a:r>
            <a:r>
              <a:rPr lang="ru-RU" sz="2200">
                <a:latin typeface="Times New Roman" panose="02020603050405020304" pitchFamily="18" charset="0"/>
                <a:cs typeface="Times New Roman" panose="02020603050405020304" pitchFamily="18" charset="0"/>
              </a:rPr>
              <a:t> е </a:t>
            </a:r>
            <a:r>
              <a:rPr lang="ru-RU" sz="2200" err="1">
                <a:latin typeface="Times New Roman" panose="02020603050405020304" pitchFamily="18" charset="0"/>
                <a:cs typeface="Times New Roman" panose="02020603050405020304" pitchFamily="18" charset="0"/>
              </a:rPr>
              <a:t>пропуснат</a:t>
            </a:r>
            <a:r>
              <a:rPr lang="ru-RU" sz="2200">
                <a:latin typeface="Times New Roman" panose="02020603050405020304" pitchFamily="18" charset="0"/>
                <a:cs typeface="Times New Roman" panose="02020603050405020304" pitchFamily="18" charset="0"/>
              </a:rPr>
              <a:t>, 1 KB се </a:t>
            </a:r>
            <a:r>
              <a:rPr lang="ru-RU" sz="2200" err="1">
                <a:latin typeface="Times New Roman" panose="02020603050405020304" pitchFamily="18" charset="0"/>
                <a:cs typeface="Times New Roman" panose="02020603050405020304" pitchFamily="18" charset="0"/>
              </a:rPr>
              <a:t>заделя</a:t>
            </a:r>
            <a:r>
              <a:rPr lang="ru-RU" sz="2200">
                <a:latin typeface="Times New Roman" panose="02020603050405020304" pitchFamily="18" charset="0"/>
                <a:cs typeface="Times New Roman" panose="02020603050405020304" pitchFamily="18" charset="0"/>
              </a:rPr>
              <a:t> за </a:t>
            </a:r>
            <a:r>
              <a:rPr lang="ru-RU" sz="2200" err="1">
                <a:latin typeface="Times New Roman" panose="02020603050405020304" pitchFamily="18" charset="0"/>
                <a:cs typeface="Times New Roman" panose="02020603050405020304" pitchFamily="18" charset="0"/>
              </a:rPr>
              <a:t>областта</a:t>
            </a:r>
            <a:r>
              <a:rPr lang="ru-RU" sz="2200">
                <a:latin typeface="Times New Roman" panose="02020603050405020304" pitchFamily="18" charset="0"/>
                <a:cs typeface="Times New Roman" panose="02020603050405020304" pitchFamily="18" charset="0"/>
              </a:rPr>
              <a:t> на стека.</a:t>
            </a:r>
          </a:p>
          <a:p>
            <a:pPr marL="0" indent="0" algn="just">
              <a:spcBef>
                <a:spcPts val="0"/>
              </a:spcBef>
              <a:buNone/>
            </a:pPr>
            <a:endParaRPr lang="en-US" sz="2200">
              <a:latin typeface="Times New Roman" pitchFamily="18" charset="0"/>
              <a:cs typeface="Times New Roman" pitchFamily="18" charset="0"/>
            </a:endParaRPr>
          </a:p>
        </p:txBody>
      </p:sp>
      <p:sp>
        <p:nvSpPr>
          <p:cNvPr id="4" name="Title 1"/>
          <p:cNvSpPr>
            <a:spLocks noGrp="1"/>
          </p:cNvSpPr>
          <p:nvPr>
            <p:ph type="title"/>
          </p:nvPr>
        </p:nvSpPr>
        <p:spPr>
          <a:xfrm>
            <a:off x="690712" y="-11151"/>
            <a:ext cx="8429684" cy="1143000"/>
          </a:xfrm>
        </p:spPr>
        <p:txBody>
          <a:bodyPr>
            <a:normAutofit/>
          </a:bodyPr>
          <a:lstStyle/>
          <a:p>
            <a:r>
              <a:rPr lang="bg-BG" sz="2900">
                <a:latin typeface="Times New Roman" pitchFamily="18" charset="0"/>
                <a:cs typeface="Times New Roman" pitchFamily="18" charset="0"/>
              </a:rPr>
              <a:t>Структура на програмата</a:t>
            </a:r>
            <a:r>
              <a:rPr lang="en-US" sz="2900">
                <a:latin typeface="Times New Roman" pitchFamily="18" charset="0"/>
                <a:cs typeface="Times New Roman" pitchFamily="18" charset="0"/>
              </a:rPr>
              <a:t> </a:t>
            </a:r>
            <a:r>
              <a:rPr lang="bg-BG" sz="2900">
                <a:latin typeface="Times New Roman" pitchFamily="18" charset="0"/>
                <a:cs typeface="Times New Roman" pitchFamily="18" charset="0"/>
              </a:rPr>
              <a:t>з</a:t>
            </a:r>
            <a:r>
              <a:rPr lang="bg-BG" sz="3200">
                <a:latin typeface="Times New Roman" pitchFamily="18" charset="0"/>
                <a:cs typeface="Times New Roman" pitchFamily="18" charset="0"/>
              </a:rPr>
              <a:t>а </a:t>
            </a:r>
            <a:r>
              <a:rPr lang="en-US" sz="3200">
                <a:latin typeface="Times New Roman" pitchFamily="18" charset="0"/>
                <a:cs typeface="Times New Roman" pitchFamily="18" charset="0"/>
              </a:rPr>
              <a:t>IA-32 </a:t>
            </a:r>
            <a:endParaRPr lang="bg-BG" sz="2900" b="1"/>
          </a:p>
        </p:txBody>
      </p:sp>
    </p:spTree>
    <p:extLst>
      <p:ext uri="{BB962C8B-B14F-4D97-AF65-F5344CB8AC3E}">
        <p14:creationId xmlns:p14="http://schemas.microsoft.com/office/powerpoint/2010/main" val="1568624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64" y="1169472"/>
            <a:ext cx="8643998" cy="5246814"/>
          </a:xfrm>
        </p:spPr>
        <p:txBody>
          <a:bodyPr vert="horz" lIns="91440" tIns="45720" rIns="91440" bIns="45720" anchor="t">
            <a:noAutofit/>
          </a:bodyPr>
          <a:lstStyle/>
          <a:p>
            <a:pPr marL="0" algn="just">
              <a:spcBef>
                <a:spcPts val="0"/>
              </a:spcBef>
            </a:pPr>
            <a:r>
              <a:rPr lang="ru-RU" sz="2200">
                <a:latin typeface="Times New Roman"/>
                <a:cs typeface="Times New Roman"/>
              </a:rPr>
              <a:t>- Кодов сегмент</a:t>
            </a:r>
            <a:endParaRPr lang="en-US" sz="2200">
              <a:latin typeface="Times New Roman"/>
              <a:cs typeface="Times New Roman"/>
            </a:endParaRPr>
          </a:p>
          <a:p>
            <a:pPr marL="0" algn="just">
              <a:spcBef>
                <a:spcPts val="0"/>
              </a:spcBef>
            </a:pPr>
            <a:r>
              <a:rPr lang="ru-RU" sz="2200" err="1">
                <a:latin typeface="Times New Roman"/>
                <a:cs typeface="Times New Roman"/>
              </a:rPr>
              <a:t>Кодовият</a:t>
            </a:r>
            <a:r>
              <a:rPr lang="ru-RU" sz="2200">
                <a:latin typeface="Times New Roman"/>
                <a:cs typeface="Times New Roman"/>
              </a:rPr>
              <a:t> сегмент </a:t>
            </a:r>
            <a:r>
              <a:rPr lang="ru-RU" sz="2200" err="1">
                <a:latin typeface="Times New Roman"/>
                <a:cs typeface="Times New Roman"/>
              </a:rPr>
              <a:t>съдържа</a:t>
            </a:r>
            <a:r>
              <a:rPr lang="ru-RU" sz="2200">
                <a:latin typeface="Times New Roman"/>
                <a:cs typeface="Times New Roman"/>
              </a:rPr>
              <a:t> инструкции на </a:t>
            </a:r>
            <a:r>
              <a:rPr lang="ru-RU" sz="2200" err="1">
                <a:latin typeface="Times New Roman"/>
                <a:cs typeface="Times New Roman"/>
              </a:rPr>
              <a:t>програмата</a:t>
            </a:r>
            <a:r>
              <a:rPr lang="ru-RU" sz="2200">
                <a:latin typeface="Times New Roman"/>
                <a:cs typeface="Times New Roman"/>
              </a:rPr>
              <a:t>.</a:t>
            </a:r>
            <a:endParaRPr lang="en-US" sz="2200">
              <a:latin typeface="Times New Roman"/>
              <a:cs typeface="Times New Roman"/>
            </a:endParaRPr>
          </a:p>
          <a:p>
            <a:pPr marL="0" algn="just">
              <a:spcBef>
                <a:spcPts val="0"/>
              </a:spcBef>
            </a:pPr>
            <a:r>
              <a:rPr lang="en-US" sz="2400" b="1"/>
              <a:t>.CODE </a:t>
            </a:r>
            <a:r>
              <a:rPr lang="bg-BG" sz="2400" b="1"/>
              <a:t>име</a:t>
            </a:r>
            <a:endParaRPr lang="en-US" sz="2400" b="1"/>
          </a:p>
          <a:p>
            <a:pPr marL="0" algn="just">
              <a:spcBef>
                <a:spcPts val="0"/>
              </a:spcBef>
            </a:pPr>
            <a:r>
              <a:rPr lang="ru-RU" sz="2200" err="1">
                <a:latin typeface="Times New Roman"/>
                <a:cs typeface="Times New Roman"/>
              </a:rPr>
              <a:t>където</a:t>
            </a:r>
            <a:r>
              <a:rPr lang="ru-RU" sz="2200">
                <a:latin typeface="Times New Roman"/>
                <a:cs typeface="Times New Roman"/>
              </a:rPr>
              <a:t> </a:t>
            </a:r>
            <a:r>
              <a:rPr lang="ru-RU" sz="2200" err="1">
                <a:latin typeface="Times New Roman"/>
                <a:cs typeface="Times New Roman"/>
              </a:rPr>
              <a:t>име</a:t>
            </a:r>
            <a:r>
              <a:rPr lang="ru-RU" sz="2200">
                <a:latin typeface="Times New Roman"/>
                <a:cs typeface="Times New Roman"/>
              </a:rPr>
              <a:t> е </a:t>
            </a:r>
            <a:r>
              <a:rPr lang="ru-RU" sz="2200" err="1">
                <a:latin typeface="Times New Roman"/>
                <a:cs typeface="Times New Roman"/>
              </a:rPr>
              <a:t>незадължителното</a:t>
            </a:r>
            <a:r>
              <a:rPr lang="ru-RU" sz="2200">
                <a:latin typeface="Times New Roman"/>
                <a:cs typeface="Times New Roman"/>
              </a:rPr>
              <a:t> </a:t>
            </a:r>
            <a:r>
              <a:rPr lang="ru-RU" sz="2200" err="1">
                <a:latin typeface="Times New Roman"/>
                <a:cs typeface="Times New Roman"/>
              </a:rPr>
              <a:t>име</a:t>
            </a:r>
            <a:r>
              <a:rPr lang="ru-RU" sz="2200">
                <a:latin typeface="Times New Roman"/>
                <a:cs typeface="Times New Roman"/>
              </a:rPr>
              <a:t> на сегмента. В </a:t>
            </a:r>
            <a:r>
              <a:rPr lang="ru-RU" sz="2200" err="1">
                <a:latin typeface="Times New Roman"/>
                <a:cs typeface="Times New Roman"/>
              </a:rPr>
              <a:t>кодовия</a:t>
            </a:r>
            <a:r>
              <a:rPr lang="ru-RU" sz="2200">
                <a:latin typeface="Times New Roman"/>
                <a:cs typeface="Times New Roman"/>
              </a:rPr>
              <a:t> сегмент </a:t>
            </a:r>
            <a:r>
              <a:rPr lang="ru-RU" sz="2200" err="1">
                <a:latin typeface="Times New Roman"/>
                <a:cs typeface="Times New Roman"/>
              </a:rPr>
              <a:t>инструкциите</a:t>
            </a:r>
            <a:r>
              <a:rPr lang="ru-RU" sz="2200">
                <a:latin typeface="Times New Roman"/>
                <a:cs typeface="Times New Roman"/>
              </a:rPr>
              <a:t> </a:t>
            </a:r>
            <a:r>
              <a:rPr lang="ru-RU" sz="2200" err="1">
                <a:latin typeface="Times New Roman"/>
                <a:cs typeface="Times New Roman"/>
              </a:rPr>
              <a:t>са</a:t>
            </a:r>
            <a:r>
              <a:rPr lang="ru-RU" sz="2200">
                <a:latin typeface="Times New Roman"/>
                <a:cs typeface="Times New Roman"/>
              </a:rPr>
              <a:t> </a:t>
            </a:r>
            <a:r>
              <a:rPr lang="ru-RU" sz="2200" err="1">
                <a:latin typeface="Times New Roman"/>
                <a:cs typeface="Times New Roman"/>
              </a:rPr>
              <a:t>организирани</a:t>
            </a:r>
            <a:r>
              <a:rPr lang="ru-RU" sz="2200">
                <a:latin typeface="Times New Roman"/>
                <a:cs typeface="Times New Roman"/>
              </a:rPr>
              <a:t> </a:t>
            </a:r>
            <a:r>
              <a:rPr lang="ru-RU" sz="2200" err="1">
                <a:latin typeface="Times New Roman"/>
                <a:cs typeface="Times New Roman"/>
              </a:rPr>
              <a:t>като</a:t>
            </a:r>
            <a:r>
              <a:rPr lang="ru-RU" sz="2200">
                <a:latin typeface="Times New Roman"/>
                <a:cs typeface="Times New Roman"/>
              </a:rPr>
              <a:t> </a:t>
            </a:r>
            <a:r>
              <a:rPr lang="ru-RU" sz="2200" err="1">
                <a:latin typeface="Times New Roman"/>
                <a:cs typeface="Times New Roman"/>
              </a:rPr>
              <a:t>процедури</a:t>
            </a:r>
            <a:r>
              <a:rPr lang="ru-RU" sz="2200">
                <a:latin typeface="Times New Roman"/>
                <a:cs typeface="Times New Roman"/>
              </a:rPr>
              <a:t>.</a:t>
            </a:r>
          </a:p>
          <a:p>
            <a:pPr marL="0" algn="just">
              <a:spcBef>
                <a:spcPts val="0"/>
              </a:spcBef>
            </a:pPr>
            <a:r>
              <a:rPr lang="ru-RU" sz="2200" err="1">
                <a:latin typeface="Times New Roman"/>
                <a:cs typeface="Times New Roman"/>
              </a:rPr>
              <a:t>Веднага</a:t>
            </a:r>
            <a:r>
              <a:rPr lang="ru-RU" sz="2200">
                <a:latin typeface="Times New Roman"/>
                <a:cs typeface="Times New Roman"/>
              </a:rPr>
              <a:t> след </a:t>
            </a:r>
            <a:r>
              <a:rPr lang="en-US" sz="2200" b="1">
                <a:latin typeface="Times New Roman"/>
                <a:cs typeface="Times New Roman"/>
              </a:rPr>
              <a:t>.code</a:t>
            </a:r>
            <a:r>
              <a:rPr lang="bg-BG" sz="2200" b="1">
                <a:latin typeface="Times New Roman"/>
                <a:cs typeface="Times New Roman"/>
              </a:rPr>
              <a:t>  </a:t>
            </a:r>
            <a:r>
              <a:rPr lang="bg-BG" sz="2200">
                <a:latin typeface="Times New Roman"/>
                <a:cs typeface="Times New Roman"/>
              </a:rPr>
              <a:t>на следващият ред на програмата се изписва</a:t>
            </a:r>
          </a:p>
          <a:p>
            <a:pPr marL="0" algn="just">
              <a:spcBef>
                <a:spcPts val="0"/>
              </a:spcBef>
            </a:pPr>
            <a:r>
              <a:rPr lang="bg-BG" sz="2200" b="1">
                <a:latin typeface="Times New Roman"/>
                <a:cs typeface="Times New Roman"/>
              </a:rPr>
              <a:t> </a:t>
            </a:r>
            <a:r>
              <a:rPr lang="en-US" sz="2200" b="1">
                <a:latin typeface="Times New Roman"/>
                <a:cs typeface="Times New Roman"/>
              </a:rPr>
              <a:t>start:</a:t>
            </a:r>
          </a:p>
          <a:p>
            <a:pPr marL="0" algn="just">
              <a:spcBef>
                <a:spcPts val="0"/>
              </a:spcBef>
            </a:pPr>
            <a:endParaRPr lang="en-US" sz="2200" b="1">
              <a:latin typeface="Times New Roman" panose="02020603050405020304" pitchFamily="18" charset="0"/>
              <a:cs typeface="Times New Roman" panose="02020603050405020304" pitchFamily="18" charset="0"/>
            </a:endParaRPr>
          </a:p>
          <a:p>
            <a:pPr marL="0" algn="just">
              <a:spcBef>
                <a:spcPts val="0"/>
              </a:spcBef>
            </a:pPr>
            <a:r>
              <a:rPr lang="bg-BG" sz="2200">
                <a:latin typeface="Times New Roman"/>
                <a:cs typeface="Times New Roman"/>
              </a:rPr>
              <a:t>За изход на кодовият сегмент се използва</a:t>
            </a:r>
          </a:p>
          <a:p>
            <a:pPr marL="0" algn="just">
              <a:spcBef>
                <a:spcPts val="0"/>
              </a:spcBef>
            </a:pPr>
            <a:r>
              <a:rPr lang="en-US" sz="2200" b="1">
                <a:latin typeface="Times New Roman"/>
                <a:cs typeface="Times New Roman"/>
              </a:rPr>
              <a:t>invoke ExitProcess,0</a:t>
            </a:r>
          </a:p>
          <a:p>
            <a:pPr marL="0" algn="just">
              <a:spcBef>
                <a:spcPts val="0"/>
              </a:spcBef>
            </a:pPr>
            <a:r>
              <a:rPr lang="bg-BG" sz="2200">
                <a:latin typeface="Times New Roman"/>
                <a:cs typeface="Times New Roman"/>
              </a:rPr>
              <a:t>-Изход от програмата</a:t>
            </a:r>
            <a:endParaRPr lang="bg-BG" sz="2200">
              <a:latin typeface="Times New Roman" panose="02020603050405020304" pitchFamily="18" charset="0"/>
              <a:cs typeface="Times New Roman" panose="02020603050405020304" pitchFamily="18" charset="0"/>
            </a:endParaRPr>
          </a:p>
          <a:p>
            <a:pPr marL="0" algn="just">
              <a:spcBef>
                <a:spcPts val="0"/>
              </a:spcBef>
            </a:pPr>
            <a:r>
              <a:rPr lang="en-US" sz="2200" b="1">
                <a:latin typeface="Times New Roman"/>
                <a:cs typeface="Times New Roman"/>
              </a:rPr>
              <a:t>end start</a:t>
            </a:r>
          </a:p>
          <a:p>
            <a:pPr marL="0" algn="just">
              <a:spcBef>
                <a:spcPts val="0"/>
              </a:spcBef>
            </a:pPr>
            <a:r>
              <a:rPr lang="ru-RU" sz="2200">
                <a:latin typeface="Times New Roman"/>
                <a:cs typeface="Times New Roman"/>
              </a:rPr>
              <a:t> - </a:t>
            </a:r>
            <a:r>
              <a:rPr lang="ru-RU" sz="2200" err="1">
                <a:latin typeface="Times New Roman"/>
                <a:cs typeface="Times New Roman"/>
              </a:rPr>
              <a:t>Обединяване</a:t>
            </a:r>
            <a:r>
              <a:rPr lang="ru-RU" sz="2200">
                <a:latin typeface="Times New Roman"/>
                <a:cs typeface="Times New Roman"/>
              </a:rPr>
              <a:t> на </a:t>
            </a:r>
            <a:r>
              <a:rPr lang="ru-RU" sz="2200" err="1">
                <a:latin typeface="Times New Roman"/>
                <a:cs typeface="Times New Roman"/>
              </a:rPr>
              <a:t>всичко</a:t>
            </a:r>
            <a:r>
              <a:rPr lang="ru-RU" sz="2200">
                <a:latin typeface="Times New Roman"/>
                <a:cs typeface="Times New Roman"/>
              </a:rPr>
              <a:t>. </a:t>
            </a:r>
            <a:endParaRPr lang="en-US" sz="2200">
              <a:latin typeface="Times New Roman" panose="02020603050405020304" pitchFamily="18" charset="0"/>
              <a:cs typeface="Times New Roman" panose="02020603050405020304" pitchFamily="18" charset="0"/>
            </a:endParaRPr>
          </a:p>
          <a:p>
            <a:pPr marL="0" algn="just">
              <a:spcBef>
                <a:spcPts val="0"/>
              </a:spcBef>
            </a:pPr>
            <a:r>
              <a:rPr lang="en-US" sz="2200">
                <a:latin typeface="Times New Roman"/>
                <a:cs typeface="Times New Roman"/>
              </a:rPr>
              <a:t>K</a:t>
            </a:r>
            <a:r>
              <a:rPr lang="bg-BG" sz="2200">
                <a:latin typeface="Times New Roman"/>
                <a:cs typeface="Times New Roman"/>
              </a:rPr>
              <a:t>ъм всеки ред от програмата може да бъде поставен коментар, като преди него се поставя </a:t>
            </a:r>
            <a:r>
              <a:rPr lang="bg-BG" sz="2200" b="1">
                <a:latin typeface="Times New Roman"/>
                <a:cs typeface="Times New Roman"/>
              </a:rPr>
              <a:t>;</a:t>
            </a:r>
            <a:endParaRPr lang="ru-RU" sz="2200" b="1">
              <a:latin typeface="Times New Roman"/>
              <a:cs typeface="Times New Roman"/>
            </a:endParaRPr>
          </a:p>
          <a:p>
            <a:pPr marL="0" indent="0" algn="just">
              <a:spcBef>
                <a:spcPts val="0"/>
              </a:spcBef>
              <a:buNone/>
            </a:pPr>
            <a:endParaRPr lang="ru-RU" sz="220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690712" y="-11151"/>
            <a:ext cx="8429684" cy="1143000"/>
          </a:xfrm>
        </p:spPr>
        <p:txBody>
          <a:bodyPr>
            <a:normAutofit/>
          </a:bodyPr>
          <a:lstStyle/>
          <a:p>
            <a:r>
              <a:rPr lang="bg-BG" sz="2900">
                <a:latin typeface="Times New Roman" pitchFamily="18" charset="0"/>
                <a:cs typeface="Times New Roman" pitchFamily="18" charset="0"/>
              </a:rPr>
              <a:t>Структура на програмата</a:t>
            </a:r>
            <a:r>
              <a:rPr lang="en-US" sz="2900">
                <a:latin typeface="Times New Roman" pitchFamily="18" charset="0"/>
                <a:cs typeface="Times New Roman" pitchFamily="18" charset="0"/>
              </a:rPr>
              <a:t> </a:t>
            </a:r>
            <a:r>
              <a:rPr lang="bg-BG" sz="2900">
                <a:latin typeface="Times New Roman" pitchFamily="18" charset="0"/>
                <a:cs typeface="Times New Roman" pitchFamily="18" charset="0"/>
              </a:rPr>
              <a:t>з</a:t>
            </a:r>
            <a:r>
              <a:rPr lang="bg-BG" sz="3200">
                <a:latin typeface="Times New Roman" pitchFamily="18" charset="0"/>
                <a:cs typeface="Times New Roman" pitchFamily="18" charset="0"/>
              </a:rPr>
              <a:t>а </a:t>
            </a:r>
            <a:r>
              <a:rPr lang="en-US" sz="3200">
                <a:latin typeface="Times New Roman" pitchFamily="18" charset="0"/>
                <a:cs typeface="Times New Roman" pitchFamily="18" charset="0"/>
              </a:rPr>
              <a:t>IA-32 </a:t>
            </a:r>
            <a:endParaRPr lang="bg-BG" sz="2900" b="1"/>
          </a:p>
        </p:txBody>
      </p:sp>
    </p:spTree>
    <p:extLst>
      <p:ext uri="{BB962C8B-B14F-4D97-AF65-F5344CB8AC3E}">
        <p14:creationId xmlns:p14="http://schemas.microsoft.com/office/powerpoint/2010/main" val="3299122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412775"/>
            <a:ext cx="8643998" cy="4965887"/>
          </a:xfrm>
        </p:spPr>
        <p:txBody>
          <a:bodyPr>
            <a:noAutofit/>
          </a:bodyPr>
          <a:lstStyle/>
          <a:p>
            <a:pPr marL="0" algn="just">
              <a:spcBef>
                <a:spcPts val="0"/>
              </a:spcBef>
            </a:pPr>
            <a:r>
              <a:rPr lang="bg-BG" sz="2200">
                <a:latin typeface="Times New Roman" panose="02020603050405020304" pitchFamily="18" charset="0"/>
                <a:cs typeface="Times New Roman" panose="02020603050405020304" pitchFamily="18" charset="0"/>
              </a:rPr>
              <a:t>Асемблерните програми за </a:t>
            </a:r>
            <a:r>
              <a:rPr lang="en-US" sz="2200">
                <a:latin typeface="Times New Roman" panose="02020603050405020304" pitchFamily="18" charset="0"/>
                <a:cs typeface="Times New Roman" panose="02020603050405020304" pitchFamily="18" charset="0"/>
              </a:rPr>
              <a:t>ARM</a:t>
            </a:r>
            <a:r>
              <a:rPr lang="bg-BG" sz="2200">
                <a:latin typeface="Times New Roman" panose="02020603050405020304" pitchFamily="18" charset="0"/>
                <a:cs typeface="Times New Roman" panose="02020603050405020304" pitchFamily="18" charset="0"/>
              </a:rPr>
              <a:t> процесора включват следните основни директиви:</a:t>
            </a:r>
            <a:endParaRPr lang="en-US" sz="2200">
              <a:latin typeface="Times New Roman" panose="02020603050405020304" pitchFamily="18" charset="0"/>
              <a:cs typeface="Times New Roman" panose="02020603050405020304" pitchFamily="18" charset="0"/>
            </a:endParaRPr>
          </a:p>
          <a:p>
            <a:pPr marL="0" algn="just">
              <a:spcBef>
                <a:spcPts val="0"/>
              </a:spcBef>
            </a:pPr>
            <a:r>
              <a:rPr lang="ru-RU" sz="2200">
                <a:latin typeface="Times New Roman" panose="02020603050405020304" pitchFamily="18" charset="0"/>
                <a:cs typeface="Times New Roman" panose="02020603050405020304" pitchFamily="18" charset="0"/>
              </a:rPr>
              <a:t>1) </a:t>
            </a:r>
            <a:r>
              <a:rPr lang="ru-RU" sz="2200" err="1">
                <a:latin typeface="Times New Roman" panose="02020603050405020304" pitchFamily="18" charset="0"/>
                <a:cs typeface="Times New Roman" panose="02020603050405020304" pitchFamily="18" charset="0"/>
              </a:rPr>
              <a:t>Директивата</a:t>
            </a:r>
            <a:r>
              <a:rPr lang="ru-RU" sz="2200">
                <a:latin typeface="Times New Roman" panose="02020603050405020304" pitchFamily="18" charset="0"/>
                <a:cs typeface="Times New Roman" panose="02020603050405020304" pitchFamily="18" charset="0"/>
              </a:rPr>
              <a:t> AREA </a:t>
            </a:r>
            <a:r>
              <a:rPr lang="ru-RU" sz="2200" err="1">
                <a:latin typeface="Times New Roman" panose="02020603050405020304" pitchFamily="18" charset="0"/>
                <a:cs typeface="Times New Roman" panose="02020603050405020304" pitchFamily="18" charset="0"/>
              </a:rPr>
              <a:t>Областите</a:t>
            </a:r>
            <a:r>
              <a:rPr lang="ru-RU" sz="2200">
                <a:latin typeface="Times New Roman" panose="02020603050405020304" pitchFamily="18" charset="0"/>
                <a:cs typeface="Times New Roman" panose="02020603050405020304" pitchFamily="18" charset="0"/>
              </a:rPr>
              <a:t> са части от данни или код, които се </a:t>
            </a:r>
            <a:r>
              <a:rPr lang="ru-RU" sz="2200" err="1">
                <a:latin typeface="Times New Roman" panose="02020603050405020304" pitchFamily="18" charset="0"/>
                <a:cs typeface="Times New Roman" panose="02020603050405020304" pitchFamily="18" charset="0"/>
              </a:rPr>
              <a:t>манипулират</a:t>
            </a:r>
            <a:r>
              <a:rPr lang="ru-RU" sz="2200">
                <a:latin typeface="Times New Roman" panose="02020603050405020304" pitchFamily="18" charset="0"/>
                <a:cs typeface="Times New Roman" panose="02020603050405020304" pitchFamily="18" charset="0"/>
              </a:rPr>
              <a:t> от линкера. Пълното приложение ще се състои от една или повече области. Една област с КОД е минимумът, необходим за създаване на приложение.</a:t>
            </a:r>
          </a:p>
          <a:p>
            <a:pPr marL="0" algn="just">
              <a:spcBef>
                <a:spcPts val="0"/>
              </a:spcBef>
            </a:pPr>
            <a:r>
              <a:rPr lang="ru-RU" sz="2200">
                <a:latin typeface="Times New Roman" panose="02020603050405020304" pitchFamily="18" charset="0"/>
                <a:cs typeface="Times New Roman" panose="02020603050405020304" pitchFamily="18" charset="0"/>
              </a:rPr>
              <a:t>2) </a:t>
            </a:r>
            <a:r>
              <a:rPr lang="ru-RU" sz="2200" err="1">
                <a:latin typeface="Times New Roman" panose="02020603050405020304" pitchFamily="18" charset="0"/>
                <a:cs typeface="Times New Roman" panose="02020603050405020304" pitchFamily="18" charset="0"/>
              </a:rPr>
              <a:t>Директивата</a:t>
            </a:r>
            <a:r>
              <a:rPr lang="ru-RU" sz="2200">
                <a:latin typeface="Times New Roman" panose="02020603050405020304" pitchFamily="18" charset="0"/>
                <a:cs typeface="Times New Roman" panose="02020603050405020304" pitchFamily="18" charset="0"/>
              </a:rPr>
              <a:t> ENTRY </a:t>
            </a:r>
            <a:r>
              <a:rPr lang="ru-RU" sz="2200" err="1">
                <a:latin typeface="Times New Roman" panose="02020603050405020304" pitchFamily="18" charset="0"/>
                <a:cs typeface="Times New Roman" panose="02020603050405020304" pitchFamily="18" charset="0"/>
              </a:rPr>
              <a:t>Първата</a:t>
            </a:r>
            <a:r>
              <a:rPr lang="ru-RU" sz="2200">
                <a:latin typeface="Times New Roman" panose="02020603050405020304" pitchFamily="18" charset="0"/>
                <a:cs typeface="Times New Roman" panose="02020603050405020304" pitchFamily="18" charset="0"/>
              </a:rPr>
              <a:t> инструкция, </a:t>
            </a:r>
            <a:r>
              <a:rPr lang="ru-RU" sz="2200" err="1">
                <a:latin typeface="Times New Roman" panose="02020603050405020304" pitchFamily="18" charset="0"/>
                <a:cs typeface="Times New Roman" panose="02020603050405020304" pitchFamily="18" charset="0"/>
              </a:rPr>
              <a:t>която</a:t>
            </a:r>
            <a:r>
              <a:rPr lang="ru-RU" sz="2200">
                <a:latin typeface="Times New Roman" panose="02020603050405020304" pitchFamily="18" charset="0"/>
                <a:cs typeface="Times New Roman" panose="02020603050405020304" pitchFamily="18" charset="0"/>
              </a:rPr>
              <a:t> трябва да </a:t>
            </a:r>
            <a:r>
              <a:rPr lang="ru-RU" sz="2200" err="1">
                <a:latin typeface="Times New Roman" panose="02020603050405020304" pitchFamily="18" charset="0"/>
                <a:cs typeface="Times New Roman" panose="02020603050405020304" pitchFamily="18" charset="0"/>
              </a:rPr>
              <a:t>бъде</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изпълнена</a:t>
            </a:r>
            <a:r>
              <a:rPr lang="ru-RU" sz="2200">
                <a:latin typeface="Times New Roman" panose="02020603050405020304" pitchFamily="18" charset="0"/>
                <a:cs typeface="Times New Roman" panose="02020603050405020304" pitchFamily="18" charset="0"/>
              </a:rPr>
              <a:t> в </a:t>
            </a:r>
            <a:r>
              <a:rPr lang="ru-RU" sz="2200" err="1">
                <a:latin typeface="Times New Roman" panose="02020603050405020304" pitchFamily="18" charset="0"/>
                <a:cs typeface="Times New Roman" panose="02020603050405020304" pitchFamily="18" charset="0"/>
              </a:rPr>
              <a:t>рамките</a:t>
            </a:r>
            <a:r>
              <a:rPr lang="ru-RU" sz="2200">
                <a:latin typeface="Times New Roman" panose="02020603050405020304" pitchFamily="18" charset="0"/>
                <a:cs typeface="Times New Roman" panose="02020603050405020304" pitchFamily="18" charset="0"/>
              </a:rPr>
              <a:t> на едно приложение, се </a:t>
            </a:r>
            <a:r>
              <a:rPr lang="ru-RU" sz="2200" err="1">
                <a:latin typeface="Times New Roman" panose="02020603050405020304" pitchFamily="18" charset="0"/>
                <a:cs typeface="Times New Roman" panose="02020603050405020304" pitchFamily="18" charset="0"/>
              </a:rPr>
              <a:t>маркира</a:t>
            </a:r>
            <a:r>
              <a:rPr lang="ru-RU" sz="2200">
                <a:latin typeface="Times New Roman" panose="02020603050405020304" pitchFamily="18" charset="0"/>
                <a:cs typeface="Times New Roman" panose="02020603050405020304" pitchFamily="18" charset="0"/>
              </a:rPr>
              <a:t> от </a:t>
            </a:r>
            <a:r>
              <a:rPr lang="ru-RU" sz="2200" err="1">
                <a:latin typeface="Times New Roman" panose="02020603050405020304" pitchFamily="18" charset="0"/>
                <a:cs typeface="Times New Roman" panose="02020603050405020304" pitchFamily="18" charset="0"/>
              </a:rPr>
              <a:t>директивата</a:t>
            </a:r>
            <a:r>
              <a:rPr lang="ru-RU" sz="2200">
                <a:latin typeface="Times New Roman" panose="02020603050405020304" pitchFamily="18" charset="0"/>
                <a:cs typeface="Times New Roman" panose="02020603050405020304" pitchFamily="18" charset="0"/>
              </a:rPr>
              <a:t> ENTRY. Едно приложение </a:t>
            </a:r>
            <a:r>
              <a:rPr lang="ru-RU" sz="2200" err="1">
                <a:latin typeface="Times New Roman" panose="02020603050405020304" pitchFamily="18" charset="0"/>
                <a:cs typeface="Times New Roman" panose="02020603050405020304" pitchFamily="18" charset="0"/>
              </a:rPr>
              <a:t>може</a:t>
            </a:r>
            <a:r>
              <a:rPr lang="ru-RU" sz="2200">
                <a:latin typeface="Times New Roman" panose="02020603050405020304" pitchFamily="18" charset="0"/>
                <a:cs typeface="Times New Roman" panose="02020603050405020304" pitchFamily="18" charset="0"/>
              </a:rPr>
              <a:t> да </a:t>
            </a:r>
            <a:r>
              <a:rPr lang="ru-RU" sz="2200" err="1">
                <a:latin typeface="Times New Roman" panose="02020603050405020304" pitchFamily="18" charset="0"/>
                <a:cs typeface="Times New Roman" panose="02020603050405020304" pitchFamily="18" charset="0"/>
              </a:rPr>
              <a:t>съдържа</a:t>
            </a:r>
            <a:r>
              <a:rPr lang="ru-RU" sz="2200">
                <a:latin typeface="Times New Roman" panose="02020603050405020304" pitchFamily="18" charset="0"/>
                <a:cs typeface="Times New Roman" panose="02020603050405020304" pitchFamily="18" charset="0"/>
              </a:rPr>
              <a:t> само </a:t>
            </a:r>
            <a:r>
              <a:rPr lang="ru-RU" sz="2200" err="1">
                <a:latin typeface="Times New Roman" panose="02020603050405020304" pitchFamily="18" charset="0"/>
                <a:cs typeface="Times New Roman" panose="02020603050405020304" pitchFamily="18" charset="0"/>
              </a:rPr>
              <a:t>една</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входна</a:t>
            </a:r>
            <a:r>
              <a:rPr lang="ru-RU" sz="2200">
                <a:latin typeface="Times New Roman" panose="02020603050405020304" pitchFamily="18" charset="0"/>
                <a:cs typeface="Times New Roman" panose="02020603050405020304" pitchFamily="18" charset="0"/>
              </a:rPr>
              <a:t> точка и така в приложение с множество модули </a:t>
            </a:r>
            <a:r>
              <a:rPr lang="ru-RU" sz="2200" err="1">
                <a:latin typeface="Times New Roman" panose="02020603050405020304" pitchFamily="18" charset="0"/>
                <a:cs typeface="Times New Roman" panose="02020603050405020304" pitchFamily="18" charset="0"/>
              </a:rPr>
              <a:t>източник</a:t>
            </a:r>
            <a:r>
              <a:rPr lang="ru-RU" sz="2200">
                <a:latin typeface="Times New Roman" panose="02020603050405020304" pitchFamily="18" charset="0"/>
                <a:cs typeface="Times New Roman" panose="02020603050405020304" pitchFamily="18" charset="0"/>
              </a:rPr>
              <a:t> само един </a:t>
            </a:r>
            <a:r>
              <a:rPr lang="ru-RU" sz="2200" err="1">
                <a:latin typeface="Times New Roman" panose="02020603050405020304" pitchFamily="18" charset="0"/>
                <a:cs typeface="Times New Roman" panose="02020603050405020304" pitchFamily="18" charset="0"/>
              </a:rPr>
              <a:t>модул</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ще</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съдържа</a:t>
            </a:r>
            <a:r>
              <a:rPr lang="ru-RU" sz="2200">
                <a:latin typeface="Times New Roman" panose="02020603050405020304" pitchFamily="18" charset="0"/>
                <a:cs typeface="Times New Roman" panose="02020603050405020304" pitchFamily="18" charset="0"/>
              </a:rPr>
              <a:t> директива ENTRY. </a:t>
            </a:r>
            <a:r>
              <a:rPr lang="ru-RU" sz="2200" err="1">
                <a:latin typeface="Times New Roman" panose="02020603050405020304" pitchFamily="18" charset="0"/>
                <a:cs typeface="Times New Roman" panose="02020603050405020304" pitchFamily="18" charset="0"/>
              </a:rPr>
              <a:t>Обърнете</a:t>
            </a:r>
            <a:r>
              <a:rPr lang="ru-RU" sz="2200">
                <a:latin typeface="Times New Roman" panose="02020603050405020304" pitchFamily="18" charset="0"/>
                <a:cs typeface="Times New Roman" panose="02020603050405020304" pitchFamily="18" charset="0"/>
              </a:rPr>
              <a:t> внимание, че когато дадено приложение </a:t>
            </a:r>
            <a:r>
              <a:rPr lang="ru-RU" sz="2200" err="1">
                <a:latin typeface="Times New Roman" panose="02020603050405020304" pitchFamily="18" charset="0"/>
                <a:cs typeface="Times New Roman" panose="02020603050405020304" pitchFamily="18" charset="0"/>
              </a:rPr>
              <a:t>съдържа</a:t>
            </a:r>
            <a:r>
              <a:rPr lang="ru-RU" sz="2200">
                <a:latin typeface="Times New Roman" panose="02020603050405020304" pitchFamily="18" charset="0"/>
                <a:cs typeface="Times New Roman" panose="02020603050405020304" pitchFamily="18" charset="0"/>
              </a:rPr>
              <a:t> C код, </a:t>
            </a:r>
            <a:r>
              <a:rPr lang="ru-RU" sz="2200" err="1">
                <a:latin typeface="Times New Roman" panose="02020603050405020304" pitchFamily="18" charset="0"/>
                <a:cs typeface="Times New Roman" panose="02020603050405020304" pitchFamily="18" charset="0"/>
              </a:rPr>
              <a:t>входната</a:t>
            </a:r>
            <a:r>
              <a:rPr lang="ru-RU" sz="2200">
                <a:latin typeface="Times New Roman" panose="02020603050405020304" pitchFamily="18" charset="0"/>
                <a:cs typeface="Times New Roman" panose="02020603050405020304" pitchFamily="18" charset="0"/>
              </a:rPr>
              <a:t> точка </a:t>
            </a:r>
            <a:r>
              <a:rPr lang="ru-RU" sz="2200" err="1">
                <a:latin typeface="Times New Roman" panose="02020603050405020304" pitchFamily="18" charset="0"/>
                <a:cs typeface="Times New Roman" panose="02020603050405020304" pitchFamily="18" charset="0"/>
              </a:rPr>
              <a:t>често</a:t>
            </a:r>
            <a:r>
              <a:rPr lang="ru-RU" sz="2200">
                <a:latin typeface="Times New Roman" panose="02020603050405020304" pitchFamily="18" charset="0"/>
                <a:cs typeface="Times New Roman" panose="02020603050405020304" pitchFamily="18" charset="0"/>
              </a:rPr>
              <a:t> се </a:t>
            </a:r>
            <a:r>
              <a:rPr lang="ru-RU" sz="2200" err="1">
                <a:latin typeface="Times New Roman" panose="02020603050405020304" pitchFamily="18" charset="0"/>
                <a:cs typeface="Times New Roman" panose="02020603050405020304" pitchFamily="18" charset="0"/>
              </a:rPr>
              <a:t>съдържа</a:t>
            </a:r>
            <a:r>
              <a:rPr lang="ru-RU" sz="2200">
                <a:latin typeface="Times New Roman" panose="02020603050405020304" pitchFamily="18" charset="0"/>
                <a:cs typeface="Times New Roman" panose="02020603050405020304" pitchFamily="18" charset="0"/>
              </a:rPr>
              <a:t> в C </a:t>
            </a:r>
            <a:r>
              <a:rPr lang="ru-RU" sz="2200" err="1">
                <a:latin typeface="Times New Roman" panose="02020603050405020304" pitchFamily="18" charset="0"/>
                <a:cs typeface="Times New Roman" panose="02020603050405020304" pitchFamily="18" charset="0"/>
              </a:rPr>
              <a:t>библиотеката</a:t>
            </a:r>
            <a:r>
              <a:rPr lang="ru-RU" sz="2200">
                <a:latin typeface="Times New Roman" panose="02020603050405020304" pitchFamily="18" charset="0"/>
                <a:cs typeface="Times New Roman" panose="02020603050405020304" pitchFamily="18" charset="0"/>
              </a:rPr>
              <a:t>. </a:t>
            </a:r>
          </a:p>
        </p:txBody>
      </p:sp>
      <p:sp>
        <p:nvSpPr>
          <p:cNvPr id="4" name="Title 1"/>
          <p:cNvSpPr>
            <a:spLocks noGrp="1"/>
          </p:cNvSpPr>
          <p:nvPr>
            <p:ph type="title"/>
          </p:nvPr>
        </p:nvSpPr>
        <p:spPr>
          <a:xfrm>
            <a:off x="690712" y="-11151"/>
            <a:ext cx="8429684" cy="1143000"/>
          </a:xfrm>
        </p:spPr>
        <p:txBody>
          <a:bodyPr>
            <a:normAutofit/>
          </a:bodyPr>
          <a:lstStyle/>
          <a:p>
            <a:r>
              <a:rPr lang="bg-BG" sz="2900">
                <a:latin typeface="Times New Roman" pitchFamily="18" charset="0"/>
                <a:cs typeface="Times New Roman" pitchFamily="18" charset="0"/>
              </a:rPr>
              <a:t>Структура на програмата</a:t>
            </a:r>
            <a:r>
              <a:rPr lang="en-US" sz="2900">
                <a:latin typeface="Times New Roman" pitchFamily="18" charset="0"/>
                <a:cs typeface="Times New Roman" pitchFamily="18" charset="0"/>
              </a:rPr>
              <a:t> </a:t>
            </a:r>
            <a:r>
              <a:rPr lang="bg-BG" sz="2900">
                <a:latin typeface="Times New Roman" pitchFamily="18" charset="0"/>
                <a:cs typeface="Times New Roman" pitchFamily="18" charset="0"/>
              </a:rPr>
              <a:t>з</a:t>
            </a:r>
            <a:r>
              <a:rPr lang="bg-BG" sz="3200">
                <a:latin typeface="Times New Roman" pitchFamily="18" charset="0"/>
                <a:cs typeface="Times New Roman" pitchFamily="18" charset="0"/>
              </a:rPr>
              <a:t>а </a:t>
            </a:r>
            <a:r>
              <a:rPr lang="en-US" sz="3200">
                <a:latin typeface="Times New Roman" pitchFamily="18" charset="0"/>
                <a:cs typeface="Times New Roman" pitchFamily="18" charset="0"/>
              </a:rPr>
              <a:t>ARM</a:t>
            </a:r>
            <a:endParaRPr lang="bg-BG" sz="2900" b="1"/>
          </a:p>
        </p:txBody>
      </p:sp>
    </p:spTree>
    <p:extLst>
      <p:ext uri="{BB962C8B-B14F-4D97-AF65-F5344CB8AC3E}">
        <p14:creationId xmlns:p14="http://schemas.microsoft.com/office/powerpoint/2010/main" val="645290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131848"/>
            <a:ext cx="8643998" cy="5321487"/>
          </a:xfrm>
        </p:spPr>
        <p:txBody>
          <a:bodyPr>
            <a:noAutofit/>
          </a:bodyPr>
          <a:lstStyle/>
          <a:p>
            <a:pPr marL="0" algn="just">
              <a:spcBef>
                <a:spcPts val="0"/>
              </a:spcBef>
            </a:pPr>
            <a:r>
              <a:rPr lang="ru-RU" sz="2100">
                <a:latin typeface="Times New Roman" panose="02020603050405020304" pitchFamily="18" charset="0"/>
                <a:cs typeface="Times New Roman" panose="02020603050405020304" pitchFamily="18" charset="0"/>
              </a:rPr>
              <a:t>3) </a:t>
            </a:r>
            <a:r>
              <a:rPr lang="ru-RU" sz="2100" err="1">
                <a:latin typeface="Times New Roman" panose="02020603050405020304" pitchFamily="18" charset="0"/>
                <a:cs typeface="Times New Roman" panose="02020603050405020304" pitchFamily="18" charset="0"/>
              </a:rPr>
              <a:t>Общо</a:t>
            </a:r>
            <a:r>
              <a:rPr lang="ru-RU" sz="2100">
                <a:latin typeface="Times New Roman" panose="02020603050405020304" pitchFamily="18" charset="0"/>
                <a:cs typeface="Times New Roman" panose="02020603050405020304" pitchFamily="18" charset="0"/>
              </a:rPr>
              <a:t> оформление</a:t>
            </a:r>
            <a:r>
              <a:rPr lang="en-US"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Общата</a:t>
            </a:r>
            <a:r>
              <a:rPr lang="ru-RU" sz="2100">
                <a:latin typeface="Times New Roman" panose="02020603050405020304" pitchFamily="18" charset="0"/>
                <a:cs typeface="Times New Roman" panose="02020603050405020304" pitchFamily="18" charset="0"/>
              </a:rPr>
              <a:t> форма на </a:t>
            </a:r>
            <a:r>
              <a:rPr lang="ru-RU" sz="2100" err="1">
                <a:latin typeface="Times New Roman" panose="02020603050405020304" pitchFamily="18" charset="0"/>
                <a:cs typeface="Times New Roman" panose="02020603050405020304" pitchFamily="18" charset="0"/>
              </a:rPr>
              <a:t>редовете</a:t>
            </a:r>
            <a:r>
              <a:rPr lang="ru-RU" sz="2100">
                <a:latin typeface="Times New Roman" panose="02020603050405020304" pitchFamily="18" charset="0"/>
                <a:cs typeface="Times New Roman" panose="02020603050405020304" pitchFamily="18" charset="0"/>
              </a:rPr>
              <a:t> в </a:t>
            </a:r>
            <a:r>
              <a:rPr lang="ru-RU" sz="2100" err="1">
                <a:latin typeface="Times New Roman" panose="02020603050405020304" pitchFamily="18" charset="0"/>
                <a:cs typeface="Times New Roman" panose="02020603050405020304" pitchFamily="18" charset="0"/>
              </a:rPr>
              <a:t>асемблерния</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модул</a:t>
            </a:r>
            <a:r>
              <a:rPr lang="ru-RU" sz="2100">
                <a:latin typeface="Times New Roman" panose="02020603050405020304" pitchFamily="18" charset="0"/>
                <a:cs typeface="Times New Roman" panose="02020603050405020304" pitchFamily="18" charset="0"/>
              </a:rPr>
              <a:t> е: </a:t>
            </a:r>
          </a:p>
          <a:p>
            <a:pPr marL="0" algn="just">
              <a:spcBef>
                <a:spcPts val="0"/>
              </a:spcBef>
            </a:pPr>
            <a:r>
              <a:rPr lang="ru-RU" sz="2100" b="1">
                <a:latin typeface="Times New Roman" panose="02020603050405020304" pitchFamily="18" charset="0"/>
                <a:cs typeface="Times New Roman" panose="02020603050405020304" pitchFamily="18" charset="0"/>
              </a:rPr>
              <a:t> &lt;</a:t>
            </a:r>
            <a:r>
              <a:rPr lang="ru-RU" sz="2100" b="1" err="1">
                <a:latin typeface="Times New Roman" panose="02020603050405020304" pitchFamily="18" charset="0"/>
                <a:cs typeface="Times New Roman" panose="02020603050405020304" pitchFamily="18" charset="0"/>
              </a:rPr>
              <a:t>етикет</a:t>
            </a:r>
            <a:r>
              <a:rPr lang="ru-RU" sz="2100" b="1">
                <a:latin typeface="Times New Roman" panose="02020603050405020304" pitchFamily="18" charset="0"/>
                <a:cs typeface="Times New Roman" panose="02020603050405020304" pitchFamily="18" charset="0"/>
              </a:rPr>
              <a:t>&gt; &lt;</a:t>
            </a:r>
            <a:r>
              <a:rPr lang="ru-RU" sz="2100" b="1" err="1">
                <a:latin typeface="Times New Roman" panose="02020603050405020304" pitchFamily="18" charset="0"/>
                <a:cs typeface="Times New Roman" panose="02020603050405020304" pitchFamily="18" charset="0"/>
              </a:rPr>
              <a:t>празно</a:t>
            </a:r>
            <a:r>
              <a:rPr lang="ru-RU" sz="2100" b="1">
                <a:latin typeface="Times New Roman" panose="02020603050405020304" pitchFamily="18" charset="0"/>
                <a:cs typeface="Times New Roman" panose="02020603050405020304" pitchFamily="18" charset="0"/>
              </a:rPr>
              <a:t> пространство&gt; &lt;инструкция&gt; &lt;</a:t>
            </a:r>
            <a:r>
              <a:rPr lang="ru-RU" sz="2100" b="1" err="1">
                <a:latin typeface="Times New Roman" panose="02020603050405020304" pitchFamily="18" charset="0"/>
                <a:cs typeface="Times New Roman" panose="02020603050405020304" pitchFamily="18" charset="0"/>
              </a:rPr>
              <a:t>празно</a:t>
            </a:r>
            <a:r>
              <a:rPr lang="ru-RU" sz="2100" b="1">
                <a:latin typeface="Times New Roman" panose="02020603050405020304" pitchFamily="18" charset="0"/>
                <a:cs typeface="Times New Roman" panose="02020603050405020304" pitchFamily="18" charset="0"/>
              </a:rPr>
              <a:t> пространство&gt; ; &lt;</a:t>
            </a:r>
            <a:r>
              <a:rPr lang="ru-RU" sz="2100" b="1" err="1">
                <a:latin typeface="Times New Roman" panose="02020603050405020304" pitchFamily="18" charset="0"/>
                <a:cs typeface="Times New Roman" panose="02020603050405020304" pitchFamily="18" charset="0"/>
              </a:rPr>
              <a:t>коментар</a:t>
            </a:r>
            <a:r>
              <a:rPr lang="ru-RU" sz="2100" b="1">
                <a:latin typeface="Times New Roman" panose="02020603050405020304" pitchFamily="18" charset="0"/>
                <a:cs typeface="Times New Roman" panose="02020603050405020304" pitchFamily="18" charset="0"/>
              </a:rPr>
              <a:t>&gt;</a:t>
            </a:r>
            <a:endParaRPr lang="en-US" sz="2100" b="1">
              <a:latin typeface="Times New Roman" panose="02020603050405020304" pitchFamily="18" charset="0"/>
              <a:cs typeface="Times New Roman" panose="02020603050405020304" pitchFamily="18" charset="0"/>
            </a:endParaRPr>
          </a:p>
          <a:p>
            <a:pPr marL="0" algn="just">
              <a:spcBef>
                <a:spcPts val="0"/>
              </a:spcBef>
            </a:pPr>
            <a:r>
              <a:rPr lang="ru-RU" sz="2100" err="1">
                <a:latin typeface="Times New Roman" panose="02020603050405020304" pitchFamily="18" charset="0"/>
                <a:cs typeface="Times New Roman" panose="02020603050405020304" pitchFamily="18" charset="0"/>
              </a:rPr>
              <a:t>Важното</a:t>
            </a:r>
            <a:r>
              <a:rPr lang="ru-RU" sz="2100">
                <a:latin typeface="Times New Roman" panose="02020603050405020304" pitchFamily="18" charset="0"/>
                <a:cs typeface="Times New Roman" panose="02020603050405020304" pitchFamily="18" charset="0"/>
              </a:rPr>
              <a:t> е да се </a:t>
            </a:r>
            <a:r>
              <a:rPr lang="ru-RU" sz="2100" err="1">
                <a:latin typeface="Times New Roman" panose="02020603050405020304" pitchFamily="18" charset="0"/>
                <a:cs typeface="Times New Roman" panose="02020603050405020304" pitchFamily="18" charset="0"/>
              </a:rPr>
              <a:t>отбележи</a:t>
            </a:r>
            <a:r>
              <a:rPr lang="ru-RU" sz="2100">
                <a:latin typeface="Times New Roman" panose="02020603050405020304" pitchFamily="18" charset="0"/>
                <a:cs typeface="Times New Roman" panose="02020603050405020304" pitchFamily="18" charset="0"/>
              </a:rPr>
              <a:t>, че трите секции са </a:t>
            </a:r>
            <a:r>
              <a:rPr lang="ru-RU" sz="2100" err="1">
                <a:latin typeface="Times New Roman" panose="02020603050405020304" pitchFamily="18" charset="0"/>
                <a:cs typeface="Times New Roman" panose="02020603050405020304" pitchFamily="18" charset="0"/>
              </a:rPr>
              <a:t>разделени</a:t>
            </a:r>
            <a:r>
              <a:rPr lang="ru-RU" sz="2100">
                <a:latin typeface="Times New Roman" panose="02020603050405020304" pitchFamily="18" charset="0"/>
                <a:cs typeface="Times New Roman" panose="02020603050405020304" pitchFamily="18" charset="0"/>
              </a:rPr>
              <a:t> с </a:t>
            </a:r>
            <a:r>
              <a:rPr lang="ru-RU" sz="2100" err="1">
                <a:latin typeface="Times New Roman" panose="02020603050405020304" pitchFamily="18" charset="0"/>
                <a:cs typeface="Times New Roman" panose="02020603050405020304" pitchFamily="18" charset="0"/>
              </a:rPr>
              <a:t>поне</a:t>
            </a:r>
            <a:r>
              <a:rPr lang="ru-RU" sz="2100">
                <a:latin typeface="Times New Roman" panose="02020603050405020304" pitchFamily="18" charset="0"/>
                <a:cs typeface="Times New Roman" panose="02020603050405020304" pitchFamily="18" charset="0"/>
              </a:rPr>
              <a:t> един </a:t>
            </a:r>
            <a:r>
              <a:rPr lang="ru-RU" sz="2100" err="1">
                <a:latin typeface="Times New Roman" panose="02020603050405020304" pitchFamily="18" charset="0"/>
                <a:cs typeface="Times New Roman" panose="02020603050405020304" pitchFamily="18" charset="0"/>
              </a:rPr>
              <a:t>празен</a:t>
            </a:r>
            <a:r>
              <a:rPr lang="ru-RU" sz="2100">
                <a:latin typeface="Times New Roman" panose="02020603050405020304" pitchFamily="18" charset="0"/>
                <a:cs typeface="Times New Roman" panose="02020603050405020304" pitchFamily="18" charset="0"/>
              </a:rPr>
              <a:t> знак (като интервал или раздел). </a:t>
            </a:r>
            <a:r>
              <a:rPr lang="ru-RU" sz="2100" err="1">
                <a:latin typeface="Times New Roman" panose="02020603050405020304" pitchFamily="18" charset="0"/>
                <a:cs typeface="Times New Roman" panose="02020603050405020304" pitchFamily="18" charset="0"/>
              </a:rPr>
              <a:t>Действителните</a:t>
            </a:r>
            <a:r>
              <a:rPr lang="ru-RU" sz="2100">
                <a:latin typeface="Times New Roman" panose="02020603050405020304" pitchFamily="18" charset="0"/>
                <a:cs typeface="Times New Roman" panose="02020603050405020304" pitchFamily="18" charset="0"/>
              </a:rPr>
              <a:t> инструкции </a:t>
            </a:r>
            <a:r>
              <a:rPr lang="ru-RU" sz="2100" err="1">
                <a:latin typeface="Times New Roman" panose="02020603050405020304" pitchFamily="18" charset="0"/>
                <a:cs typeface="Times New Roman" panose="02020603050405020304" pitchFamily="18" charset="0"/>
              </a:rPr>
              <a:t>никога</a:t>
            </a:r>
            <a:r>
              <a:rPr lang="ru-RU" sz="2100">
                <a:latin typeface="Times New Roman" panose="02020603050405020304" pitchFamily="18" charset="0"/>
                <a:cs typeface="Times New Roman" panose="02020603050405020304" pitchFamily="18" charset="0"/>
              </a:rPr>
              <a:t> не </a:t>
            </a:r>
            <a:r>
              <a:rPr lang="ru-RU" sz="2100" err="1">
                <a:latin typeface="Times New Roman" panose="02020603050405020304" pitchFamily="18" charset="0"/>
                <a:cs typeface="Times New Roman" panose="02020603050405020304" pitchFamily="18" charset="0"/>
              </a:rPr>
              <a:t>започват</a:t>
            </a:r>
            <a:r>
              <a:rPr lang="ru-RU" sz="2100">
                <a:latin typeface="Times New Roman" panose="02020603050405020304" pitchFamily="18" charset="0"/>
                <a:cs typeface="Times New Roman" panose="02020603050405020304" pitchFamily="18" charset="0"/>
              </a:rPr>
              <a:t> в </a:t>
            </a:r>
            <a:r>
              <a:rPr lang="ru-RU" sz="2100" err="1">
                <a:latin typeface="Times New Roman" panose="02020603050405020304" pitchFamily="18" charset="0"/>
                <a:cs typeface="Times New Roman" panose="02020603050405020304" pitchFamily="18" charset="0"/>
              </a:rPr>
              <a:t>първата</a:t>
            </a:r>
            <a:r>
              <a:rPr lang="ru-RU" sz="2100">
                <a:latin typeface="Times New Roman" panose="02020603050405020304" pitchFamily="18" charset="0"/>
                <a:cs typeface="Times New Roman" panose="02020603050405020304" pitchFamily="18" charset="0"/>
              </a:rPr>
              <a:t> колона, защото трябва да </a:t>
            </a:r>
            <a:r>
              <a:rPr lang="ru-RU" sz="2100" err="1">
                <a:latin typeface="Times New Roman" panose="02020603050405020304" pitchFamily="18" charset="0"/>
                <a:cs typeface="Times New Roman" panose="02020603050405020304" pitchFamily="18" charset="0"/>
              </a:rPr>
              <a:t>бъдат</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предшествани</a:t>
            </a:r>
            <a:r>
              <a:rPr lang="ru-RU" sz="2100">
                <a:latin typeface="Times New Roman" panose="02020603050405020304" pitchFamily="18" charset="0"/>
                <a:cs typeface="Times New Roman" panose="02020603050405020304" pitchFamily="18" charset="0"/>
              </a:rPr>
              <a:t> от интервал, </a:t>
            </a:r>
            <a:r>
              <a:rPr lang="ru-RU" sz="2100" err="1">
                <a:latin typeface="Times New Roman" panose="02020603050405020304" pitchFamily="18" charset="0"/>
                <a:cs typeface="Times New Roman" panose="02020603050405020304" pitchFamily="18" charset="0"/>
              </a:rPr>
              <a:t>дори</a:t>
            </a:r>
            <a:r>
              <a:rPr lang="ru-RU" sz="2100">
                <a:latin typeface="Times New Roman" panose="02020603050405020304" pitchFamily="18" charset="0"/>
                <a:cs typeface="Times New Roman" panose="02020603050405020304" pitchFamily="18" charset="0"/>
              </a:rPr>
              <a:t> и да </a:t>
            </a:r>
            <a:r>
              <a:rPr lang="ru-RU" sz="2100" err="1">
                <a:latin typeface="Times New Roman" panose="02020603050405020304" pitchFamily="18" charset="0"/>
                <a:cs typeface="Times New Roman" panose="02020603050405020304" pitchFamily="18" charset="0"/>
              </a:rPr>
              <a:t>няма</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етикет</a:t>
            </a:r>
            <a:r>
              <a:rPr lang="ru-RU" sz="2100">
                <a:latin typeface="Times New Roman" panose="02020603050405020304" pitchFamily="18" charset="0"/>
                <a:cs typeface="Times New Roman" panose="02020603050405020304" pitchFamily="18" charset="0"/>
              </a:rPr>
              <a:t>. И трите секции не са </a:t>
            </a:r>
            <a:r>
              <a:rPr lang="ru-RU" sz="2100" err="1">
                <a:latin typeface="Times New Roman" panose="02020603050405020304" pitchFamily="18" charset="0"/>
                <a:cs typeface="Times New Roman" panose="02020603050405020304" pitchFamily="18" charset="0"/>
              </a:rPr>
              <a:t>задължителни</a:t>
            </a:r>
            <a:r>
              <a:rPr lang="ru-RU" sz="2100">
                <a:latin typeface="Times New Roman" panose="02020603050405020304" pitchFamily="18" charset="0"/>
                <a:cs typeface="Times New Roman" panose="02020603050405020304" pitchFamily="18" charset="0"/>
              </a:rPr>
              <a:t> и </a:t>
            </a:r>
            <a:r>
              <a:rPr lang="ru-RU" sz="2100" err="1">
                <a:latin typeface="Times New Roman" panose="02020603050405020304" pitchFamily="18" charset="0"/>
                <a:cs typeface="Times New Roman" panose="02020603050405020304" pitchFamily="18" charset="0"/>
              </a:rPr>
              <a:t>асемблерът</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ще</a:t>
            </a:r>
            <a:r>
              <a:rPr lang="ru-RU" sz="2100">
                <a:latin typeface="Times New Roman" panose="02020603050405020304" pitchFamily="18" charset="0"/>
                <a:cs typeface="Times New Roman" panose="02020603050405020304" pitchFamily="18" charset="0"/>
              </a:rPr>
              <a:t> приеме и </a:t>
            </a:r>
            <a:r>
              <a:rPr lang="ru-RU" sz="2100" err="1">
                <a:latin typeface="Times New Roman" panose="02020603050405020304" pitchFamily="18" charset="0"/>
                <a:cs typeface="Times New Roman" panose="02020603050405020304" pitchFamily="18" charset="0"/>
              </a:rPr>
              <a:t>празни</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редове</a:t>
            </a:r>
            <a:r>
              <a:rPr lang="ru-RU" sz="2100">
                <a:latin typeface="Times New Roman" panose="02020603050405020304" pitchFamily="18" charset="0"/>
                <a:cs typeface="Times New Roman" panose="02020603050405020304" pitchFamily="18" charset="0"/>
              </a:rPr>
              <a:t>, за да </a:t>
            </a:r>
            <a:r>
              <a:rPr lang="ru-RU" sz="2100" err="1">
                <a:latin typeface="Times New Roman" panose="02020603050405020304" pitchFamily="18" charset="0"/>
                <a:cs typeface="Times New Roman" panose="02020603050405020304" pitchFamily="18" charset="0"/>
              </a:rPr>
              <a:t>подобри</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яснотата</a:t>
            </a:r>
            <a:r>
              <a:rPr lang="ru-RU" sz="2100">
                <a:latin typeface="Times New Roman" panose="02020603050405020304" pitchFamily="18" charset="0"/>
                <a:cs typeface="Times New Roman" panose="02020603050405020304" pitchFamily="18" charset="0"/>
              </a:rPr>
              <a:t> на кода.</a:t>
            </a:r>
          </a:p>
          <a:p>
            <a:pPr marL="0" algn="just">
              <a:spcBef>
                <a:spcPts val="0"/>
              </a:spcBef>
            </a:pPr>
            <a:endParaRPr lang="ru-RU" sz="2100">
              <a:latin typeface="Times New Roman" panose="02020603050405020304" pitchFamily="18" charset="0"/>
              <a:cs typeface="Times New Roman" panose="02020603050405020304" pitchFamily="18" charset="0"/>
            </a:endParaRPr>
          </a:p>
          <a:p>
            <a:pPr marL="0" algn="just">
              <a:spcBef>
                <a:spcPts val="0"/>
              </a:spcBef>
            </a:pPr>
            <a:r>
              <a:rPr lang="ru-RU" sz="2100">
                <a:latin typeface="Times New Roman" panose="02020603050405020304" pitchFamily="18" charset="0"/>
                <a:cs typeface="Times New Roman" panose="02020603050405020304" pitchFamily="18" charset="0"/>
              </a:rPr>
              <a:t>4) Описание на кода. </a:t>
            </a:r>
            <a:r>
              <a:rPr lang="ru-RU" sz="2100" err="1">
                <a:latin typeface="Times New Roman" panose="02020603050405020304" pitchFamily="18" charset="0"/>
                <a:cs typeface="Times New Roman" panose="02020603050405020304" pitchFamily="18" charset="0"/>
              </a:rPr>
              <a:t>Преди</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изписване</a:t>
            </a:r>
            <a:r>
              <a:rPr lang="ru-RU" sz="2100">
                <a:latin typeface="Times New Roman" panose="02020603050405020304" pitchFamily="18" charset="0"/>
                <a:cs typeface="Times New Roman" panose="02020603050405020304" pitchFamily="18" charset="0"/>
              </a:rPr>
              <a:t> на кода на </a:t>
            </a:r>
            <a:r>
              <a:rPr lang="ru-RU" sz="2100" err="1">
                <a:latin typeface="Times New Roman" panose="02020603050405020304" pitchFamily="18" charset="0"/>
                <a:cs typeface="Times New Roman" panose="02020603050405020304" pitchFamily="18" charset="0"/>
              </a:rPr>
              <a:t>програмата</a:t>
            </a:r>
            <a:r>
              <a:rPr lang="ru-RU" sz="2100">
                <a:latin typeface="Times New Roman" panose="02020603050405020304" pitchFamily="18" charset="0"/>
                <a:cs typeface="Times New Roman" panose="02020603050405020304" pitchFamily="18" charset="0"/>
              </a:rPr>
              <a:t> се поставят:</a:t>
            </a:r>
          </a:p>
          <a:p>
            <a:pPr marL="0" algn="just">
              <a:spcBef>
                <a:spcPts val="0"/>
              </a:spcBef>
            </a:pPr>
            <a:r>
              <a:rPr lang="ru-RU" sz="2100" b="1">
                <a:latin typeface="Times New Roman" panose="02020603050405020304" pitchFamily="18" charset="0"/>
                <a:cs typeface="Times New Roman" panose="02020603050405020304" pitchFamily="18" charset="0"/>
              </a:rPr>
              <a:t>.</a:t>
            </a:r>
            <a:r>
              <a:rPr lang="en-US" sz="2100" b="1">
                <a:latin typeface="Times New Roman" panose="02020603050405020304" pitchFamily="18" charset="0"/>
                <a:cs typeface="Times New Roman" panose="02020603050405020304" pitchFamily="18" charset="0"/>
              </a:rPr>
              <a:t>text</a:t>
            </a:r>
          </a:p>
          <a:p>
            <a:pPr marL="118872" lvl="1" indent="0" algn="just">
              <a:spcBef>
                <a:spcPts val="0"/>
              </a:spcBef>
              <a:buNone/>
            </a:pPr>
            <a:r>
              <a:rPr lang="en-US" sz="1900" b="1">
                <a:latin typeface="Times New Roman" panose="02020603050405020304" pitchFamily="18" charset="0"/>
                <a:cs typeface="Times New Roman" panose="02020603050405020304" pitchFamily="18" charset="0"/>
              </a:rPr>
              <a:t>           .global start</a:t>
            </a:r>
          </a:p>
          <a:p>
            <a:pPr marL="0" algn="just">
              <a:spcBef>
                <a:spcPts val="0"/>
              </a:spcBef>
            </a:pPr>
            <a:r>
              <a:rPr lang="en-US" sz="2100" b="1">
                <a:latin typeface="Times New Roman" panose="02020603050405020304" pitchFamily="18" charset="0"/>
                <a:cs typeface="Times New Roman" panose="02020603050405020304" pitchFamily="18" charset="0"/>
              </a:rPr>
              <a:t>start:</a:t>
            </a:r>
          </a:p>
        </p:txBody>
      </p:sp>
      <p:sp>
        <p:nvSpPr>
          <p:cNvPr id="4" name="Title 1"/>
          <p:cNvSpPr>
            <a:spLocks noGrp="1"/>
          </p:cNvSpPr>
          <p:nvPr>
            <p:ph type="title"/>
          </p:nvPr>
        </p:nvSpPr>
        <p:spPr>
          <a:xfrm>
            <a:off x="690712" y="-11151"/>
            <a:ext cx="8429684" cy="1143000"/>
          </a:xfrm>
        </p:spPr>
        <p:txBody>
          <a:bodyPr>
            <a:normAutofit/>
          </a:bodyPr>
          <a:lstStyle/>
          <a:p>
            <a:r>
              <a:rPr lang="bg-BG" sz="2900">
                <a:latin typeface="Times New Roman" pitchFamily="18" charset="0"/>
                <a:cs typeface="Times New Roman" pitchFamily="18" charset="0"/>
              </a:rPr>
              <a:t>Структура на програмата</a:t>
            </a:r>
            <a:r>
              <a:rPr lang="en-US" sz="2900">
                <a:latin typeface="Times New Roman" pitchFamily="18" charset="0"/>
                <a:cs typeface="Times New Roman" pitchFamily="18" charset="0"/>
              </a:rPr>
              <a:t> </a:t>
            </a:r>
            <a:r>
              <a:rPr lang="bg-BG" sz="2900">
                <a:latin typeface="Times New Roman" pitchFamily="18" charset="0"/>
                <a:cs typeface="Times New Roman" pitchFamily="18" charset="0"/>
              </a:rPr>
              <a:t>з</a:t>
            </a:r>
            <a:r>
              <a:rPr lang="bg-BG" sz="3200">
                <a:latin typeface="Times New Roman" pitchFamily="18" charset="0"/>
                <a:cs typeface="Times New Roman" pitchFamily="18" charset="0"/>
              </a:rPr>
              <a:t>а </a:t>
            </a:r>
            <a:r>
              <a:rPr lang="en-US" sz="3200">
                <a:latin typeface="Times New Roman" pitchFamily="18" charset="0"/>
                <a:cs typeface="Times New Roman" pitchFamily="18" charset="0"/>
              </a:rPr>
              <a:t>ARM</a:t>
            </a:r>
            <a:endParaRPr lang="bg-BG" sz="2900" b="1"/>
          </a:p>
        </p:txBody>
      </p:sp>
    </p:spTree>
    <p:extLst>
      <p:ext uri="{BB962C8B-B14F-4D97-AF65-F5344CB8AC3E}">
        <p14:creationId xmlns:p14="http://schemas.microsoft.com/office/powerpoint/2010/main" val="4288234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64" y="1169472"/>
            <a:ext cx="8643998" cy="5499888"/>
          </a:xfrm>
        </p:spPr>
        <p:txBody>
          <a:bodyPr>
            <a:noAutofit/>
          </a:bodyPr>
          <a:lstStyle/>
          <a:p>
            <a:pPr marL="0" algn="just">
              <a:spcBef>
                <a:spcPts val="0"/>
              </a:spcBef>
            </a:pPr>
            <a:r>
              <a:rPr lang="ru-RU" sz="2200">
                <a:latin typeface="Times New Roman" panose="02020603050405020304" pitchFamily="18" charset="0"/>
                <a:cs typeface="Times New Roman" panose="02020603050405020304" pitchFamily="18" charset="0"/>
              </a:rPr>
              <a:t>След това </a:t>
            </a:r>
            <a:r>
              <a:rPr lang="ru-RU" sz="2200" err="1">
                <a:latin typeface="Times New Roman" panose="02020603050405020304" pitchFamily="18" charset="0"/>
                <a:cs typeface="Times New Roman" panose="02020603050405020304" pitchFamily="18" charset="0"/>
              </a:rPr>
              <a:t>приложението</a:t>
            </a:r>
            <a:r>
              <a:rPr lang="ru-RU" sz="2200">
                <a:latin typeface="Times New Roman" panose="02020603050405020304" pitchFamily="18" charset="0"/>
                <a:cs typeface="Times New Roman" panose="02020603050405020304" pitchFamily="18" charset="0"/>
              </a:rPr>
              <a:t> се </a:t>
            </a:r>
            <a:r>
              <a:rPr lang="ru-RU" sz="2200" err="1">
                <a:latin typeface="Times New Roman" panose="02020603050405020304" pitchFamily="18" charset="0"/>
                <a:cs typeface="Times New Roman" panose="02020603050405020304" pitchFamily="18" charset="0"/>
              </a:rPr>
              <a:t>прекратява</a:t>
            </a:r>
            <a:r>
              <a:rPr lang="ru-RU" sz="2200">
                <a:latin typeface="Times New Roman" panose="02020603050405020304" pitchFamily="18" charset="0"/>
                <a:cs typeface="Times New Roman" panose="02020603050405020304" pitchFamily="18" charset="0"/>
              </a:rPr>
              <a:t> с помощта на </a:t>
            </a:r>
            <a:r>
              <a:rPr lang="ru-RU" sz="2200" err="1">
                <a:latin typeface="Times New Roman" panose="02020603050405020304" pitchFamily="18" charset="0"/>
                <a:cs typeface="Times New Roman" panose="02020603050405020304" pitchFamily="18" charset="0"/>
              </a:rPr>
              <a:t>софтуерното</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прекъсване</a:t>
            </a:r>
            <a:r>
              <a:rPr lang="ru-RU" sz="2200">
                <a:latin typeface="Times New Roman" panose="02020603050405020304" pitchFamily="18" charset="0"/>
                <a:cs typeface="Times New Roman" panose="02020603050405020304" pitchFamily="18" charset="0"/>
              </a:rPr>
              <a:t> 0x11, при </a:t>
            </a:r>
            <a:r>
              <a:rPr lang="ru-RU" sz="2200" err="1">
                <a:latin typeface="Times New Roman" panose="02020603050405020304" pitchFamily="18" charset="0"/>
                <a:cs typeface="Times New Roman" panose="02020603050405020304" pitchFamily="18" charset="0"/>
              </a:rPr>
              <a:t>спиране</a:t>
            </a:r>
            <a:r>
              <a:rPr lang="ru-RU" sz="2200">
                <a:latin typeface="Times New Roman" panose="02020603050405020304" pitchFamily="18" charset="0"/>
                <a:cs typeface="Times New Roman" panose="02020603050405020304" pitchFamily="18" charset="0"/>
              </a:rPr>
              <a:t> на </a:t>
            </a:r>
            <a:r>
              <a:rPr lang="ru-RU" sz="2200" err="1">
                <a:latin typeface="Times New Roman" panose="02020603050405020304" pitchFamily="18" charset="0"/>
                <a:cs typeface="Times New Roman" panose="02020603050405020304" pitchFamily="18" charset="0"/>
              </a:rPr>
              <a:t>етикета</a:t>
            </a:r>
            <a:r>
              <a:rPr lang="ru-RU" sz="2200">
                <a:latin typeface="Times New Roman" panose="02020603050405020304" pitchFamily="18" charset="0"/>
                <a:cs typeface="Times New Roman" panose="02020603050405020304" pitchFamily="18" charset="0"/>
              </a:rPr>
              <a:t>, което кара </a:t>
            </a:r>
            <a:r>
              <a:rPr lang="ru-RU" sz="2200" err="1">
                <a:latin typeface="Times New Roman" panose="02020603050405020304" pitchFamily="18" charset="0"/>
                <a:cs typeface="Times New Roman" panose="02020603050405020304" pitchFamily="18" charset="0"/>
              </a:rPr>
              <a:t>управлението</a:t>
            </a:r>
            <a:r>
              <a:rPr lang="ru-RU" sz="2200">
                <a:latin typeface="Times New Roman" panose="02020603050405020304" pitchFamily="18" charset="0"/>
                <a:cs typeface="Times New Roman" panose="02020603050405020304" pitchFamily="18" charset="0"/>
              </a:rPr>
              <a:t> да се </a:t>
            </a:r>
            <a:r>
              <a:rPr lang="ru-RU" sz="2200" err="1">
                <a:latin typeface="Times New Roman" panose="02020603050405020304" pitchFamily="18" charset="0"/>
                <a:cs typeface="Times New Roman" panose="02020603050405020304" pitchFamily="18" charset="0"/>
              </a:rPr>
              <a:t>върне</a:t>
            </a:r>
            <a:r>
              <a:rPr lang="ru-RU" sz="2200">
                <a:latin typeface="Times New Roman" panose="02020603050405020304" pitchFamily="18" charset="0"/>
                <a:cs typeface="Times New Roman" panose="02020603050405020304" pitchFamily="18" charset="0"/>
              </a:rPr>
              <a:t> обратно </a:t>
            </a:r>
            <a:r>
              <a:rPr lang="ru-RU" sz="2200" err="1">
                <a:latin typeface="Times New Roman" panose="02020603050405020304" pitchFamily="18" charset="0"/>
                <a:cs typeface="Times New Roman" panose="02020603050405020304" pitchFamily="18" charset="0"/>
              </a:rPr>
              <a:t>към</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дебъгера</a:t>
            </a:r>
            <a:r>
              <a:rPr lang="ru-RU" sz="2200">
                <a:latin typeface="Times New Roman" panose="02020603050405020304" pitchFamily="18" charset="0"/>
                <a:cs typeface="Times New Roman" panose="02020603050405020304" pitchFamily="18" charset="0"/>
              </a:rPr>
              <a:t>.</a:t>
            </a:r>
          </a:p>
          <a:p>
            <a:pPr marL="0" algn="just">
              <a:spcBef>
                <a:spcPts val="0"/>
              </a:spcBef>
            </a:pPr>
            <a:r>
              <a:rPr lang="en-US" sz="2200" b="1" err="1">
                <a:latin typeface="Times New Roman" panose="02020603050405020304" pitchFamily="18" charset="0"/>
                <a:cs typeface="Times New Roman" panose="02020603050405020304" pitchFamily="18" charset="0"/>
              </a:rPr>
              <a:t>swi</a:t>
            </a:r>
            <a:r>
              <a:rPr lang="en-US" sz="2200" b="1">
                <a:latin typeface="Times New Roman" panose="02020603050405020304" pitchFamily="18" charset="0"/>
                <a:cs typeface="Times New Roman" panose="02020603050405020304" pitchFamily="18" charset="0"/>
              </a:rPr>
              <a:t>  0x11</a:t>
            </a:r>
          </a:p>
          <a:p>
            <a:pPr marL="0" algn="just">
              <a:spcBef>
                <a:spcPts val="0"/>
              </a:spcBef>
            </a:pPr>
            <a:r>
              <a:rPr lang="ru-RU" sz="2200">
                <a:latin typeface="Times New Roman" panose="02020603050405020304" pitchFamily="18" charset="0"/>
                <a:cs typeface="Times New Roman" panose="02020603050405020304" pitchFamily="18" charset="0"/>
              </a:rPr>
              <a:t>5) Директива Данни</a:t>
            </a:r>
          </a:p>
          <a:p>
            <a:pPr marL="0" algn="just">
              <a:spcBef>
                <a:spcPts val="0"/>
              </a:spcBef>
            </a:pPr>
            <a:r>
              <a:rPr lang="ru-RU" sz="2200" b="1">
                <a:latin typeface="Times New Roman" panose="02020603050405020304" pitchFamily="18" charset="0"/>
                <a:cs typeface="Times New Roman" panose="02020603050405020304" pitchFamily="18" charset="0"/>
              </a:rPr>
              <a:t>.</a:t>
            </a:r>
            <a:r>
              <a:rPr lang="en-US" sz="2200" b="1">
                <a:latin typeface="Times New Roman" panose="02020603050405020304" pitchFamily="18" charset="0"/>
                <a:cs typeface="Times New Roman" panose="02020603050405020304" pitchFamily="18" charset="0"/>
              </a:rPr>
              <a:t>data</a:t>
            </a:r>
            <a:endParaRPr lang="ru-RU" sz="2200" b="1">
              <a:latin typeface="Times New Roman" panose="02020603050405020304" pitchFamily="18" charset="0"/>
              <a:cs typeface="Times New Roman" panose="02020603050405020304" pitchFamily="18" charset="0"/>
            </a:endParaRPr>
          </a:p>
          <a:p>
            <a:pPr marL="0" algn="just">
              <a:spcBef>
                <a:spcPts val="0"/>
              </a:spcBef>
            </a:pPr>
            <a:r>
              <a:rPr lang="ru-RU" sz="2200" err="1">
                <a:latin typeface="Times New Roman" panose="02020603050405020304" pitchFamily="18" charset="0"/>
                <a:cs typeface="Times New Roman" panose="02020603050405020304" pitchFamily="18" charset="0"/>
              </a:rPr>
              <a:t>Директивата</a:t>
            </a:r>
            <a:r>
              <a:rPr lang="ru-RU" sz="2200">
                <a:latin typeface="Times New Roman" panose="02020603050405020304" pitchFamily="18" charset="0"/>
                <a:cs typeface="Times New Roman" panose="02020603050405020304" pitchFamily="18" charset="0"/>
              </a:rPr>
              <a:t> за </a:t>
            </a:r>
            <a:r>
              <a:rPr lang="ru-RU" sz="2200" err="1">
                <a:latin typeface="Times New Roman" panose="02020603050405020304" pitchFamily="18" charset="0"/>
                <a:cs typeface="Times New Roman" panose="02020603050405020304" pitchFamily="18" charset="0"/>
              </a:rPr>
              <a:t>асемблер</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data</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казва</a:t>
            </a:r>
            <a:r>
              <a:rPr lang="ru-RU" sz="2200">
                <a:latin typeface="Times New Roman" panose="02020603050405020304" pitchFamily="18" charset="0"/>
                <a:cs typeface="Times New Roman" panose="02020603050405020304" pitchFamily="18" charset="0"/>
              </a:rPr>
              <a:t> на </a:t>
            </a:r>
            <a:r>
              <a:rPr lang="ru-RU" sz="2200" err="1">
                <a:latin typeface="Times New Roman" panose="02020603050405020304" pitchFamily="18" charset="0"/>
                <a:cs typeface="Times New Roman" panose="02020603050405020304" pitchFamily="18" charset="0"/>
              </a:rPr>
              <a:t>асемблера</a:t>
            </a:r>
            <a:r>
              <a:rPr lang="ru-RU" sz="2200">
                <a:latin typeface="Times New Roman" panose="02020603050405020304" pitchFamily="18" charset="0"/>
                <a:cs typeface="Times New Roman" panose="02020603050405020304" pitchFamily="18" charset="0"/>
              </a:rPr>
              <a:t> ARM да започне да </a:t>
            </a:r>
            <a:r>
              <a:rPr lang="ru-RU" sz="2200" err="1">
                <a:latin typeface="Times New Roman" panose="02020603050405020304" pitchFamily="18" charset="0"/>
                <a:cs typeface="Times New Roman" panose="02020603050405020304" pitchFamily="18" charset="0"/>
              </a:rPr>
              <a:t>сглобява</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реда</a:t>
            </a:r>
            <a:r>
              <a:rPr lang="ru-RU" sz="2200">
                <a:latin typeface="Times New Roman" panose="02020603050405020304" pitchFamily="18" charset="0"/>
                <a:cs typeface="Times New Roman" panose="02020603050405020304" pitchFamily="18" charset="0"/>
              </a:rPr>
              <a:t> след </a:t>
            </a:r>
            <a:r>
              <a:rPr lang="ru-RU" sz="2200" err="1">
                <a:latin typeface="Times New Roman" panose="02020603050405020304" pitchFamily="18" charset="0"/>
                <a:cs typeface="Times New Roman" panose="02020603050405020304" pitchFamily="18" charset="0"/>
              </a:rPr>
              <a:t>директивата</a:t>
            </a:r>
            <a:r>
              <a:rPr lang="ru-RU" sz="2200">
                <a:latin typeface="Times New Roman" panose="02020603050405020304" pitchFamily="18" charset="0"/>
                <a:cs typeface="Times New Roman" panose="02020603050405020304" pitchFamily="18" charset="0"/>
              </a:rPr>
              <a:t> в </a:t>
            </a:r>
            <a:r>
              <a:rPr lang="ru-RU" sz="2200" err="1">
                <a:latin typeface="Times New Roman" panose="02020603050405020304" pitchFamily="18" charset="0"/>
                <a:cs typeface="Times New Roman" panose="02020603050405020304" pitchFamily="18" charset="0"/>
              </a:rPr>
              <a:t>секцията</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data</a:t>
            </a:r>
            <a:r>
              <a:rPr lang="ru-RU" sz="2200">
                <a:latin typeface="Times New Roman" panose="02020603050405020304" pitchFamily="18" charset="0"/>
                <a:cs typeface="Times New Roman" panose="02020603050405020304" pitchFamily="18" charset="0"/>
              </a:rPr>
              <a:t> на </a:t>
            </a:r>
            <a:r>
              <a:rPr lang="ru-RU" sz="2200" err="1">
                <a:latin typeface="Times New Roman" panose="02020603050405020304" pitchFamily="18" charset="0"/>
                <a:cs typeface="Times New Roman" panose="02020603050405020304" pitchFamily="18" charset="0"/>
              </a:rPr>
              <a:t>компютърната</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програма</a:t>
            </a:r>
            <a:r>
              <a:rPr lang="ru-RU" sz="2200">
                <a:latin typeface="Times New Roman" panose="02020603050405020304" pitchFamily="18" charset="0"/>
                <a:cs typeface="Times New Roman" panose="02020603050405020304" pitchFamily="18" charset="0"/>
              </a:rPr>
              <a:t>.</a:t>
            </a:r>
          </a:p>
          <a:p>
            <a:pPr marL="0" algn="just">
              <a:spcBef>
                <a:spcPts val="0"/>
              </a:spcBef>
            </a:pPr>
            <a:r>
              <a:rPr lang="ru-RU" sz="2200" err="1">
                <a:latin typeface="Times New Roman" panose="02020603050405020304" pitchFamily="18" charset="0"/>
                <a:cs typeface="Times New Roman" panose="02020603050405020304" pitchFamily="18" charset="0"/>
              </a:rPr>
              <a:t>Разделът</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data</a:t>
            </a:r>
            <a:r>
              <a:rPr lang="ru-RU" sz="2200">
                <a:latin typeface="Times New Roman" panose="02020603050405020304" pitchFamily="18" charset="0"/>
                <a:cs typeface="Times New Roman" panose="02020603050405020304" pitchFamily="18" charset="0"/>
              </a:rPr>
              <a:t> на </a:t>
            </a:r>
            <a:r>
              <a:rPr lang="ru-RU" sz="2200" err="1">
                <a:latin typeface="Times New Roman" panose="02020603050405020304" pitchFamily="18" charset="0"/>
                <a:cs typeface="Times New Roman" panose="02020603050405020304" pitchFamily="18" charset="0"/>
              </a:rPr>
              <a:t>компютърна</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програма</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съдържа</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постоянни</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константи</a:t>
            </a:r>
            <a:r>
              <a:rPr lang="ru-RU" sz="2200">
                <a:latin typeface="Times New Roman" panose="02020603050405020304" pitchFamily="18" charset="0"/>
                <a:cs typeface="Times New Roman" panose="02020603050405020304" pitchFamily="18" charset="0"/>
              </a:rPr>
              <a:t> и </a:t>
            </a:r>
            <a:r>
              <a:rPr lang="ru-RU" sz="2200" err="1">
                <a:latin typeface="Times New Roman" panose="02020603050405020304" pitchFamily="18" charset="0"/>
                <a:cs typeface="Times New Roman" panose="02020603050405020304" pitchFamily="18" charset="0"/>
              </a:rPr>
              <a:t>променливи</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използвани</a:t>
            </a:r>
            <a:r>
              <a:rPr lang="ru-RU" sz="2200">
                <a:latin typeface="Times New Roman" panose="02020603050405020304" pitchFamily="18" charset="0"/>
                <a:cs typeface="Times New Roman" panose="02020603050405020304" pitchFamily="18" charset="0"/>
              </a:rPr>
              <a:t> в </a:t>
            </a:r>
            <a:r>
              <a:rPr lang="ru-RU" sz="2200" err="1">
                <a:latin typeface="Times New Roman" panose="02020603050405020304" pitchFamily="18" charset="0"/>
                <a:cs typeface="Times New Roman" panose="02020603050405020304" pitchFamily="18" charset="0"/>
              </a:rPr>
              <a:t>компютърната</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програма</a:t>
            </a:r>
            <a:endParaRPr lang="ru-RU" sz="2200">
              <a:latin typeface="Times New Roman" panose="02020603050405020304" pitchFamily="18" charset="0"/>
              <a:cs typeface="Times New Roman" panose="02020603050405020304" pitchFamily="18" charset="0"/>
            </a:endParaRPr>
          </a:p>
          <a:p>
            <a:pPr marL="0" algn="just">
              <a:spcBef>
                <a:spcPts val="0"/>
              </a:spcBef>
            </a:pPr>
            <a:r>
              <a:rPr lang="ru-RU" sz="2200">
                <a:latin typeface="Times New Roman" panose="02020603050405020304" pitchFamily="18" charset="0"/>
                <a:cs typeface="Times New Roman" panose="02020603050405020304" pitchFamily="18" charset="0"/>
              </a:rPr>
              <a:t>6)</a:t>
            </a:r>
            <a:r>
              <a:rPr lang="ru-RU" sz="2200" err="1">
                <a:latin typeface="Times New Roman" panose="02020603050405020304" pitchFamily="18" charset="0"/>
                <a:cs typeface="Times New Roman" panose="02020603050405020304" pitchFamily="18" charset="0"/>
              </a:rPr>
              <a:t>Директивата</a:t>
            </a:r>
            <a:r>
              <a:rPr lang="ru-RU" sz="2200">
                <a:latin typeface="Times New Roman" panose="02020603050405020304" pitchFamily="18" charset="0"/>
                <a:cs typeface="Times New Roman" panose="02020603050405020304" pitchFamily="18" charset="0"/>
              </a:rPr>
              <a:t> END</a:t>
            </a:r>
            <a:endParaRPr lang="en-US" sz="2200">
              <a:latin typeface="Times New Roman" panose="02020603050405020304" pitchFamily="18" charset="0"/>
              <a:cs typeface="Times New Roman" panose="02020603050405020304" pitchFamily="18" charset="0"/>
            </a:endParaRPr>
          </a:p>
          <a:p>
            <a:pPr marL="0" algn="just">
              <a:spcBef>
                <a:spcPts val="0"/>
              </a:spcBef>
            </a:pPr>
            <a:r>
              <a:rPr lang="ru-RU" sz="2200" err="1">
                <a:latin typeface="Times New Roman" panose="02020603050405020304" pitchFamily="18" charset="0"/>
                <a:cs typeface="Times New Roman" panose="02020603050405020304" pitchFamily="18" charset="0"/>
              </a:rPr>
              <a:t>Тази</a:t>
            </a:r>
            <a:r>
              <a:rPr lang="ru-RU" sz="2200">
                <a:latin typeface="Times New Roman" panose="02020603050405020304" pitchFamily="18" charset="0"/>
                <a:cs typeface="Times New Roman" panose="02020603050405020304" pitchFamily="18" charset="0"/>
              </a:rPr>
              <a:t> директива кара </a:t>
            </a:r>
            <a:r>
              <a:rPr lang="ru-RU" sz="2200" err="1">
                <a:latin typeface="Times New Roman" panose="02020603050405020304" pitchFamily="18" charset="0"/>
                <a:cs typeface="Times New Roman" panose="02020603050405020304" pitchFamily="18" charset="0"/>
              </a:rPr>
              <a:t>асемблера</a:t>
            </a:r>
            <a:r>
              <a:rPr lang="ru-RU" sz="2200">
                <a:latin typeface="Times New Roman" panose="02020603050405020304" pitchFamily="18" charset="0"/>
                <a:cs typeface="Times New Roman" panose="02020603050405020304" pitchFamily="18" charset="0"/>
              </a:rPr>
              <a:t> да </a:t>
            </a:r>
            <a:r>
              <a:rPr lang="ru-RU" sz="2200" err="1">
                <a:latin typeface="Times New Roman" panose="02020603050405020304" pitchFamily="18" charset="0"/>
                <a:cs typeface="Times New Roman" panose="02020603050405020304" pitchFamily="18" charset="0"/>
              </a:rPr>
              <a:t>спре</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обработката</a:t>
            </a:r>
            <a:r>
              <a:rPr lang="ru-RU" sz="2200">
                <a:latin typeface="Times New Roman" panose="02020603050405020304" pitchFamily="18" charset="0"/>
                <a:cs typeface="Times New Roman" panose="02020603050405020304" pitchFamily="18" charset="0"/>
              </a:rPr>
              <a:t> на този </a:t>
            </a:r>
            <a:r>
              <a:rPr lang="ru-RU" sz="2200" err="1">
                <a:latin typeface="Times New Roman" panose="02020603050405020304" pitchFamily="18" charset="0"/>
                <a:cs typeface="Times New Roman" panose="02020603050405020304" pitchFamily="18" charset="0"/>
              </a:rPr>
              <a:t>изходен</a:t>
            </a:r>
            <a:r>
              <a:rPr lang="ru-RU" sz="2200">
                <a:latin typeface="Times New Roman" panose="02020603050405020304" pitchFamily="18" charset="0"/>
                <a:cs typeface="Times New Roman" panose="02020603050405020304" pitchFamily="18" charset="0"/>
              </a:rPr>
              <a:t> файл. </a:t>
            </a:r>
            <a:r>
              <a:rPr lang="ru-RU" sz="2200" err="1">
                <a:latin typeface="Times New Roman" panose="02020603050405020304" pitchFamily="18" charset="0"/>
                <a:cs typeface="Times New Roman" panose="02020603050405020304" pitchFamily="18" charset="0"/>
              </a:rPr>
              <a:t>Следователно</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всеки</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изходен</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модул</a:t>
            </a:r>
            <a:r>
              <a:rPr lang="ru-RU" sz="2200">
                <a:latin typeface="Times New Roman" panose="02020603050405020304" pitchFamily="18" charset="0"/>
                <a:cs typeface="Times New Roman" panose="02020603050405020304" pitchFamily="18" charset="0"/>
              </a:rPr>
              <a:t> на </a:t>
            </a:r>
            <a:r>
              <a:rPr lang="ru-RU" sz="2200" err="1">
                <a:latin typeface="Times New Roman" panose="02020603050405020304" pitchFamily="18" charset="0"/>
                <a:cs typeface="Times New Roman" panose="02020603050405020304" pitchFamily="18" charset="0"/>
              </a:rPr>
              <a:t>асемблерен</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език</a:t>
            </a:r>
            <a:r>
              <a:rPr lang="ru-RU" sz="2200">
                <a:latin typeface="Times New Roman" panose="02020603050405020304" pitchFamily="18" charset="0"/>
                <a:cs typeface="Times New Roman" panose="02020603050405020304" pitchFamily="18" charset="0"/>
              </a:rPr>
              <a:t> трябва да </a:t>
            </a:r>
            <a:r>
              <a:rPr lang="ru-RU" sz="2200" err="1">
                <a:latin typeface="Times New Roman" panose="02020603050405020304" pitchFamily="18" charset="0"/>
                <a:cs typeface="Times New Roman" panose="02020603050405020304" pitchFamily="18" charset="0"/>
              </a:rPr>
              <a:t>завърши</a:t>
            </a:r>
            <a:r>
              <a:rPr lang="ru-RU" sz="2200">
                <a:latin typeface="Times New Roman" panose="02020603050405020304" pitchFamily="18" charset="0"/>
                <a:cs typeface="Times New Roman" panose="02020603050405020304" pitchFamily="18" charset="0"/>
              </a:rPr>
              <a:t> с </a:t>
            </a:r>
            <a:r>
              <a:rPr lang="ru-RU" sz="2200" err="1">
                <a:latin typeface="Times New Roman" panose="02020603050405020304" pitchFamily="18" charset="0"/>
                <a:cs typeface="Times New Roman" panose="02020603050405020304" pitchFamily="18" charset="0"/>
              </a:rPr>
              <a:t>тази</a:t>
            </a:r>
            <a:r>
              <a:rPr lang="ru-RU" sz="2200">
                <a:latin typeface="Times New Roman" panose="02020603050405020304" pitchFamily="18" charset="0"/>
                <a:cs typeface="Times New Roman" panose="02020603050405020304" pitchFamily="18" charset="0"/>
              </a:rPr>
              <a:t> директива.</a:t>
            </a:r>
            <a:endParaRPr lang="en-US" sz="2200">
              <a:latin typeface="Times New Roman" panose="02020603050405020304" pitchFamily="18" charset="0"/>
              <a:cs typeface="Times New Roman" panose="02020603050405020304" pitchFamily="18" charset="0"/>
            </a:endParaRPr>
          </a:p>
          <a:p>
            <a:pPr marL="0" algn="just">
              <a:spcBef>
                <a:spcPts val="0"/>
              </a:spcBef>
            </a:pPr>
            <a:r>
              <a:rPr lang="en-US" sz="2200" b="1">
                <a:latin typeface="Times New Roman" panose="02020603050405020304" pitchFamily="18" charset="0"/>
                <a:cs typeface="Times New Roman" panose="02020603050405020304" pitchFamily="18" charset="0"/>
              </a:rPr>
              <a:t>.end</a:t>
            </a:r>
          </a:p>
          <a:p>
            <a:pPr marL="0" algn="just">
              <a:spcBef>
                <a:spcPts val="0"/>
              </a:spcBef>
            </a:pPr>
            <a:endParaRPr lang="ru-RU" sz="220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690712" y="-11151"/>
            <a:ext cx="8429684" cy="1143000"/>
          </a:xfrm>
        </p:spPr>
        <p:txBody>
          <a:bodyPr>
            <a:normAutofit/>
          </a:bodyPr>
          <a:lstStyle/>
          <a:p>
            <a:r>
              <a:rPr lang="bg-BG" sz="2900">
                <a:latin typeface="Times New Roman" pitchFamily="18" charset="0"/>
                <a:cs typeface="Times New Roman" pitchFamily="18" charset="0"/>
              </a:rPr>
              <a:t>Структура на програмата</a:t>
            </a:r>
            <a:r>
              <a:rPr lang="en-US" sz="2900">
                <a:latin typeface="Times New Roman" pitchFamily="18" charset="0"/>
                <a:cs typeface="Times New Roman" pitchFamily="18" charset="0"/>
              </a:rPr>
              <a:t> </a:t>
            </a:r>
            <a:r>
              <a:rPr lang="bg-BG" sz="2900">
                <a:latin typeface="Times New Roman" pitchFamily="18" charset="0"/>
                <a:cs typeface="Times New Roman" pitchFamily="18" charset="0"/>
              </a:rPr>
              <a:t>з</a:t>
            </a:r>
            <a:r>
              <a:rPr lang="bg-BG" sz="3200">
                <a:latin typeface="Times New Roman" pitchFamily="18" charset="0"/>
                <a:cs typeface="Times New Roman" pitchFamily="18" charset="0"/>
              </a:rPr>
              <a:t>а </a:t>
            </a:r>
            <a:r>
              <a:rPr lang="en-US" sz="3200">
                <a:latin typeface="Times New Roman" pitchFamily="18" charset="0"/>
                <a:cs typeface="Times New Roman" pitchFamily="18" charset="0"/>
              </a:rPr>
              <a:t>ARM</a:t>
            </a:r>
            <a:endParaRPr lang="bg-BG" sz="2900" b="1"/>
          </a:p>
        </p:txBody>
      </p:sp>
    </p:spTree>
    <p:extLst>
      <p:ext uri="{BB962C8B-B14F-4D97-AF65-F5344CB8AC3E}">
        <p14:creationId xmlns:p14="http://schemas.microsoft.com/office/powerpoint/2010/main" val="23839661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64" y="1169472"/>
            <a:ext cx="8643998" cy="5499888"/>
          </a:xfrm>
        </p:spPr>
        <p:txBody>
          <a:bodyPr>
            <a:noAutofit/>
          </a:bodyPr>
          <a:lstStyle/>
          <a:p>
            <a:pPr marL="0" algn="just">
              <a:spcBef>
                <a:spcPts val="0"/>
              </a:spcBef>
            </a:pPr>
            <a:r>
              <a:rPr lang="en-US" sz="2200" b="1">
                <a:latin typeface="Times New Roman" panose="02020603050405020304" pitchFamily="18" charset="0"/>
                <a:cs typeface="Times New Roman" panose="02020603050405020304" pitchFamily="18" charset="0"/>
              </a:rPr>
              <a:t>https://www.masm32.com/</a:t>
            </a:r>
          </a:p>
          <a:p>
            <a:pPr marL="0" algn="just">
              <a:spcBef>
                <a:spcPts val="0"/>
              </a:spcBef>
            </a:pPr>
            <a:endParaRPr lang="en-US" sz="2200">
              <a:latin typeface="Times New Roman" panose="02020603050405020304" pitchFamily="18" charset="0"/>
              <a:cs typeface="Times New Roman" panose="02020603050405020304" pitchFamily="18" charset="0"/>
            </a:endParaRPr>
          </a:p>
          <a:p>
            <a:pPr marL="0" algn="just">
              <a:spcBef>
                <a:spcPts val="0"/>
              </a:spcBef>
            </a:pPr>
            <a:r>
              <a:rPr lang="ru-RU" sz="2200">
                <a:latin typeface="Times New Roman" panose="02020603050405020304" pitchFamily="18" charset="0"/>
                <a:cs typeface="Times New Roman" panose="02020603050405020304" pitchFamily="18" charset="0"/>
              </a:rPr>
              <a:t>MASM32 SDK версия 11 е </a:t>
            </a:r>
            <a:r>
              <a:rPr lang="ru-RU" sz="2200" err="1">
                <a:latin typeface="Times New Roman" panose="02020603050405020304" pitchFamily="18" charset="0"/>
                <a:cs typeface="Times New Roman" panose="02020603050405020304" pitchFamily="18" charset="0"/>
              </a:rPr>
              <a:t>работеща</a:t>
            </a:r>
            <a:r>
              <a:rPr lang="ru-RU" sz="2200">
                <a:latin typeface="Times New Roman" panose="02020603050405020304" pitchFamily="18" charset="0"/>
                <a:cs typeface="Times New Roman" panose="02020603050405020304" pitchFamily="18" charset="0"/>
              </a:rPr>
              <a:t> среда за разработка за </a:t>
            </a:r>
            <a:r>
              <a:rPr lang="ru-RU" sz="2200" err="1">
                <a:latin typeface="Times New Roman" panose="02020603050405020304" pitchFamily="18" charset="0"/>
                <a:cs typeface="Times New Roman" panose="02020603050405020304" pitchFamily="18" charset="0"/>
              </a:rPr>
              <a:t>програмисти</a:t>
            </a:r>
            <a:r>
              <a:rPr lang="ru-RU" sz="2200">
                <a:latin typeface="Times New Roman" panose="02020603050405020304" pitchFamily="18" charset="0"/>
                <a:cs typeface="Times New Roman" panose="02020603050405020304" pitchFamily="18" charset="0"/>
              </a:rPr>
              <a:t>, които се </a:t>
            </a:r>
            <a:r>
              <a:rPr lang="ru-RU" sz="2200" err="1">
                <a:latin typeface="Times New Roman" panose="02020603050405020304" pitchFamily="18" charset="0"/>
                <a:cs typeface="Times New Roman" panose="02020603050405020304" pitchFamily="18" charset="0"/>
              </a:rPr>
              <a:t>интересуват</a:t>
            </a:r>
            <a:r>
              <a:rPr lang="ru-RU" sz="2200">
                <a:latin typeface="Times New Roman" panose="02020603050405020304" pitchFamily="18" charset="0"/>
                <a:cs typeface="Times New Roman" panose="02020603050405020304" pitchFamily="18" charset="0"/>
              </a:rPr>
              <a:t> от </a:t>
            </a:r>
            <a:r>
              <a:rPr lang="ru-RU" sz="2200" err="1">
                <a:latin typeface="Times New Roman" panose="02020603050405020304" pitchFamily="18" charset="0"/>
                <a:cs typeface="Times New Roman" panose="02020603050405020304" pitchFamily="18" charset="0"/>
              </a:rPr>
              <a:t>изучаване</a:t>
            </a:r>
            <a:r>
              <a:rPr lang="ru-RU" sz="2200">
                <a:latin typeface="Times New Roman" panose="02020603050405020304" pitchFamily="18" charset="0"/>
                <a:cs typeface="Times New Roman" panose="02020603050405020304" pitchFamily="18" charset="0"/>
              </a:rPr>
              <a:t> или </a:t>
            </a:r>
            <a:r>
              <a:rPr lang="ru-RU" sz="2200" err="1">
                <a:latin typeface="Times New Roman" panose="02020603050405020304" pitchFamily="18" charset="0"/>
                <a:cs typeface="Times New Roman" panose="02020603050405020304" pitchFamily="18" charset="0"/>
              </a:rPr>
              <a:t>писане</a:t>
            </a:r>
            <a:r>
              <a:rPr lang="ru-RU" sz="2200">
                <a:latin typeface="Times New Roman" panose="02020603050405020304" pitchFamily="18" charset="0"/>
                <a:cs typeface="Times New Roman" panose="02020603050405020304" pitchFamily="18" charset="0"/>
              </a:rPr>
              <a:t> на 32-битов </a:t>
            </a:r>
            <a:r>
              <a:rPr lang="ru-RU" sz="2200" err="1">
                <a:latin typeface="Times New Roman" panose="02020603050405020304" pitchFamily="18" charset="0"/>
                <a:cs typeface="Times New Roman" panose="02020603050405020304" pitchFamily="18" charset="0"/>
              </a:rPr>
              <a:t>асемблер</a:t>
            </a:r>
            <a:r>
              <a:rPr lang="ru-RU" sz="2200">
                <a:latin typeface="Times New Roman" panose="02020603050405020304" pitchFamily="18" charset="0"/>
                <a:cs typeface="Times New Roman" panose="02020603050405020304" pitchFamily="18" charset="0"/>
              </a:rPr>
              <a:t> на </a:t>
            </a:r>
            <a:r>
              <a:rPr lang="ru-RU" sz="2200" err="1">
                <a:latin typeface="Times New Roman" panose="02020603050405020304" pitchFamily="18" charset="0"/>
                <a:cs typeface="Times New Roman" panose="02020603050405020304" pitchFamily="18" charset="0"/>
              </a:rPr>
              <a:t>Microsoft</a:t>
            </a:r>
            <a:r>
              <a:rPr lang="ru-RU" sz="2200">
                <a:latin typeface="Times New Roman" panose="02020603050405020304" pitchFamily="18" charset="0"/>
                <a:cs typeface="Times New Roman" panose="02020603050405020304" pitchFamily="18" charset="0"/>
              </a:rPr>
              <a:t> (MASM). </a:t>
            </a:r>
            <a:r>
              <a:rPr lang="ru-RU" sz="2200" err="1">
                <a:latin typeface="Times New Roman" panose="02020603050405020304" pitchFamily="18" charset="0"/>
                <a:cs typeface="Times New Roman" panose="02020603050405020304" pitchFamily="18" charset="0"/>
              </a:rPr>
              <a:t>Инсталацията</a:t>
            </a:r>
            <a:r>
              <a:rPr lang="ru-RU" sz="2200">
                <a:latin typeface="Times New Roman" panose="02020603050405020304" pitchFamily="18" charset="0"/>
                <a:cs typeface="Times New Roman" panose="02020603050405020304" pitchFamily="18" charset="0"/>
              </a:rPr>
              <a:t> е </a:t>
            </a:r>
            <a:r>
              <a:rPr lang="ru-RU" sz="2200" err="1">
                <a:latin typeface="Times New Roman" panose="02020603050405020304" pitchFamily="18" charset="0"/>
                <a:cs typeface="Times New Roman" panose="02020603050405020304" pitchFamily="18" charset="0"/>
              </a:rPr>
              <a:t>автоматизиран</a:t>
            </a:r>
            <a:r>
              <a:rPr lang="ru-RU" sz="2200">
                <a:latin typeface="Times New Roman" panose="02020603050405020304" pitchFamily="18" charset="0"/>
                <a:cs typeface="Times New Roman" panose="02020603050405020304" pitchFamily="18" charset="0"/>
              </a:rPr>
              <a:t> процес, </a:t>
            </a:r>
            <a:r>
              <a:rPr lang="ru-RU" sz="2200" err="1">
                <a:latin typeface="Times New Roman" panose="02020603050405020304" pitchFamily="18" charset="0"/>
                <a:cs typeface="Times New Roman" panose="02020603050405020304" pitchFamily="18" charset="0"/>
              </a:rPr>
              <a:t>който</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инсталира</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правилната</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дървовидна</a:t>
            </a:r>
            <a:r>
              <a:rPr lang="ru-RU" sz="2200">
                <a:latin typeface="Times New Roman" panose="02020603050405020304" pitchFamily="18" charset="0"/>
                <a:cs typeface="Times New Roman" panose="02020603050405020304" pitchFamily="18" charset="0"/>
              </a:rPr>
              <a:t> структура на директория на </a:t>
            </a:r>
            <a:r>
              <a:rPr lang="ru-RU" sz="2200" err="1">
                <a:latin typeface="Times New Roman" panose="02020603050405020304" pitchFamily="18" charset="0"/>
                <a:cs typeface="Times New Roman" panose="02020603050405020304" pitchFamily="18" charset="0"/>
              </a:rPr>
              <a:t>избраното</a:t>
            </a:r>
            <a:r>
              <a:rPr lang="ru-RU" sz="2200">
                <a:latin typeface="Times New Roman" panose="02020603050405020304" pitchFamily="18" charset="0"/>
                <a:cs typeface="Times New Roman" panose="02020603050405020304" pitchFamily="18" charset="0"/>
              </a:rPr>
              <a:t> от вас </a:t>
            </a:r>
            <a:r>
              <a:rPr lang="ru-RU" sz="2200" err="1">
                <a:latin typeface="Times New Roman" panose="02020603050405020304" pitchFamily="18" charset="0"/>
                <a:cs typeface="Times New Roman" panose="02020603050405020304" pitchFamily="18" charset="0"/>
              </a:rPr>
              <a:t>локално</a:t>
            </a:r>
            <a:r>
              <a:rPr lang="ru-RU" sz="2200">
                <a:latin typeface="Times New Roman" panose="02020603050405020304" pitchFamily="18" charset="0"/>
                <a:cs typeface="Times New Roman" panose="02020603050405020304" pitchFamily="18" charset="0"/>
              </a:rPr>
              <a:t> устройство.</a:t>
            </a:r>
          </a:p>
        </p:txBody>
      </p:sp>
      <p:sp>
        <p:nvSpPr>
          <p:cNvPr id="4" name="Title 1"/>
          <p:cNvSpPr>
            <a:spLocks noGrp="1"/>
          </p:cNvSpPr>
          <p:nvPr>
            <p:ph type="title"/>
          </p:nvPr>
        </p:nvSpPr>
        <p:spPr>
          <a:xfrm>
            <a:off x="690712" y="-11151"/>
            <a:ext cx="8429684" cy="1143000"/>
          </a:xfrm>
        </p:spPr>
        <p:txBody>
          <a:bodyPr>
            <a:normAutofit/>
          </a:bodyPr>
          <a:lstStyle/>
          <a:p>
            <a:r>
              <a:rPr lang="bg-BG" sz="3200" err="1">
                <a:latin typeface="Times New Roman" pitchFamily="18" charset="0"/>
                <a:cs typeface="Times New Roman" pitchFamily="18" charset="0"/>
              </a:rPr>
              <a:t>Дебъгер</a:t>
            </a:r>
            <a:r>
              <a:rPr lang="bg-BG" sz="3200">
                <a:latin typeface="Times New Roman" pitchFamily="18" charset="0"/>
                <a:cs typeface="Times New Roman" pitchFamily="18" charset="0"/>
              </a:rPr>
              <a:t>, настройка и изпълнение</a:t>
            </a:r>
            <a:r>
              <a:rPr lang="en-US" sz="3200">
                <a:latin typeface="Times New Roman" pitchFamily="18" charset="0"/>
                <a:cs typeface="Times New Roman" pitchFamily="18" charset="0"/>
              </a:rPr>
              <a:t>.</a:t>
            </a:r>
            <a:endParaRPr lang="bg-BG" sz="2900" b="1"/>
          </a:p>
        </p:txBody>
      </p:sp>
      <p:pic>
        <p:nvPicPr>
          <p:cNvPr id="2" name="Картина 1"/>
          <p:cNvPicPr>
            <a:picLocks noChangeAspect="1"/>
          </p:cNvPicPr>
          <p:nvPr/>
        </p:nvPicPr>
        <p:blipFill>
          <a:blip r:embed="rId2" cstate="print"/>
          <a:stretch>
            <a:fillRect/>
          </a:stretch>
        </p:blipFill>
        <p:spPr>
          <a:xfrm>
            <a:off x="284044" y="3689629"/>
            <a:ext cx="8611518" cy="2889579"/>
          </a:xfrm>
          <a:prstGeom prst="rect">
            <a:avLst/>
          </a:prstGeom>
        </p:spPr>
      </p:pic>
    </p:spTree>
    <p:extLst>
      <p:ext uri="{BB962C8B-B14F-4D97-AF65-F5344CB8AC3E}">
        <p14:creationId xmlns:p14="http://schemas.microsoft.com/office/powerpoint/2010/main" val="21647316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64" y="1169472"/>
            <a:ext cx="8643998" cy="5499888"/>
          </a:xfrm>
        </p:spPr>
        <p:txBody>
          <a:bodyPr>
            <a:noAutofit/>
          </a:bodyPr>
          <a:lstStyle/>
          <a:p>
            <a:pPr marL="0" algn="just">
              <a:spcBef>
                <a:spcPts val="0"/>
              </a:spcBef>
            </a:pPr>
            <a:r>
              <a:rPr lang="en-US" sz="2200" b="1">
                <a:latin typeface="Times New Roman" panose="02020603050405020304" pitchFamily="18" charset="0"/>
                <a:cs typeface="Times New Roman" panose="02020603050405020304" pitchFamily="18" charset="0"/>
              </a:rPr>
              <a:t>https://www.masm32.com/</a:t>
            </a:r>
          </a:p>
          <a:p>
            <a:pPr marL="0" algn="just">
              <a:spcBef>
                <a:spcPts val="0"/>
              </a:spcBef>
            </a:pPr>
            <a:endParaRPr lang="en-US" sz="2200">
              <a:latin typeface="Times New Roman" panose="02020603050405020304" pitchFamily="18" charset="0"/>
              <a:cs typeface="Times New Roman" panose="02020603050405020304" pitchFamily="18" charset="0"/>
            </a:endParaRPr>
          </a:p>
          <a:p>
            <a:pPr algn="just"/>
            <a:r>
              <a:rPr lang="bg-BG" sz="2400" b="1">
                <a:latin typeface="Times New Roman" panose="02020603050405020304" pitchFamily="18" charset="0"/>
                <a:cs typeface="Times New Roman" panose="02020603050405020304" pitchFamily="18" charset="0"/>
              </a:rPr>
              <a:t> </a:t>
            </a:r>
            <a:r>
              <a:rPr lang="bg-BG" sz="2400">
                <a:latin typeface="Times New Roman" panose="02020603050405020304" pitchFamily="18" charset="0"/>
                <a:cs typeface="Times New Roman" panose="02020603050405020304" pitchFamily="18" charset="0"/>
              </a:rPr>
              <a:t>Важно е да се разбере, че MASM32 не е компилатор, а колекция за програмиране под Win32, която включва 32-битовия компилатор MASM.</a:t>
            </a:r>
            <a:r>
              <a:rPr lang="en-US" sz="2400">
                <a:latin typeface="Times New Roman" panose="02020603050405020304" pitchFamily="18" charset="0"/>
                <a:cs typeface="Times New Roman" panose="02020603050405020304" pitchFamily="18" charset="0"/>
              </a:rPr>
              <a:t> </a:t>
            </a:r>
            <a:endParaRPr lang="bg-BG" sz="2400">
              <a:latin typeface="Times New Roman" panose="02020603050405020304" pitchFamily="18" charset="0"/>
              <a:cs typeface="Times New Roman" panose="02020603050405020304" pitchFamily="18" charset="0"/>
            </a:endParaRPr>
          </a:p>
          <a:p>
            <a:pPr algn="just"/>
            <a:r>
              <a:rPr lang="bg-BG" sz="2400">
                <a:latin typeface="Times New Roman" panose="02020603050405020304" pitchFamily="18" charset="0"/>
                <a:cs typeface="Times New Roman" panose="02020603050405020304" pitchFamily="18" charset="0"/>
              </a:rPr>
              <a:t>Инструментариумът MASM32 е предназначен за създаване на Windows приложения на асемблер и съдържа всички необходими инструменти, а също така се разпространява безплатно. </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690712" y="-11151"/>
            <a:ext cx="8429684" cy="1143000"/>
          </a:xfrm>
        </p:spPr>
        <p:txBody>
          <a:bodyPr>
            <a:normAutofit/>
          </a:bodyPr>
          <a:lstStyle/>
          <a:p>
            <a:r>
              <a:rPr lang="bg-BG" sz="3200" err="1">
                <a:latin typeface="Times New Roman" pitchFamily="18" charset="0"/>
                <a:cs typeface="Times New Roman" pitchFamily="18" charset="0"/>
              </a:rPr>
              <a:t>Дебъгер</a:t>
            </a:r>
            <a:r>
              <a:rPr lang="bg-BG" sz="3200">
                <a:latin typeface="Times New Roman" pitchFamily="18" charset="0"/>
                <a:cs typeface="Times New Roman" pitchFamily="18" charset="0"/>
              </a:rPr>
              <a:t>, настройка и изпълнение</a:t>
            </a:r>
            <a:r>
              <a:rPr lang="en-US" sz="3200">
                <a:latin typeface="Times New Roman" pitchFamily="18" charset="0"/>
                <a:cs typeface="Times New Roman" pitchFamily="18" charset="0"/>
              </a:rPr>
              <a:t>.</a:t>
            </a:r>
            <a:endParaRPr lang="bg-BG" sz="2900" b="1"/>
          </a:p>
        </p:txBody>
      </p:sp>
    </p:spTree>
    <p:extLst>
      <p:ext uri="{BB962C8B-B14F-4D97-AF65-F5344CB8AC3E}">
        <p14:creationId xmlns:p14="http://schemas.microsoft.com/office/powerpoint/2010/main" val="2164731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64" y="1169472"/>
            <a:ext cx="8643998" cy="1179408"/>
          </a:xfrm>
        </p:spPr>
        <p:txBody>
          <a:bodyPr>
            <a:noAutofit/>
          </a:bodyPr>
          <a:lstStyle/>
          <a:p>
            <a:pPr marL="0" algn="just">
              <a:spcBef>
                <a:spcPts val="0"/>
              </a:spcBef>
            </a:pPr>
            <a:r>
              <a:rPr lang="ru-RU" sz="2200" err="1">
                <a:latin typeface="Times New Roman" panose="02020603050405020304" pitchFamily="18" charset="0"/>
                <a:cs typeface="Times New Roman" panose="02020603050405020304" pitchFamily="18" charset="0"/>
              </a:rPr>
              <a:t>Ще</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използваме</a:t>
            </a:r>
            <a:r>
              <a:rPr lang="ru-RU" sz="2200">
                <a:latin typeface="Times New Roman" panose="02020603050405020304" pitchFamily="18" charset="0"/>
                <a:cs typeface="Times New Roman" panose="02020603050405020304" pitchFamily="18" charset="0"/>
              </a:rPr>
              <a:t> </a:t>
            </a:r>
            <a:r>
              <a:rPr lang="en-US" sz="2200">
                <a:latin typeface="Times New Roman" panose="02020603050405020304" pitchFamily="18" charset="0"/>
                <a:cs typeface="Times New Roman" panose="02020603050405020304" pitchFamily="18" charset="0"/>
              </a:rPr>
              <a:t>Quick editor</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като</a:t>
            </a:r>
            <a:r>
              <a:rPr lang="ru-RU" sz="2200">
                <a:latin typeface="Times New Roman" panose="02020603050405020304" pitchFamily="18" charset="0"/>
                <a:cs typeface="Times New Roman" panose="02020603050405020304" pitchFamily="18" charset="0"/>
              </a:rPr>
              <a:t> текстов редактор, в </a:t>
            </a:r>
            <a:r>
              <a:rPr lang="ru-RU" sz="2200" err="1">
                <a:latin typeface="Times New Roman" panose="02020603050405020304" pitchFamily="18" charset="0"/>
                <a:cs typeface="Times New Roman" panose="02020603050405020304" pitchFamily="18" charset="0"/>
              </a:rPr>
              <a:t>който</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ще</a:t>
            </a:r>
            <a:r>
              <a:rPr lang="ru-RU" sz="2200">
                <a:latin typeface="Times New Roman" panose="02020603050405020304" pitchFamily="18" charset="0"/>
                <a:cs typeface="Times New Roman" panose="02020603050405020304" pitchFamily="18" charset="0"/>
              </a:rPr>
              <a:t> се </a:t>
            </a:r>
            <a:r>
              <a:rPr lang="ru-RU" sz="2200" err="1">
                <a:latin typeface="Times New Roman" panose="02020603050405020304" pitchFamily="18" charset="0"/>
                <a:cs typeface="Times New Roman" panose="02020603050405020304" pitchFamily="18" charset="0"/>
              </a:rPr>
              <a:t>пишат</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програмите</a:t>
            </a:r>
            <a:r>
              <a:rPr lang="ru-RU" sz="2200">
                <a:latin typeface="Times New Roman" panose="02020603050405020304" pitchFamily="18" charset="0"/>
                <a:cs typeface="Times New Roman" panose="02020603050405020304" pitchFamily="18" charset="0"/>
              </a:rPr>
              <a:t>.</a:t>
            </a:r>
          </a:p>
          <a:p>
            <a:pPr marL="0" algn="just">
              <a:spcBef>
                <a:spcPts val="0"/>
              </a:spcBef>
            </a:pPr>
            <a:r>
              <a:rPr lang="ru-RU" sz="2200" err="1">
                <a:latin typeface="Times New Roman" panose="02020603050405020304" pitchFamily="18" charset="0"/>
                <a:cs typeface="Times New Roman" panose="02020603050405020304" pitchFamily="18" charset="0"/>
              </a:rPr>
              <a:t>Програмите</a:t>
            </a:r>
            <a:r>
              <a:rPr lang="ru-RU" sz="2200">
                <a:latin typeface="Times New Roman" panose="02020603050405020304" pitchFamily="18" charset="0"/>
                <a:cs typeface="Times New Roman" panose="02020603050405020304" pitchFamily="18" charset="0"/>
              </a:rPr>
              <a:t> за </a:t>
            </a:r>
            <a:r>
              <a:rPr lang="en-US" sz="2200">
                <a:latin typeface="Times New Roman" panose="02020603050405020304" pitchFamily="18" charset="0"/>
                <a:cs typeface="Times New Roman" panose="02020603050405020304" pitchFamily="18" charset="0"/>
              </a:rPr>
              <a:t>IA-</a:t>
            </a:r>
            <a:r>
              <a:rPr lang="bg-BG" sz="2200">
                <a:latin typeface="Times New Roman" panose="02020603050405020304" pitchFamily="18" charset="0"/>
                <a:cs typeface="Times New Roman" panose="02020603050405020304" pitchFamily="18" charset="0"/>
              </a:rPr>
              <a:t>32 ще се записват с разширение .</a:t>
            </a:r>
            <a:r>
              <a:rPr lang="en-US" sz="2200" err="1">
                <a:latin typeface="Times New Roman" panose="02020603050405020304" pitchFamily="18" charset="0"/>
                <a:cs typeface="Times New Roman" panose="02020603050405020304" pitchFamily="18" charset="0"/>
              </a:rPr>
              <a:t>asm</a:t>
            </a:r>
            <a:r>
              <a:rPr lang="en-US" sz="2200">
                <a:latin typeface="Times New Roman" panose="02020603050405020304" pitchFamily="18" charset="0"/>
                <a:cs typeface="Times New Roman" panose="02020603050405020304" pitchFamily="18" charset="0"/>
              </a:rPr>
              <a:t>.</a:t>
            </a:r>
          </a:p>
          <a:p>
            <a:pPr marL="0" algn="just">
              <a:spcBef>
                <a:spcPts val="0"/>
              </a:spcBef>
            </a:pPr>
            <a:r>
              <a:rPr lang="en-US" sz="2200">
                <a:latin typeface="Times New Roman" panose="02020603050405020304" pitchFamily="18" charset="0"/>
                <a:cs typeface="Times New Roman" panose="02020603050405020304" pitchFamily="18" charset="0"/>
              </a:rPr>
              <a:t> </a:t>
            </a:r>
            <a:endParaRPr lang="ru-RU" sz="220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690712" y="-11151"/>
            <a:ext cx="8429684" cy="1143000"/>
          </a:xfrm>
        </p:spPr>
        <p:txBody>
          <a:bodyPr>
            <a:normAutofit/>
          </a:bodyPr>
          <a:lstStyle/>
          <a:p>
            <a:r>
              <a:rPr lang="bg-BG" sz="3200" err="1">
                <a:latin typeface="Times New Roman" pitchFamily="18" charset="0"/>
                <a:cs typeface="Times New Roman" pitchFamily="18" charset="0"/>
              </a:rPr>
              <a:t>Дебъгер</a:t>
            </a:r>
            <a:r>
              <a:rPr lang="bg-BG" sz="3200">
                <a:latin typeface="Times New Roman" pitchFamily="18" charset="0"/>
                <a:cs typeface="Times New Roman" pitchFamily="18" charset="0"/>
              </a:rPr>
              <a:t>, настройка и изпълнение</a:t>
            </a:r>
            <a:r>
              <a:rPr lang="en-US" sz="3200">
                <a:latin typeface="Times New Roman" pitchFamily="18" charset="0"/>
                <a:cs typeface="Times New Roman" pitchFamily="18" charset="0"/>
              </a:rPr>
              <a:t>.</a:t>
            </a:r>
            <a:endParaRPr lang="bg-BG" sz="2900" b="1"/>
          </a:p>
        </p:txBody>
      </p:sp>
      <p:pic>
        <p:nvPicPr>
          <p:cNvPr id="5" name="Картина 4"/>
          <p:cNvPicPr>
            <a:picLocks noChangeAspect="1"/>
          </p:cNvPicPr>
          <p:nvPr/>
        </p:nvPicPr>
        <p:blipFill>
          <a:blip r:embed="rId2" cstate="print"/>
          <a:stretch>
            <a:fillRect/>
          </a:stretch>
        </p:blipFill>
        <p:spPr>
          <a:xfrm>
            <a:off x="1581203" y="2254336"/>
            <a:ext cx="6120680" cy="4607122"/>
          </a:xfrm>
          <a:prstGeom prst="rect">
            <a:avLst/>
          </a:prstGeom>
        </p:spPr>
      </p:pic>
    </p:spTree>
    <p:extLst>
      <p:ext uri="{BB962C8B-B14F-4D97-AF65-F5344CB8AC3E}">
        <p14:creationId xmlns:p14="http://schemas.microsoft.com/office/powerpoint/2010/main" val="10118177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Контейнер за съдържание 2"/>
          <p:cNvSpPr>
            <a:spLocks noGrp="1"/>
          </p:cNvSpPr>
          <p:nvPr>
            <p:ph idx="1"/>
          </p:nvPr>
        </p:nvSpPr>
        <p:spPr>
          <a:xfrm>
            <a:off x="539552" y="764704"/>
            <a:ext cx="8229600" cy="4389120"/>
          </a:xfrm>
        </p:spPr>
        <p:txBody>
          <a:bodyPr>
            <a:normAutofit/>
          </a:bodyPr>
          <a:lstStyle/>
          <a:p>
            <a:r>
              <a:rPr lang="ru-RU" sz="2400" err="1">
                <a:latin typeface="Times New Roman" panose="02020603050405020304" pitchFamily="18" charset="0"/>
                <a:cs typeface="Times New Roman" panose="02020603050405020304" pitchFamily="18" charset="0"/>
              </a:rPr>
              <a:t>Ще</a:t>
            </a:r>
            <a:r>
              <a:rPr lang="ru-RU" sz="2400">
                <a:latin typeface="Times New Roman" panose="02020603050405020304" pitchFamily="18" charset="0"/>
                <a:cs typeface="Times New Roman" panose="02020603050405020304" pitchFamily="18" charset="0"/>
              </a:rPr>
              <a:t> </a:t>
            </a:r>
            <a:r>
              <a:rPr lang="ru-RU" sz="2400" err="1">
                <a:latin typeface="Times New Roman" panose="02020603050405020304" pitchFamily="18" charset="0"/>
                <a:cs typeface="Times New Roman" panose="02020603050405020304" pitchFamily="18" charset="0"/>
              </a:rPr>
              <a:t>използваме</a:t>
            </a:r>
            <a:r>
              <a:rPr lang="ru-RU" sz="2400">
                <a:latin typeface="Times New Roman" panose="02020603050405020304" pitchFamily="18" charset="0"/>
                <a:cs typeface="Times New Roman" panose="02020603050405020304" pitchFamily="18" charset="0"/>
              </a:rPr>
              <a:t> </a:t>
            </a:r>
            <a:r>
              <a:rPr lang="ru-RU" sz="2400" err="1">
                <a:latin typeface="Times New Roman" panose="02020603050405020304" pitchFamily="18" charset="0"/>
                <a:cs typeface="Times New Roman" panose="02020603050405020304" pitchFamily="18" charset="0"/>
              </a:rPr>
              <a:t>OllyDbg</a:t>
            </a:r>
            <a:r>
              <a:rPr lang="ru-RU" sz="2400">
                <a:latin typeface="Times New Roman" panose="02020603050405020304" pitchFamily="18" charset="0"/>
                <a:cs typeface="Times New Roman" panose="02020603050405020304" pitchFamily="18" charset="0"/>
              </a:rPr>
              <a:t> за работа с </a:t>
            </a:r>
            <a:r>
              <a:rPr lang="ru-RU" sz="2400" err="1">
                <a:latin typeface="Times New Roman" panose="02020603050405020304" pitchFamily="18" charset="0"/>
                <a:cs typeface="Times New Roman" panose="02020603050405020304" pitchFamily="18" charset="0"/>
              </a:rPr>
              <a:t>програми</a:t>
            </a:r>
            <a:r>
              <a:rPr lang="ru-RU" sz="2400">
                <a:latin typeface="Times New Roman" panose="02020603050405020304" pitchFamily="18" charset="0"/>
                <a:cs typeface="Times New Roman" panose="02020603050405020304" pitchFamily="18" charset="0"/>
              </a:rPr>
              <a:t> на  </a:t>
            </a:r>
            <a:r>
              <a:rPr lang="en-US" sz="2400">
                <a:latin typeface="Times New Roman" panose="02020603050405020304" pitchFamily="18" charset="0"/>
                <a:cs typeface="Times New Roman" panose="02020603050405020304" pitchFamily="18" charset="0"/>
              </a:rPr>
              <a:t>IA-32.</a:t>
            </a:r>
            <a:endParaRPr lang="en-US" sz="2400"/>
          </a:p>
        </p:txBody>
      </p:sp>
      <p:pic>
        <p:nvPicPr>
          <p:cNvPr id="4" name="Картина 3"/>
          <p:cNvPicPr>
            <a:picLocks noChangeAspect="1"/>
          </p:cNvPicPr>
          <p:nvPr/>
        </p:nvPicPr>
        <p:blipFill>
          <a:blip r:embed="rId2" cstate="print"/>
          <a:stretch>
            <a:fillRect/>
          </a:stretch>
        </p:blipFill>
        <p:spPr>
          <a:xfrm>
            <a:off x="395118" y="1285011"/>
            <a:ext cx="8352928" cy="5566815"/>
          </a:xfrm>
          <a:prstGeom prst="rect">
            <a:avLst/>
          </a:prstGeom>
        </p:spPr>
      </p:pic>
    </p:spTree>
    <p:extLst>
      <p:ext uri="{BB962C8B-B14F-4D97-AF65-F5344CB8AC3E}">
        <p14:creationId xmlns:p14="http://schemas.microsoft.com/office/powerpoint/2010/main" val="3607202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196752"/>
            <a:ext cx="8643998" cy="5544616"/>
          </a:xfrm>
        </p:spPr>
        <p:txBody>
          <a:bodyPr>
            <a:noAutofit/>
          </a:bodyPr>
          <a:lstStyle/>
          <a:p>
            <a:r>
              <a:rPr lang="en-US" sz="2100" b="1">
                <a:latin typeface="Times New Roman" panose="02020603050405020304" pitchFamily="18" charset="0"/>
                <a:cs typeface="Times New Roman" panose="02020603050405020304" pitchFamily="18" charset="0"/>
              </a:rPr>
              <a:t>https://www.ollydbg.de/</a:t>
            </a:r>
          </a:p>
          <a:p>
            <a:pPr algn="just"/>
            <a:r>
              <a:rPr lang="ru-RU" sz="2100">
                <a:latin typeface="Times New Roman" panose="02020603050405020304" pitchFamily="18" charset="0"/>
                <a:cs typeface="Times New Roman" panose="02020603050405020304" pitchFamily="18" charset="0"/>
              </a:rPr>
              <a:t>Процесът на отстраняване на грешки в асемблерна програма се нарича дебъгване, а програмният продукт, с който  се откриват тези грешки – дебъгер.</a:t>
            </a:r>
          </a:p>
          <a:p>
            <a:pPr algn="just"/>
            <a:r>
              <a:rPr lang="ru-RU" sz="2100" b="1" err="1">
                <a:latin typeface="Times New Roman" panose="02020603050405020304" pitchFamily="18" charset="0"/>
                <a:cs typeface="Times New Roman" panose="02020603050405020304" pitchFamily="18" charset="0"/>
              </a:rPr>
              <a:t>OllyDbg</a:t>
            </a:r>
            <a:r>
              <a:rPr lang="ru-RU" sz="2100">
                <a:latin typeface="Times New Roman" panose="02020603050405020304" pitchFamily="18" charset="0"/>
                <a:cs typeface="Times New Roman" panose="02020603050405020304" pitchFamily="18" charset="0"/>
              </a:rPr>
              <a:t> е 32-битов </a:t>
            </a:r>
            <a:r>
              <a:rPr lang="ru-RU" sz="2100" err="1">
                <a:latin typeface="Times New Roman" panose="02020603050405020304" pitchFamily="18" charset="0"/>
                <a:cs typeface="Times New Roman" panose="02020603050405020304" pitchFamily="18" charset="0"/>
              </a:rPr>
              <a:t>анализиращ</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дебъгер</a:t>
            </a:r>
            <a:r>
              <a:rPr lang="ru-RU" sz="2100">
                <a:latin typeface="Times New Roman" panose="02020603050405020304" pitchFamily="18" charset="0"/>
                <a:cs typeface="Times New Roman" panose="02020603050405020304" pitchFamily="18" charset="0"/>
              </a:rPr>
              <a:t> на </a:t>
            </a:r>
            <a:r>
              <a:rPr lang="ru-RU" sz="2100" err="1">
                <a:latin typeface="Times New Roman" panose="02020603050405020304" pitchFamily="18" charset="0"/>
                <a:cs typeface="Times New Roman" panose="02020603050405020304" pitchFamily="18" charset="0"/>
              </a:rPr>
              <a:t>ниво</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асемблер</a:t>
            </a:r>
            <a:r>
              <a:rPr lang="ru-RU" sz="2100">
                <a:latin typeface="Times New Roman" panose="02020603050405020304" pitchFamily="18" charset="0"/>
                <a:cs typeface="Times New Roman" panose="02020603050405020304" pitchFamily="18" charset="0"/>
              </a:rPr>
              <a:t> за </a:t>
            </a:r>
            <a:r>
              <a:rPr lang="ru-RU" sz="2100" err="1">
                <a:latin typeface="Times New Roman" panose="02020603050405020304" pitchFamily="18" charset="0"/>
                <a:cs typeface="Times New Roman" panose="02020603050405020304" pitchFamily="18" charset="0"/>
              </a:rPr>
              <a:t>Microsoft</a:t>
            </a:r>
            <a:r>
              <a:rPr lang="en-US"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Windows</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Акцентът</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върху</a:t>
            </a:r>
            <a:r>
              <a:rPr lang="ru-RU" sz="2100">
                <a:latin typeface="Times New Roman" panose="02020603050405020304" pitchFamily="18" charset="0"/>
                <a:cs typeface="Times New Roman" panose="02020603050405020304" pitchFamily="18" charset="0"/>
              </a:rPr>
              <a:t> анализа на </a:t>
            </a:r>
            <a:r>
              <a:rPr lang="ru-RU" sz="2100" err="1">
                <a:latin typeface="Times New Roman" panose="02020603050405020304" pitchFamily="18" charset="0"/>
                <a:cs typeface="Times New Roman" panose="02020603050405020304" pitchFamily="18" charset="0"/>
              </a:rPr>
              <a:t>двоичен</a:t>
            </a:r>
            <a:r>
              <a:rPr lang="ru-RU" sz="2100">
                <a:latin typeface="Times New Roman" panose="02020603050405020304" pitchFamily="18" charset="0"/>
                <a:cs typeface="Times New Roman" panose="02020603050405020304" pitchFamily="18" charset="0"/>
              </a:rPr>
              <a:t> код </a:t>
            </a:r>
            <a:r>
              <a:rPr lang="ru-RU" sz="2100" err="1">
                <a:latin typeface="Times New Roman" panose="02020603050405020304" pitchFamily="18" charset="0"/>
                <a:cs typeface="Times New Roman" panose="02020603050405020304" pitchFamily="18" charset="0"/>
              </a:rPr>
              <a:t>го</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прави</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особено</a:t>
            </a:r>
            <a:r>
              <a:rPr lang="ru-RU" sz="2100">
                <a:latin typeface="Times New Roman" panose="02020603050405020304" pitchFamily="18" charset="0"/>
                <a:cs typeface="Times New Roman" panose="02020603050405020304" pitchFamily="18" charset="0"/>
              </a:rPr>
              <a:t> полезен в </a:t>
            </a:r>
            <a:r>
              <a:rPr lang="ru-RU" sz="2100" err="1">
                <a:latin typeface="Times New Roman" panose="02020603050405020304" pitchFamily="18" charset="0"/>
                <a:cs typeface="Times New Roman" panose="02020603050405020304" pitchFamily="18" charset="0"/>
              </a:rPr>
              <a:t>случаите</a:t>
            </a:r>
            <a:r>
              <a:rPr lang="ru-RU" sz="2100">
                <a:latin typeface="Times New Roman" panose="02020603050405020304" pitchFamily="18" charset="0"/>
                <a:cs typeface="Times New Roman" panose="02020603050405020304" pitchFamily="18" charset="0"/>
              </a:rPr>
              <a:t>, когато </a:t>
            </a:r>
            <a:r>
              <a:rPr lang="ru-RU" sz="2100" err="1">
                <a:latin typeface="Times New Roman" panose="02020603050405020304" pitchFamily="18" charset="0"/>
                <a:cs typeface="Times New Roman" panose="02020603050405020304" pitchFamily="18" charset="0"/>
              </a:rPr>
              <a:t>източникът</a:t>
            </a:r>
            <a:r>
              <a:rPr lang="ru-RU" sz="2100">
                <a:latin typeface="Times New Roman" panose="02020603050405020304" pitchFamily="18" charset="0"/>
                <a:cs typeface="Times New Roman" panose="02020603050405020304" pitchFamily="18" charset="0"/>
              </a:rPr>
              <a:t> не е </a:t>
            </a:r>
            <a:r>
              <a:rPr lang="ru-RU" sz="2100" err="1">
                <a:latin typeface="Times New Roman" panose="02020603050405020304" pitchFamily="18" charset="0"/>
                <a:cs typeface="Times New Roman" panose="02020603050405020304" pitchFamily="18" charset="0"/>
              </a:rPr>
              <a:t>наличен</a:t>
            </a:r>
            <a:r>
              <a:rPr lang="ru-RU" sz="2100">
                <a:latin typeface="Times New Roman" panose="02020603050405020304" pitchFamily="18" charset="0"/>
                <a:cs typeface="Times New Roman" panose="02020603050405020304" pitchFamily="18" charset="0"/>
              </a:rPr>
              <a:t>.</a:t>
            </a:r>
          </a:p>
          <a:p>
            <a:pPr marL="0" algn="just">
              <a:spcBef>
                <a:spcPts val="0"/>
              </a:spcBef>
            </a:pPr>
            <a:r>
              <a:rPr lang="ru-RU" sz="2100" err="1">
                <a:latin typeface="Times New Roman" panose="02020603050405020304" pitchFamily="18" charset="0"/>
                <a:cs typeface="Times New Roman" panose="02020603050405020304" pitchFamily="18" charset="0"/>
              </a:rPr>
              <a:t>Основните</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му</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предимства</a:t>
            </a:r>
            <a:r>
              <a:rPr lang="ru-RU" sz="2100">
                <a:latin typeface="Times New Roman" panose="02020603050405020304" pitchFamily="18" charset="0"/>
                <a:cs typeface="Times New Roman" panose="02020603050405020304" pitchFamily="18" charset="0"/>
              </a:rPr>
              <a:t> са:</a:t>
            </a:r>
          </a:p>
          <a:p>
            <a:pPr marL="0" algn="just">
              <a:spcBef>
                <a:spcPts val="0"/>
              </a:spcBef>
            </a:pPr>
            <a:r>
              <a:rPr lang="ru-RU" sz="2100">
                <a:latin typeface="Times New Roman" panose="02020603050405020304" pitchFamily="18" charset="0"/>
                <a:cs typeface="Times New Roman" panose="02020603050405020304" pitchFamily="18" charset="0"/>
              </a:rPr>
              <a:t>- Интуитивен </a:t>
            </a:r>
            <a:r>
              <a:rPr lang="ru-RU" sz="2100" err="1">
                <a:latin typeface="Times New Roman" panose="02020603050405020304" pitchFamily="18" charset="0"/>
                <a:cs typeface="Times New Roman" panose="02020603050405020304" pitchFamily="18" charset="0"/>
              </a:rPr>
              <a:t>потребителски</a:t>
            </a:r>
            <a:r>
              <a:rPr lang="ru-RU" sz="2100">
                <a:latin typeface="Times New Roman" panose="02020603050405020304" pitchFamily="18" charset="0"/>
                <a:cs typeface="Times New Roman" panose="02020603050405020304" pitchFamily="18" charset="0"/>
              </a:rPr>
              <a:t> интерфейс, без </a:t>
            </a:r>
            <a:r>
              <a:rPr lang="ru-RU" sz="2100" err="1">
                <a:latin typeface="Times New Roman" panose="02020603050405020304" pitchFamily="18" charset="0"/>
                <a:cs typeface="Times New Roman" panose="02020603050405020304" pitchFamily="18" charset="0"/>
              </a:rPr>
              <a:t>криптични</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команди</a:t>
            </a:r>
            <a:r>
              <a:rPr lang="ru-RU" sz="2100">
                <a:latin typeface="Times New Roman" panose="02020603050405020304" pitchFamily="18" charset="0"/>
                <a:cs typeface="Times New Roman" panose="02020603050405020304" pitchFamily="18" charset="0"/>
              </a:rPr>
              <a:t>.</a:t>
            </a:r>
          </a:p>
          <a:p>
            <a:pPr marL="0" algn="just">
              <a:spcBef>
                <a:spcPts val="0"/>
              </a:spcBef>
            </a:pPr>
            <a:r>
              <a:rPr lang="ru-RU" sz="2100">
                <a:latin typeface="Times New Roman" panose="02020603050405020304" pitchFamily="18" charset="0"/>
                <a:cs typeface="Times New Roman" panose="02020603050405020304" pitchFamily="18" charset="0"/>
              </a:rPr>
              <a:t>- Анализ на кода - </a:t>
            </a:r>
            <a:r>
              <a:rPr lang="ru-RU" sz="2100" err="1">
                <a:latin typeface="Times New Roman" panose="02020603050405020304" pitchFamily="18" charset="0"/>
                <a:cs typeface="Times New Roman" panose="02020603050405020304" pitchFamily="18" charset="0"/>
              </a:rPr>
              <a:t>проследява</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регистри</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разпознава</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процедури</a:t>
            </a:r>
            <a:r>
              <a:rPr lang="ru-RU" sz="2100">
                <a:latin typeface="Times New Roman" panose="02020603050405020304" pitchFamily="18" charset="0"/>
                <a:cs typeface="Times New Roman" panose="02020603050405020304" pitchFamily="18" charset="0"/>
              </a:rPr>
              <a:t>, цикли, API </a:t>
            </a:r>
            <a:r>
              <a:rPr lang="ru-RU" sz="2100" err="1">
                <a:latin typeface="Times New Roman" panose="02020603050405020304" pitchFamily="18" charset="0"/>
                <a:cs typeface="Times New Roman" panose="02020603050405020304" pitchFamily="18" charset="0"/>
              </a:rPr>
              <a:t>извиквания</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превключватели</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таблици</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константи</a:t>
            </a:r>
            <a:r>
              <a:rPr lang="ru-RU" sz="2100">
                <a:latin typeface="Times New Roman" panose="02020603050405020304" pitchFamily="18" charset="0"/>
                <a:cs typeface="Times New Roman" panose="02020603050405020304" pitchFamily="18" charset="0"/>
              </a:rPr>
              <a:t> и </a:t>
            </a:r>
            <a:r>
              <a:rPr lang="ru-RU" sz="2100" err="1">
                <a:latin typeface="Times New Roman" panose="02020603050405020304" pitchFamily="18" charset="0"/>
                <a:cs typeface="Times New Roman" panose="02020603050405020304" pitchFamily="18" charset="0"/>
              </a:rPr>
              <a:t>низове</a:t>
            </a:r>
            <a:r>
              <a:rPr lang="ru-RU" sz="2100">
                <a:latin typeface="Times New Roman" panose="02020603050405020304" pitchFamily="18" charset="0"/>
                <a:cs typeface="Times New Roman" panose="02020603050405020304" pitchFamily="18" charset="0"/>
              </a:rPr>
              <a:t>.</a:t>
            </a:r>
          </a:p>
          <a:p>
            <a:pPr marL="0" algn="just">
              <a:spcBef>
                <a:spcPts val="0"/>
              </a:spcBef>
            </a:pP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Директно</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зарежда</a:t>
            </a:r>
            <a:r>
              <a:rPr lang="ru-RU" sz="2100">
                <a:latin typeface="Times New Roman" panose="02020603050405020304" pitchFamily="18" charset="0"/>
                <a:cs typeface="Times New Roman" panose="02020603050405020304" pitchFamily="18" charset="0"/>
              </a:rPr>
              <a:t> и </a:t>
            </a:r>
            <a:r>
              <a:rPr lang="ru-RU" sz="2100" err="1">
                <a:latin typeface="Times New Roman" panose="02020603050405020304" pitchFamily="18" charset="0"/>
                <a:cs typeface="Times New Roman" panose="02020603050405020304" pitchFamily="18" charset="0"/>
              </a:rPr>
              <a:t>отстранява</a:t>
            </a:r>
            <a:r>
              <a:rPr lang="ru-RU" sz="2100">
                <a:latin typeface="Times New Roman" panose="02020603050405020304" pitchFamily="18" charset="0"/>
                <a:cs typeface="Times New Roman" panose="02020603050405020304" pitchFamily="18" charset="0"/>
              </a:rPr>
              <a:t> грешки DLL</a:t>
            </a:r>
          </a:p>
          <a:p>
            <a:pPr marL="0" algn="just">
              <a:spcBef>
                <a:spcPts val="0"/>
              </a:spcBef>
            </a:pP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Сканиране</a:t>
            </a:r>
            <a:r>
              <a:rPr lang="ru-RU" sz="2100">
                <a:latin typeface="Times New Roman" panose="02020603050405020304" pitchFamily="18" charset="0"/>
                <a:cs typeface="Times New Roman" panose="02020603050405020304" pitchFamily="18" charset="0"/>
              </a:rPr>
              <a:t> на </a:t>
            </a:r>
            <a:r>
              <a:rPr lang="ru-RU" sz="2100" err="1">
                <a:latin typeface="Times New Roman" panose="02020603050405020304" pitchFamily="18" charset="0"/>
                <a:cs typeface="Times New Roman" panose="02020603050405020304" pitchFamily="18" charset="0"/>
              </a:rPr>
              <a:t>обектни</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файлове</a:t>
            </a:r>
            <a:r>
              <a:rPr lang="ru-RU" sz="2100">
                <a:latin typeface="Times New Roman" panose="02020603050405020304" pitchFamily="18" charset="0"/>
                <a:cs typeface="Times New Roman" panose="02020603050405020304" pitchFamily="18" charset="0"/>
              </a:rPr>
              <a:t> - </a:t>
            </a:r>
            <a:r>
              <a:rPr lang="ru-RU" sz="2100" err="1">
                <a:latin typeface="Times New Roman" panose="02020603050405020304" pitchFamily="18" charset="0"/>
                <a:cs typeface="Times New Roman" panose="02020603050405020304" pitchFamily="18" charset="0"/>
              </a:rPr>
              <a:t>намира</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рутинни</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процеси</a:t>
            </a:r>
            <a:r>
              <a:rPr lang="ru-RU" sz="2100">
                <a:latin typeface="Times New Roman" panose="02020603050405020304" pitchFamily="18" charset="0"/>
                <a:cs typeface="Times New Roman" panose="02020603050405020304" pitchFamily="18" charset="0"/>
              </a:rPr>
              <a:t> от </a:t>
            </a:r>
            <a:r>
              <a:rPr lang="ru-RU" sz="2100" err="1">
                <a:latin typeface="Times New Roman" panose="02020603050405020304" pitchFamily="18" charset="0"/>
                <a:cs typeface="Times New Roman" panose="02020603050405020304" pitchFamily="18" charset="0"/>
              </a:rPr>
              <a:t>обектни</a:t>
            </a:r>
            <a:r>
              <a:rPr lang="ru-RU" sz="2100">
                <a:latin typeface="Times New Roman" panose="02020603050405020304" pitchFamily="18" charset="0"/>
                <a:cs typeface="Times New Roman" panose="02020603050405020304" pitchFamily="18" charset="0"/>
              </a:rPr>
              <a:t> </a:t>
            </a:r>
            <a:r>
              <a:rPr lang="ru-RU" sz="2100" err="1">
                <a:latin typeface="Times New Roman" panose="02020603050405020304" pitchFamily="18" charset="0"/>
                <a:cs typeface="Times New Roman" panose="02020603050405020304" pitchFamily="18" charset="0"/>
              </a:rPr>
              <a:t>файлове</a:t>
            </a:r>
            <a:r>
              <a:rPr lang="ru-RU" sz="2100">
                <a:latin typeface="Times New Roman" panose="02020603050405020304" pitchFamily="18" charset="0"/>
                <a:cs typeface="Times New Roman" panose="02020603050405020304" pitchFamily="18" charset="0"/>
              </a:rPr>
              <a:t> и библиотеки.</a:t>
            </a:r>
          </a:p>
          <a:p>
            <a:pPr marL="0" algn="just">
              <a:spcBef>
                <a:spcPts val="0"/>
              </a:spcBef>
            </a:pPr>
            <a:r>
              <a:rPr lang="ru-RU" sz="2100">
                <a:latin typeface="Times New Roman" panose="02020603050405020304" pitchFamily="18" charset="0"/>
                <a:cs typeface="Times New Roman" panose="02020603050405020304" pitchFamily="18" charset="0"/>
              </a:rPr>
              <a:t>- Позволява </a:t>
            </a:r>
            <a:r>
              <a:rPr lang="ru-RU" sz="2100" err="1">
                <a:latin typeface="Times New Roman" panose="02020603050405020304" pitchFamily="18" charset="0"/>
                <a:cs typeface="Times New Roman" panose="02020603050405020304" pitchFamily="18" charset="0"/>
              </a:rPr>
              <a:t>дефинирани</a:t>
            </a:r>
            <a:r>
              <a:rPr lang="ru-RU" sz="2100">
                <a:latin typeface="Times New Roman" panose="02020603050405020304" pitchFamily="18" charset="0"/>
                <a:cs typeface="Times New Roman" panose="02020603050405020304" pitchFamily="18" charset="0"/>
              </a:rPr>
              <a:t> от потребителя </a:t>
            </a:r>
            <a:r>
              <a:rPr lang="ru-RU" sz="2100" err="1">
                <a:latin typeface="Times New Roman" panose="02020603050405020304" pitchFamily="18" charset="0"/>
                <a:cs typeface="Times New Roman" panose="02020603050405020304" pitchFamily="18" charset="0"/>
              </a:rPr>
              <a:t>етикети</a:t>
            </a:r>
            <a:r>
              <a:rPr lang="ru-RU" sz="2100">
                <a:latin typeface="Times New Roman" panose="02020603050405020304" pitchFamily="18" charset="0"/>
                <a:cs typeface="Times New Roman" panose="02020603050405020304" pitchFamily="18" charset="0"/>
              </a:rPr>
              <a:t>, коментари и описания на функции</a:t>
            </a:r>
          </a:p>
        </p:txBody>
      </p:sp>
      <p:sp>
        <p:nvSpPr>
          <p:cNvPr id="4" name="Title 1"/>
          <p:cNvSpPr>
            <a:spLocks noGrp="1"/>
          </p:cNvSpPr>
          <p:nvPr>
            <p:ph type="title"/>
          </p:nvPr>
        </p:nvSpPr>
        <p:spPr>
          <a:xfrm>
            <a:off x="690712" y="-11151"/>
            <a:ext cx="8429684" cy="1143000"/>
          </a:xfrm>
        </p:spPr>
        <p:txBody>
          <a:bodyPr>
            <a:normAutofit/>
          </a:bodyPr>
          <a:lstStyle/>
          <a:p>
            <a:r>
              <a:rPr lang="bg-BG" sz="2800" err="1">
                <a:latin typeface="Times New Roman" pitchFamily="18" charset="0"/>
                <a:cs typeface="Times New Roman" pitchFamily="18" charset="0"/>
              </a:rPr>
              <a:t>Дебъгер</a:t>
            </a:r>
            <a:r>
              <a:rPr lang="bg-BG" sz="2800">
                <a:latin typeface="Times New Roman" pitchFamily="18" charset="0"/>
                <a:cs typeface="Times New Roman" pitchFamily="18" charset="0"/>
              </a:rPr>
              <a:t>, настройка и изпълнение</a:t>
            </a:r>
            <a:r>
              <a:rPr lang="en-US" sz="2800">
                <a:latin typeface="Times New Roman" pitchFamily="18" charset="0"/>
                <a:cs typeface="Times New Roman" pitchFamily="18" charset="0"/>
              </a:rPr>
              <a:t>.</a:t>
            </a:r>
            <a:endParaRPr lang="bg-BG" sz="2900" b="1"/>
          </a:p>
        </p:txBody>
      </p:sp>
    </p:spTree>
    <p:extLst>
      <p:ext uri="{BB962C8B-B14F-4D97-AF65-F5344CB8AC3E}">
        <p14:creationId xmlns:p14="http://schemas.microsoft.com/office/powerpoint/2010/main" val="7107009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340768"/>
            <a:ext cx="8643998" cy="5184576"/>
          </a:xfrm>
        </p:spPr>
        <p:txBody>
          <a:bodyPr>
            <a:noAutofit/>
          </a:bodyPr>
          <a:lstStyle/>
          <a:p>
            <a:r>
              <a:rPr lang="bg-BG" sz="2800" b="1">
                <a:latin typeface="Times New Roman" panose="02020603050405020304" pitchFamily="18" charset="0"/>
                <a:cs typeface="Times New Roman" panose="02020603050405020304" pitchFamily="18" charset="0"/>
              </a:rPr>
              <a:t>Симулатор </a:t>
            </a:r>
            <a:r>
              <a:rPr lang="bg-BG" sz="2800" b="1" err="1">
                <a:latin typeface="Times New Roman" panose="02020603050405020304" pitchFamily="18" charset="0"/>
                <a:cs typeface="Times New Roman" panose="02020603050405020304" pitchFamily="18" charset="0"/>
              </a:rPr>
              <a:t>ARMSim</a:t>
            </a:r>
            <a:r>
              <a:rPr lang="bg-BG" sz="2800" b="1">
                <a:latin typeface="Times New Roman" panose="02020603050405020304" pitchFamily="18" charset="0"/>
                <a:cs typeface="Times New Roman" panose="02020603050405020304" pitchFamily="18" charset="0"/>
              </a:rPr>
              <a:t> # 1.91</a:t>
            </a:r>
            <a:endParaRPr lang="en-US" sz="2800" b="1">
              <a:latin typeface="Times New Roman" panose="02020603050405020304" pitchFamily="18" charset="0"/>
              <a:cs typeface="Times New Roman" panose="02020603050405020304" pitchFamily="18" charset="0"/>
            </a:endParaRPr>
          </a:p>
          <a:p>
            <a:r>
              <a:rPr lang="ru-RU" sz="2200">
                <a:latin typeface="Times New Roman" panose="02020603050405020304" pitchFamily="18" charset="0"/>
                <a:cs typeface="Times New Roman" panose="02020603050405020304" pitchFamily="18" charset="0"/>
              </a:rPr>
              <a:t>ARMSim# е безплатен ARM симулатор (с асемблер и линкер), разработен от Департамента по Компютърни науки в Университета на Виктория.</a:t>
            </a:r>
          </a:p>
          <a:p>
            <a:r>
              <a:rPr lang="ru-RU" sz="2200">
                <a:latin typeface="Times New Roman" panose="02020603050405020304" pitchFamily="18" charset="0"/>
                <a:cs typeface="Times New Roman" panose="02020603050405020304" pitchFamily="18" charset="0"/>
              </a:rPr>
              <a:t>ARMSim# не е редактор, така че ще трябва да създадете и редактирате вашата програма за асемблиране на ARM с отделен текстов редактор.</a:t>
            </a:r>
          </a:p>
          <a:p>
            <a:r>
              <a:rPr lang="ru-RU" sz="2200">
                <a:latin typeface="Times New Roman" panose="02020603050405020304" pitchFamily="18" charset="0"/>
                <a:cs typeface="Times New Roman" panose="02020603050405020304" pitchFamily="18" charset="0"/>
              </a:rPr>
              <a:t>Запазването на програмата става като example1.s – имайте предвид, че файловото разширение „.s“ е необходимо, за да може ARMSim# да чете вашия файл. След като запазите вашата ARM програма, трябва да я заредите в ARMSim#. Отворете програмата ARMSim#, изберете „Файл -&gt; Зареждане“ от менюто и изберете своя файл example1.s. </a:t>
            </a:r>
          </a:p>
        </p:txBody>
      </p:sp>
      <p:sp>
        <p:nvSpPr>
          <p:cNvPr id="4" name="Title 1"/>
          <p:cNvSpPr>
            <a:spLocks noGrp="1"/>
          </p:cNvSpPr>
          <p:nvPr>
            <p:ph type="title"/>
          </p:nvPr>
        </p:nvSpPr>
        <p:spPr>
          <a:xfrm>
            <a:off x="690712" y="-11151"/>
            <a:ext cx="8429684" cy="1143000"/>
          </a:xfrm>
        </p:spPr>
        <p:txBody>
          <a:bodyPr>
            <a:normAutofit/>
          </a:bodyPr>
          <a:lstStyle/>
          <a:p>
            <a:r>
              <a:rPr lang="bg-BG" sz="2800" err="1">
                <a:latin typeface="Times New Roman" pitchFamily="18" charset="0"/>
                <a:cs typeface="Times New Roman" pitchFamily="18" charset="0"/>
              </a:rPr>
              <a:t>Дебъгер</a:t>
            </a:r>
            <a:r>
              <a:rPr lang="bg-BG" sz="2800">
                <a:latin typeface="Times New Roman" pitchFamily="18" charset="0"/>
                <a:cs typeface="Times New Roman" pitchFamily="18" charset="0"/>
              </a:rPr>
              <a:t>, настройка и изпълнение</a:t>
            </a:r>
            <a:r>
              <a:rPr lang="en-US" sz="2800">
                <a:latin typeface="Times New Roman" pitchFamily="18" charset="0"/>
                <a:cs typeface="Times New Roman" pitchFamily="18" charset="0"/>
              </a:rPr>
              <a:t>.</a:t>
            </a:r>
            <a:endParaRPr lang="bg-BG" sz="2900" b="1"/>
          </a:p>
        </p:txBody>
      </p:sp>
    </p:spTree>
    <p:extLst>
      <p:ext uri="{BB962C8B-B14F-4D97-AF65-F5344CB8AC3E}">
        <p14:creationId xmlns:p14="http://schemas.microsoft.com/office/powerpoint/2010/main" val="10716311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196752"/>
            <a:ext cx="8643998" cy="1296144"/>
          </a:xfrm>
        </p:spPr>
        <p:txBody>
          <a:bodyPr>
            <a:noAutofit/>
          </a:bodyPr>
          <a:lstStyle/>
          <a:p>
            <a:r>
              <a:rPr lang="bg-BG" sz="2800" b="1">
                <a:latin typeface="Times New Roman" panose="02020603050405020304" pitchFamily="18" charset="0"/>
                <a:cs typeface="Times New Roman" panose="02020603050405020304" pitchFamily="18" charset="0"/>
              </a:rPr>
              <a:t>Симулатор </a:t>
            </a:r>
            <a:r>
              <a:rPr lang="bg-BG" sz="2800" b="1" err="1">
                <a:latin typeface="Times New Roman" panose="02020603050405020304" pitchFamily="18" charset="0"/>
                <a:cs typeface="Times New Roman" panose="02020603050405020304" pitchFamily="18" charset="0"/>
              </a:rPr>
              <a:t>ARMSim</a:t>
            </a:r>
            <a:r>
              <a:rPr lang="bg-BG" sz="2800" b="1">
                <a:latin typeface="Times New Roman" panose="02020603050405020304" pitchFamily="18" charset="0"/>
                <a:cs typeface="Times New Roman" panose="02020603050405020304" pitchFamily="18" charset="0"/>
              </a:rPr>
              <a:t> # 1.91</a:t>
            </a:r>
            <a:endParaRPr lang="en-US" sz="2800" b="1">
              <a:latin typeface="Times New Roman" panose="02020603050405020304" pitchFamily="18" charset="0"/>
              <a:cs typeface="Times New Roman" panose="02020603050405020304" pitchFamily="18" charset="0"/>
            </a:endParaRPr>
          </a:p>
          <a:p>
            <a:r>
              <a:rPr lang="ru-RU" sz="2200">
                <a:latin typeface="Times New Roman" panose="02020603050405020304" pitchFamily="18" charset="0"/>
                <a:cs typeface="Times New Roman" panose="02020603050405020304" pitchFamily="18" charset="0"/>
              </a:rPr>
              <a:t>Трябва да отвори</a:t>
            </a:r>
            <a:r>
              <a:rPr lang="bg-BG" sz="2200">
                <a:latin typeface="Times New Roman" panose="02020603050405020304" pitchFamily="18" charset="0"/>
                <a:cs typeface="Times New Roman" panose="02020603050405020304" pitchFamily="18" charset="0"/>
              </a:rPr>
              <a:t>те</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вашата</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програма</a:t>
            </a:r>
            <a:r>
              <a:rPr lang="ru-RU" sz="2200">
                <a:latin typeface="Times New Roman" panose="02020603050405020304" pitchFamily="18" charset="0"/>
                <a:cs typeface="Times New Roman" panose="02020603050405020304" pitchFamily="18" charset="0"/>
              </a:rPr>
              <a:t> и да се </a:t>
            </a:r>
            <a:r>
              <a:rPr lang="ru-RU" sz="2200" err="1">
                <a:latin typeface="Times New Roman" panose="02020603050405020304" pitchFamily="18" charset="0"/>
                <a:cs typeface="Times New Roman" panose="02020603050405020304" pitchFamily="18" charset="0"/>
              </a:rPr>
              <a:t>увери</a:t>
            </a:r>
            <a:r>
              <a:rPr lang="bg-BG" sz="2200">
                <a:latin typeface="Times New Roman" panose="02020603050405020304" pitchFamily="18" charset="0"/>
                <a:cs typeface="Times New Roman" panose="02020603050405020304" pitchFamily="18" charset="0"/>
              </a:rPr>
              <a:t>те</a:t>
            </a:r>
            <a:r>
              <a:rPr lang="ru-RU" sz="2200">
                <a:latin typeface="Times New Roman" panose="02020603050405020304" pitchFamily="18" charset="0"/>
                <a:cs typeface="Times New Roman" panose="02020603050405020304" pitchFamily="18" charset="0"/>
              </a:rPr>
              <a:t>, че е без </a:t>
            </a:r>
            <a:r>
              <a:rPr lang="ru-RU" sz="2200" err="1">
                <a:latin typeface="Times New Roman" panose="02020603050405020304" pitchFamily="18" charset="0"/>
                <a:cs typeface="Times New Roman" panose="02020603050405020304" pitchFamily="18" charset="0"/>
              </a:rPr>
              <a:t>синтактични</a:t>
            </a:r>
            <a:r>
              <a:rPr lang="ru-RU" sz="2200">
                <a:latin typeface="Times New Roman" panose="02020603050405020304" pitchFamily="18" charset="0"/>
                <a:cs typeface="Times New Roman" panose="02020603050405020304" pitchFamily="18" charset="0"/>
              </a:rPr>
              <a:t> грешки.</a:t>
            </a:r>
            <a:r>
              <a:rPr lang="en-US"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Вашият</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екран</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ще</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изглежда</a:t>
            </a:r>
            <a:r>
              <a:rPr lang="ru-RU" sz="2200">
                <a:latin typeface="Times New Roman" panose="02020603050405020304" pitchFamily="18" charset="0"/>
                <a:cs typeface="Times New Roman" panose="02020603050405020304" pitchFamily="18" charset="0"/>
              </a:rPr>
              <a:t> като този </a:t>
            </a:r>
            <a:r>
              <a:rPr lang="ru-RU" sz="2200" err="1">
                <a:latin typeface="Times New Roman" panose="02020603050405020304" pitchFamily="18" charset="0"/>
                <a:cs typeface="Times New Roman" panose="02020603050405020304" pitchFamily="18" charset="0"/>
              </a:rPr>
              <a:t>по-долу</a:t>
            </a:r>
            <a:r>
              <a:rPr lang="ru-RU" sz="2200">
                <a:latin typeface="Times New Roman" panose="02020603050405020304" pitchFamily="18" charset="0"/>
                <a:cs typeface="Times New Roman" panose="02020603050405020304" pitchFamily="18" charset="0"/>
              </a:rPr>
              <a:t>.</a:t>
            </a:r>
          </a:p>
          <a:p>
            <a:endParaRPr lang="ru-RU" sz="220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690712" y="-11151"/>
            <a:ext cx="8429684" cy="1143000"/>
          </a:xfrm>
        </p:spPr>
        <p:txBody>
          <a:bodyPr>
            <a:normAutofit/>
          </a:bodyPr>
          <a:lstStyle/>
          <a:p>
            <a:r>
              <a:rPr lang="bg-BG" sz="2800" err="1">
                <a:latin typeface="Times New Roman" pitchFamily="18" charset="0"/>
                <a:cs typeface="Times New Roman" pitchFamily="18" charset="0"/>
              </a:rPr>
              <a:t>Дебъгер</a:t>
            </a:r>
            <a:r>
              <a:rPr lang="bg-BG" sz="2800">
                <a:latin typeface="Times New Roman" pitchFamily="18" charset="0"/>
                <a:cs typeface="Times New Roman" pitchFamily="18" charset="0"/>
              </a:rPr>
              <a:t>, настройка и изпълнение</a:t>
            </a:r>
            <a:r>
              <a:rPr lang="en-US" sz="2800">
                <a:latin typeface="Times New Roman" pitchFamily="18" charset="0"/>
                <a:cs typeface="Times New Roman" pitchFamily="18" charset="0"/>
              </a:rPr>
              <a:t>.</a:t>
            </a:r>
            <a:endParaRPr lang="bg-BG" sz="2900" b="1"/>
          </a:p>
        </p:txBody>
      </p:sp>
      <p:pic>
        <p:nvPicPr>
          <p:cNvPr id="2" name="Картина 1"/>
          <p:cNvPicPr>
            <a:picLocks noChangeAspect="1"/>
          </p:cNvPicPr>
          <p:nvPr/>
        </p:nvPicPr>
        <p:blipFill>
          <a:blip r:embed="rId2" cstate="print"/>
          <a:stretch>
            <a:fillRect/>
          </a:stretch>
        </p:blipFill>
        <p:spPr>
          <a:xfrm>
            <a:off x="690712" y="2486371"/>
            <a:ext cx="7920880" cy="4220490"/>
          </a:xfrm>
          <a:prstGeom prst="rect">
            <a:avLst/>
          </a:prstGeom>
        </p:spPr>
      </p:pic>
    </p:spTree>
    <p:extLst>
      <p:ext uri="{BB962C8B-B14F-4D97-AF65-F5344CB8AC3E}">
        <p14:creationId xmlns:p14="http://schemas.microsoft.com/office/powerpoint/2010/main" val="18164703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202" y="1268760"/>
            <a:ext cx="8643998" cy="5256584"/>
          </a:xfrm>
        </p:spPr>
        <p:txBody>
          <a:bodyPr>
            <a:noAutofit/>
          </a:bodyPr>
          <a:lstStyle/>
          <a:p>
            <a:r>
              <a:rPr lang="bg-BG" sz="2800" b="1">
                <a:latin typeface="Times New Roman" panose="02020603050405020304" pitchFamily="18" charset="0"/>
                <a:cs typeface="Times New Roman" panose="02020603050405020304" pitchFamily="18" charset="0"/>
              </a:rPr>
              <a:t>Симулатор </a:t>
            </a:r>
            <a:r>
              <a:rPr lang="bg-BG" sz="2800" b="1" err="1">
                <a:latin typeface="Times New Roman" panose="02020603050405020304" pitchFamily="18" charset="0"/>
                <a:cs typeface="Times New Roman" panose="02020603050405020304" pitchFamily="18" charset="0"/>
              </a:rPr>
              <a:t>ARMSim</a:t>
            </a:r>
            <a:r>
              <a:rPr lang="bg-BG" sz="2800" b="1">
                <a:latin typeface="Times New Roman" panose="02020603050405020304" pitchFamily="18" charset="0"/>
                <a:cs typeface="Times New Roman" panose="02020603050405020304" pitchFamily="18" charset="0"/>
              </a:rPr>
              <a:t> # 1.91</a:t>
            </a:r>
            <a:endParaRPr lang="en-US" sz="2800" b="1">
              <a:latin typeface="Times New Roman" panose="02020603050405020304" pitchFamily="18" charset="0"/>
              <a:cs typeface="Times New Roman" panose="02020603050405020304" pitchFamily="18" charset="0"/>
            </a:endParaRPr>
          </a:p>
          <a:p>
            <a:pPr algn="just"/>
            <a:r>
              <a:rPr lang="ru-RU" sz="2200">
                <a:latin typeface="Times New Roman" panose="02020603050405020304" pitchFamily="18" charset="0"/>
                <a:cs typeface="Times New Roman" panose="02020603050405020304" pitchFamily="18" charset="0"/>
              </a:rPr>
              <a:t>От </a:t>
            </a:r>
            <a:r>
              <a:rPr lang="ru-RU" sz="2200" err="1">
                <a:latin typeface="Times New Roman" panose="02020603050405020304" pitchFamily="18" charset="0"/>
                <a:cs typeface="Times New Roman" panose="02020603050405020304" pitchFamily="18" charset="0"/>
              </a:rPr>
              <a:t>лявата</a:t>
            </a:r>
            <a:r>
              <a:rPr lang="ru-RU" sz="2200">
                <a:latin typeface="Times New Roman" panose="02020603050405020304" pitchFamily="18" charset="0"/>
                <a:cs typeface="Times New Roman" panose="02020603050405020304" pitchFamily="18" charset="0"/>
              </a:rPr>
              <a:t> страна на </a:t>
            </a:r>
            <a:r>
              <a:rPr lang="ru-RU" sz="2200" err="1">
                <a:latin typeface="Times New Roman" panose="02020603050405020304" pitchFamily="18" charset="0"/>
                <a:cs typeface="Times New Roman" panose="02020603050405020304" pitchFamily="18" charset="0"/>
              </a:rPr>
              <a:t>екрана</a:t>
            </a:r>
            <a:r>
              <a:rPr lang="ru-RU" sz="2200">
                <a:latin typeface="Times New Roman" panose="02020603050405020304" pitchFamily="18" charset="0"/>
                <a:cs typeface="Times New Roman" panose="02020603050405020304" pitchFamily="18" charset="0"/>
              </a:rPr>
              <a:t> се показват </a:t>
            </a:r>
            <a:r>
              <a:rPr lang="ru-RU" sz="2200" err="1">
                <a:latin typeface="Times New Roman" panose="02020603050405020304" pitchFamily="18" charset="0"/>
                <a:cs typeface="Times New Roman" panose="02020603050405020304" pitchFamily="18" charset="0"/>
              </a:rPr>
              <a:t>регистрите</a:t>
            </a:r>
            <a:r>
              <a:rPr lang="ru-RU" sz="2200">
                <a:latin typeface="Times New Roman" panose="02020603050405020304" pitchFamily="18" charset="0"/>
                <a:cs typeface="Times New Roman" panose="02020603050405020304" pitchFamily="18" charset="0"/>
              </a:rPr>
              <a:t> за </a:t>
            </a:r>
            <a:r>
              <a:rPr lang="ru-RU" sz="2200" err="1">
                <a:latin typeface="Times New Roman" panose="02020603050405020304" pitchFamily="18" charset="0"/>
                <a:cs typeface="Times New Roman" panose="02020603050405020304" pitchFamily="18" charset="0"/>
              </a:rPr>
              <a:t>симулирания</a:t>
            </a:r>
            <a:r>
              <a:rPr lang="ru-RU" sz="2200">
                <a:latin typeface="Times New Roman" panose="02020603050405020304" pitchFamily="18" charset="0"/>
                <a:cs typeface="Times New Roman" panose="02020603050405020304" pitchFamily="18" charset="0"/>
              </a:rPr>
              <a:t> ARM </a:t>
            </a:r>
            <a:r>
              <a:rPr lang="ru-RU" sz="2200" err="1">
                <a:latin typeface="Times New Roman" panose="02020603050405020304" pitchFamily="18" charset="0"/>
                <a:cs typeface="Times New Roman" panose="02020603050405020304" pitchFamily="18" charset="0"/>
              </a:rPr>
              <a:t>процесор</a:t>
            </a:r>
            <a:r>
              <a:rPr lang="ru-RU" sz="2200">
                <a:latin typeface="Times New Roman" panose="02020603050405020304" pitchFamily="18" charset="0"/>
                <a:cs typeface="Times New Roman" panose="02020603050405020304" pitchFamily="18" charset="0"/>
              </a:rPr>
              <a:t>.</a:t>
            </a:r>
          </a:p>
          <a:p>
            <a:pPr algn="just"/>
            <a:r>
              <a:rPr lang="ru-RU" sz="2200" err="1">
                <a:latin typeface="Times New Roman" panose="02020603050405020304" pitchFamily="18" charset="0"/>
                <a:cs typeface="Times New Roman" panose="02020603050405020304" pitchFamily="18" charset="0"/>
              </a:rPr>
              <a:t>Прозорецът</a:t>
            </a:r>
            <a:r>
              <a:rPr lang="ru-RU" sz="2200">
                <a:latin typeface="Times New Roman" panose="02020603050405020304" pitchFamily="18" charset="0"/>
                <a:cs typeface="Times New Roman" panose="02020603050405020304" pitchFamily="18" charset="0"/>
              </a:rPr>
              <a:t> на </a:t>
            </a:r>
            <a:r>
              <a:rPr lang="ru-RU" sz="2200" err="1">
                <a:latin typeface="Times New Roman" panose="02020603050405020304" pitchFamily="18" charset="0"/>
                <a:cs typeface="Times New Roman" panose="02020603050405020304" pitchFamily="18" charset="0"/>
              </a:rPr>
              <a:t>изходния</a:t>
            </a:r>
            <a:r>
              <a:rPr lang="ru-RU" sz="2200">
                <a:latin typeface="Times New Roman" panose="02020603050405020304" pitchFamily="18" charset="0"/>
                <a:cs typeface="Times New Roman" panose="02020603050405020304" pitchFamily="18" charset="0"/>
              </a:rPr>
              <a:t> код е в </a:t>
            </a:r>
            <a:r>
              <a:rPr lang="ru-RU" sz="2200" err="1">
                <a:latin typeface="Times New Roman" panose="02020603050405020304" pitchFamily="18" charset="0"/>
                <a:cs typeface="Times New Roman" panose="02020603050405020304" pitchFamily="18" charset="0"/>
              </a:rPr>
              <a:t>центъра</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докато</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прозорецът</a:t>
            </a:r>
            <a:r>
              <a:rPr lang="ru-RU" sz="2200">
                <a:latin typeface="Times New Roman" panose="02020603050405020304" pitchFamily="18" charset="0"/>
                <a:cs typeface="Times New Roman" panose="02020603050405020304" pitchFamily="18" charset="0"/>
              </a:rPr>
              <a:t> на </a:t>
            </a:r>
            <a:r>
              <a:rPr lang="ru-RU" sz="2200" err="1">
                <a:latin typeface="Times New Roman" panose="02020603050405020304" pitchFamily="18" charset="0"/>
                <a:cs typeface="Times New Roman" panose="02020603050405020304" pitchFamily="18" charset="0"/>
              </a:rPr>
              <a:t>конзолата</a:t>
            </a:r>
            <a:r>
              <a:rPr lang="ru-RU" sz="2200">
                <a:latin typeface="Times New Roman" panose="02020603050405020304" pitchFamily="18" charset="0"/>
                <a:cs typeface="Times New Roman" panose="02020603050405020304" pitchFamily="18" charset="0"/>
              </a:rPr>
              <a:t> е в </a:t>
            </a:r>
            <a:r>
              <a:rPr lang="ru-RU" sz="2200" err="1">
                <a:latin typeface="Times New Roman" panose="02020603050405020304" pitchFamily="18" charset="0"/>
                <a:cs typeface="Times New Roman" panose="02020603050405020304" pitchFamily="18" charset="0"/>
              </a:rPr>
              <a:t>долната</a:t>
            </a:r>
            <a:r>
              <a:rPr lang="ru-RU" sz="2200">
                <a:latin typeface="Times New Roman" panose="02020603050405020304" pitchFamily="18" charset="0"/>
                <a:cs typeface="Times New Roman" panose="02020603050405020304" pitchFamily="18" charset="0"/>
              </a:rPr>
              <a:t> част. Има три опции за стартиране (симулиране) на вашата програма на асемблер –изпълнение</a:t>
            </a:r>
            <a:r>
              <a:rPr lang="en-US" sz="2200">
                <a:latin typeface="Times New Roman" panose="02020603050405020304" pitchFamily="18" charset="0"/>
                <a:cs typeface="Times New Roman" panose="02020603050405020304" pitchFamily="18" charset="0"/>
              </a:rPr>
              <a:t> /run/</a:t>
            </a:r>
            <a:r>
              <a:rPr lang="ru-RU" sz="2200">
                <a:latin typeface="Times New Roman" panose="02020603050405020304" pitchFamily="18" charset="0"/>
                <a:cs typeface="Times New Roman" panose="02020603050405020304" pitchFamily="18" charset="0"/>
              </a:rPr>
              <a:t>, стъпково</a:t>
            </a:r>
            <a:r>
              <a:rPr lang="en-US" sz="2200">
                <a:latin typeface="Times New Roman" panose="02020603050405020304" pitchFamily="18" charset="0"/>
                <a:cs typeface="Times New Roman" panose="02020603050405020304" pitchFamily="18" charset="0"/>
              </a:rPr>
              <a:t> /step into/</a:t>
            </a:r>
            <a:r>
              <a:rPr lang="ru-RU" sz="2200">
                <a:latin typeface="Times New Roman" panose="02020603050405020304" pitchFamily="18" charset="0"/>
                <a:cs typeface="Times New Roman" panose="02020603050405020304" pitchFamily="18" charset="0"/>
              </a:rPr>
              <a:t> и с прекрачване</a:t>
            </a:r>
            <a:r>
              <a:rPr lang="en-US" sz="2200">
                <a:latin typeface="Times New Roman" panose="02020603050405020304" pitchFamily="18" charset="0"/>
                <a:cs typeface="Times New Roman" panose="02020603050405020304" pitchFamily="18" charset="0"/>
              </a:rPr>
              <a:t> /step over/</a:t>
            </a:r>
            <a:r>
              <a:rPr lang="ru-RU" sz="2200">
                <a:latin typeface="Times New Roman" panose="02020603050405020304" pitchFamily="18" charset="0"/>
                <a:cs typeface="Times New Roman" panose="02020603050405020304" pitchFamily="18" charset="0"/>
              </a:rPr>
              <a:t>. Двете, които вероятно ще бъдат най-полезни (и техните икони в лентата с инструменти) са (i) </a:t>
            </a:r>
            <a:r>
              <a:rPr lang="en-US" sz="2200">
                <a:latin typeface="Times New Roman" panose="02020603050405020304" pitchFamily="18" charset="0"/>
                <a:cs typeface="Times New Roman" panose="02020603050405020304" pitchFamily="18" charset="0"/>
              </a:rPr>
              <a:t>run    </a:t>
            </a:r>
            <a:r>
              <a:rPr lang="ru-RU" sz="2200">
                <a:latin typeface="Times New Roman" panose="02020603050405020304" pitchFamily="18" charset="0"/>
                <a:cs typeface="Times New Roman" panose="02020603050405020304" pitchFamily="18" charset="0"/>
              </a:rPr>
              <a:t> и (ii) </a:t>
            </a:r>
            <a:r>
              <a:rPr lang="en-US" sz="2200">
                <a:latin typeface="Times New Roman" panose="02020603050405020304" pitchFamily="18" charset="0"/>
                <a:cs typeface="Times New Roman" panose="02020603050405020304" pitchFamily="18" charset="0"/>
              </a:rPr>
              <a:t>step into</a:t>
            </a:r>
            <a:r>
              <a:rPr lang="ru-RU" sz="2200">
                <a:latin typeface="Times New Roman" panose="02020603050405020304" pitchFamily="18" charset="0"/>
                <a:cs typeface="Times New Roman" panose="02020603050405020304" pitchFamily="18" charset="0"/>
              </a:rPr>
              <a:t>.</a:t>
            </a:r>
            <a:r>
              <a:rPr lang="en-US" sz="2200">
                <a:latin typeface="Times New Roman" panose="02020603050405020304" pitchFamily="18" charset="0"/>
                <a:cs typeface="Times New Roman" panose="02020603050405020304" pitchFamily="18" charset="0"/>
              </a:rPr>
              <a:t> </a:t>
            </a:r>
            <a:r>
              <a:rPr lang="ru-RU" sz="2200">
                <a:latin typeface="Times New Roman" panose="02020603050405020304" pitchFamily="18" charset="0"/>
                <a:cs typeface="Times New Roman" panose="02020603050405020304" pitchFamily="18" charset="0"/>
              </a:rPr>
              <a:t> </a:t>
            </a:r>
            <a:endParaRPr lang="en-US" sz="2200">
              <a:latin typeface="Times New Roman" panose="02020603050405020304" pitchFamily="18" charset="0"/>
              <a:cs typeface="Times New Roman" panose="02020603050405020304" pitchFamily="18" charset="0"/>
            </a:endParaRPr>
          </a:p>
          <a:p>
            <a:pPr algn="just"/>
            <a:r>
              <a:rPr lang="en-US" sz="2200" b="1">
                <a:latin typeface="Times New Roman" panose="02020603050405020304" pitchFamily="18" charset="0"/>
                <a:cs typeface="Times New Roman" panose="02020603050405020304" pitchFamily="18" charset="0"/>
              </a:rPr>
              <a:t>Run</a:t>
            </a:r>
            <a:r>
              <a:rPr lang="ru-RU" sz="2200">
                <a:latin typeface="Times New Roman" panose="02020603050405020304" pitchFamily="18" charset="0"/>
                <a:cs typeface="Times New Roman" panose="02020603050405020304" pitchFamily="18" charset="0"/>
              </a:rPr>
              <a:t> (клавишна комбинация F5) ще стартира вашата асемблерна</a:t>
            </a:r>
            <a:r>
              <a:rPr lang="en-US" sz="2200">
                <a:latin typeface="Times New Roman" panose="02020603050405020304" pitchFamily="18" charset="0"/>
                <a:cs typeface="Times New Roman" panose="02020603050405020304" pitchFamily="18" charset="0"/>
              </a:rPr>
              <a:t> </a:t>
            </a:r>
            <a:r>
              <a:rPr lang="ru-RU" sz="2200">
                <a:latin typeface="Times New Roman" panose="02020603050405020304" pitchFamily="18" charset="0"/>
                <a:cs typeface="Times New Roman" panose="02020603050405020304" pitchFamily="18" charset="0"/>
              </a:rPr>
              <a:t>програма от началото до края, докато step into (клавишна комбинация F11) ще изпълни една инструкция в даден момент, което ви позволява да видите как всяка инструкция променя състоянието. </a:t>
            </a:r>
            <a:r>
              <a:rPr lang="ru-RU" sz="2200" err="1">
                <a:latin typeface="Times New Roman" panose="02020603050405020304" pitchFamily="18" charset="0"/>
                <a:cs typeface="Times New Roman" panose="02020603050405020304" pitchFamily="18" charset="0"/>
              </a:rPr>
              <a:t>Натиснете</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Step</a:t>
            </a:r>
            <a:r>
              <a:rPr lang="ru-RU" sz="2200">
                <a:latin typeface="Times New Roman" panose="02020603050405020304" pitchFamily="18" charset="0"/>
                <a:cs typeface="Times New Roman" panose="02020603050405020304" pitchFamily="18" charset="0"/>
              </a:rPr>
              <a:t> </a:t>
            </a:r>
            <a:r>
              <a:rPr lang="ru-RU" sz="2200" err="1">
                <a:latin typeface="Times New Roman" panose="02020603050405020304" pitchFamily="18" charset="0"/>
                <a:cs typeface="Times New Roman" panose="02020603050405020304" pitchFamily="18" charset="0"/>
              </a:rPr>
              <a:t>Into</a:t>
            </a:r>
            <a:r>
              <a:rPr lang="ru-RU" sz="2200">
                <a:latin typeface="Times New Roman" panose="02020603050405020304" pitchFamily="18" charset="0"/>
                <a:cs typeface="Times New Roman" panose="02020603050405020304" pitchFamily="18" charset="0"/>
              </a:rPr>
              <a:t>“ и трябва да видите </a:t>
            </a:r>
            <a:r>
              <a:rPr lang="ru-RU" sz="2200" err="1">
                <a:latin typeface="Times New Roman" panose="02020603050405020304" pitchFamily="18" charset="0"/>
                <a:cs typeface="Times New Roman" panose="02020603050405020304" pitchFamily="18" charset="0"/>
              </a:rPr>
              <a:t>екран</a:t>
            </a:r>
            <a:r>
              <a:rPr lang="ru-RU" sz="2200">
                <a:latin typeface="Times New Roman" panose="02020603050405020304" pitchFamily="18" charset="0"/>
                <a:cs typeface="Times New Roman" panose="02020603050405020304" pitchFamily="18" charset="0"/>
              </a:rPr>
              <a:t> като този </a:t>
            </a:r>
            <a:r>
              <a:rPr lang="ru-RU" sz="2200" err="1">
                <a:latin typeface="Times New Roman" panose="02020603050405020304" pitchFamily="18" charset="0"/>
                <a:cs typeface="Times New Roman" panose="02020603050405020304" pitchFamily="18" charset="0"/>
              </a:rPr>
              <a:t>по-долу</a:t>
            </a:r>
            <a:r>
              <a:rPr lang="ru-RU" sz="2200">
                <a:latin typeface="Times New Roman" panose="02020603050405020304" pitchFamily="18" charset="0"/>
                <a:cs typeface="Times New Roman" panose="02020603050405020304" pitchFamily="18" charset="0"/>
              </a:rPr>
              <a:t>.</a:t>
            </a:r>
          </a:p>
        </p:txBody>
      </p:sp>
      <p:sp>
        <p:nvSpPr>
          <p:cNvPr id="4" name="Title 1"/>
          <p:cNvSpPr>
            <a:spLocks noGrp="1"/>
          </p:cNvSpPr>
          <p:nvPr>
            <p:ph type="title"/>
          </p:nvPr>
        </p:nvSpPr>
        <p:spPr>
          <a:xfrm>
            <a:off x="690712" y="-11151"/>
            <a:ext cx="8429684" cy="1143000"/>
          </a:xfrm>
        </p:spPr>
        <p:txBody>
          <a:bodyPr>
            <a:normAutofit/>
          </a:bodyPr>
          <a:lstStyle/>
          <a:p>
            <a:r>
              <a:rPr lang="bg-BG" sz="2800" err="1">
                <a:latin typeface="Times New Roman" pitchFamily="18" charset="0"/>
                <a:cs typeface="Times New Roman" pitchFamily="18" charset="0"/>
              </a:rPr>
              <a:t>Дебъгер</a:t>
            </a:r>
            <a:r>
              <a:rPr lang="bg-BG" sz="2800">
                <a:latin typeface="Times New Roman" pitchFamily="18" charset="0"/>
                <a:cs typeface="Times New Roman" pitchFamily="18" charset="0"/>
              </a:rPr>
              <a:t>, настройка и изпълнение</a:t>
            </a:r>
            <a:r>
              <a:rPr lang="en-US" sz="2800">
                <a:latin typeface="Times New Roman" pitchFamily="18" charset="0"/>
                <a:cs typeface="Times New Roman" pitchFamily="18" charset="0"/>
              </a:rPr>
              <a:t>.</a:t>
            </a:r>
            <a:endParaRPr lang="bg-BG" sz="2900" b="1"/>
          </a:p>
        </p:txBody>
      </p:sp>
      <p:pic>
        <p:nvPicPr>
          <p:cNvPr id="5" name="Картина 4"/>
          <p:cNvPicPr>
            <a:picLocks noChangeAspect="1"/>
          </p:cNvPicPr>
          <p:nvPr/>
        </p:nvPicPr>
        <p:blipFill>
          <a:blip r:embed="rId2" cstate="print"/>
          <a:stretch>
            <a:fillRect/>
          </a:stretch>
        </p:blipFill>
        <p:spPr>
          <a:xfrm>
            <a:off x="3203848" y="4293096"/>
            <a:ext cx="288030" cy="288032"/>
          </a:xfrm>
          <a:prstGeom prst="rect">
            <a:avLst/>
          </a:prstGeom>
        </p:spPr>
      </p:pic>
      <p:pic>
        <p:nvPicPr>
          <p:cNvPr id="6" name="Картина 5"/>
          <p:cNvPicPr>
            <a:picLocks noChangeAspect="1"/>
          </p:cNvPicPr>
          <p:nvPr/>
        </p:nvPicPr>
        <p:blipFill>
          <a:blip r:embed="rId3" cstate="print"/>
          <a:stretch>
            <a:fillRect/>
          </a:stretch>
        </p:blipFill>
        <p:spPr>
          <a:xfrm>
            <a:off x="5148064" y="4293096"/>
            <a:ext cx="352425" cy="247650"/>
          </a:xfrm>
          <a:prstGeom prst="rect">
            <a:avLst/>
          </a:prstGeom>
        </p:spPr>
      </p:pic>
    </p:spTree>
    <p:extLst>
      <p:ext uri="{BB962C8B-B14F-4D97-AF65-F5344CB8AC3E}">
        <p14:creationId xmlns:p14="http://schemas.microsoft.com/office/powerpoint/2010/main" val="15556559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202" y="1268760"/>
            <a:ext cx="8643998" cy="5256584"/>
          </a:xfrm>
        </p:spPr>
        <p:txBody>
          <a:bodyPr>
            <a:noAutofit/>
          </a:bodyPr>
          <a:lstStyle/>
          <a:p>
            <a:r>
              <a:rPr lang="bg-BG" sz="2800" b="1">
                <a:latin typeface="Times New Roman" panose="02020603050405020304" pitchFamily="18" charset="0"/>
                <a:cs typeface="Times New Roman" panose="02020603050405020304" pitchFamily="18" charset="0"/>
              </a:rPr>
              <a:t>Симулатор </a:t>
            </a:r>
            <a:r>
              <a:rPr lang="bg-BG" sz="2800" b="1" err="1">
                <a:latin typeface="Times New Roman" panose="02020603050405020304" pitchFamily="18" charset="0"/>
                <a:cs typeface="Times New Roman" panose="02020603050405020304" pitchFamily="18" charset="0"/>
              </a:rPr>
              <a:t>ARMSim</a:t>
            </a:r>
            <a:r>
              <a:rPr lang="bg-BG" sz="2800" b="1">
                <a:latin typeface="Times New Roman" panose="02020603050405020304" pitchFamily="18" charset="0"/>
                <a:cs typeface="Times New Roman" panose="02020603050405020304" pitchFamily="18" charset="0"/>
              </a:rPr>
              <a:t> # 1.91</a:t>
            </a:r>
            <a:endParaRPr lang="en-US" sz="2800" b="1">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690712" y="-11151"/>
            <a:ext cx="8429684" cy="1143000"/>
          </a:xfrm>
        </p:spPr>
        <p:txBody>
          <a:bodyPr>
            <a:normAutofit/>
          </a:bodyPr>
          <a:lstStyle/>
          <a:p>
            <a:r>
              <a:rPr lang="bg-BG" sz="2800" err="1">
                <a:latin typeface="Times New Roman" pitchFamily="18" charset="0"/>
                <a:cs typeface="Times New Roman" pitchFamily="18" charset="0"/>
              </a:rPr>
              <a:t>Дебъгер</a:t>
            </a:r>
            <a:r>
              <a:rPr lang="bg-BG" sz="2800">
                <a:latin typeface="Times New Roman" pitchFamily="18" charset="0"/>
                <a:cs typeface="Times New Roman" pitchFamily="18" charset="0"/>
              </a:rPr>
              <a:t>, настройка и изпълнение</a:t>
            </a:r>
            <a:r>
              <a:rPr lang="en-US" sz="2800">
                <a:latin typeface="Times New Roman" pitchFamily="18" charset="0"/>
                <a:cs typeface="Times New Roman" pitchFamily="18" charset="0"/>
              </a:rPr>
              <a:t>.</a:t>
            </a:r>
            <a:endParaRPr lang="bg-BG" sz="2900" b="1"/>
          </a:p>
        </p:txBody>
      </p:sp>
      <p:pic>
        <p:nvPicPr>
          <p:cNvPr id="2" name="Картина 1"/>
          <p:cNvPicPr>
            <a:picLocks noChangeAspect="1"/>
          </p:cNvPicPr>
          <p:nvPr/>
        </p:nvPicPr>
        <p:blipFill>
          <a:blip r:embed="rId2" cstate="print"/>
          <a:stretch>
            <a:fillRect/>
          </a:stretch>
        </p:blipFill>
        <p:spPr>
          <a:xfrm>
            <a:off x="395473" y="1844824"/>
            <a:ext cx="8505825" cy="4552950"/>
          </a:xfrm>
          <a:prstGeom prst="rect">
            <a:avLst/>
          </a:prstGeom>
        </p:spPr>
      </p:pic>
    </p:spTree>
    <p:extLst>
      <p:ext uri="{BB962C8B-B14F-4D97-AF65-F5344CB8AC3E}">
        <p14:creationId xmlns:p14="http://schemas.microsoft.com/office/powerpoint/2010/main" val="3836881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340768"/>
            <a:ext cx="8643998" cy="5256584"/>
          </a:xfrm>
        </p:spPr>
        <p:txBody>
          <a:bodyPr vert="horz" lIns="91440" tIns="45720" rIns="91440" bIns="45720" anchor="t">
            <a:noAutofit/>
          </a:bodyPr>
          <a:lstStyle/>
          <a:p>
            <a:r>
              <a:rPr lang="bg-BG" sz="2800" b="1">
                <a:latin typeface="Times New Roman" panose="02020603050405020304" pitchFamily="18" charset="0"/>
                <a:cs typeface="Times New Roman" panose="02020603050405020304" pitchFamily="18" charset="0"/>
              </a:rPr>
              <a:t>Симулатор </a:t>
            </a:r>
            <a:r>
              <a:rPr lang="bg-BG" sz="2800" b="1" err="1">
                <a:latin typeface="Times New Roman" panose="02020603050405020304" pitchFamily="18" charset="0"/>
                <a:cs typeface="Times New Roman" panose="02020603050405020304" pitchFamily="18" charset="0"/>
              </a:rPr>
              <a:t>ARMSim</a:t>
            </a:r>
            <a:r>
              <a:rPr lang="bg-BG" sz="2800" b="1">
                <a:latin typeface="Times New Roman" panose="02020603050405020304" pitchFamily="18" charset="0"/>
                <a:cs typeface="Times New Roman" panose="02020603050405020304" pitchFamily="18" charset="0"/>
              </a:rPr>
              <a:t> # 1.91</a:t>
            </a:r>
          </a:p>
          <a:p>
            <a:pPr algn="just"/>
            <a:r>
              <a:rPr lang="ru-RU" sz="2400">
                <a:latin typeface="Times New Roman"/>
                <a:cs typeface="Times New Roman"/>
              </a:rPr>
              <a:t>От </a:t>
            </a:r>
            <a:r>
              <a:rPr lang="ru-RU" sz="2400" err="1">
                <a:latin typeface="Times New Roman"/>
                <a:cs typeface="Times New Roman"/>
              </a:rPr>
              <a:t>лявата</a:t>
            </a:r>
            <a:r>
              <a:rPr lang="ru-RU" sz="2400">
                <a:latin typeface="Times New Roman"/>
                <a:cs typeface="Times New Roman"/>
              </a:rPr>
              <a:t> страна </a:t>
            </a:r>
            <a:r>
              <a:rPr lang="ru-RU" sz="2400" err="1">
                <a:latin typeface="Times New Roman"/>
                <a:cs typeface="Times New Roman"/>
              </a:rPr>
              <a:t>ще</a:t>
            </a:r>
            <a:r>
              <a:rPr lang="ru-RU" sz="2400">
                <a:latin typeface="Times New Roman"/>
                <a:cs typeface="Times New Roman"/>
              </a:rPr>
              <a:t> видите, че </a:t>
            </a:r>
            <a:r>
              <a:rPr lang="ru-RU" sz="2400" err="1">
                <a:latin typeface="Times New Roman"/>
                <a:cs typeface="Times New Roman"/>
              </a:rPr>
              <a:t>регистрите</a:t>
            </a:r>
            <a:r>
              <a:rPr lang="ru-RU" sz="2400">
                <a:latin typeface="Times New Roman"/>
                <a:cs typeface="Times New Roman"/>
              </a:rPr>
              <a:t>, </a:t>
            </a:r>
            <a:r>
              <a:rPr lang="ru-RU" sz="2400" err="1">
                <a:latin typeface="Times New Roman"/>
                <a:cs typeface="Times New Roman"/>
              </a:rPr>
              <a:t>които</a:t>
            </a:r>
            <a:r>
              <a:rPr lang="ru-RU" sz="2400">
                <a:latin typeface="Times New Roman"/>
                <a:cs typeface="Times New Roman"/>
              </a:rPr>
              <a:t> </a:t>
            </a:r>
            <a:r>
              <a:rPr lang="ru-RU" sz="2400" err="1">
                <a:latin typeface="Times New Roman"/>
                <a:cs typeface="Times New Roman"/>
              </a:rPr>
              <a:t>са</a:t>
            </a:r>
            <a:r>
              <a:rPr lang="ru-RU" sz="2400">
                <a:latin typeface="Times New Roman"/>
                <a:cs typeface="Times New Roman"/>
              </a:rPr>
              <a:t> били </a:t>
            </a:r>
            <a:r>
              <a:rPr lang="ru-RU" sz="2400" err="1">
                <a:latin typeface="Times New Roman"/>
                <a:cs typeface="Times New Roman"/>
              </a:rPr>
              <a:t>променени</a:t>
            </a:r>
            <a:r>
              <a:rPr lang="ru-RU" sz="2400">
                <a:latin typeface="Times New Roman"/>
                <a:cs typeface="Times New Roman"/>
              </a:rPr>
              <a:t> от </a:t>
            </a:r>
            <a:r>
              <a:rPr lang="ru-RU" sz="2400" err="1">
                <a:latin typeface="Times New Roman"/>
                <a:cs typeface="Times New Roman"/>
              </a:rPr>
              <a:t>изпълнената</a:t>
            </a:r>
            <a:r>
              <a:rPr lang="ru-RU" sz="2400">
                <a:latin typeface="Times New Roman"/>
                <a:cs typeface="Times New Roman"/>
              </a:rPr>
              <a:t> инструкция, </a:t>
            </a:r>
            <a:r>
              <a:rPr lang="ru-RU" sz="2400" err="1">
                <a:latin typeface="Times New Roman"/>
                <a:cs typeface="Times New Roman"/>
              </a:rPr>
              <a:t>са</a:t>
            </a:r>
            <a:r>
              <a:rPr lang="ru-RU" sz="2400">
                <a:latin typeface="Times New Roman"/>
                <a:cs typeface="Times New Roman"/>
              </a:rPr>
              <a:t> </a:t>
            </a:r>
            <a:r>
              <a:rPr lang="ru-RU" sz="2400" err="1">
                <a:latin typeface="Times New Roman"/>
                <a:cs typeface="Times New Roman"/>
              </a:rPr>
              <a:t>червени</a:t>
            </a:r>
            <a:r>
              <a:rPr lang="ru-RU" sz="2400">
                <a:latin typeface="Times New Roman"/>
                <a:cs typeface="Times New Roman"/>
              </a:rPr>
              <a:t>. В </a:t>
            </a:r>
            <a:r>
              <a:rPr lang="ru-RU" sz="2400" err="1">
                <a:latin typeface="Times New Roman"/>
                <a:cs typeface="Times New Roman"/>
              </a:rPr>
              <a:t>прозореца</a:t>
            </a:r>
            <a:r>
              <a:rPr lang="ru-RU" sz="2400">
                <a:latin typeface="Times New Roman"/>
                <a:cs typeface="Times New Roman"/>
              </a:rPr>
              <a:t> на </a:t>
            </a:r>
            <a:r>
              <a:rPr lang="ru-RU" sz="2400" err="1">
                <a:latin typeface="Times New Roman"/>
                <a:cs typeface="Times New Roman"/>
              </a:rPr>
              <a:t>изходния</a:t>
            </a:r>
            <a:r>
              <a:rPr lang="ru-RU" sz="2400">
                <a:latin typeface="Times New Roman"/>
                <a:cs typeface="Times New Roman"/>
              </a:rPr>
              <a:t> код </a:t>
            </a:r>
            <a:r>
              <a:rPr lang="ru-RU" sz="2400" err="1">
                <a:latin typeface="Times New Roman"/>
                <a:cs typeface="Times New Roman"/>
              </a:rPr>
              <a:t>ще</a:t>
            </a:r>
            <a:r>
              <a:rPr lang="ru-RU" sz="2400">
                <a:latin typeface="Times New Roman"/>
                <a:cs typeface="Times New Roman"/>
              </a:rPr>
              <a:t> </a:t>
            </a:r>
            <a:r>
              <a:rPr lang="ru-RU" sz="2400" err="1">
                <a:latin typeface="Times New Roman"/>
                <a:cs typeface="Times New Roman"/>
              </a:rPr>
              <a:t>забележите</a:t>
            </a:r>
            <a:r>
              <a:rPr lang="ru-RU" sz="2400">
                <a:latin typeface="Times New Roman"/>
                <a:cs typeface="Times New Roman"/>
              </a:rPr>
              <a:t>, че </a:t>
            </a:r>
            <a:r>
              <a:rPr lang="ru-RU" sz="2400" err="1">
                <a:latin typeface="Times New Roman"/>
                <a:cs typeface="Times New Roman"/>
              </a:rPr>
              <a:t>маркираната</a:t>
            </a:r>
            <a:r>
              <a:rPr lang="ru-RU" sz="2400">
                <a:latin typeface="Times New Roman"/>
                <a:cs typeface="Times New Roman"/>
              </a:rPr>
              <a:t> синя линия </a:t>
            </a:r>
            <a:r>
              <a:rPr lang="ru-RU" sz="2400" err="1">
                <a:latin typeface="Times New Roman"/>
                <a:cs typeface="Times New Roman"/>
              </a:rPr>
              <a:t>сега</a:t>
            </a:r>
            <a:r>
              <a:rPr lang="ru-RU" sz="2400">
                <a:latin typeface="Times New Roman"/>
                <a:cs typeface="Times New Roman"/>
              </a:rPr>
              <a:t> е </a:t>
            </a:r>
            <a:r>
              <a:rPr lang="ru-RU" sz="2400" err="1">
                <a:latin typeface="Times New Roman"/>
                <a:cs typeface="Times New Roman"/>
              </a:rPr>
              <a:t>следващата</a:t>
            </a:r>
            <a:r>
              <a:rPr lang="ru-RU" sz="2400">
                <a:latin typeface="Times New Roman"/>
                <a:cs typeface="Times New Roman"/>
              </a:rPr>
              <a:t> инструкция – </a:t>
            </a:r>
            <a:r>
              <a:rPr lang="ru-RU" sz="2400" err="1">
                <a:latin typeface="Times New Roman"/>
                <a:cs typeface="Times New Roman"/>
              </a:rPr>
              <a:t>това</a:t>
            </a:r>
            <a:r>
              <a:rPr lang="ru-RU" sz="2400">
                <a:latin typeface="Times New Roman"/>
                <a:cs typeface="Times New Roman"/>
              </a:rPr>
              <a:t> е </a:t>
            </a:r>
            <a:r>
              <a:rPr lang="ru-RU" sz="2400" err="1">
                <a:latin typeface="Times New Roman"/>
                <a:cs typeface="Times New Roman"/>
              </a:rPr>
              <a:t>инструкцията</a:t>
            </a:r>
            <a:r>
              <a:rPr lang="ru-RU" sz="2400">
                <a:latin typeface="Times New Roman"/>
                <a:cs typeface="Times New Roman"/>
              </a:rPr>
              <a:t>, </a:t>
            </a:r>
            <a:r>
              <a:rPr lang="ru-RU" sz="2400" err="1">
                <a:latin typeface="Times New Roman"/>
                <a:cs typeface="Times New Roman"/>
              </a:rPr>
              <a:t>към</a:t>
            </a:r>
            <a:r>
              <a:rPr lang="ru-RU" sz="2400">
                <a:latin typeface="Times New Roman"/>
                <a:cs typeface="Times New Roman"/>
              </a:rPr>
              <a:t> </a:t>
            </a:r>
            <a:r>
              <a:rPr lang="ru-RU" sz="2400" err="1">
                <a:latin typeface="Times New Roman"/>
                <a:cs typeface="Times New Roman"/>
              </a:rPr>
              <a:t>която</a:t>
            </a:r>
            <a:r>
              <a:rPr lang="ru-RU" sz="2400">
                <a:latin typeface="Times New Roman"/>
                <a:cs typeface="Times New Roman"/>
              </a:rPr>
              <a:t> сочи </a:t>
            </a:r>
            <a:r>
              <a:rPr lang="ru-RU" sz="2400" err="1">
                <a:latin typeface="Times New Roman"/>
                <a:cs typeface="Times New Roman"/>
              </a:rPr>
              <a:t>програмният</a:t>
            </a:r>
            <a:r>
              <a:rPr lang="ru-RU" sz="2400">
                <a:latin typeface="Times New Roman"/>
                <a:cs typeface="Times New Roman"/>
              </a:rPr>
              <a:t> </a:t>
            </a:r>
            <a:r>
              <a:rPr lang="ru-RU" sz="2400" err="1">
                <a:latin typeface="Times New Roman"/>
                <a:cs typeface="Times New Roman"/>
              </a:rPr>
              <a:t>брояч</a:t>
            </a:r>
            <a:r>
              <a:rPr lang="ru-RU" sz="2400">
                <a:latin typeface="Times New Roman"/>
                <a:cs typeface="Times New Roman"/>
              </a:rPr>
              <a:t> и </a:t>
            </a:r>
            <a:r>
              <a:rPr lang="ru-RU" sz="2400" err="1">
                <a:latin typeface="Times New Roman"/>
                <a:cs typeface="Times New Roman"/>
              </a:rPr>
              <a:t>ще</a:t>
            </a:r>
            <a:r>
              <a:rPr lang="ru-RU" sz="2400">
                <a:latin typeface="Times New Roman"/>
                <a:cs typeface="Times New Roman"/>
              </a:rPr>
              <a:t> </a:t>
            </a:r>
            <a:r>
              <a:rPr lang="ru-RU" sz="2400" err="1">
                <a:latin typeface="Times New Roman"/>
                <a:cs typeface="Times New Roman"/>
              </a:rPr>
              <a:t>бъде</a:t>
            </a:r>
            <a:r>
              <a:rPr lang="ru-RU" sz="2400">
                <a:latin typeface="Times New Roman"/>
                <a:cs typeface="Times New Roman"/>
              </a:rPr>
              <a:t> </a:t>
            </a:r>
            <a:r>
              <a:rPr lang="ru-RU" sz="2400" err="1">
                <a:latin typeface="Times New Roman"/>
                <a:cs typeface="Times New Roman"/>
              </a:rPr>
              <a:t>изпълнена</a:t>
            </a:r>
            <a:r>
              <a:rPr lang="ru-RU" sz="2400">
                <a:latin typeface="Times New Roman"/>
                <a:cs typeface="Times New Roman"/>
              </a:rPr>
              <a:t> </a:t>
            </a:r>
            <a:r>
              <a:rPr lang="ru-RU" sz="2400" err="1">
                <a:latin typeface="Times New Roman"/>
                <a:cs typeface="Times New Roman"/>
              </a:rPr>
              <a:t>следваща</a:t>
            </a:r>
            <a:r>
              <a:rPr lang="ru-RU" sz="2400">
                <a:latin typeface="Times New Roman"/>
                <a:cs typeface="Times New Roman"/>
              </a:rPr>
              <a:t>. </a:t>
            </a:r>
            <a:r>
              <a:rPr lang="ru-RU" sz="2400" err="1">
                <a:latin typeface="Times New Roman"/>
                <a:cs typeface="Times New Roman"/>
              </a:rPr>
              <a:t>Опитайте</a:t>
            </a:r>
            <a:r>
              <a:rPr lang="ru-RU" sz="2400">
                <a:latin typeface="Times New Roman"/>
                <a:cs typeface="Times New Roman"/>
              </a:rPr>
              <a:t> да преминете </a:t>
            </a:r>
            <a:r>
              <a:rPr lang="ru-RU" sz="2400" err="1">
                <a:latin typeface="Times New Roman"/>
                <a:cs typeface="Times New Roman"/>
              </a:rPr>
              <a:t>през</a:t>
            </a:r>
            <a:r>
              <a:rPr lang="ru-RU" sz="2400">
                <a:latin typeface="Times New Roman"/>
                <a:cs typeface="Times New Roman"/>
              </a:rPr>
              <a:t> </a:t>
            </a:r>
            <a:r>
              <a:rPr lang="ru-RU" sz="2400" err="1">
                <a:latin typeface="Times New Roman"/>
                <a:cs typeface="Times New Roman"/>
              </a:rPr>
              <a:t>останалата</a:t>
            </a:r>
            <a:r>
              <a:rPr lang="ru-RU" sz="2400">
                <a:latin typeface="Times New Roman"/>
                <a:cs typeface="Times New Roman"/>
              </a:rPr>
              <a:t> част от простата програма, като проверите дали регистрите се променят според очакванията.</a:t>
            </a:r>
          </a:p>
          <a:p>
            <a:pPr algn="just"/>
            <a:endParaRPr lang="ru-RU"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https://abakbot.com/ru/online-13/obr-kod</a:t>
            </a:r>
            <a:endParaRPr lang="bg-BG" sz="2400" b="1">
              <a:latin typeface="Times New Roman" panose="02020603050405020304" pitchFamily="18" charset="0"/>
              <a:cs typeface="Times New Roman" panose="02020603050405020304" pitchFamily="18" charset="0"/>
            </a:endParaRPr>
          </a:p>
          <a:p>
            <a:endParaRPr lang="en-US" sz="2800" b="1">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690712" y="-11151"/>
            <a:ext cx="8429684" cy="1143000"/>
          </a:xfrm>
        </p:spPr>
        <p:txBody>
          <a:bodyPr>
            <a:normAutofit/>
          </a:bodyPr>
          <a:lstStyle/>
          <a:p>
            <a:r>
              <a:rPr lang="bg-BG" sz="2800" err="1">
                <a:latin typeface="Times New Roman" pitchFamily="18" charset="0"/>
                <a:cs typeface="Times New Roman" pitchFamily="18" charset="0"/>
              </a:rPr>
              <a:t>Дебъгер</a:t>
            </a:r>
            <a:r>
              <a:rPr lang="bg-BG" sz="2800">
                <a:latin typeface="Times New Roman" pitchFamily="18" charset="0"/>
                <a:cs typeface="Times New Roman" pitchFamily="18" charset="0"/>
              </a:rPr>
              <a:t>, настройка и изпълнение</a:t>
            </a:r>
            <a:r>
              <a:rPr lang="en-US" sz="2800">
                <a:latin typeface="Times New Roman" pitchFamily="18" charset="0"/>
                <a:cs typeface="Times New Roman" pitchFamily="18" charset="0"/>
              </a:rPr>
              <a:t>.</a:t>
            </a:r>
            <a:endParaRPr lang="bg-BG" sz="2900" b="1"/>
          </a:p>
        </p:txBody>
      </p:sp>
    </p:spTree>
    <p:extLst>
      <p:ext uri="{BB962C8B-B14F-4D97-AF65-F5344CB8AC3E}">
        <p14:creationId xmlns:p14="http://schemas.microsoft.com/office/powerpoint/2010/main" val="18770221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a43d559-56ce-40e4-b5e0-b1d2f1c6a948" xsi:nil="true"/>
    <lcf76f155ced4ddcb4097134ff3c332f xmlns="1170580e-cc85-4814-90d0-7c45caf95435">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Документ" ma:contentTypeID="0x0101002815A41C86513B4096C6BAC35CB04A7C" ma:contentTypeVersion="11" ma:contentTypeDescription="Създаване на нов документ" ma:contentTypeScope="" ma:versionID="aeaffb348d2b52f24d410ae28bdf175e">
  <xsd:schema xmlns:xsd="http://www.w3.org/2001/XMLSchema" xmlns:xs="http://www.w3.org/2001/XMLSchema" xmlns:p="http://schemas.microsoft.com/office/2006/metadata/properties" xmlns:ns2="1170580e-cc85-4814-90d0-7c45caf95435" xmlns:ns3="fa43d559-56ce-40e4-b5e0-b1d2f1c6a948" targetNamespace="http://schemas.microsoft.com/office/2006/metadata/properties" ma:root="true" ma:fieldsID="2b6c80141cda9f3fb17d02d04063fe73" ns2:_="" ns3:_="">
    <xsd:import namespace="1170580e-cc85-4814-90d0-7c45caf95435"/>
    <xsd:import namespace="fa43d559-56ce-40e4-b5e0-b1d2f1c6a94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70580e-cc85-4814-90d0-7c45caf954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Етикети за изображения" ma:readOnly="false" ma:fieldId="{5cf76f15-5ced-4ddc-b409-7134ff3c332f}" ma:taxonomyMulti="true" ma:sspId="f94169f7-4ae2-4031-b8fa-636baa109d8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a43d559-56ce-40e4-b5e0-b1d2f1c6a94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8ac84de-a7dc-4418-88f8-8ba02af593f2}" ma:internalName="TaxCatchAll" ma:showField="CatchAllData" ma:web="fa43d559-56ce-40e4-b5e0-b1d2f1c6a94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съдържание"/>
        <xsd:element ref="dc:title" minOccurs="0" maxOccurs="1" ma:index="4" ma:displayName="Заглав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4A7E9B0-8176-41AD-AB56-2587599C670B}">
  <ds:schemaRefs>
    <ds:schemaRef ds:uri="http://schemas.microsoft.com/office/2006/metadata/properties"/>
    <ds:schemaRef ds:uri="http://schemas.microsoft.com/office/infopath/2007/PartnerControls"/>
    <ds:schemaRef ds:uri="fa43d559-56ce-40e4-b5e0-b1d2f1c6a948"/>
    <ds:schemaRef ds:uri="1170580e-cc85-4814-90d0-7c45caf95435"/>
  </ds:schemaRefs>
</ds:datastoreItem>
</file>

<file path=customXml/itemProps2.xml><?xml version="1.0" encoding="utf-8"?>
<ds:datastoreItem xmlns:ds="http://schemas.openxmlformats.org/officeDocument/2006/customXml" ds:itemID="{4A249F6A-DD09-491C-97D0-6C8B329017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70580e-cc85-4814-90d0-7c45caf95435"/>
    <ds:schemaRef ds:uri="fa43d559-56ce-40e4-b5e0-b1d2f1c6a94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FF9D26-1F30-403D-944B-C04964D1EBC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Flow</Template>
  <Application>Microsoft Office PowerPoint</Application>
  <PresentationFormat>On-screen Show (4:3)</PresentationFormat>
  <Slides>28</Slides>
  <Notes>0</Notes>
  <HiddenSlides>0</HiddenSlide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Flow</vt:lpstr>
      <vt:lpstr>Създаване, транслиране и изпълнение на асемблерна програма. Структура на програмата. Дебъгер, настройка и изпълнение. </vt:lpstr>
      <vt:lpstr>  Език за програмиране на ниско ниво</vt:lpstr>
      <vt:lpstr>  Език за програмиране на ниско ниво</vt:lpstr>
      <vt:lpstr>  Асемблерен език</vt:lpstr>
      <vt:lpstr>  Асемблер</vt:lpstr>
      <vt:lpstr>Защо да програмираме на асемблерен език?</vt:lpstr>
      <vt:lpstr>Създаване, транслиране и изпълнение на асемблерна програма.</vt:lpstr>
      <vt:lpstr>Създаване, транслиране и изпълнение на асемблерна програма.</vt:lpstr>
      <vt:lpstr>Създаване, транслиране и изпълнение на асемблерна програма.</vt:lpstr>
      <vt:lpstr>Създаване, транслиране и изпълнение на асемблерна програма.</vt:lpstr>
      <vt:lpstr>Създаване, транслиране и изпълнение на асемблерна програма.</vt:lpstr>
      <vt:lpstr>Структура на програмата за IA-32 </vt:lpstr>
      <vt:lpstr>Структура на програмата за IA-32 </vt:lpstr>
      <vt:lpstr>Структура на програмата за IA-32 </vt:lpstr>
      <vt:lpstr>Структура на програмата за IA-32 </vt:lpstr>
      <vt:lpstr>Структура на програмата за ARM</vt:lpstr>
      <vt:lpstr>Структура на програмата за ARM</vt:lpstr>
      <vt:lpstr>Структура на програмата за ARM</vt:lpstr>
      <vt:lpstr>Дебъгер, настройка и изпълнение.</vt:lpstr>
      <vt:lpstr>Дебъгер, настройка и изпълнение.</vt:lpstr>
      <vt:lpstr>Дебъгер, настройка и изпълнение.</vt:lpstr>
      <vt:lpstr>PowerPoint Presentation</vt:lpstr>
      <vt:lpstr>Дебъгер, настройка и изпълнение.</vt:lpstr>
      <vt:lpstr>Дебъгер, настройка и изпълнение.</vt:lpstr>
      <vt:lpstr>Дебъгер, настройка и изпълнение.</vt:lpstr>
      <vt:lpstr>Дебъгер, настройка и изпълнение.</vt:lpstr>
      <vt:lpstr>Дебъгер, настройка и изпълнение.</vt:lpstr>
      <vt:lpstr>Дебъгер, настройка и изпълнение.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Програмен модел на микропроцесор IA-32. Методи за адресация. Формати на данните. Структура на паметта. Таблица с инструкции за микропроцесора.</dc:title>
  <dc:creator>Desi</dc:creator>
  <cp:revision>9</cp:revision>
  <dcterms:created xsi:type="dcterms:W3CDTF">2024-02-15T19:55:55Z</dcterms:created>
  <dcterms:modified xsi:type="dcterms:W3CDTF">2024-05-07T23:08:35Z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0x0101002815A41C86513B4096C6BAC35CB04A7C</vt:lpwstr>
  </property>
</Properties>
</file>